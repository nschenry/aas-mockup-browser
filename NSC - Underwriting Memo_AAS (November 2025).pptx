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notesMasterIdLst>
    <p:notesMasterId r:id="rId72"/>
  </p:notesMasterIdLst>
  <p:sldIdLst>
    <p:sldId id="392" r:id="rId2"/>
    <p:sldId id="393" r:id="rId3"/>
    <p:sldId id="531" r:id="rId4"/>
    <p:sldId id="457" r:id="rId5"/>
    <p:sldId id="553" r:id="rId6"/>
    <p:sldId id="365" r:id="rId7"/>
    <p:sldId id="521" r:id="rId8"/>
    <p:sldId id="513" r:id="rId9"/>
    <p:sldId id="373" r:id="rId10"/>
    <p:sldId id="523" r:id="rId11"/>
    <p:sldId id="372" r:id="rId12"/>
    <p:sldId id="474" r:id="rId13"/>
    <p:sldId id="475" r:id="rId14"/>
    <p:sldId id="489" r:id="rId15"/>
    <p:sldId id="477" r:id="rId16"/>
    <p:sldId id="490" r:id="rId17"/>
    <p:sldId id="491" r:id="rId18"/>
    <p:sldId id="461" r:id="rId19"/>
    <p:sldId id="522" r:id="rId20"/>
    <p:sldId id="548" r:id="rId21"/>
    <p:sldId id="545" r:id="rId22"/>
    <p:sldId id="516" r:id="rId23"/>
    <p:sldId id="547" r:id="rId24"/>
    <p:sldId id="514" r:id="rId25"/>
    <p:sldId id="550" r:id="rId26"/>
    <p:sldId id="561" r:id="rId27"/>
    <p:sldId id="377" r:id="rId28"/>
    <p:sldId id="462" r:id="rId29"/>
    <p:sldId id="554" r:id="rId30"/>
    <p:sldId id="573" r:id="rId31"/>
    <p:sldId id="456" r:id="rId32"/>
    <p:sldId id="527" r:id="rId33"/>
    <p:sldId id="384" r:id="rId34"/>
    <p:sldId id="375" r:id="rId35"/>
    <p:sldId id="476" r:id="rId36"/>
    <p:sldId id="379" r:id="rId37"/>
    <p:sldId id="380" r:id="rId38"/>
    <p:sldId id="378" r:id="rId39"/>
    <p:sldId id="487" r:id="rId40"/>
    <p:sldId id="529" r:id="rId41"/>
    <p:sldId id="492" r:id="rId42"/>
    <p:sldId id="493" r:id="rId43"/>
    <p:sldId id="558" r:id="rId44"/>
    <p:sldId id="530" r:id="rId45"/>
    <p:sldId id="568" r:id="rId46"/>
    <p:sldId id="572" r:id="rId47"/>
    <p:sldId id="570" r:id="rId48"/>
    <p:sldId id="565" r:id="rId49"/>
    <p:sldId id="566" r:id="rId50"/>
    <p:sldId id="538" r:id="rId51"/>
    <p:sldId id="539" r:id="rId52"/>
    <p:sldId id="544" r:id="rId53"/>
    <p:sldId id="552" r:id="rId54"/>
    <p:sldId id="563" r:id="rId55"/>
    <p:sldId id="564" r:id="rId56"/>
    <p:sldId id="533" r:id="rId57"/>
    <p:sldId id="562" r:id="rId58"/>
    <p:sldId id="532" r:id="rId59"/>
    <p:sldId id="540" r:id="rId60"/>
    <p:sldId id="541" r:id="rId61"/>
    <p:sldId id="537" r:id="rId62"/>
    <p:sldId id="555" r:id="rId63"/>
    <p:sldId id="557" r:id="rId64"/>
    <p:sldId id="556" r:id="rId65"/>
    <p:sldId id="277" r:id="rId66"/>
    <p:sldId id="559" r:id="rId67"/>
    <p:sldId id="362" r:id="rId68"/>
    <p:sldId id="536" r:id="rId69"/>
    <p:sldId id="534" r:id="rId70"/>
    <p:sldId id="535" r:id="rId71"/>
  </p:sldIdLst>
  <p:sldSz cx="9144000" cy="6858000" type="screen4x3"/>
  <p:notesSz cx="7004050" cy="9290050"/>
  <p:custDataLst>
    <p:tags r:id="rId7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90ABC5B-6792-4A6C-B9BC-7EF39AB14F0F}">
          <p14:sldIdLst>
            <p14:sldId id="392"/>
            <p14:sldId id="393"/>
            <p14:sldId id="531"/>
            <p14:sldId id="457"/>
            <p14:sldId id="553"/>
            <p14:sldId id="365"/>
            <p14:sldId id="521"/>
            <p14:sldId id="513"/>
            <p14:sldId id="373"/>
            <p14:sldId id="523"/>
            <p14:sldId id="372"/>
            <p14:sldId id="474"/>
            <p14:sldId id="475"/>
            <p14:sldId id="489"/>
            <p14:sldId id="477"/>
            <p14:sldId id="490"/>
            <p14:sldId id="491"/>
            <p14:sldId id="461"/>
            <p14:sldId id="522"/>
            <p14:sldId id="548"/>
            <p14:sldId id="545"/>
            <p14:sldId id="516"/>
            <p14:sldId id="547"/>
            <p14:sldId id="514"/>
            <p14:sldId id="550"/>
            <p14:sldId id="561"/>
            <p14:sldId id="377"/>
            <p14:sldId id="462"/>
            <p14:sldId id="554"/>
            <p14:sldId id="573"/>
            <p14:sldId id="456"/>
            <p14:sldId id="527"/>
            <p14:sldId id="384"/>
            <p14:sldId id="375"/>
            <p14:sldId id="476"/>
            <p14:sldId id="379"/>
            <p14:sldId id="380"/>
            <p14:sldId id="378"/>
            <p14:sldId id="487"/>
            <p14:sldId id="529"/>
            <p14:sldId id="492"/>
            <p14:sldId id="493"/>
            <p14:sldId id="558"/>
            <p14:sldId id="530"/>
            <p14:sldId id="568"/>
            <p14:sldId id="572"/>
            <p14:sldId id="570"/>
            <p14:sldId id="565"/>
            <p14:sldId id="566"/>
            <p14:sldId id="538"/>
            <p14:sldId id="539"/>
            <p14:sldId id="544"/>
            <p14:sldId id="552"/>
            <p14:sldId id="563"/>
            <p14:sldId id="564"/>
            <p14:sldId id="533"/>
            <p14:sldId id="562"/>
            <p14:sldId id="532"/>
            <p14:sldId id="540"/>
            <p14:sldId id="541"/>
            <p14:sldId id="537"/>
            <p14:sldId id="555"/>
            <p14:sldId id="557"/>
            <p14:sldId id="556"/>
            <p14:sldId id="277"/>
            <p14:sldId id="559"/>
            <p14:sldId id="362"/>
          </p14:sldIdLst>
        </p14:section>
        <p14:section name="Graveyard" id="{0F8581CE-A8A6-4790-8412-577845231EAA}">
          <p14:sldIdLst>
            <p14:sldId id="536"/>
            <p14:sldId id="534"/>
            <p14:sldId id="53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58C4"/>
    <a:srgbClr val="242852"/>
    <a:srgbClr val="B5C1DF"/>
    <a:srgbClr val="5C64B7"/>
    <a:srgbClr val="4A66AC"/>
    <a:srgbClr val="143F6A"/>
    <a:srgbClr val="D9D9D9"/>
    <a:srgbClr val="008AEF"/>
    <a:srgbClr val="FFFFFF"/>
    <a:srgbClr val="FEFCD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623" autoAdjust="0"/>
    <p:restoredTop sz="94660"/>
  </p:normalViewPr>
  <p:slideViewPr>
    <p:cSldViewPr snapToGrid="0">
      <p:cViewPr varScale="1">
        <p:scale>
          <a:sx n="85" d="100"/>
          <a:sy n="85" d="100"/>
        </p:scale>
        <p:origin x="1944" y="5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Sheet1!$A$2</c:f>
              <c:strCache>
                <c:ptCount val="1"/>
                <c:pt idx="0">
                  <c:v>25th Percentile</c:v>
                </c:pt>
              </c:strCache>
            </c:strRef>
          </c:tx>
          <c:spPr>
            <a:solidFill>
              <a:schemeClr val="bg2">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Sheet1!$B$1:$E$1</c:f>
              <c:strCache>
                <c:ptCount val="4"/>
                <c:pt idx="0">
                  <c:v>CRNA Detroit, MI</c:v>
                </c:pt>
                <c:pt idx="1">
                  <c:v>CRNA Indianapolis, IN</c:v>
                </c:pt>
                <c:pt idx="2">
                  <c:v>Anesthesiologist Detroit, MI</c:v>
                </c:pt>
                <c:pt idx="3">
                  <c:v>Anesthesiologist Indianapolis, IN</c:v>
                </c:pt>
              </c:strCache>
            </c:strRef>
          </c:cat>
          <c:val>
            <c:numRef>
              <c:f>Sheet1!$B$2:$E$2</c:f>
              <c:numCache>
                <c:formatCode>"$"#,##0.0_);\("$"#,##0.0\)</c:formatCode>
                <c:ptCount val="4"/>
                <c:pt idx="0">
                  <c:v>229</c:v>
                </c:pt>
                <c:pt idx="1">
                  <c:v>201.90100000000001</c:v>
                </c:pt>
                <c:pt idx="2">
                  <c:v>413</c:v>
                </c:pt>
                <c:pt idx="3">
                  <c:v>345</c:v>
                </c:pt>
              </c:numCache>
            </c:numRef>
          </c:val>
          <c:extLst>
            <c:ext xmlns:c16="http://schemas.microsoft.com/office/drawing/2014/chart" uri="{C3380CC4-5D6E-409C-BE32-E72D297353CC}">
              <c16:uniqueId val="{00000001-4B8A-4438-82C6-96F5E4CBB8D1}"/>
            </c:ext>
          </c:extLst>
        </c:ser>
        <c:ser>
          <c:idx val="1"/>
          <c:order val="1"/>
          <c:tx>
            <c:strRef>
              <c:f>Sheet1!$A$3</c:f>
              <c:strCache>
                <c:ptCount val="1"/>
                <c:pt idx="0">
                  <c:v>50th Percentile (Median)</c:v>
                </c:pt>
              </c:strCache>
            </c:strRef>
          </c:tx>
          <c:spPr>
            <a:solidFill>
              <a:schemeClr val="bg2">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Sheet1!$B$1:$E$1</c:f>
              <c:strCache>
                <c:ptCount val="4"/>
                <c:pt idx="0">
                  <c:v>CRNA Detroit, MI</c:v>
                </c:pt>
                <c:pt idx="1">
                  <c:v>CRNA Indianapolis, IN</c:v>
                </c:pt>
                <c:pt idx="2">
                  <c:v>Anesthesiologist Detroit, MI</c:v>
                </c:pt>
                <c:pt idx="3">
                  <c:v>Anesthesiologist Indianapolis, IN</c:v>
                </c:pt>
              </c:strCache>
            </c:strRef>
          </c:cat>
          <c:val>
            <c:numRef>
              <c:f>Sheet1!$B$3:$E$3</c:f>
              <c:numCache>
                <c:formatCode>"$"#,##0.0_);\("$"#,##0.0\)</c:formatCode>
                <c:ptCount val="4"/>
                <c:pt idx="0">
                  <c:v>242.4</c:v>
                </c:pt>
                <c:pt idx="1">
                  <c:v>235.80699999999999</c:v>
                </c:pt>
                <c:pt idx="2">
                  <c:v>441.2</c:v>
                </c:pt>
                <c:pt idx="3">
                  <c:v>389.6</c:v>
                </c:pt>
              </c:numCache>
            </c:numRef>
          </c:val>
          <c:extLst>
            <c:ext xmlns:c16="http://schemas.microsoft.com/office/drawing/2014/chart" uri="{C3380CC4-5D6E-409C-BE32-E72D297353CC}">
              <c16:uniqueId val="{00000003-4B8A-4438-82C6-96F5E4CBB8D1}"/>
            </c:ext>
          </c:extLst>
        </c:ser>
        <c:ser>
          <c:idx val="2"/>
          <c:order val="2"/>
          <c:tx>
            <c:strRef>
              <c:f>Sheet1!$A$4</c:f>
              <c:strCache>
                <c:ptCount val="1"/>
                <c:pt idx="0">
                  <c:v>75th Percentile</c:v>
                </c:pt>
              </c:strCache>
            </c:strRef>
          </c:tx>
          <c:spPr>
            <a:solidFill>
              <a:schemeClr val="bg2">
                <a:lumMod val="2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Sheet1!$B$1:$E$1</c:f>
              <c:strCache>
                <c:ptCount val="4"/>
                <c:pt idx="0">
                  <c:v>CRNA Detroit, MI</c:v>
                </c:pt>
                <c:pt idx="1">
                  <c:v>CRNA Indianapolis, IN</c:v>
                </c:pt>
                <c:pt idx="2">
                  <c:v>Anesthesiologist Detroit, MI</c:v>
                </c:pt>
                <c:pt idx="3">
                  <c:v>Anesthesiologist Indianapolis, IN</c:v>
                </c:pt>
              </c:strCache>
            </c:strRef>
          </c:cat>
          <c:val>
            <c:numRef>
              <c:f>Sheet1!$B$4:$E$4</c:f>
              <c:numCache>
                <c:formatCode>"$"#,##0.0_);\("$"#,##0.0\)</c:formatCode>
                <c:ptCount val="4"/>
                <c:pt idx="0">
                  <c:v>275</c:v>
                </c:pt>
                <c:pt idx="1">
                  <c:v>233.90100000000001</c:v>
                </c:pt>
                <c:pt idx="2">
                  <c:v>479</c:v>
                </c:pt>
                <c:pt idx="3">
                  <c:v>420</c:v>
                </c:pt>
              </c:numCache>
            </c:numRef>
          </c:val>
          <c:extLst>
            <c:ext xmlns:c16="http://schemas.microsoft.com/office/drawing/2014/chart" uri="{C3380CC4-5D6E-409C-BE32-E72D297353CC}">
              <c16:uniqueId val="{00000007-4B8A-4438-82C6-96F5E4CBB8D1}"/>
            </c:ext>
          </c:extLst>
        </c:ser>
        <c:ser>
          <c:idx val="3"/>
          <c:order val="3"/>
          <c:tx>
            <c:strRef>
              <c:f>Sheet1!$A$5</c:f>
              <c:strCache>
                <c:ptCount val="1"/>
                <c:pt idx="0">
                  <c:v>AAS Median Pay</c:v>
                </c:pt>
              </c:strCache>
            </c:strRef>
          </c:tx>
          <c:spPr>
            <a:solidFill>
              <a:srgbClr val="00B050"/>
            </a:solidFill>
            <a:ln w="19050">
              <a:noFill/>
              <a:prstDash val="lgDash"/>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Sheet1!$B$1:$E$1</c:f>
              <c:strCache>
                <c:ptCount val="4"/>
                <c:pt idx="0">
                  <c:v>CRNA Detroit, MI</c:v>
                </c:pt>
                <c:pt idx="1">
                  <c:v>CRNA Indianapolis, IN</c:v>
                </c:pt>
                <c:pt idx="2">
                  <c:v>Anesthesiologist Detroit, MI</c:v>
                </c:pt>
                <c:pt idx="3">
                  <c:v>Anesthesiologist Indianapolis, IN</c:v>
                </c:pt>
              </c:strCache>
            </c:strRef>
          </c:cat>
          <c:val>
            <c:numRef>
              <c:f>Sheet1!$B$5:$E$5</c:f>
              <c:numCache>
                <c:formatCode>"$"#,##0.0_);\("$"#,##0.0\)</c:formatCode>
                <c:ptCount val="4"/>
                <c:pt idx="0">
                  <c:v>242.01665</c:v>
                </c:pt>
                <c:pt idx="1">
                  <c:v>336.96111999999999</c:v>
                </c:pt>
                <c:pt idx="2">
                  <c:v>504.90128500000003</c:v>
                </c:pt>
                <c:pt idx="3">
                  <c:v>495.00126</c:v>
                </c:pt>
              </c:numCache>
            </c:numRef>
          </c:val>
          <c:extLst>
            <c:ext xmlns:c16="http://schemas.microsoft.com/office/drawing/2014/chart" uri="{C3380CC4-5D6E-409C-BE32-E72D297353CC}">
              <c16:uniqueId val="{00000008-4B8A-4438-82C6-96F5E4CBB8D1}"/>
            </c:ext>
          </c:extLst>
        </c:ser>
        <c:dLbls>
          <c:dLblPos val="outEnd"/>
          <c:showLegendKey val="0"/>
          <c:showVal val="1"/>
          <c:showCatName val="0"/>
          <c:showSerName val="0"/>
          <c:showPercent val="0"/>
          <c:showBubbleSize val="0"/>
        </c:dLbls>
        <c:gapWidth val="75"/>
        <c:overlap val="-27"/>
        <c:axId val="1281008112"/>
        <c:axId val="1281009552"/>
      </c:barChart>
      <c:catAx>
        <c:axId val="1281008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1009552"/>
        <c:crosses val="autoZero"/>
        <c:auto val="1"/>
        <c:lblAlgn val="ctr"/>
        <c:lblOffset val="100"/>
        <c:noMultiLvlLbl val="0"/>
      </c:catAx>
      <c:valAx>
        <c:axId val="1281009552"/>
        <c:scaling>
          <c:orientation val="minMax"/>
        </c:scaling>
        <c:delete val="1"/>
        <c:axPos val="l"/>
        <c:numFmt formatCode="&quot;$&quot;#,##0.0_);\(&quot;$&quot;#,##0.0\)" sourceLinked="1"/>
        <c:majorTickMark val="none"/>
        <c:minorTickMark val="none"/>
        <c:tickLblPos val="nextTo"/>
        <c:crossAx val="12810081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lumMod val="95000"/>
      </a:schemeClr>
    </a:solidFill>
    <a:ln w="6350">
      <a:solidFill>
        <a:schemeClr val="tx1"/>
      </a:solid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5088" cy="466116"/>
          </a:xfrm>
          <a:prstGeom prst="rect">
            <a:avLst/>
          </a:prstGeom>
        </p:spPr>
        <p:txBody>
          <a:bodyPr vert="horz" lIns="93100" tIns="46550" rIns="93100" bIns="46550" rtlCol="0"/>
          <a:lstStyle>
            <a:lvl1pPr algn="l">
              <a:defRPr sz="1200"/>
            </a:lvl1pPr>
          </a:lstStyle>
          <a:p>
            <a:endParaRPr lang="en-US" dirty="0"/>
          </a:p>
        </p:txBody>
      </p:sp>
      <p:sp>
        <p:nvSpPr>
          <p:cNvPr id="3" name="Date Placeholder 2"/>
          <p:cNvSpPr>
            <a:spLocks noGrp="1"/>
          </p:cNvSpPr>
          <p:nvPr>
            <p:ph type="dt" idx="1"/>
          </p:nvPr>
        </p:nvSpPr>
        <p:spPr>
          <a:xfrm>
            <a:off x="3967342" y="0"/>
            <a:ext cx="3035088" cy="466116"/>
          </a:xfrm>
          <a:prstGeom prst="rect">
            <a:avLst/>
          </a:prstGeom>
        </p:spPr>
        <p:txBody>
          <a:bodyPr vert="horz" lIns="93100" tIns="46550" rIns="93100" bIns="46550" rtlCol="0"/>
          <a:lstStyle>
            <a:lvl1pPr algn="r">
              <a:defRPr sz="1200"/>
            </a:lvl1pPr>
          </a:lstStyle>
          <a:p>
            <a:fld id="{4FE677C5-C5C7-401F-AD4F-71905AF4CF63}" type="datetimeFigureOut">
              <a:rPr lang="en-US" smtClean="0"/>
              <a:t>10/31/2025</a:t>
            </a:fld>
            <a:endParaRPr lang="en-US" dirty="0"/>
          </a:p>
        </p:txBody>
      </p:sp>
      <p:sp>
        <p:nvSpPr>
          <p:cNvPr id="4" name="Slide Image Placeholder 3"/>
          <p:cNvSpPr>
            <a:spLocks noGrp="1" noRot="1" noChangeAspect="1"/>
          </p:cNvSpPr>
          <p:nvPr>
            <p:ph type="sldImg" idx="2"/>
          </p:nvPr>
        </p:nvSpPr>
        <p:spPr>
          <a:xfrm>
            <a:off x="1412875" y="1162050"/>
            <a:ext cx="4178300" cy="3133725"/>
          </a:xfrm>
          <a:prstGeom prst="rect">
            <a:avLst/>
          </a:prstGeom>
          <a:noFill/>
          <a:ln w="12700">
            <a:solidFill>
              <a:prstClr val="black"/>
            </a:solidFill>
          </a:ln>
        </p:spPr>
        <p:txBody>
          <a:bodyPr vert="horz" lIns="93100" tIns="46550" rIns="93100" bIns="46550" rtlCol="0" anchor="ctr"/>
          <a:lstStyle/>
          <a:p>
            <a:endParaRPr lang="en-US" dirty="0"/>
          </a:p>
        </p:txBody>
      </p:sp>
      <p:sp>
        <p:nvSpPr>
          <p:cNvPr id="5" name="Notes Placeholder 4"/>
          <p:cNvSpPr>
            <a:spLocks noGrp="1"/>
          </p:cNvSpPr>
          <p:nvPr>
            <p:ph type="body" sz="quarter" idx="3"/>
          </p:nvPr>
        </p:nvSpPr>
        <p:spPr>
          <a:xfrm>
            <a:off x="700405" y="4470836"/>
            <a:ext cx="5603240" cy="3657957"/>
          </a:xfrm>
          <a:prstGeom prst="rect">
            <a:avLst/>
          </a:prstGeom>
        </p:spPr>
        <p:txBody>
          <a:bodyPr vert="horz" lIns="93100" tIns="46550" rIns="93100" bIns="4655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3936"/>
            <a:ext cx="3035088" cy="466115"/>
          </a:xfrm>
          <a:prstGeom prst="rect">
            <a:avLst/>
          </a:prstGeom>
        </p:spPr>
        <p:txBody>
          <a:bodyPr vert="horz" lIns="93100" tIns="46550" rIns="93100" bIns="4655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67342" y="8823936"/>
            <a:ext cx="3035088" cy="466115"/>
          </a:xfrm>
          <a:prstGeom prst="rect">
            <a:avLst/>
          </a:prstGeom>
        </p:spPr>
        <p:txBody>
          <a:bodyPr vert="horz" lIns="93100" tIns="46550" rIns="93100" bIns="46550" rtlCol="0" anchor="b"/>
          <a:lstStyle>
            <a:lvl1pPr algn="r">
              <a:defRPr sz="1200"/>
            </a:lvl1pPr>
          </a:lstStyle>
          <a:p>
            <a:fld id="{E16FB353-1A27-42F4-8445-83E72C899B2C}" type="slidenum">
              <a:rPr lang="en-US" smtClean="0"/>
              <a:t>‹#›</a:t>
            </a:fld>
            <a:endParaRPr lang="en-US" dirty="0"/>
          </a:p>
        </p:txBody>
      </p:sp>
    </p:spTree>
    <p:extLst>
      <p:ext uri="{BB962C8B-B14F-4D97-AF65-F5344CB8AC3E}">
        <p14:creationId xmlns:p14="http://schemas.microsoft.com/office/powerpoint/2010/main" val="4107689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135B0FB0-3338-2B93-05DB-D05934ADA574}"/>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Date Placeholder 3">
            <a:extLst>
              <a:ext uri="{FF2B5EF4-FFF2-40B4-BE49-F238E27FC236}">
                <a16:creationId xmlns:a16="http://schemas.microsoft.com/office/drawing/2014/main" id="{84507393-801B-44BE-A4BD-0C34EEFDF827}"/>
              </a:ext>
            </a:extLst>
          </p:cNvPr>
          <p:cNvSpPr>
            <a:spLocks noGrp="1"/>
          </p:cNvSpPr>
          <p:nvPr>
            <p:ph type="dt" sz="half" idx="2"/>
          </p:nvPr>
        </p:nvSpPr>
        <p:spPr>
          <a:xfrm>
            <a:off x="238033"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dirty="0"/>
          </a:p>
        </p:txBody>
      </p:sp>
    </p:spTree>
    <p:extLst>
      <p:ext uri="{BB962C8B-B14F-4D97-AF65-F5344CB8AC3E}">
        <p14:creationId xmlns:p14="http://schemas.microsoft.com/office/powerpoint/2010/main" val="35896094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 name="Do not remove" hidden="1">
            <a:extLst>
              <a:ext uri="{FF2B5EF4-FFF2-40B4-BE49-F238E27FC236}">
                <a16:creationId xmlns:a16="http://schemas.microsoft.com/office/drawing/2014/main" id="{26783E98-9901-D80D-85E6-DFECCE7B557A}"/>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nchor="b" anchorCtr="0">
            <a:normAutofit/>
          </a:bodyPr>
          <a:lstStyle>
            <a:lvl1pPr>
              <a:defRPr sz="32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7470009" y="6471765"/>
            <a:ext cx="1497685" cy="365125"/>
          </a:xfrm>
        </p:spPr>
        <p:txBody>
          <a:bodyPr/>
          <a:lstStyle/>
          <a:p>
            <a:fld id="{F8DDDAE5-3BDD-4D78-843B-A22FA78305BB}" type="slidenum">
              <a:rPr lang="en-US" smtClean="0"/>
              <a:t>‹#›</a:t>
            </a:fld>
            <a:endParaRPr lang="en-US" dirty="0"/>
          </a:p>
        </p:txBody>
      </p:sp>
      <p:cxnSp>
        <p:nvCxnSpPr>
          <p:cNvPr id="5" name="Straight Connector 4">
            <a:extLst>
              <a:ext uri="{FF2B5EF4-FFF2-40B4-BE49-F238E27FC236}">
                <a16:creationId xmlns:a16="http://schemas.microsoft.com/office/drawing/2014/main" id="{4B9C5F8C-1863-74EA-40A0-134B9E0B8251}"/>
              </a:ext>
            </a:extLst>
          </p:cNvPr>
          <p:cNvCxnSpPr>
            <a:cxnSpLocks/>
          </p:cNvCxnSpPr>
          <p:nvPr userDrawn="1"/>
        </p:nvCxnSpPr>
        <p:spPr>
          <a:xfrm>
            <a:off x="182880" y="871282"/>
            <a:ext cx="8778240" cy="0"/>
          </a:xfrm>
          <a:prstGeom prst="line">
            <a:avLst/>
          </a:prstGeom>
        </p:spPr>
        <p:style>
          <a:lnRef idx="2">
            <a:schemeClr val="accent1"/>
          </a:lnRef>
          <a:fillRef idx="0">
            <a:schemeClr val="accent1"/>
          </a:fillRef>
          <a:effectRef idx="1">
            <a:schemeClr val="accent1"/>
          </a:effectRef>
          <a:fontRef idx="minor">
            <a:schemeClr val="tx1"/>
          </a:fontRef>
        </p:style>
      </p:cxnSp>
      <p:pic>
        <p:nvPicPr>
          <p:cNvPr id="8" name="Picture 7" descr="A blue text on a black background">
            <a:extLst>
              <a:ext uri="{FF2B5EF4-FFF2-40B4-BE49-F238E27FC236}">
                <a16:creationId xmlns:a16="http://schemas.microsoft.com/office/drawing/2014/main" id="{FA43A07B-AC71-A6AD-3510-244711312D1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712123" y="189457"/>
            <a:ext cx="1214079" cy="399777"/>
          </a:xfrm>
          <a:prstGeom prst="rect">
            <a:avLst/>
          </a:prstGeom>
        </p:spPr>
      </p:pic>
      <p:sp>
        <p:nvSpPr>
          <p:cNvPr id="4" name="Rectangle 3">
            <a:extLst>
              <a:ext uri="{FF2B5EF4-FFF2-40B4-BE49-F238E27FC236}">
                <a16:creationId xmlns:a16="http://schemas.microsoft.com/office/drawing/2014/main" id="{054483D6-8C6F-F925-EC55-DE375AFBCA67}"/>
              </a:ext>
            </a:extLst>
          </p:cNvPr>
          <p:cNvSpPr/>
          <p:nvPr userDrawn="1"/>
        </p:nvSpPr>
        <p:spPr>
          <a:xfrm flipV="1">
            <a:off x="0" y="6812280"/>
            <a:ext cx="9144000" cy="45720"/>
          </a:xfrm>
          <a:prstGeom prst="rect">
            <a:avLst/>
          </a:prstGeom>
          <a:gradFill flip="none" rotWithShape="1">
            <a:gsLst>
              <a:gs pos="10000">
                <a:schemeClr val="bg1"/>
              </a:gs>
              <a:gs pos="50000">
                <a:schemeClr val="bg2">
                  <a:lumMod val="25000"/>
                </a:schemeClr>
              </a:gs>
              <a:gs pos="75000">
                <a:schemeClr val="bg2">
                  <a:lumMod val="25000"/>
                </a:schemeClr>
              </a:gs>
              <a:gs pos="100000">
                <a:schemeClr val="bg2">
                  <a:lumMod val="1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7" name="Rectangle 6">
            <a:extLst>
              <a:ext uri="{FF2B5EF4-FFF2-40B4-BE49-F238E27FC236}">
                <a16:creationId xmlns:a16="http://schemas.microsoft.com/office/drawing/2014/main" id="{8CD79C5E-07DE-3021-4993-DA0DBE8A16E1}"/>
              </a:ext>
            </a:extLst>
          </p:cNvPr>
          <p:cNvSpPr/>
          <p:nvPr userDrawn="1"/>
        </p:nvSpPr>
        <p:spPr>
          <a:xfrm flipH="1">
            <a:off x="-1" y="0"/>
            <a:ext cx="9144000" cy="45720"/>
          </a:xfrm>
          <a:prstGeom prst="rect">
            <a:avLst/>
          </a:prstGeom>
          <a:gradFill flip="none" rotWithShape="1">
            <a:gsLst>
              <a:gs pos="10000">
                <a:schemeClr val="bg1"/>
              </a:gs>
              <a:gs pos="50000">
                <a:schemeClr val="bg2">
                  <a:lumMod val="25000"/>
                </a:schemeClr>
              </a:gs>
              <a:gs pos="75000">
                <a:schemeClr val="bg2">
                  <a:lumMod val="25000"/>
                </a:schemeClr>
              </a:gs>
              <a:gs pos="100000">
                <a:schemeClr val="bg2">
                  <a:lumMod val="1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20552450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71F076FD-56D1-2A0B-10B9-AD0C663CBD79}"/>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221942" y="3858825"/>
            <a:ext cx="8697771" cy="664684"/>
          </a:xfrm>
        </p:spPr>
        <p:txBody>
          <a:bodyPr/>
          <a:lstStyle/>
          <a:p>
            <a:r>
              <a:rPr lang="en-US" dirty="0"/>
              <a:t>Click to edit Master title style</a:t>
            </a:r>
          </a:p>
        </p:txBody>
      </p:sp>
      <p:cxnSp>
        <p:nvCxnSpPr>
          <p:cNvPr id="3" name="Straight Connector 2">
            <a:extLst>
              <a:ext uri="{FF2B5EF4-FFF2-40B4-BE49-F238E27FC236}">
                <a16:creationId xmlns:a16="http://schemas.microsoft.com/office/drawing/2014/main" id="{8348642C-9129-3C47-A6A6-EBB59E4E832E}"/>
              </a:ext>
            </a:extLst>
          </p:cNvPr>
          <p:cNvCxnSpPr>
            <a:cxnSpLocks/>
          </p:cNvCxnSpPr>
          <p:nvPr userDrawn="1"/>
        </p:nvCxnSpPr>
        <p:spPr>
          <a:xfrm>
            <a:off x="182880" y="4520254"/>
            <a:ext cx="8778240" cy="0"/>
          </a:xfrm>
          <a:prstGeom prst="line">
            <a:avLst/>
          </a:prstGeom>
        </p:spPr>
        <p:style>
          <a:lnRef idx="2">
            <a:schemeClr val="accent1"/>
          </a:lnRef>
          <a:fillRef idx="0">
            <a:schemeClr val="accent1"/>
          </a:fillRef>
          <a:effectRef idx="1">
            <a:schemeClr val="accent1"/>
          </a:effectRef>
          <a:fontRef idx="minor">
            <a:schemeClr val="tx1"/>
          </a:fontRef>
        </p:style>
      </p:cxnSp>
      <p:sp>
        <p:nvSpPr>
          <p:cNvPr id="4" name="Text Placeholder 2">
            <a:extLst>
              <a:ext uri="{FF2B5EF4-FFF2-40B4-BE49-F238E27FC236}">
                <a16:creationId xmlns:a16="http://schemas.microsoft.com/office/drawing/2014/main" id="{52E198C5-838B-2E95-3DC4-107CDC1866C9}"/>
              </a:ext>
            </a:extLst>
          </p:cNvPr>
          <p:cNvSpPr>
            <a:spLocks noGrp="1"/>
          </p:cNvSpPr>
          <p:nvPr>
            <p:ph idx="1" hasCustomPrompt="1"/>
          </p:nvPr>
        </p:nvSpPr>
        <p:spPr>
          <a:xfrm>
            <a:off x="221942" y="4618395"/>
            <a:ext cx="1606858" cy="2070777"/>
          </a:xfrm>
          <a:prstGeom prst="rect">
            <a:avLst/>
          </a:prstGeom>
        </p:spPr>
        <p:txBody>
          <a:bodyPr vert="horz" lIns="91440" tIns="45720" rIns="91440" bIns="45720" rtlCol="0" anchor="ctr" anchorCtr="1">
            <a:normAutofit/>
          </a:bodyPr>
          <a:lstStyle>
            <a:lvl1pPr marL="0" indent="0">
              <a:buNone/>
              <a:defRPr sz="9600"/>
            </a:lvl1pPr>
          </a:lstStyle>
          <a:p>
            <a:pPr lvl="0"/>
            <a:r>
              <a:rPr lang="en-US" dirty="0"/>
              <a:t>I</a:t>
            </a:r>
          </a:p>
        </p:txBody>
      </p:sp>
      <p:pic>
        <p:nvPicPr>
          <p:cNvPr id="5" name="Picture 4" descr="A blue text on a black background">
            <a:extLst>
              <a:ext uri="{FF2B5EF4-FFF2-40B4-BE49-F238E27FC236}">
                <a16:creationId xmlns:a16="http://schemas.microsoft.com/office/drawing/2014/main" id="{DDBCB711-8686-5F2A-7E72-D0C1F08A833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712123" y="189457"/>
            <a:ext cx="1214079" cy="399777"/>
          </a:xfrm>
          <a:prstGeom prst="rect">
            <a:avLst/>
          </a:prstGeom>
        </p:spPr>
      </p:pic>
    </p:spTree>
    <p:extLst>
      <p:ext uri="{BB962C8B-B14F-4D97-AF65-F5344CB8AC3E}">
        <p14:creationId xmlns:p14="http://schemas.microsoft.com/office/powerpoint/2010/main" val="2378253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chorCtr="0">
            <a:normAutofit/>
          </a:bodyPr>
          <a:lstStyle>
            <a:lvl1pPr>
              <a:defRPr sz="3200">
                <a:latin typeface="+mj-lt"/>
              </a:defRPr>
            </a:lvl1pPr>
          </a:lstStyle>
          <a:p>
            <a:r>
              <a:rPr lang="en-US" dirty="0"/>
              <a:t>Click to edit Master title style</a:t>
            </a:r>
          </a:p>
        </p:txBody>
      </p:sp>
      <p:sp>
        <p:nvSpPr>
          <p:cNvPr id="6" name="Slide Number Placeholder 5"/>
          <p:cNvSpPr>
            <a:spLocks noGrp="1"/>
          </p:cNvSpPr>
          <p:nvPr>
            <p:ph type="sldNum" sz="quarter" idx="12"/>
          </p:nvPr>
        </p:nvSpPr>
        <p:spPr>
          <a:xfrm>
            <a:off x="7470009" y="6471765"/>
            <a:ext cx="1497685" cy="365125"/>
          </a:xfrm>
        </p:spPr>
        <p:txBody>
          <a:bodyPr/>
          <a:lstStyle/>
          <a:p>
            <a:fld id="{F8DDDAE5-3BDD-4D78-843B-A22FA78305BB}" type="slidenum">
              <a:rPr lang="en-US" smtClean="0"/>
              <a:t>‹#›</a:t>
            </a:fld>
            <a:endParaRPr lang="en-US" dirty="0"/>
          </a:p>
        </p:txBody>
      </p:sp>
      <p:cxnSp>
        <p:nvCxnSpPr>
          <p:cNvPr id="5" name="Straight Connector 4">
            <a:extLst>
              <a:ext uri="{FF2B5EF4-FFF2-40B4-BE49-F238E27FC236}">
                <a16:creationId xmlns:a16="http://schemas.microsoft.com/office/drawing/2014/main" id="{4B9C5F8C-1863-74EA-40A0-134B9E0B8251}"/>
              </a:ext>
            </a:extLst>
          </p:cNvPr>
          <p:cNvCxnSpPr>
            <a:cxnSpLocks/>
          </p:cNvCxnSpPr>
          <p:nvPr userDrawn="1"/>
        </p:nvCxnSpPr>
        <p:spPr>
          <a:xfrm>
            <a:off x="182880" y="871282"/>
            <a:ext cx="8778240" cy="0"/>
          </a:xfrm>
          <a:prstGeom prst="line">
            <a:avLst/>
          </a:prstGeom>
        </p:spPr>
        <p:style>
          <a:lnRef idx="2">
            <a:schemeClr val="accent1"/>
          </a:lnRef>
          <a:fillRef idx="0">
            <a:schemeClr val="accent1"/>
          </a:fillRef>
          <a:effectRef idx="1">
            <a:schemeClr val="accent1"/>
          </a:effectRef>
          <a:fontRef idx="minor">
            <a:schemeClr val="tx1"/>
          </a:fontRef>
        </p:style>
      </p:cxnSp>
      <p:pic>
        <p:nvPicPr>
          <p:cNvPr id="4" name="Picture 3" descr="A blue text on a black background">
            <a:extLst>
              <a:ext uri="{FF2B5EF4-FFF2-40B4-BE49-F238E27FC236}">
                <a16:creationId xmlns:a16="http://schemas.microsoft.com/office/drawing/2014/main" id="{04E46823-5B2D-960B-21FF-A5C72150EA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12123" y="189457"/>
            <a:ext cx="1214079" cy="399777"/>
          </a:xfrm>
          <a:prstGeom prst="rect">
            <a:avLst/>
          </a:prstGeom>
        </p:spPr>
      </p:pic>
      <p:sp>
        <p:nvSpPr>
          <p:cNvPr id="3" name="Rectangle 2">
            <a:extLst>
              <a:ext uri="{FF2B5EF4-FFF2-40B4-BE49-F238E27FC236}">
                <a16:creationId xmlns:a16="http://schemas.microsoft.com/office/drawing/2014/main" id="{395E2050-4449-9EC3-7100-62B71E1EFAFC}"/>
              </a:ext>
            </a:extLst>
          </p:cNvPr>
          <p:cNvSpPr/>
          <p:nvPr userDrawn="1"/>
        </p:nvSpPr>
        <p:spPr>
          <a:xfrm flipV="1">
            <a:off x="0" y="6812280"/>
            <a:ext cx="9144000" cy="45720"/>
          </a:xfrm>
          <a:prstGeom prst="rect">
            <a:avLst/>
          </a:prstGeom>
          <a:gradFill flip="none" rotWithShape="1">
            <a:gsLst>
              <a:gs pos="10000">
                <a:schemeClr val="bg1"/>
              </a:gs>
              <a:gs pos="50000">
                <a:schemeClr val="bg2">
                  <a:lumMod val="25000"/>
                </a:schemeClr>
              </a:gs>
              <a:gs pos="75000">
                <a:schemeClr val="bg2">
                  <a:lumMod val="25000"/>
                </a:schemeClr>
              </a:gs>
              <a:gs pos="100000">
                <a:schemeClr val="bg2">
                  <a:lumMod val="1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7" name="Rectangle 6">
            <a:extLst>
              <a:ext uri="{FF2B5EF4-FFF2-40B4-BE49-F238E27FC236}">
                <a16:creationId xmlns:a16="http://schemas.microsoft.com/office/drawing/2014/main" id="{D5F5281D-7CF2-729B-A856-0E4742FCFAAF}"/>
              </a:ext>
            </a:extLst>
          </p:cNvPr>
          <p:cNvSpPr/>
          <p:nvPr userDrawn="1"/>
        </p:nvSpPr>
        <p:spPr>
          <a:xfrm flipH="1">
            <a:off x="-1" y="0"/>
            <a:ext cx="9144000" cy="45720"/>
          </a:xfrm>
          <a:prstGeom prst="rect">
            <a:avLst/>
          </a:prstGeom>
          <a:gradFill flip="none" rotWithShape="1">
            <a:gsLst>
              <a:gs pos="10000">
                <a:schemeClr val="bg1"/>
              </a:gs>
              <a:gs pos="50000">
                <a:schemeClr val="bg2">
                  <a:lumMod val="25000"/>
                </a:schemeClr>
              </a:gs>
              <a:gs pos="75000">
                <a:schemeClr val="bg2">
                  <a:lumMod val="25000"/>
                </a:schemeClr>
              </a:gs>
              <a:gs pos="100000">
                <a:schemeClr val="bg2">
                  <a:lumMod val="1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113313249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3" name="Picture 2" descr="A blue text on a black background">
            <a:extLst>
              <a:ext uri="{FF2B5EF4-FFF2-40B4-BE49-F238E27FC236}">
                <a16:creationId xmlns:a16="http://schemas.microsoft.com/office/drawing/2014/main" id="{31FBAE24-30B1-D0E7-7F27-B506CFD233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171724" y="5166081"/>
            <a:ext cx="2800552" cy="922179"/>
          </a:xfrm>
          <a:prstGeom prst="rect">
            <a:avLst/>
          </a:prstGeom>
        </p:spPr>
      </p:pic>
      <p:sp>
        <p:nvSpPr>
          <p:cNvPr id="4" name="Title Placeholder 1">
            <a:extLst>
              <a:ext uri="{FF2B5EF4-FFF2-40B4-BE49-F238E27FC236}">
                <a16:creationId xmlns:a16="http://schemas.microsoft.com/office/drawing/2014/main" id="{9DEC6519-E07B-BE8E-E9DE-E2CA8C58442C}"/>
              </a:ext>
            </a:extLst>
          </p:cNvPr>
          <p:cNvSpPr>
            <a:spLocks noGrp="1"/>
          </p:cNvSpPr>
          <p:nvPr>
            <p:ph type="title"/>
          </p:nvPr>
        </p:nvSpPr>
        <p:spPr>
          <a:xfrm>
            <a:off x="221942" y="218485"/>
            <a:ext cx="8697771" cy="664684"/>
          </a:xfrm>
          <a:prstGeom prst="rect">
            <a:avLst/>
          </a:prstGeom>
        </p:spPr>
        <p:txBody>
          <a:bodyPr vert="horz" lIns="91440" tIns="45720" rIns="91440" bIns="45720" rtlCol="0" anchor="b" anchorCtr="0">
            <a:normAutofit/>
          </a:bodyPr>
          <a:lstStyle>
            <a:lvl1pPr algn="ctr">
              <a:defRPr/>
            </a:lvl1pPr>
          </a:lstStyle>
          <a:p>
            <a:r>
              <a:rPr lang="en-US" dirty="0"/>
              <a:t>Click to edit Master title style</a:t>
            </a:r>
          </a:p>
        </p:txBody>
      </p:sp>
    </p:spTree>
    <p:extLst>
      <p:ext uri="{BB962C8B-B14F-4D97-AF65-F5344CB8AC3E}">
        <p14:creationId xmlns:p14="http://schemas.microsoft.com/office/powerpoint/2010/main" val="339401871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1942" y="218485"/>
            <a:ext cx="8697771" cy="664684"/>
          </a:xfrm>
          <a:prstGeom prst="rect">
            <a:avLst/>
          </a:prstGeom>
        </p:spPr>
        <p:txBody>
          <a:bodyPr vert="horz" lIns="91440" tIns="45720" rIns="91440" bIns="45720" rtlCol="0" anchor="b" anchorCtr="0">
            <a:normAutofit/>
          </a:bodyPr>
          <a:lstStyle/>
          <a:p>
            <a:r>
              <a:rPr lang="en-US" dirty="0"/>
              <a:t>Click to edit Master title style</a:t>
            </a:r>
          </a:p>
        </p:txBody>
      </p:sp>
      <p:sp>
        <p:nvSpPr>
          <p:cNvPr id="3" name="Text Placeholder 2"/>
          <p:cNvSpPr>
            <a:spLocks noGrp="1"/>
          </p:cNvSpPr>
          <p:nvPr>
            <p:ph type="body" idx="1"/>
          </p:nvPr>
        </p:nvSpPr>
        <p:spPr>
          <a:xfrm>
            <a:off x="221942" y="1825625"/>
            <a:ext cx="869777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7425620" y="6480641"/>
            <a:ext cx="1497685" cy="365125"/>
          </a:xfrm>
          <a:prstGeom prst="rect">
            <a:avLst/>
          </a:prstGeom>
        </p:spPr>
        <p:txBody>
          <a:bodyPr vert="horz" lIns="91440" tIns="45720" rIns="91440" bIns="45720" rtlCol="0" anchor="ctr"/>
          <a:lstStyle>
            <a:lvl1pPr algn="r">
              <a:defRPr sz="1000">
                <a:solidFill>
                  <a:schemeClr val="tx1">
                    <a:tint val="82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47885495"/>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91" r:id="rId3"/>
    <p:sldLayoutId id="2147483692" r:id="rId4"/>
    <p:sldLayoutId id="2147483695" r:id="rId5"/>
  </p:sldLayoutIdLst>
  <p:hf hdr="0" ftr="0" dt="0"/>
  <p:txStyles>
    <p:titleStyle>
      <a:lvl1pPr algn="l" defTabSz="914400" rtl="0" eaLnBrk="1" latinLnBrk="0" hangingPunct="1">
        <a:lnSpc>
          <a:spcPct val="90000"/>
        </a:lnSpc>
        <a:spcBef>
          <a:spcPct val="0"/>
        </a:spcBef>
        <a:buNone/>
        <a:defRPr sz="3200" kern="1200">
          <a:solidFill>
            <a:schemeClr val="tx1"/>
          </a:solidFill>
          <a:latin typeface="+mj-lt"/>
          <a:ea typeface="Calibri" panose="020F0502020204030204" pitchFamily="34" charset="0"/>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18" Type="http://schemas.openxmlformats.org/officeDocument/2006/relationships/image" Target="../media/image20.png"/><Relationship Id="rId3" Type="http://schemas.openxmlformats.org/officeDocument/2006/relationships/tags" Target="../tags/tag7.xml"/><Relationship Id="rId7" Type="http://schemas.openxmlformats.org/officeDocument/2006/relationships/slideLayout" Target="../slideLayouts/slideLayout2.xml"/><Relationship Id="rId12" Type="http://schemas.openxmlformats.org/officeDocument/2006/relationships/image" Target="../media/image14.png"/><Relationship Id="rId17" Type="http://schemas.openxmlformats.org/officeDocument/2006/relationships/image" Target="../media/image19.svg"/><Relationship Id="rId2" Type="http://schemas.openxmlformats.org/officeDocument/2006/relationships/tags" Target="../tags/tag6.xml"/><Relationship Id="rId16" Type="http://schemas.openxmlformats.org/officeDocument/2006/relationships/image" Target="../media/image18.png"/><Relationship Id="rId1" Type="http://schemas.openxmlformats.org/officeDocument/2006/relationships/tags" Target="../tags/tag5.xml"/><Relationship Id="rId6" Type="http://schemas.openxmlformats.org/officeDocument/2006/relationships/tags" Target="../tags/tag10.xml"/><Relationship Id="rId11" Type="http://schemas.openxmlformats.org/officeDocument/2006/relationships/image" Target="../media/image13.svg"/><Relationship Id="rId5" Type="http://schemas.openxmlformats.org/officeDocument/2006/relationships/tags" Target="../tags/tag9.xml"/><Relationship Id="rId15" Type="http://schemas.openxmlformats.org/officeDocument/2006/relationships/image" Target="../media/image17.svg"/><Relationship Id="rId10" Type="http://schemas.openxmlformats.org/officeDocument/2006/relationships/image" Target="../media/image12.png"/><Relationship Id="rId19" Type="http://schemas.openxmlformats.org/officeDocument/2006/relationships/image" Target="../media/image21.svg"/><Relationship Id="rId4" Type="http://schemas.openxmlformats.org/officeDocument/2006/relationships/tags" Target="../tags/tag8.xml"/><Relationship Id="rId9" Type="http://schemas.openxmlformats.org/officeDocument/2006/relationships/image" Target="../media/image11.svg"/><Relationship Id="rId14"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jpe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9.jpe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41.emf"/><Relationship Id="rId1" Type="http://schemas.openxmlformats.org/officeDocument/2006/relationships/slideLayout" Target="../slideLayouts/slideLayout2.xml"/><Relationship Id="rId4" Type="http://schemas.openxmlformats.org/officeDocument/2006/relationships/image" Target="../media/image43.emf"/></Relationships>
</file>

<file path=ppt/slides/_rels/slide25.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emf"/><Relationship Id="rId1" Type="http://schemas.openxmlformats.org/officeDocument/2006/relationships/slideLayout" Target="../slideLayouts/slideLayout2.xml"/><Relationship Id="rId4" Type="http://schemas.openxmlformats.org/officeDocument/2006/relationships/image" Target="../media/image46.emf"/></Relationships>
</file>

<file path=ppt/slides/_rels/slide26.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svg"/><Relationship Id="rId7" Type="http://schemas.openxmlformats.org/officeDocument/2006/relationships/image" Target="../media/image55.sv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4.png"/><Relationship Id="rId11" Type="http://schemas.openxmlformats.org/officeDocument/2006/relationships/image" Target="../media/image59.png"/><Relationship Id="rId5" Type="http://schemas.openxmlformats.org/officeDocument/2006/relationships/image" Target="../media/image53.svg"/><Relationship Id="rId10" Type="http://schemas.openxmlformats.org/officeDocument/2006/relationships/image" Target="../media/image58.png"/><Relationship Id="rId4" Type="http://schemas.openxmlformats.org/officeDocument/2006/relationships/image" Target="../media/image52.png"/><Relationship Id="rId9" Type="http://schemas.openxmlformats.org/officeDocument/2006/relationships/image" Target="../media/image57.svg"/></Relationships>
</file>

<file path=ppt/slides/_rels/slide3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mailto:schmidtna1@yahoo.com"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mailto:greames@brentwoodcapital.com" TargetMode="External"/><Relationship Id="rId2" Type="http://schemas.openxmlformats.org/officeDocument/2006/relationships/hyperlink" Target="mailto:pallen@cainbrothers.com" TargetMode="External"/><Relationship Id="rId1" Type="http://schemas.openxmlformats.org/officeDocument/2006/relationships/slideLayout" Target="../slideLayouts/slideLayout2.xml"/><Relationship Id="rId6" Type="http://schemas.openxmlformats.org/officeDocument/2006/relationships/hyperlink" Target="mailto:jmastracci@tmcapital.com" TargetMode="External"/><Relationship Id="rId5" Type="http://schemas.openxmlformats.org/officeDocument/2006/relationships/hyperlink" Target="mailto:msteffens@palmtreellc.com" TargetMode="External"/><Relationship Id="rId4" Type="http://schemas.openxmlformats.org/officeDocument/2006/relationships/hyperlink" Target="mailto:ansmith@hl.com"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s://www.sambahq.org/2025-annual-meeting" TargetMode="External"/><Relationship Id="rId2" Type="http://schemas.openxmlformats.org/officeDocument/2006/relationships/hyperlink" Target="https://www.asahq.org/annualmeeting" TargetMode="External"/><Relationship Id="rId1" Type="http://schemas.openxmlformats.org/officeDocument/2006/relationships/slideLayout" Target="../slideLayouts/slideLayout2.xml"/><Relationship Id="rId4" Type="http://schemas.openxmlformats.org/officeDocument/2006/relationships/hyperlink" Target="https://www.ascassociation.org/annualconference/schedule" TargetMode="Externa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image" Target="../media/image71.emf"/><Relationship Id="rId3" Type="http://schemas.openxmlformats.org/officeDocument/2006/relationships/image" Target="../media/image66.emf"/><Relationship Id="rId7" Type="http://schemas.openxmlformats.org/officeDocument/2006/relationships/image" Target="../media/image70.emf"/><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69.emf"/><Relationship Id="rId5" Type="http://schemas.openxmlformats.org/officeDocument/2006/relationships/image" Target="../media/image68.emf"/><Relationship Id="rId4" Type="http://schemas.openxmlformats.org/officeDocument/2006/relationships/image" Target="../media/image67.png"/></Relationships>
</file>

<file path=ppt/slides/_rels/slide5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emf"/><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5.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77.emf"/><Relationship Id="rId2" Type="http://schemas.openxmlformats.org/officeDocument/2006/relationships/image" Target="../media/image76.e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78.e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lue text on a black background">
            <a:extLst>
              <a:ext uri="{FF2B5EF4-FFF2-40B4-BE49-F238E27FC236}">
                <a16:creationId xmlns:a16="http://schemas.microsoft.com/office/drawing/2014/main" id="{7263ED94-6690-7149-53B0-AD3189BDEE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0066" y="1331225"/>
            <a:ext cx="3583867" cy="1180108"/>
          </a:xfrm>
          <a:prstGeom prst="rect">
            <a:avLst/>
          </a:prstGeom>
        </p:spPr>
      </p:pic>
      <p:sp>
        <p:nvSpPr>
          <p:cNvPr id="3" name="TextBox 2">
            <a:extLst>
              <a:ext uri="{FF2B5EF4-FFF2-40B4-BE49-F238E27FC236}">
                <a16:creationId xmlns:a16="http://schemas.microsoft.com/office/drawing/2014/main" id="{14508B32-551C-9672-8CA5-2E43D2A570D8}"/>
              </a:ext>
            </a:extLst>
          </p:cNvPr>
          <p:cNvSpPr txBox="1"/>
          <p:nvPr/>
        </p:nvSpPr>
        <p:spPr>
          <a:xfrm>
            <a:off x="1976324" y="3173550"/>
            <a:ext cx="5267158" cy="1585049"/>
          </a:xfrm>
          <a:prstGeom prst="rect">
            <a:avLst/>
          </a:prstGeom>
          <a:noFill/>
        </p:spPr>
        <p:txBody>
          <a:bodyPr wrap="square" rtlCol="0">
            <a:spAutoFit/>
          </a:bodyPr>
          <a:lstStyle/>
          <a:p>
            <a:pPr algn="ctr"/>
            <a:r>
              <a:rPr lang="en-US" sz="2600" b="1" dirty="0">
                <a:solidFill>
                  <a:schemeClr val="tx2"/>
                </a:solidFill>
                <a:latin typeface="+mj-lt"/>
              </a:rPr>
              <a:t>Investment Memorandum</a:t>
            </a:r>
          </a:p>
          <a:p>
            <a:pPr algn="ctr"/>
            <a:endParaRPr lang="en-US" sz="1100" b="1" dirty="0">
              <a:solidFill>
                <a:schemeClr val="tx2"/>
              </a:solidFill>
              <a:latin typeface="+mj-lt"/>
            </a:endParaRPr>
          </a:p>
          <a:p>
            <a:pPr algn="ctr"/>
            <a:r>
              <a:rPr lang="en-US" sz="2400" dirty="0">
                <a:solidFill>
                  <a:schemeClr val="tx2"/>
                </a:solidFill>
                <a:latin typeface="+mj-lt"/>
              </a:rPr>
              <a:t>Ambulatory Anesthesia Solutions, LLC</a:t>
            </a:r>
          </a:p>
          <a:p>
            <a:pPr algn="ctr"/>
            <a:r>
              <a:rPr lang="en-US" dirty="0">
                <a:solidFill>
                  <a:schemeClr val="tx2"/>
                </a:solidFill>
                <a:latin typeface="+mj-lt"/>
              </a:rPr>
              <a:t>(“AAS”)</a:t>
            </a:r>
          </a:p>
          <a:p>
            <a:pPr algn="ctr"/>
            <a:r>
              <a:rPr lang="en-US" dirty="0">
                <a:solidFill>
                  <a:schemeClr val="bg2">
                    <a:lumMod val="75000"/>
                  </a:schemeClr>
                </a:solidFill>
                <a:latin typeface="+mj-lt"/>
              </a:rPr>
              <a:t>November 2025</a:t>
            </a:r>
          </a:p>
        </p:txBody>
      </p:sp>
      <p:sp>
        <p:nvSpPr>
          <p:cNvPr id="5" name="TextBox 4">
            <a:extLst>
              <a:ext uri="{FF2B5EF4-FFF2-40B4-BE49-F238E27FC236}">
                <a16:creationId xmlns:a16="http://schemas.microsoft.com/office/drawing/2014/main" id="{C4942D9A-AD3B-A31A-73CC-3D3DB9C22DCE}"/>
              </a:ext>
            </a:extLst>
          </p:cNvPr>
          <p:cNvSpPr txBox="1"/>
          <p:nvPr/>
        </p:nvSpPr>
        <p:spPr>
          <a:xfrm>
            <a:off x="0" y="6548922"/>
            <a:ext cx="2539529" cy="307777"/>
          </a:xfrm>
          <a:prstGeom prst="rect">
            <a:avLst/>
          </a:prstGeom>
          <a:noFill/>
        </p:spPr>
        <p:txBody>
          <a:bodyPr wrap="square" rtlCol="0">
            <a:spAutoFit/>
          </a:bodyPr>
          <a:lstStyle/>
          <a:p>
            <a:r>
              <a:rPr lang="en-US" sz="1400" b="1" i="1" dirty="0">
                <a:solidFill>
                  <a:srgbClr val="C00000"/>
                </a:solidFill>
                <a:latin typeface="+mj-lt"/>
              </a:rPr>
              <a:t>Confidential</a:t>
            </a:r>
            <a:endParaRPr lang="en-US" sz="1050" i="1" dirty="0">
              <a:solidFill>
                <a:srgbClr val="C00000"/>
              </a:solidFill>
              <a:latin typeface="+mj-lt"/>
            </a:endParaRPr>
          </a:p>
        </p:txBody>
      </p:sp>
      <p:cxnSp>
        <p:nvCxnSpPr>
          <p:cNvPr id="7" name="Straight Connector 6">
            <a:extLst>
              <a:ext uri="{FF2B5EF4-FFF2-40B4-BE49-F238E27FC236}">
                <a16:creationId xmlns:a16="http://schemas.microsoft.com/office/drawing/2014/main" id="{5F339DF7-0812-ADE6-6D27-874607A78E47}"/>
              </a:ext>
            </a:extLst>
          </p:cNvPr>
          <p:cNvCxnSpPr>
            <a:cxnSpLocks/>
          </p:cNvCxnSpPr>
          <p:nvPr/>
        </p:nvCxnSpPr>
        <p:spPr>
          <a:xfrm>
            <a:off x="1188720" y="3171723"/>
            <a:ext cx="6766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7306EC2D-D124-167F-FAE0-BD84ABD6D16F}"/>
              </a:ext>
            </a:extLst>
          </p:cNvPr>
          <p:cNvCxnSpPr>
            <a:cxnSpLocks/>
          </p:cNvCxnSpPr>
          <p:nvPr/>
        </p:nvCxnSpPr>
        <p:spPr>
          <a:xfrm>
            <a:off x="1188720" y="4739034"/>
            <a:ext cx="6766560" cy="0"/>
          </a:xfrm>
          <a:prstGeom prst="line">
            <a:avLst/>
          </a:prstGeom>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478B9E44-F28D-0902-9CDE-ADCC1A0AE94B}"/>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3634139" y="4908636"/>
            <a:ext cx="1703194" cy="1517130"/>
          </a:xfrm>
          <a:prstGeom prst="rect">
            <a:avLst/>
          </a:prstGeom>
        </p:spPr>
      </p:pic>
    </p:spTree>
    <p:extLst>
      <p:ext uri="{BB962C8B-B14F-4D97-AF65-F5344CB8AC3E}">
        <p14:creationId xmlns:p14="http://schemas.microsoft.com/office/powerpoint/2010/main" val="1451186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E121F-16D2-8A7D-73DD-442A052321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DB249E-A6F6-DCE5-0A86-71D88CE3A5FA}"/>
              </a:ext>
            </a:extLst>
          </p:cNvPr>
          <p:cNvSpPr>
            <a:spLocks noGrp="1"/>
          </p:cNvSpPr>
          <p:nvPr>
            <p:ph type="title"/>
          </p:nvPr>
        </p:nvSpPr>
        <p:spPr/>
        <p:txBody>
          <a:bodyPr>
            <a:normAutofit/>
          </a:bodyPr>
          <a:lstStyle/>
          <a:p>
            <a:r>
              <a:rPr lang="en-US" dirty="0"/>
              <a:t>Index</a:t>
            </a:r>
          </a:p>
        </p:txBody>
      </p:sp>
      <p:sp>
        <p:nvSpPr>
          <p:cNvPr id="3" name="TextBox 2">
            <a:extLst>
              <a:ext uri="{FF2B5EF4-FFF2-40B4-BE49-F238E27FC236}">
                <a16:creationId xmlns:a16="http://schemas.microsoft.com/office/drawing/2014/main" id="{DC210A66-6850-DC89-56EB-3F2BDCBBB5A4}"/>
              </a:ext>
            </a:extLst>
          </p:cNvPr>
          <p:cNvSpPr txBox="1"/>
          <p:nvPr/>
        </p:nvSpPr>
        <p:spPr>
          <a:xfrm>
            <a:off x="221942" y="1395663"/>
            <a:ext cx="8132786" cy="3385542"/>
          </a:xfrm>
          <a:prstGeom prst="rect">
            <a:avLst/>
          </a:prstGeom>
          <a:noFill/>
        </p:spPr>
        <p:txBody>
          <a:bodyPr wrap="square" rtlCol="0">
            <a:spAutoFit/>
          </a:bodyPr>
          <a:lstStyle/>
          <a:p>
            <a:pPr marL="400050" indent="-400050">
              <a:spcBef>
                <a:spcPts val="600"/>
              </a:spcBef>
              <a:spcAft>
                <a:spcPts val="600"/>
              </a:spcAft>
              <a:buAutoNum type="romanUcPeriod"/>
            </a:pPr>
            <a:r>
              <a:rPr lang="en-US" dirty="0"/>
              <a:t>Executive Summary</a:t>
            </a:r>
          </a:p>
          <a:p>
            <a:pPr marL="400050" indent="-400050">
              <a:spcBef>
                <a:spcPts val="600"/>
              </a:spcBef>
              <a:spcAft>
                <a:spcPts val="600"/>
              </a:spcAft>
              <a:buAutoNum type="romanUcPeriod"/>
            </a:pPr>
            <a:r>
              <a:rPr lang="en-US" dirty="0"/>
              <a:t>Company Overview</a:t>
            </a:r>
          </a:p>
          <a:p>
            <a:pPr marL="400050" indent="-400050">
              <a:spcBef>
                <a:spcPts val="600"/>
              </a:spcBef>
              <a:spcAft>
                <a:spcPts val="600"/>
              </a:spcAft>
              <a:buAutoNum type="romanUcPeriod"/>
            </a:pPr>
            <a:r>
              <a:rPr lang="en-US" dirty="0"/>
              <a:t>Valuation Summary &amp; Model Outputs</a:t>
            </a:r>
          </a:p>
          <a:p>
            <a:pPr marL="400050" indent="-400050">
              <a:spcBef>
                <a:spcPts val="600"/>
              </a:spcBef>
              <a:spcAft>
                <a:spcPts val="600"/>
              </a:spcAft>
              <a:buAutoNum type="romanUcPeriod"/>
            </a:pPr>
            <a:r>
              <a:rPr lang="en-US" dirty="0"/>
              <a:t>Key Risks &amp; Mitigants</a:t>
            </a:r>
          </a:p>
          <a:p>
            <a:pPr marL="400050" indent="-400050">
              <a:spcBef>
                <a:spcPts val="600"/>
              </a:spcBef>
              <a:spcAft>
                <a:spcPts val="600"/>
              </a:spcAft>
              <a:buAutoNum type="romanUcPeriod"/>
            </a:pPr>
            <a:r>
              <a:rPr lang="en-US" dirty="0"/>
              <a:t>Sector Overview – Anesthesia and ASCs</a:t>
            </a:r>
          </a:p>
          <a:p>
            <a:pPr marL="400050" indent="-400050">
              <a:spcBef>
                <a:spcPts val="600"/>
              </a:spcBef>
              <a:spcAft>
                <a:spcPts val="600"/>
              </a:spcAft>
              <a:buAutoNum type="romanUcPeriod"/>
            </a:pPr>
            <a:r>
              <a:rPr lang="en-US" dirty="0"/>
              <a:t>Financing Status Update</a:t>
            </a:r>
          </a:p>
          <a:p>
            <a:pPr marL="400050" indent="-400050">
              <a:spcBef>
                <a:spcPts val="600"/>
              </a:spcBef>
              <a:spcAft>
                <a:spcPts val="600"/>
              </a:spcAft>
              <a:buAutoNum type="romanUcPeriod"/>
            </a:pPr>
            <a:r>
              <a:rPr lang="en-US" dirty="0"/>
              <a:t>Legal Update</a:t>
            </a:r>
          </a:p>
          <a:p>
            <a:pPr marL="400050" indent="-400050">
              <a:spcBef>
                <a:spcPts val="600"/>
              </a:spcBef>
              <a:spcAft>
                <a:spcPts val="600"/>
              </a:spcAft>
              <a:buAutoNum type="romanUcPeriod"/>
            </a:pPr>
            <a:r>
              <a:rPr lang="en-US" dirty="0"/>
              <a:t>Due Diligence Updates</a:t>
            </a:r>
          </a:p>
        </p:txBody>
      </p:sp>
      <p:sp>
        <p:nvSpPr>
          <p:cNvPr id="4" name="Slide Number Placeholder 3">
            <a:extLst>
              <a:ext uri="{FF2B5EF4-FFF2-40B4-BE49-F238E27FC236}">
                <a16:creationId xmlns:a16="http://schemas.microsoft.com/office/drawing/2014/main" id="{F3FF09ED-CE5B-0F04-64E2-2E0604A116B7}"/>
              </a:ext>
            </a:extLst>
          </p:cNvPr>
          <p:cNvSpPr>
            <a:spLocks noGrp="1"/>
          </p:cNvSpPr>
          <p:nvPr>
            <p:ph type="sldNum" sz="quarter" idx="12"/>
          </p:nvPr>
        </p:nvSpPr>
        <p:spPr/>
        <p:txBody>
          <a:bodyPr/>
          <a:lstStyle/>
          <a:p>
            <a:fld id="{F8DDDAE5-3BDD-4D78-843B-A22FA78305BB}" type="slidenum">
              <a:rPr lang="en-US" smtClean="0"/>
              <a:t>2</a:t>
            </a:fld>
            <a:endParaRPr lang="en-US" dirty="0"/>
          </a:p>
        </p:txBody>
      </p:sp>
    </p:spTree>
    <p:extLst>
      <p:ext uri="{BB962C8B-B14F-4D97-AF65-F5344CB8AC3E}">
        <p14:creationId xmlns:p14="http://schemas.microsoft.com/office/powerpoint/2010/main" val="9898673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BE1D5-2E3D-B9ED-6F55-2B613C3CC0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681102-122F-34FA-9D0D-51EC68FDA354}"/>
              </a:ext>
            </a:extLst>
          </p:cNvPr>
          <p:cNvSpPr>
            <a:spLocks noGrp="1"/>
          </p:cNvSpPr>
          <p:nvPr>
            <p:ph type="title"/>
          </p:nvPr>
        </p:nvSpPr>
        <p:spPr/>
        <p:txBody>
          <a:bodyPr>
            <a:normAutofit/>
          </a:bodyPr>
          <a:lstStyle/>
          <a:p>
            <a:r>
              <a:rPr lang="en-US" dirty="0"/>
              <a:t>Timeline &amp; Diligence Update</a:t>
            </a:r>
          </a:p>
        </p:txBody>
      </p:sp>
      <p:sp>
        <p:nvSpPr>
          <p:cNvPr id="3" name="Slide Number Placeholder 8">
            <a:extLst>
              <a:ext uri="{FF2B5EF4-FFF2-40B4-BE49-F238E27FC236}">
                <a16:creationId xmlns:a16="http://schemas.microsoft.com/office/drawing/2014/main" id="{B9E193BD-1C64-B1CF-1729-11D65A09B2A8}"/>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3</a:t>
            </a:fld>
            <a:endParaRPr lang="en-US" dirty="0"/>
          </a:p>
        </p:txBody>
      </p:sp>
      <p:sp>
        <p:nvSpPr>
          <p:cNvPr id="13" name="TextBox 12">
            <a:extLst>
              <a:ext uri="{FF2B5EF4-FFF2-40B4-BE49-F238E27FC236}">
                <a16:creationId xmlns:a16="http://schemas.microsoft.com/office/drawing/2014/main" id="{541C8EA2-CABF-0637-0997-1D0060FFCD7C}"/>
              </a:ext>
            </a:extLst>
          </p:cNvPr>
          <p:cNvSpPr txBox="1"/>
          <p:nvPr/>
        </p:nvSpPr>
        <p:spPr>
          <a:xfrm>
            <a:off x="228600" y="981789"/>
            <a:ext cx="8686800" cy="851515"/>
          </a:xfrm>
          <a:prstGeom prst="rect">
            <a:avLst/>
          </a:prstGeom>
          <a:noFill/>
        </p:spPr>
        <p:txBody>
          <a:bodyPr wrap="square" rtlCol="0">
            <a:spAutoFit/>
          </a:bodyPr>
          <a:lstStyle/>
          <a:p>
            <a:pPr marL="228600" indent="-228600">
              <a:spcBef>
                <a:spcPts val="400"/>
              </a:spcBef>
              <a:spcAft>
                <a:spcPts val="400"/>
              </a:spcAft>
              <a:buFont typeface="Arial" panose="020B0604020202020204" pitchFamily="34" charset="0"/>
              <a:buChar char="•"/>
            </a:pPr>
            <a:r>
              <a:rPr lang="en-US" sz="1200" b="1" u="sng" dirty="0"/>
              <a:t>Date of Signed LOI</a:t>
            </a:r>
            <a:r>
              <a:rPr lang="en-US" sz="1200" dirty="0"/>
              <a:t>: 6/2/2025</a:t>
            </a:r>
          </a:p>
          <a:p>
            <a:pPr marL="228600" indent="-228600">
              <a:spcBef>
                <a:spcPts val="400"/>
              </a:spcBef>
              <a:spcAft>
                <a:spcPts val="400"/>
              </a:spcAft>
              <a:buFont typeface="Arial" panose="020B0604020202020204" pitchFamily="34" charset="0"/>
              <a:buChar char="•"/>
            </a:pPr>
            <a:r>
              <a:rPr lang="en-US" sz="1200" b="1" u="sng" dirty="0"/>
              <a:t>Days Since LOI Signing</a:t>
            </a:r>
            <a:r>
              <a:rPr lang="en-US" sz="1200" dirty="0"/>
              <a:t>: 146 (as of 10/26/2025)</a:t>
            </a:r>
          </a:p>
          <a:p>
            <a:pPr marL="228600" indent="-228600">
              <a:spcBef>
                <a:spcPts val="400"/>
              </a:spcBef>
              <a:spcAft>
                <a:spcPts val="400"/>
              </a:spcAft>
              <a:buFont typeface="Arial" panose="020B0604020202020204" pitchFamily="34" charset="0"/>
              <a:buChar char="•"/>
            </a:pPr>
            <a:r>
              <a:rPr lang="en-US" sz="1200" b="1" u="sng" dirty="0"/>
              <a:t>Proposed Close Date</a:t>
            </a:r>
            <a:r>
              <a:rPr lang="en-US" sz="1200" dirty="0"/>
              <a:t>: 11/7/2025</a:t>
            </a:r>
          </a:p>
        </p:txBody>
      </p:sp>
      <p:pic>
        <p:nvPicPr>
          <p:cNvPr id="5" name="Picture 4">
            <a:extLst>
              <a:ext uri="{FF2B5EF4-FFF2-40B4-BE49-F238E27FC236}">
                <a16:creationId xmlns:a16="http://schemas.microsoft.com/office/drawing/2014/main" id="{89F8DE4F-46FD-FE11-E393-4BCF3407DF2A}"/>
              </a:ext>
            </a:extLst>
          </p:cNvPr>
          <p:cNvPicPr>
            <a:picLocks noChangeAspect="1"/>
          </p:cNvPicPr>
          <p:nvPr/>
        </p:nvPicPr>
        <p:blipFill>
          <a:blip r:embed="rId2"/>
          <a:stretch>
            <a:fillRect/>
          </a:stretch>
        </p:blipFill>
        <p:spPr>
          <a:xfrm>
            <a:off x="45720" y="1925388"/>
            <a:ext cx="9052560" cy="3963079"/>
          </a:xfrm>
          <a:prstGeom prst="rect">
            <a:avLst/>
          </a:prstGeom>
        </p:spPr>
      </p:pic>
    </p:spTree>
    <p:extLst>
      <p:ext uri="{BB962C8B-B14F-4D97-AF65-F5344CB8AC3E}">
        <p14:creationId xmlns:p14="http://schemas.microsoft.com/office/powerpoint/2010/main" val="1724302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66D32-4CEF-AE31-6B1D-725E32A0CE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1C5CCB-B9FF-3838-BE14-5D2EA5ECAE52}"/>
              </a:ext>
            </a:extLst>
          </p:cNvPr>
          <p:cNvSpPr>
            <a:spLocks noGrp="1"/>
          </p:cNvSpPr>
          <p:nvPr>
            <p:ph type="title"/>
          </p:nvPr>
        </p:nvSpPr>
        <p:spPr/>
        <p:txBody>
          <a:bodyPr/>
          <a:lstStyle/>
          <a:p>
            <a:r>
              <a:rPr lang="en-US" dirty="0"/>
              <a:t>Executive Summary</a:t>
            </a:r>
          </a:p>
        </p:txBody>
      </p:sp>
      <p:sp>
        <p:nvSpPr>
          <p:cNvPr id="3" name="TextBox 2">
            <a:extLst>
              <a:ext uri="{FF2B5EF4-FFF2-40B4-BE49-F238E27FC236}">
                <a16:creationId xmlns:a16="http://schemas.microsoft.com/office/drawing/2014/main" id="{64E20C28-2C3D-0BC3-9073-5409581337C0}"/>
              </a:ext>
            </a:extLst>
          </p:cNvPr>
          <p:cNvSpPr txBox="1"/>
          <p:nvPr/>
        </p:nvSpPr>
        <p:spPr>
          <a:xfrm>
            <a:off x="221942" y="4687503"/>
            <a:ext cx="1558731" cy="1862048"/>
          </a:xfrm>
          <a:prstGeom prst="rect">
            <a:avLst/>
          </a:prstGeom>
          <a:noFill/>
        </p:spPr>
        <p:txBody>
          <a:bodyPr wrap="square" rtlCol="0">
            <a:spAutoFit/>
          </a:bodyPr>
          <a:lstStyle/>
          <a:p>
            <a:r>
              <a:rPr lang="en-US" sz="11500" dirty="0"/>
              <a:t>I</a:t>
            </a:r>
          </a:p>
        </p:txBody>
      </p:sp>
      <p:pic>
        <p:nvPicPr>
          <p:cNvPr id="4" name="Picture 3">
            <a:extLst>
              <a:ext uri="{FF2B5EF4-FFF2-40B4-BE49-F238E27FC236}">
                <a16:creationId xmlns:a16="http://schemas.microsoft.com/office/drawing/2014/main" id="{FF8F9C97-ABB3-2957-C408-1A6250AD2681}"/>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7243624" y="4908636"/>
            <a:ext cx="1703194" cy="1517130"/>
          </a:xfrm>
          <a:prstGeom prst="rect">
            <a:avLst/>
          </a:prstGeom>
        </p:spPr>
      </p:pic>
    </p:spTree>
    <p:extLst>
      <p:ext uri="{BB962C8B-B14F-4D97-AF65-F5344CB8AC3E}">
        <p14:creationId xmlns:p14="http://schemas.microsoft.com/office/powerpoint/2010/main" val="2825620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765FF-D302-1CEB-D908-53BFEC6E67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CA08F3-2E62-A0A7-B815-4FEE16231C22}"/>
              </a:ext>
            </a:extLst>
          </p:cNvPr>
          <p:cNvSpPr>
            <a:spLocks noGrp="1"/>
          </p:cNvSpPr>
          <p:nvPr>
            <p:ph type="title"/>
          </p:nvPr>
        </p:nvSpPr>
        <p:spPr/>
        <p:txBody>
          <a:bodyPr>
            <a:normAutofit/>
          </a:bodyPr>
          <a:lstStyle/>
          <a:p>
            <a:r>
              <a:rPr lang="en-US" dirty="0"/>
              <a:t>Executive Summary</a:t>
            </a:r>
          </a:p>
        </p:txBody>
      </p:sp>
      <p:sp>
        <p:nvSpPr>
          <p:cNvPr id="3" name="Slide Number Placeholder 8">
            <a:extLst>
              <a:ext uri="{FF2B5EF4-FFF2-40B4-BE49-F238E27FC236}">
                <a16:creationId xmlns:a16="http://schemas.microsoft.com/office/drawing/2014/main" id="{1DF22E54-C0B4-1E37-BA9A-D26B6CD401C9}"/>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5</a:t>
            </a:fld>
            <a:endParaRPr lang="en-US" dirty="0"/>
          </a:p>
        </p:txBody>
      </p:sp>
      <p:sp>
        <p:nvSpPr>
          <p:cNvPr id="5" name="Rectangle: Diagonal Corners Snipped 4">
            <a:extLst>
              <a:ext uri="{FF2B5EF4-FFF2-40B4-BE49-F238E27FC236}">
                <a16:creationId xmlns:a16="http://schemas.microsoft.com/office/drawing/2014/main" id="{18EF0B49-9CA8-8B5E-A97F-6963A74D28A0}"/>
              </a:ext>
            </a:extLst>
          </p:cNvPr>
          <p:cNvSpPr/>
          <p:nvPr/>
        </p:nvSpPr>
        <p:spPr>
          <a:xfrm>
            <a:off x="230165" y="927422"/>
            <a:ext cx="1327031" cy="100584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The Opportunity</a:t>
            </a:r>
          </a:p>
        </p:txBody>
      </p:sp>
      <p:sp>
        <p:nvSpPr>
          <p:cNvPr id="10" name="Rectangle: Diagonal Corners Snipped 9">
            <a:extLst>
              <a:ext uri="{FF2B5EF4-FFF2-40B4-BE49-F238E27FC236}">
                <a16:creationId xmlns:a16="http://schemas.microsoft.com/office/drawing/2014/main" id="{B3433458-0032-7458-FE46-ED4C58ED6C07}"/>
              </a:ext>
            </a:extLst>
          </p:cNvPr>
          <p:cNvSpPr/>
          <p:nvPr/>
        </p:nvSpPr>
        <p:spPr>
          <a:xfrm>
            <a:off x="230165" y="2103985"/>
            <a:ext cx="1327031" cy="100584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Company Snapshot</a:t>
            </a:r>
          </a:p>
        </p:txBody>
      </p:sp>
      <p:sp>
        <p:nvSpPr>
          <p:cNvPr id="11" name="Rectangle: Diagonal Corners Snipped 10">
            <a:extLst>
              <a:ext uri="{FF2B5EF4-FFF2-40B4-BE49-F238E27FC236}">
                <a16:creationId xmlns:a16="http://schemas.microsoft.com/office/drawing/2014/main" id="{32D7F7F0-0361-0F2A-3C23-0DEE29FEFF25}"/>
              </a:ext>
            </a:extLst>
          </p:cNvPr>
          <p:cNvSpPr/>
          <p:nvPr/>
        </p:nvSpPr>
        <p:spPr>
          <a:xfrm>
            <a:off x="230165" y="3280548"/>
            <a:ext cx="1327031" cy="100584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Capitalization &amp; Transaction</a:t>
            </a:r>
          </a:p>
        </p:txBody>
      </p:sp>
      <p:sp>
        <p:nvSpPr>
          <p:cNvPr id="12" name="Rectangle: Diagonal Corners Snipped 11">
            <a:extLst>
              <a:ext uri="{FF2B5EF4-FFF2-40B4-BE49-F238E27FC236}">
                <a16:creationId xmlns:a16="http://schemas.microsoft.com/office/drawing/2014/main" id="{36EDB191-0590-F9F2-E676-44F99BF4907A}"/>
              </a:ext>
            </a:extLst>
          </p:cNvPr>
          <p:cNvSpPr/>
          <p:nvPr/>
        </p:nvSpPr>
        <p:spPr>
          <a:xfrm>
            <a:off x="230165" y="4457111"/>
            <a:ext cx="1327031" cy="100584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Northern Shore Advantage</a:t>
            </a:r>
          </a:p>
        </p:txBody>
      </p:sp>
      <p:sp>
        <p:nvSpPr>
          <p:cNvPr id="13" name="Rectangle: Diagonal Corners Snipped 12">
            <a:extLst>
              <a:ext uri="{FF2B5EF4-FFF2-40B4-BE49-F238E27FC236}">
                <a16:creationId xmlns:a16="http://schemas.microsoft.com/office/drawing/2014/main" id="{59C4A080-F117-2962-8C2A-C36AC57C2B77}"/>
              </a:ext>
            </a:extLst>
          </p:cNvPr>
          <p:cNvSpPr/>
          <p:nvPr/>
        </p:nvSpPr>
        <p:spPr>
          <a:xfrm>
            <a:off x="230165" y="5633675"/>
            <a:ext cx="1327031" cy="100584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Attractive Exit Opportunity</a:t>
            </a:r>
          </a:p>
        </p:txBody>
      </p:sp>
      <p:cxnSp>
        <p:nvCxnSpPr>
          <p:cNvPr id="15" name="Straight Connector 14">
            <a:extLst>
              <a:ext uri="{FF2B5EF4-FFF2-40B4-BE49-F238E27FC236}">
                <a16:creationId xmlns:a16="http://schemas.microsoft.com/office/drawing/2014/main" id="{2AB50EF1-D13B-3CB2-BA17-D98CAF452189}"/>
              </a:ext>
            </a:extLst>
          </p:cNvPr>
          <p:cNvCxnSpPr>
            <a:cxnSpLocks/>
          </p:cNvCxnSpPr>
          <p:nvPr/>
        </p:nvCxnSpPr>
        <p:spPr>
          <a:xfrm>
            <a:off x="178308" y="2018624"/>
            <a:ext cx="8787384" cy="0"/>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5EB79D22-1E0F-4FD9-F17E-0743C26F9407}"/>
              </a:ext>
            </a:extLst>
          </p:cNvPr>
          <p:cNvCxnSpPr>
            <a:cxnSpLocks/>
          </p:cNvCxnSpPr>
          <p:nvPr/>
        </p:nvCxnSpPr>
        <p:spPr>
          <a:xfrm>
            <a:off x="178308" y="3195187"/>
            <a:ext cx="8787384" cy="0"/>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61BE0A78-6FCF-C893-18DC-2B63A9560DAA}"/>
              </a:ext>
            </a:extLst>
          </p:cNvPr>
          <p:cNvCxnSpPr>
            <a:cxnSpLocks/>
          </p:cNvCxnSpPr>
          <p:nvPr/>
        </p:nvCxnSpPr>
        <p:spPr>
          <a:xfrm>
            <a:off x="178308" y="4371749"/>
            <a:ext cx="8787384" cy="0"/>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4BCEB911-FCE0-2E8F-7D9C-EA13470512A0}"/>
              </a:ext>
            </a:extLst>
          </p:cNvPr>
          <p:cNvCxnSpPr>
            <a:cxnSpLocks/>
          </p:cNvCxnSpPr>
          <p:nvPr/>
        </p:nvCxnSpPr>
        <p:spPr>
          <a:xfrm>
            <a:off x="178308" y="5548313"/>
            <a:ext cx="8787384" cy="0"/>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D1070FFE-F337-D67D-E2CB-6A1737CE0E6F}"/>
              </a:ext>
            </a:extLst>
          </p:cNvPr>
          <p:cNvSpPr txBox="1"/>
          <p:nvPr/>
        </p:nvSpPr>
        <p:spPr>
          <a:xfrm>
            <a:off x="1557196" y="873780"/>
            <a:ext cx="7505323" cy="1113125"/>
          </a:xfrm>
          <a:prstGeom prst="rect">
            <a:avLst/>
          </a:prstGeom>
          <a:noFill/>
        </p:spPr>
        <p:txBody>
          <a:bodyPr wrap="square" rtlCol="0" anchor="ctr">
            <a:spAutoFit/>
          </a:bodyPr>
          <a:lstStyle/>
          <a:p>
            <a:pPr marL="171450" indent="-171450">
              <a:spcBef>
                <a:spcPts val="100"/>
              </a:spcBef>
              <a:spcAft>
                <a:spcPts val="100"/>
              </a:spcAft>
              <a:buFont typeface="Wingdings" panose="05000000000000000000" pitchFamily="2" charset="2"/>
              <a:buChar char="§"/>
            </a:pPr>
            <a:r>
              <a:rPr lang="en-US" sz="900" dirty="0"/>
              <a:t>Ambulatory Anesthesia Solutions (“AAS” or the “Company”) provides anesthesia staffing, billing, and operational support to Ambulatory Surgery Centers (“ASCs”) in Michigan and Indiana under long-term evergreen contracts.</a:t>
            </a:r>
          </a:p>
          <a:p>
            <a:pPr marL="171450" indent="-171450">
              <a:spcBef>
                <a:spcPts val="100"/>
              </a:spcBef>
              <a:spcAft>
                <a:spcPts val="100"/>
              </a:spcAft>
              <a:buFont typeface="Wingdings" panose="05000000000000000000" pitchFamily="2" charset="2"/>
              <a:buChar char="§"/>
            </a:pPr>
            <a:r>
              <a:rPr lang="en-US" sz="900" dirty="0"/>
              <a:t>The outpatient surgery market is experiencing robust growth, driven by patient preference, cost efficiency, and payer trends shifting procedures away from hospitals. At the same time, a worsening national shortage of anesthesia providers has created a structural supply-demand imbalance. AAS has a proven ability to recruit and retain talent, offering a compelling value proposition to ASCs and providers alike.</a:t>
            </a:r>
          </a:p>
          <a:p>
            <a:pPr marL="171450" indent="-171450">
              <a:spcBef>
                <a:spcPts val="100"/>
              </a:spcBef>
              <a:spcAft>
                <a:spcPts val="100"/>
              </a:spcAft>
              <a:buFont typeface="Wingdings" panose="05000000000000000000" pitchFamily="2" charset="2"/>
              <a:buChar char="§"/>
            </a:pPr>
            <a:r>
              <a:rPr lang="en-US" sz="900" dirty="0"/>
              <a:t>With Northern Shore’s resources and operational expertise, AAS is positioned to rapidly accelerate growth by expanding contract wins, professionalizing its infrastructure, and enhancing profitability.</a:t>
            </a:r>
          </a:p>
        </p:txBody>
      </p:sp>
      <p:sp>
        <p:nvSpPr>
          <p:cNvPr id="21" name="TextBox 20">
            <a:extLst>
              <a:ext uri="{FF2B5EF4-FFF2-40B4-BE49-F238E27FC236}">
                <a16:creationId xmlns:a16="http://schemas.microsoft.com/office/drawing/2014/main" id="{9A1E107D-95A6-B078-24CA-D805C48DC487}"/>
              </a:ext>
            </a:extLst>
          </p:cNvPr>
          <p:cNvSpPr txBox="1"/>
          <p:nvPr/>
        </p:nvSpPr>
        <p:spPr>
          <a:xfrm>
            <a:off x="1557196" y="2106768"/>
            <a:ext cx="7505323" cy="1000274"/>
          </a:xfrm>
          <a:prstGeom prst="rect">
            <a:avLst/>
          </a:prstGeom>
          <a:noFill/>
        </p:spPr>
        <p:txBody>
          <a:bodyPr wrap="square" rtlCol="0" anchor="ctr">
            <a:spAutoFit/>
          </a:bodyPr>
          <a:lstStyle/>
          <a:p>
            <a:pPr marL="91440" indent="-91440">
              <a:spcBef>
                <a:spcPts val="100"/>
              </a:spcBef>
              <a:spcAft>
                <a:spcPts val="100"/>
              </a:spcAft>
              <a:buFont typeface="Wingdings" panose="05000000000000000000" pitchFamily="2" charset="2"/>
              <a:buChar char="§"/>
            </a:pPr>
            <a:r>
              <a:rPr lang="en-US" sz="900" b="1" u="sng" dirty="0"/>
              <a:t>Operations</a:t>
            </a:r>
            <a:r>
              <a:rPr lang="en-US" sz="900" dirty="0"/>
              <a:t>: Provides anesthesia staffing (CRNAs &amp; MDAs), billing, and operational support exclusively to ASCs (no hospital exposure).</a:t>
            </a:r>
          </a:p>
          <a:p>
            <a:pPr marL="91440" indent="-91440">
              <a:spcBef>
                <a:spcPts val="100"/>
              </a:spcBef>
              <a:spcAft>
                <a:spcPts val="100"/>
              </a:spcAft>
              <a:buFont typeface="Wingdings" panose="05000000000000000000" pitchFamily="2" charset="2"/>
              <a:buChar char="§"/>
            </a:pPr>
            <a:r>
              <a:rPr lang="en-US" sz="900" b="1" u="sng" dirty="0"/>
              <a:t>Ownership</a:t>
            </a:r>
            <a:r>
              <a:rPr lang="en-US" sz="900" dirty="0"/>
              <a:t>: Co-founders Chris Youst (CEO) and Mark Nold (COO) lead the business and will reinvest a significant portion of their equity proceeds. A third shareholder (33% of Michigan entity) will be fully bought out at close.</a:t>
            </a:r>
          </a:p>
          <a:p>
            <a:pPr marL="91440" indent="-91440">
              <a:spcBef>
                <a:spcPts val="100"/>
              </a:spcBef>
              <a:spcAft>
                <a:spcPts val="100"/>
              </a:spcAft>
              <a:buFont typeface="Wingdings" panose="05000000000000000000" pitchFamily="2" charset="2"/>
              <a:buChar char="§"/>
            </a:pPr>
            <a:r>
              <a:rPr lang="en-US" sz="900" b="1" u="sng" dirty="0"/>
              <a:t>Headquarters</a:t>
            </a:r>
            <a:r>
              <a:rPr lang="en-US" sz="900" dirty="0"/>
              <a:t>: Troy, Michigan</a:t>
            </a:r>
          </a:p>
          <a:p>
            <a:pPr marL="91440" indent="-91440">
              <a:spcBef>
                <a:spcPts val="100"/>
              </a:spcBef>
              <a:spcAft>
                <a:spcPts val="100"/>
              </a:spcAft>
              <a:buFont typeface="Wingdings" panose="05000000000000000000" pitchFamily="2" charset="2"/>
              <a:buChar char="§"/>
            </a:pPr>
            <a:r>
              <a:rPr lang="en-US" sz="900" b="1" u="sng" dirty="0"/>
              <a:t>Competitive Advantages</a:t>
            </a:r>
            <a:r>
              <a:rPr lang="en-US" sz="900" dirty="0"/>
              <a:t>: Strong recruitment/retention despite industry shortages, supported by attractive ambulatory work-life balance. Flexible PRN staffing model enabling quick ramp-up of new contracts. Long-term evergreen contracts providing predictable revenue. </a:t>
            </a:r>
          </a:p>
        </p:txBody>
      </p:sp>
      <p:sp>
        <p:nvSpPr>
          <p:cNvPr id="22" name="TextBox 21">
            <a:extLst>
              <a:ext uri="{FF2B5EF4-FFF2-40B4-BE49-F238E27FC236}">
                <a16:creationId xmlns:a16="http://schemas.microsoft.com/office/drawing/2014/main" id="{EF074D50-50AB-3A7B-4B96-E5B783CC876D}"/>
              </a:ext>
            </a:extLst>
          </p:cNvPr>
          <p:cNvSpPr txBox="1"/>
          <p:nvPr/>
        </p:nvSpPr>
        <p:spPr>
          <a:xfrm>
            <a:off x="1557196" y="3201258"/>
            <a:ext cx="7505323" cy="1164421"/>
          </a:xfrm>
          <a:prstGeom prst="rect">
            <a:avLst/>
          </a:prstGeom>
          <a:noFill/>
        </p:spPr>
        <p:txBody>
          <a:bodyPr wrap="square" rtlCol="0" anchor="ctr">
            <a:spAutoFit/>
          </a:bodyPr>
          <a:lstStyle/>
          <a:p>
            <a:pPr marL="91440" lvl="0" indent="-91440" defTabSz="914400">
              <a:spcBef>
                <a:spcPts val="100"/>
              </a:spcBef>
              <a:spcAft>
                <a:spcPts val="100"/>
              </a:spcAft>
              <a:buFont typeface="Wingdings" panose="05000000000000000000" pitchFamily="2" charset="2"/>
              <a:buChar char="§"/>
              <a:defRPr/>
            </a:pPr>
            <a:r>
              <a:rPr lang="en-US" sz="900" b="1" u="sng" dirty="0"/>
              <a:t>LOI</a:t>
            </a:r>
            <a:r>
              <a:rPr lang="en-US" sz="900" dirty="0"/>
              <a:t>: signed on June 2, 2025, with an anticipated closing by October 31, 2025. </a:t>
            </a:r>
          </a:p>
          <a:p>
            <a:pPr marL="91440" lvl="0" indent="-91440" defTabSz="914400">
              <a:spcBef>
                <a:spcPts val="100"/>
              </a:spcBef>
              <a:spcAft>
                <a:spcPts val="100"/>
              </a:spcAft>
              <a:buFont typeface="Wingdings" panose="05000000000000000000" pitchFamily="2" charset="2"/>
              <a:buChar char="§"/>
              <a:defRPr/>
            </a:pPr>
            <a:r>
              <a:rPr lang="en-US" sz="900" b="1" u="sng" dirty="0"/>
              <a:t>Process</a:t>
            </a:r>
            <a:r>
              <a:rPr lang="en-US" sz="900" dirty="0"/>
              <a:t>: Run by Greenwich Capital Group, with whom Northern Shore has a long-standing relationship.</a:t>
            </a:r>
          </a:p>
          <a:p>
            <a:pPr marL="91440" lvl="0" indent="-91440" defTabSz="914400">
              <a:spcBef>
                <a:spcPts val="100"/>
              </a:spcBef>
              <a:spcAft>
                <a:spcPts val="100"/>
              </a:spcAft>
              <a:buFont typeface="Wingdings" panose="05000000000000000000" pitchFamily="2" charset="2"/>
              <a:buChar char="§"/>
              <a:defRPr/>
            </a:pPr>
            <a:r>
              <a:rPr lang="en-US" sz="900" b="1" u="sng" dirty="0"/>
              <a:t>Valuation</a:t>
            </a:r>
            <a:r>
              <a:rPr lang="en-US" sz="900" dirty="0"/>
              <a:t>: 7.9x ($34 million). </a:t>
            </a:r>
            <a:endParaRPr lang="en-US" sz="900" dirty="0">
              <a:highlight>
                <a:srgbClr val="FFFF00"/>
              </a:highlight>
            </a:endParaRPr>
          </a:p>
          <a:p>
            <a:pPr marL="91440" lvl="0" indent="-91440" defTabSz="914400">
              <a:spcBef>
                <a:spcPts val="100"/>
              </a:spcBef>
              <a:spcAft>
                <a:spcPts val="100"/>
              </a:spcAft>
              <a:buFont typeface="Wingdings" panose="05000000000000000000" pitchFamily="2" charset="2"/>
              <a:buChar char="§"/>
              <a:defRPr/>
            </a:pPr>
            <a:r>
              <a:rPr lang="en-US" sz="900" b="1" u="sng" dirty="0"/>
              <a:t>Seller Dynamics</a:t>
            </a:r>
            <a:r>
              <a:rPr lang="en-US" sz="900" dirty="0"/>
              <a:t>: Co-Founders remain highly committed post-close, rolling equity alongside Northern Shore and continuing to run the business day-to-day.</a:t>
            </a:r>
          </a:p>
          <a:p>
            <a:pPr marL="91440" lvl="0" indent="-91440" defTabSz="914400">
              <a:spcBef>
                <a:spcPts val="100"/>
              </a:spcBef>
              <a:spcAft>
                <a:spcPts val="100"/>
              </a:spcAft>
              <a:buFont typeface="Wingdings" panose="05000000000000000000" pitchFamily="2" charset="2"/>
              <a:buChar char="§"/>
              <a:defRPr/>
            </a:pPr>
            <a:r>
              <a:rPr lang="en-US" sz="900" b="1" u="sng" dirty="0"/>
              <a:t>Earnout/Multiple buydown: </a:t>
            </a:r>
            <a:r>
              <a:rPr lang="en-US" sz="900" dirty="0"/>
              <a:t>The transaction includes an earnout of 1.0x ($4.5M), which, if paid, would bring total cash consideration to $38.5M. This structure incentivizes growth while also reducing our effective acquisition multiple if the earnout is achieved.</a:t>
            </a:r>
          </a:p>
        </p:txBody>
      </p:sp>
      <p:sp>
        <p:nvSpPr>
          <p:cNvPr id="23" name="TextBox 22">
            <a:extLst>
              <a:ext uri="{FF2B5EF4-FFF2-40B4-BE49-F238E27FC236}">
                <a16:creationId xmlns:a16="http://schemas.microsoft.com/office/drawing/2014/main" id="{3D5D797E-E726-BC61-34E8-CE07E26F748C}"/>
              </a:ext>
            </a:extLst>
          </p:cNvPr>
          <p:cNvSpPr txBox="1"/>
          <p:nvPr/>
        </p:nvSpPr>
        <p:spPr>
          <a:xfrm>
            <a:off x="1557196" y="4403470"/>
            <a:ext cx="7505323" cy="1113125"/>
          </a:xfrm>
          <a:prstGeom prst="rect">
            <a:avLst/>
          </a:prstGeom>
          <a:noFill/>
        </p:spPr>
        <p:txBody>
          <a:bodyPr wrap="square" rtlCol="0" anchor="ctr">
            <a:spAutoFit/>
          </a:bodyPr>
          <a:lstStyle/>
          <a:p>
            <a:pPr marL="91440" indent="-91440" defTabSz="914400">
              <a:spcBef>
                <a:spcPts val="100"/>
              </a:spcBef>
              <a:spcAft>
                <a:spcPts val="100"/>
              </a:spcAft>
              <a:buFont typeface="Wingdings" panose="05000000000000000000" pitchFamily="2" charset="2"/>
              <a:buChar char="§"/>
              <a:defRPr/>
            </a:pPr>
            <a:r>
              <a:rPr lang="en-US" sz="900" b="1" u="sng" dirty="0"/>
              <a:t>Deep Sector Expertise</a:t>
            </a:r>
            <a:r>
              <a:rPr lang="en-US" sz="900" dirty="0"/>
              <a:t>: Proven track record scaling founder-led healthcare businesses, highlighted by Scott Barry’s leadership at Centria Healthcare. NSC brings to bear repeatable value creation playbooks with demonstrated success in both organic expansion and add-on acquisitions in fragmented healthcare niches.</a:t>
            </a:r>
          </a:p>
          <a:p>
            <a:pPr marL="91440" indent="-91440" defTabSz="914400">
              <a:spcBef>
                <a:spcPts val="100"/>
              </a:spcBef>
              <a:spcAft>
                <a:spcPts val="100"/>
              </a:spcAft>
              <a:buFont typeface="Wingdings" panose="05000000000000000000" pitchFamily="2" charset="2"/>
              <a:buChar char="§"/>
              <a:defRPr/>
            </a:pPr>
            <a:r>
              <a:rPr lang="en-US" sz="900" b="1" u="sng" dirty="0"/>
              <a:t>Founder-Friendly Approach</a:t>
            </a:r>
            <a:r>
              <a:rPr lang="en-US" sz="900" dirty="0"/>
              <a:t>: AAS selected Northern Shore as its preferred partner despite broad buyer interest. There is alignment with management’s growth vision and cultural fit as a Michigan-based partner.</a:t>
            </a:r>
          </a:p>
          <a:p>
            <a:pPr marL="91440" lvl="0" indent="-91440" defTabSz="914400">
              <a:spcBef>
                <a:spcPts val="100"/>
              </a:spcBef>
              <a:spcAft>
                <a:spcPts val="100"/>
              </a:spcAft>
              <a:buFont typeface="Wingdings" panose="05000000000000000000" pitchFamily="2" charset="2"/>
              <a:buChar char="§"/>
              <a:defRPr/>
            </a:pPr>
            <a:r>
              <a:rPr lang="en-US" sz="900" b="1" u="sng" dirty="0"/>
              <a:t>Strategic Resources</a:t>
            </a:r>
            <a:r>
              <a:rPr lang="en-US" sz="900" dirty="0"/>
              <a:t>: Ability to fund accelerated ASC contract growth and professionalize infrastructure (e.g. bringing billing &amp; collections in-house, CFO, recruiting, etc.).</a:t>
            </a:r>
          </a:p>
        </p:txBody>
      </p:sp>
      <p:sp>
        <p:nvSpPr>
          <p:cNvPr id="28" name="TextBox 27">
            <a:extLst>
              <a:ext uri="{FF2B5EF4-FFF2-40B4-BE49-F238E27FC236}">
                <a16:creationId xmlns:a16="http://schemas.microsoft.com/office/drawing/2014/main" id="{F844286F-A1F7-89CD-BBFA-3E3069E0FB77}"/>
              </a:ext>
            </a:extLst>
          </p:cNvPr>
          <p:cNvSpPr txBox="1"/>
          <p:nvPr/>
        </p:nvSpPr>
        <p:spPr>
          <a:xfrm>
            <a:off x="1557196" y="5580033"/>
            <a:ext cx="7505323" cy="1113125"/>
          </a:xfrm>
          <a:prstGeom prst="rect">
            <a:avLst/>
          </a:prstGeom>
          <a:noFill/>
        </p:spPr>
        <p:txBody>
          <a:bodyPr wrap="square" rtlCol="0" anchor="ctr">
            <a:spAutoFit/>
          </a:bodyPr>
          <a:lstStyle/>
          <a:p>
            <a:pPr marL="91440" lvl="0" indent="-91440" defTabSz="914400">
              <a:spcBef>
                <a:spcPts val="100"/>
              </a:spcBef>
              <a:spcAft>
                <a:spcPts val="100"/>
              </a:spcAft>
              <a:buFont typeface="Wingdings" panose="05000000000000000000" pitchFamily="2" charset="2"/>
              <a:buChar char="§"/>
              <a:defRPr/>
            </a:pPr>
            <a:r>
              <a:rPr lang="en-US" sz="900" b="1" u="sng" dirty="0"/>
              <a:t>Provider of Choice in Labor-Constrained Market:</a:t>
            </a:r>
            <a:r>
              <a:rPr lang="en-US" sz="900" dirty="0"/>
              <a:t> Serving as a trusted partner to ASCs in an environment of provider shortages, AAS is uniquely positioned to continue capturing market share and will represent a scarce, highly defensible asset at exit.</a:t>
            </a:r>
          </a:p>
          <a:p>
            <a:pPr marL="91440" lvl="0" indent="-91440" defTabSz="914400">
              <a:spcBef>
                <a:spcPts val="100"/>
              </a:spcBef>
              <a:spcAft>
                <a:spcPts val="100"/>
              </a:spcAft>
              <a:buFont typeface="Wingdings" panose="05000000000000000000" pitchFamily="2" charset="2"/>
              <a:buChar char="§"/>
              <a:defRPr/>
            </a:pPr>
            <a:r>
              <a:rPr lang="en-US" sz="900" b="1" u="sng" dirty="0"/>
              <a:t>Proven De Novo Growth:</a:t>
            </a:r>
            <a:r>
              <a:rPr lang="en-US" sz="900" dirty="0"/>
              <a:t> AAS has a demonstrated ability to enter new markets, and when combined with a strategic focus on higher-reimbursement geographies that provide a clear path to margin expansion and enhanced profitability, there is a clear path to $10 million + EBITDA.</a:t>
            </a:r>
          </a:p>
          <a:p>
            <a:pPr marL="91440" lvl="0" indent="-91440" defTabSz="914400">
              <a:spcBef>
                <a:spcPts val="100"/>
              </a:spcBef>
              <a:spcAft>
                <a:spcPts val="100"/>
              </a:spcAft>
              <a:buFont typeface="Wingdings" panose="05000000000000000000" pitchFamily="2" charset="2"/>
              <a:buChar char="§"/>
              <a:defRPr/>
            </a:pPr>
            <a:r>
              <a:rPr lang="en-US" sz="900" b="1" u="sng" dirty="0"/>
              <a:t>Multiple Expansion Potential:</a:t>
            </a:r>
            <a:r>
              <a:rPr lang="en-US" sz="900" dirty="0"/>
              <a:t> While not underwritten to, building a professionalized, scaled anesthesia staffing provider should garner significant buyer interest from both private equity and strategics, creating potential to trade at a significant premium to our purchase multiple and more in-line with that of traditional healthcare services platforms.</a:t>
            </a:r>
          </a:p>
        </p:txBody>
      </p:sp>
    </p:spTree>
    <p:extLst>
      <p:ext uri="{BB962C8B-B14F-4D97-AF65-F5344CB8AC3E}">
        <p14:creationId xmlns:p14="http://schemas.microsoft.com/office/powerpoint/2010/main" val="3923874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0392B-72BD-D5FD-EBAB-13E70B78B3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E049B8-3B29-3DD7-265C-96F5547BC603}"/>
              </a:ext>
            </a:extLst>
          </p:cNvPr>
          <p:cNvSpPr>
            <a:spLocks noGrp="1"/>
          </p:cNvSpPr>
          <p:nvPr>
            <p:ph type="title"/>
          </p:nvPr>
        </p:nvSpPr>
        <p:spPr/>
        <p:txBody>
          <a:bodyPr>
            <a:normAutofit/>
          </a:bodyPr>
          <a:lstStyle/>
          <a:p>
            <a:r>
              <a:rPr lang="en-US" dirty="0"/>
              <a:t>Executive Summary (cont’d)</a:t>
            </a:r>
          </a:p>
        </p:txBody>
      </p:sp>
      <p:sp>
        <p:nvSpPr>
          <p:cNvPr id="15" name="Rectangle: Diagonal Corners Snipped 14">
            <a:extLst>
              <a:ext uri="{FF2B5EF4-FFF2-40B4-BE49-F238E27FC236}">
                <a16:creationId xmlns:a16="http://schemas.microsoft.com/office/drawing/2014/main" id="{9BF9A324-0C8C-5699-9448-0ABA23F72858}"/>
              </a:ext>
            </a:extLst>
          </p:cNvPr>
          <p:cNvSpPr/>
          <p:nvPr/>
        </p:nvSpPr>
        <p:spPr>
          <a:xfrm>
            <a:off x="176305" y="927422"/>
            <a:ext cx="4261223"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Deal Source / Process Details</a:t>
            </a:r>
          </a:p>
        </p:txBody>
      </p:sp>
      <p:sp>
        <p:nvSpPr>
          <p:cNvPr id="28" name="TextBox 27">
            <a:extLst>
              <a:ext uri="{FF2B5EF4-FFF2-40B4-BE49-F238E27FC236}">
                <a16:creationId xmlns:a16="http://schemas.microsoft.com/office/drawing/2014/main" id="{741A786C-A864-1DA0-5DB2-C70BC5AE3B9A}"/>
              </a:ext>
            </a:extLst>
          </p:cNvPr>
          <p:cNvSpPr txBox="1"/>
          <p:nvPr/>
        </p:nvSpPr>
        <p:spPr>
          <a:xfrm>
            <a:off x="176305" y="1254239"/>
            <a:ext cx="4261223" cy="2195473"/>
          </a:xfrm>
          <a:prstGeom prst="rect">
            <a:avLst/>
          </a:prstGeom>
          <a:noFill/>
        </p:spPr>
        <p:txBody>
          <a:bodyPr wrap="square" rtlCol="0">
            <a:spAutoFit/>
          </a:bodyPr>
          <a:lstStyle/>
          <a:p>
            <a:pPr marL="171450" indent="-171450">
              <a:spcBef>
                <a:spcPts val="400"/>
              </a:spcBef>
              <a:spcAft>
                <a:spcPts val="400"/>
              </a:spcAft>
              <a:buFont typeface="Arial" panose="020B0604020202020204" pitchFamily="34" charset="0"/>
              <a:buChar char="•"/>
            </a:pPr>
            <a:r>
              <a:rPr lang="en-US" sz="1000" dirty="0"/>
              <a:t>The process is being run by Greenwich Capital Group out of their Birmingham, Michigan office. </a:t>
            </a:r>
          </a:p>
          <a:p>
            <a:pPr marL="171450" indent="-171450">
              <a:spcBef>
                <a:spcPts val="400"/>
              </a:spcBef>
              <a:spcAft>
                <a:spcPts val="400"/>
              </a:spcAft>
              <a:buFont typeface="Arial" panose="020B0604020202020204" pitchFamily="34" charset="0"/>
              <a:buChar char="•"/>
            </a:pPr>
            <a:r>
              <a:rPr lang="en-US" sz="1000" dirty="0"/>
              <a:t>Northern Shore signed an LOI on June 2</a:t>
            </a:r>
            <a:r>
              <a:rPr lang="en-US" sz="1000" baseline="30000" dirty="0"/>
              <a:t>nd</a:t>
            </a:r>
            <a:r>
              <a:rPr lang="en-US" sz="1000" dirty="0"/>
              <a:t>, 2025.</a:t>
            </a:r>
          </a:p>
          <a:p>
            <a:pPr marL="171450" indent="-171450">
              <a:spcBef>
                <a:spcPts val="400"/>
              </a:spcBef>
              <a:spcAft>
                <a:spcPts val="400"/>
              </a:spcAft>
              <a:buFont typeface="Arial" panose="020B0604020202020204" pitchFamily="34" charset="0"/>
              <a:buChar char="•"/>
            </a:pPr>
            <a:r>
              <a:rPr lang="en-US" sz="1000" dirty="0"/>
              <a:t>Our LOI values the business at </a:t>
            </a:r>
            <a:r>
              <a:rPr lang="en-US" sz="1000" b="1" u="sng" dirty="0"/>
              <a:t>$34.0M (7.9x) cash at close</a:t>
            </a:r>
            <a:r>
              <a:rPr lang="en-US" sz="1000" dirty="0"/>
              <a:t> plus a contingent $4.5M earnout based on aggressive future growth targets. If hit, our effective entry multiple would decrease given the growth in EBITDA required to pay the earnouts.</a:t>
            </a:r>
          </a:p>
          <a:p>
            <a:pPr marL="171450" indent="-171450">
              <a:spcBef>
                <a:spcPts val="400"/>
              </a:spcBef>
              <a:spcAft>
                <a:spcPts val="400"/>
              </a:spcAft>
              <a:buFont typeface="Arial" panose="020B0604020202020204" pitchFamily="34" charset="0"/>
              <a:buChar char="•"/>
            </a:pPr>
            <a:r>
              <a:rPr lang="en-US" sz="1000" dirty="0"/>
              <a:t>NSC would fund an incremental $5.0 million of cash to the balance sheet to fund SG&amp;A investments and growth of new ASC contracts.</a:t>
            </a:r>
          </a:p>
          <a:p>
            <a:pPr marL="171450" indent="-171450">
              <a:spcBef>
                <a:spcPts val="400"/>
              </a:spcBef>
              <a:spcAft>
                <a:spcPts val="400"/>
              </a:spcAft>
              <a:buFont typeface="Arial" panose="020B0604020202020204" pitchFamily="34" charset="0"/>
              <a:buChar char="•"/>
            </a:pPr>
            <a:r>
              <a:rPr lang="en-US" sz="1000" dirty="0"/>
              <a:t>NSC’s investment thesis, sector focus, and experience aligns well with AAS’s ownership and business model.</a:t>
            </a:r>
            <a:endParaRPr lang="en-US" sz="1000" dirty="0">
              <a:solidFill>
                <a:srgbClr val="C00000"/>
              </a:solidFill>
            </a:endParaRPr>
          </a:p>
        </p:txBody>
      </p:sp>
      <p:sp>
        <p:nvSpPr>
          <p:cNvPr id="3" name="Rectangle: Diagonal Corners Snipped 2">
            <a:extLst>
              <a:ext uri="{FF2B5EF4-FFF2-40B4-BE49-F238E27FC236}">
                <a16:creationId xmlns:a16="http://schemas.microsoft.com/office/drawing/2014/main" id="{BEF3B54A-8C29-64BB-D556-4D17C04BEE06}"/>
              </a:ext>
            </a:extLst>
          </p:cNvPr>
          <p:cNvSpPr/>
          <p:nvPr/>
        </p:nvSpPr>
        <p:spPr>
          <a:xfrm>
            <a:off x="4706471" y="927422"/>
            <a:ext cx="4261223"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Company Overview</a:t>
            </a:r>
          </a:p>
        </p:txBody>
      </p:sp>
      <p:sp>
        <p:nvSpPr>
          <p:cNvPr id="4" name="Rectangle: Diagonal Corners Snipped 3">
            <a:extLst>
              <a:ext uri="{FF2B5EF4-FFF2-40B4-BE49-F238E27FC236}">
                <a16:creationId xmlns:a16="http://schemas.microsoft.com/office/drawing/2014/main" id="{6DE5A458-FE48-4169-80C8-8EFC0D96F26A}"/>
              </a:ext>
            </a:extLst>
          </p:cNvPr>
          <p:cNvSpPr/>
          <p:nvPr/>
        </p:nvSpPr>
        <p:spPr>
          <a:xfrm>
            <a:off x="4706471" y="2658086"/>
            <a:ext cx="4261223"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Investment Highlights &amp; Key Considerations</a:t>
            </a:r>
          </a:p>
        </p:txBody>
      </p:sp>
      <p:sp>
        <p:nvSpPr>
          <p:cNvPr id="5" name="Rectangle: Diagonal Corners Snipped 4">
            <a:extLst>
              <a:ext uri="{FF2B5EF4-FFF2-40B4-BE49-F238E27FC236}">
                <a16:creationId xmlns:a16="http://schemas.microsoft.com/office/drawing/2014/main" id="{0A18325F-49B1-5374-8108-E266F037FF9D}"/>
              </a:ext>
            </a:extLst>
          </p:cNvPr>
          <p:cNvSpPr/>
          <p:nvPr/>
        </p:nvSpPr>
        <p:spPr>
          <a:xfrm>
            <a:off x="176305" y="3455914"/>
            <a:ext cx="4261223"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Transaction Overview / Ownership Structure</a:t>
            </a:r>
          </a:p>
        </p:txBody>
      </p:sp>
      <p:sp>
        <p:nvSpPr>
          <p:cNvPr id="8" name="TextBox 7">
            <a:extLst>
              <a:ext uri="{FF2B5EF4-FFF2-40B4-BE49-F238E27FC236}">
                <a16:creationId xmlns:a16="http://schemas.microsoft.com/office/drawing/2014/main" id="{8C7635B0-97BC-9EA3-C61F-41F2DEDBE943}"/>
              </a:ext>
            </a:extLst>
          </p:cNvPr>
          <p:cNvSpPr txBox="1"/>
          <p:nvPr/>
        </p:nvSpPr>
        <p:spPr>
          <a:xfrm>
            <a:off x="4706470" y="1254239"/>
            <a:ext cx="4261223" cy="1426031"/>
          </a:xfrm>
          <a:prstGeom prst="rect">
            <a:avLst/>
          </a:prstGeom>
          <a:noFill/>
        </p:spPr>
        <p:txBody>
          <a:bodyPr wrap="square" rtlCol="0">
            <a:spAutoFit/>
          </a:bodyPr>
          <a:lstStyle/>
          <a:p>
            <a:pPr marL="171450" indent="-171450">
              <a:spcBef>
                <a:spcPts val="200"/>
              </a:spcBef>
              <a:spcAft>
                <a:spcPts val="200"/>
              </a:spcAft>
              <a:buFont typeface="Arial" panose="020B0604020202020204" pitchFamily="34" charset="0"/>
              <a:buChar char="•"/>
            </a:pPr>
            <a:r>
              <a:rPr lang="en-US" sz="1000" dirty="0"/>
              <a:t>AAS Michigan was founded in 2009. AAS Indiana was founded in 2022. AAS provides anesthesia staffing (CRNAs &amp; MDAs), billing, and operational support to Ambulatory Surgery Centers (ASCs) in Michigan and Indiana through long-term contracts.</a:t>
            </a:r>
          </a:p>
          <a:p>
            <a:pPr marL="171450" indent="-171450">
              <a:spcBef>
                <a:spcPts val="200"/>
              </a:spcBef>
              <a:spcAft>
                <a:spcPts val="200"/>
              </a:spcAft>
              <a:buFont typeface="Arial" panose="020B0604020202020204" pitchFamily="34" charset="0"/>
              <a:buChar char="•"/>
            </a:pPr>
            <a:r>
              <a:rPr lang="en-US" sz="1000" dirty="0"/>
              <a:t>Fee-for-service income is ~20% of overall income (direct payments from ASCs).</a:t>
            </a:r>
          </a:p>
          <a:p>
            <a:pPr marL="171450" indent="-171450">
              <a:spcBef>
                <a:spcPts val="200"/>
              </a:spcBef>
              <a:spcAft>
                <a:spcPts val="200"/>
              </a:spcAft>
              <a:buFont typeface="Arial" panose="020B0604020202020204" pitchFamily="34" charset="0"/>
              <a:buChar char="•"/>
            </a:pPr>
            <a:r>
              <a:rPr lang="en-US" sz="1000" dirty="0"/>
              <a:t>Collection-based income &amp; true-up contracts: ~80% (insurance reimbursements + contractual minimums with ASCs).</a:t>
            </a:r>
          </a:p>
        </p:txBody>
      </p:sp>
      <p:sp>
        <p:nvSpPr>
          <p:cNvPr id="10" name="Rectangle: Diagonal Corners Snipped 9">
            <a:extLst>
              <a:ext uri="{FF2B5EF4-FFF2-40B4-BE49-F238E27FC236}">
                <a16:creationId xmlns:a16="http://schemas.microsoft.com/office/drawing/2014/main" id="{327154D7-815E-6DE8-DBDA-3356622FDA76}"/>
              </a:ext>
            </a:extLst>
          </p:cNvPr>
          <p:cNvSpPr/>
          <p:nvPr/>
        </p:nvSpPr>
        <p:spPr>
          <a:xfrm>
            <a:off x="176305" y="5500071"/>
            <a:ext cx="8791388"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Valuation Summary</a:t>
            </a:r>
          </a:p>
        </p:txBody>
      </p:sp>
      <p:sp>
        <p:nvSpPr>
          <p:cNvPr id="12" name="Rectangle: Rounded Corners 11">
            <a:extLst>
              <a:ext uri="{FF2B5EF4-FFF2-40B4-BE49-F238E27FC236}">
                <a16:creationId xmlns:a16="http://schemas.microsoft.com/office/drawing/2014/main" id="{EC690E49-2442-9717-1DD4-44138BF01A91}"/>
              </a:ext>
            </a:extLst>
          </p:cNvPr>
          <p:cNvSpPr/>
          <p:nvPr/>
        </p:nvSpPr>
        <p:spPr>
          <a:xfrm>
            <a:off x="176306" y="5862183"/>
            <a:ext cx="8791388" cy="685800"/>
          </a:xfrm>
          <a:prstGeom prst="roundRect">
            <a:avLst/>
          </a:prstGeom>
          <a:solidFill>
            <a:schemeClr val="bg1">
              <a:lumMod val="85000"/>
            </a:schemeClr>
          </a:solidFill>
          <a:ln w="28575">
            <a:solidFill>
              <a:srgbClr val="143F6A"/>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dirty="0">
                <a:solidFill>
                  <a:schemeClr val="tx1"/>
                </a:solidFill>
              </a:rPr>
              <a:t>Our LOI valuation is </a:t>
            </a:r>
            <a:r>
              <a:rPr lang="en-US" sz="1350" b="1" dirty="0">
                <a:solidFill>
                  <a:schemeClr val="tx1"/>
                </a:solidFill>
              </a:rPr>
              <a:t>$34 million cash at close</a:t>
            </a:r>
            <a:r>
              <a:rPr lang="en-US" sz="1350" dirty="0">
                <a:solidFill>
                  <a:schemeClr val="tx1"/>
                </a:solidFill>
              </a:rPr>
              <a:t>,</a:t>
            </a:r>
            <a:r>
              <a:rPr lang="en-US" sz="1350" b="1" dirty="0">
                <a:solidFill>
                  <a:schemeClr val="tx1"/>
                </a:solidFill>
              </a:rPr>
              <a:t> </a:t>
            </a:r>
            <a:r>
              <a:rPr lang="en-US" sz="1350" dirty="0">
                <a:solidFill>
                  <a:schemeClr val="tx1"/>
                </a:solidFill>
              </a:rPr>
              <a:t>based on July 2025 TTM EBITDA of </a:t>
            </a:r>
            <a:r>
              <a:rPr lang="en-US" sz="1350" b="1" dirty="0">
                <a:solidFill>
                  <a:schemeClr val="tx1"/>
                </a:solidFill>
              </a:rPr>
              <a:t>$4.3 </a:t>
            </a:r>
            <a:r>
              <a:rPr lang="en-US" sz="1350" dirty="0">
                <a:solidFill>
                  <a:schemeClr val="tx1"/>
                </a:solidFill>
              </a:rPr>
              <a:t>million. This represents a TEV of </a:t>
            </a:r>
            <a:r>
              <a:rPr lang="en-US" sz="1350" b="1" dirty="0">
                <a:solidFill>
                  <a:schemeClr val="tx1"/>
                </a:solidFill>
              </a:rPr>
              <a:t>$34.0 </a:t>
            </a:r>
            <a:r>
              <a:rPr lang="en-US" sz="1350" dirty="0">
                <a:solidFill>
                  <a:schemeClr val="tx1"/>
                </a:solidFill>
              </a:rPr>
              <a:t>million plus a contingent earnout of </a:t>
            </a:r>
            <a:r>
              <a:rPr lang="en-US" sz="1350" b="1" dirty="0">
                <a:solidFill>
                  <a:schemeClr val="tx1"/>
                </a:solidFill>
              </a:rPr>
              <a:t>$4.5 </a:t>
            </a:r>
            <a:r>
              <a:rPr lang="en-US" sz="1350" dirty="0">
                <a:solidFill>
                  <a:schemeClr val="tx1"/>
                </a:solidFill>
              </a:rPr>
              <a:t>million. The NSC equity requirement at this valuation is </a:t>
            </a:r>
            <a:r>
              <a:rPr lang="en-US" sz="1350" b="1" dirty="0">
                <a:solidFill>
                  <a:schemeClr val="tx1"/>
                </a:solidFill>
              </a:rPr>
              <a:t>$15.0 </a:t>
            </a:r>
            <a:r>
              <a:rPr lang="en-US" sz="1350" dirty="0">
                <a:solidFill>
                  <a:schemeClr val="tx1"/>
                </a:solidFill>
              </a:rPr>
              <a:t>million.</a:t>
            </a:r>
          </a:p>
        </p:txBody>
      </p:sp>
      <p:sp>
        <p:nvSpPr>
          <p:cNvPr id="11" name="TextBox 10">
            <a:extLst>
              <a:ext uri="{FF2B5EF4-FFF2-40B4-BE49-F238E27FC236}">
                <a16:creationId xmlns:a16="http://schemas.microsoft.com/office/drawing/2014/main" id="{709A7ECD-873E-D326-9F5C-71268059B85F}"/>
              </a:ext>
            </a:extLst>
          </p:cNvPr>
          <p:cNvSpPr txBox="1"/>
          <p:nvPr/>
        </p:nvSpPr>
        <p:spPr>
          <a:xfrm>
            <a:off x="176305" y="3789815"/>
            <a:ext cx="4261223" cy="1682512"/>
          </a:xfrm>
          <a:prstGeom prst="rect">
            <a:avLst/>
          </a:prstGeom>
          <a:noFill/>
        </p:spPr>
        <p:txBody>
          <a:bodyPr wrap="square" rtlCol="0">
            <a:spAutoFit/>
          </a:bodyPr>
          <a:lstStyle/>
          <a:p>
            <a:pPr marL="171450" indent="-171450">
              <a:spcBef>
                <a:spcPts val="400"/>
              </a:spcBef>
              <a:spcAft>
                <a:spcPts val="400"/>
              </a:spcAft>
              <a:buFont typeface="Arial" panose="020B0604020202020204" pitchFamily="34" charset="0"/>
              <a:buChar char="•"/>
            </a:pPr>
            <a:r>
              <a:rPr lang="en-US" sz="1000" dirty="0"/>
              <a:t>The business is legally split into two entities for Michigan and Indiana. The Michigan business is owned 33.3% each by co-founders Chris Youst (CEO), Mark Nold (COO), and Mike Bernard (Medical Practice Director). The Indiana business is owned 50/50 by Chris and Mark. </a:t>
            </a:r>
          </a:p>
          <a:p>
            <a:pPr marL="171450" indent="-171450">
              <a:spcBef>
                <a:spcPts val="400"/>
              </a:spcBef>
              <a:spcAft>
                <a:spcPts val="400"/>
              </a:spcAft>
              <a:buFont typeface="Arial" panose="020B0604020202020204" pitchFamily="34" charset="0"/>
              <a:buChar char="•"/>
            </a:pPr>
            <a:r>
              <a:rPr lang="en-US" sz="1000" dirty="0"/>
              <a:t>Chris and Mark and excited to roll equity and continue running the business post-close.</a:t>
            </a:r>
          </a:p>
          <a:p>
            <a:pPr marL="171450" indent="-171450">
              <a:spcBef>
                <a:spcPts val="400"/>
              </a:spcBef>
              <a:spcAft>
                <a:spcPts val="400"/>
              </a:spcAft>
              <a:buFont typeface="Arial" panose="020B0604020202020204" pitchFamily="34" charset="0"/>
              <a:buChar char="•"/>
            </a:pPr>
            <a:r>
              <a:rPr lang="en-US" sz="1000" dirty="0"/>
              <a:t>We anticipate financing the transaction with a modest amount of leverage at close (currently assumed to be 3.5x) along with management rollover and equity from Northern Shore. </a:t>
            </a:r>
          </a:p>
        </p:txBody>
      </p:sp>
      <p:sp>
        <p:nvSpPr>
          <p:cNvPr id="6" name="TextBox 5">
            <a:extLst>
              <a:ext uri="{FF2B5EF4-FFF2-40B4-BE49-F238E27FC236}">
                <a16:creationId xmlns:a16="http://schemas.microsoft.com/office/drawing/2014/main" id="{B31F5DB4-CE6D-060A-59B8-FF0218B8737F}"/>
              </a:ext>
            </a:extLst>
          </p:cNvPr>
          <p:cNvSpPr txBox="1"/>
          <p:nvPr/>
        </p:nvSpPr>
        <p:spPr>
          <a:xfrm>
            <a:off x="4706470" y="3003258"/>
            <a:ext cx="4261223" cy="2800767"/>
          </a:xfrm>
          <a:prstGeom prst="rect">
            <a:avLst/>
          </a:prstGeom>
          <a:noFill/>
        </p:spPr>
        <p:txBody>
          <a:bodyPr wrap="square" rtlCol="0">
            <a:spAutoFit/>
          </a:bodyPr>
          <a:lstStyle/>
          <a:p>
            <a:pPr marL="91440" indent="-91440">
              <a:buFont typeface="Arial" panose="020B0604020202020204" pitchFamily="34" charset="0"/>
              <a:buChar char="•"/>
            </a:pPr>
            <a:r>
              <a:rPr lang="en-US" sz="800" u="sng" dirty="0">
                <a:solidFill>
                  <a:srgbClr val="00B050"/>
                </a:solidFill>
              </a:rPr>
              <a:t>Employer of choice</a:t>
            </a:r>
            <a:r>
              <a:rPr lang="en-US" sz="800" dirty="0">
                <a:solidFill>
                  <a:srgbClr val="00B050"/>
                </a:solidFill>
              </a:rPr>
              <a:t> – ASC-only focus creates ability to recruit and retain talent better than competitors, enabling AAS to capture share;  In a labor-constrained industry, differentiated recruiting and retention position the Company as a scarce and highly-attractive asset.  </a:t>
            </a:r>
          </a:p>
          <a:p>
            <a:pPr marL="91440" indent="-91440">
              <a:buFont typeface="Arial" panose="020B0604020202020204" pitchFamily="34" charset="0"/>
              <a:buChar char="•"/>
            </a:pPr>
            <a:r>
              <a:rPr lang="en-US" sz="800" u="sng" dirty="0">
                <a:solidFill>
                  <a:srgbClr val="00B050"/>
                </a:solidFill>
              </a:rPr>
              <a:t>Contracted &amp; recurring revenue model with downside protection</a:t>
            </a:r>
            <a:r>
              <a:rPr lang="en-US" sz="800" dirty="0">
                <a:solidFill>
                  <a:srgbClr val="00B050"/>
                </a:solidFill>
              </a:rPr>
              <a:t> – multi-year contracts  with built-in labor floors provide predictable, de-risked cash flow and reduce revenue volatility while providing upside opportunity through improved revenue cycle performance.</a:t>
            </a:r>
          </a:p>
          <a:p>
            <a:pPr marL="91440" indent="-91440">
              <a:buFont typeface="Arial" panose="020B0604020202020204" pitchFamily="34" charset="0"/>
              <a:buChar char="•"/>
            </a:pPr>
            <a:r>
              <a:rPr lang="en-US" sz="800" u="sng" dirty="0">
                <a:solidFill>
                  <a:srgbClr val="00B050"/>
                </a:solidFill>
              </a:rPr>
              <a:t>Strong pipeline </a:t>
            </a:r>
            <a:r>
              <a:rPr lang="en-US" sz="800" dirty="0">
                <a:solidFill>
                  <a:srgbClr val="00B050"/>
                </a:solidFill>
              </a:rPr>
              <a:t>of new ASC partnerships in Indiana and Michigan with a model that can easily be replicated in new geographies.</a:t>
            </a:r>
          </a:p>
          <a:p>
            <a:pPr marL="91440" indent="-91440">
              <a:buFont typeface="Arial" panose="020B0604020202020204" pitchFamily="34" charset="0"/>
              <a:buChar char="•"/>
            </a:pPr>
            <a:r>
              <a:rPr lang="en-US" sz="800" u="sng" dirty="0">
                <a:solidFill>
                  <a:srgbClr val="00B050"/>
                </a:solidFill>
              </a:rPr>
              <a:t>Opportunity</a:t>
            </a:r>
            <a:r>
              <a:rPr lang="en-US" sz="800" dirty="0">
                <a:solidFill>
                  <a:srgbClr val="00B050"/>
                </a:solidFill>
              </a:rPr>
              <a:t> to build density in existing markets and expand into new geographies with stronger reimbursement dynamics. </a:t>
            </a:r>
          </a:p>
          <a:p>
            <a:pPr marL="91440" indent="-91440">
              <a:buFont typeface="Arial" panose="020B0604020202020204" pitchFamily="34" charset="0"/>
              <a:buChar char="•"/>
            </a:pPr>
            <a:r>
              <a:rPr lang="en-US" sz="800" u="sng" dirty="0">
                <a:solidFill>
                  <a:srgbClr val="00B050"/>
                </a:solidFill>
              </a:rPr>
              <a:t>Led by strong operators</a:t>
            </a:r>
            <a:r>
              <a:rPr lang="en-US" sz="800" dirty="0">
                <a:solidFill>
                  <a:srgbClr val="00B050"/>
                </a:solidFill>
              </a:rPr>
              <a:t> with currently limited bandwidth which can be unlocked with Northern Shore’s resources and operational expertise.</a:t>
            </a:r>
          </a:p>
          <a:p>
            <a:pPr marL="91440" indent="-91440">
              <a:buFont typeface="Arial" panose="020B0604020202020204" pitchFamily="34" charset="0"/>
              <a:buChar char="•"/>
            </a:pPr>
            <a:r>
              <a:rPr lang="en-US" sz="800" u="sng" dirty="0">
                <a:solidFill>
                  <a:srgbClr val="C00000"/>
                </a:solidFill>
              </a:rPr>
              <a:t>Customer Concentration </a:t>
            </a:r>
            <a:r>
              <a:rPr lang="en-US" sz="800" dirty="0">
                <a:solidFill>
                  <a:srgbClr val="C00000"/>
                </a:solidFill>
              </a:rPr>
              <a:t>– Significant revenue exposure to IU Health contracts; while evergreen in structure with discrete contracts per ASC, concentration is not without risk. </a:t>
            </a:r>
          </a:p>
          <a:p>
            <a:pPr marL="91440" indent="-91440">
              <a:buFont typeface="Arial" panose="020B0604020202020204" pitchFamily="34" charset="0"/>
              <a:buChar char="•"/>
            </a:pPr>
            <a:r>
              <a:rPr lang="en-US" sz="800" u="sng" dirty="0">
                <a:solidFill>
                  <a:srgbClr val="C00000"/>
                </a:solidFill>
              </a:rPr>
              <a:t>Limited Infrastructure &amp; Playbooks</a:t>
            </a:r>
            <a:r>
              <a:rPr lang="en-US" sz="800" b="1" dirty="0">
                <a:solidFill>
                  <a:srgbClr val="C00000"/>
                </a:solidFill>
              </a:rPr>
              <a:t> </a:t>
            </a:r>
            <a:r>
              <a:rPr lang="en-US" sz="800" dirty="0">
                <a:solidFill>
                  <a:srgbClr val="C00000"/>
                </a:solidFill>
              </a:rPr>
              <a:t>– current operations rely heavily on ad hoc processes without standardized systems or formal playbooks; presents both a challenge and a value-creation opportunity through Northern Shore’s implementation of best practices.</a:t>
            </a:r>
          </a:p>
          <a:p>
            <a:pPr marL="91440" indent="-91440">
              <a:buFont typeface="Arial" panose="020B0604020202020204" pitchFamily="34" charset="0"/>
              <a:buChar char="•"/>
            </a:pPr>
            <a:r>
              <a:rPr lang="en-US" sz="800" u="sng" dirty="0">
                <a:solidFill>
                  <a:srgbClr val="C00000"/>
                </a:solidFill>
              </a:rPr>
              <a:t>Young Management Team</a:t>
            </a:r>
            <a:r>
              <a:rPr lang="en-US" sz="800" b="1" dirty="0">
                <a:solidFill>
                  <a:srgbClr val="C00000"/>
                </a:solidFill>
              </a:rPr>
              <a:t> </a:t>
            </a:r>
            <a:r>
              <a:rPr lang="en-US" sz="800" dirty="0">
                <a:solidFill>
                  <a:srgbClr val="C00000"/>
                </a:solidFill>
              </a:rPr>
              <a:t>– Founders have successfully scaled the business to-date but lack experience operating at larger scale; Northern Shore will provide support with infrastructure, professional management, and oversight to support growth.</a:t>
            </a:r>
          </a:p>
          <a:p>
            <a:pPr marL="91440" indent="-91440">
              <a:buFont typeface="Arial" panose="020B0604020202020204" pitchFamily="34" charset="0"/>
              <a:buChar char="•"/>
            </a:pPr>
            <a:endParaRPr lang="en-US" sz="800" dirty="0">
              <a:solidFill>
                <a:srgbClr val="C00000"/>
              </a:solidFill>
            </a:endParaRPr>
          </a:p>
          <a:p>
            <a:pPr marL="91440" indent="-91440">
              <a:buFont typeface="Arial" panose="020B0604020202020204" pitchFamily="34" charset="0"/>
              <a:buChar char="•"/>
            </a:pPr>
            <a:endParaRPr lang="en-US" sz="800" dirty="0">
              <a:solidFill>
                <a:srgbClr val="C00000"/>
              </a:solidFill>
            </a:endParaRPr>
          </a:p>
        </p:txBody>
      </p:sp>
      <p:sp>
        <p:nvSpPr>
          <p:cNvPr id="7" name="Slide Number Placeholder 8">
            <a:extLst>
              <a:ext uri="{FF2B5EF4-FFF2-40B4-BE49-F238E27FC236}">
                <a16:creationId xmlns:a16="http://schemas.microsoft.com/office/drawing/2014/main" id="{598EFDB6-E9F0-AFA7-A11F-AB344CE27093}"/>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6</a:t>
            </a:fld>
            <a:endParaRPr lang="en-US" dirty="0"/>
          </a:p>
        </p:txBody>
      </p:sp>
    </p:spTree>
    <p:extLst>
      <p:ext uri="{BB962C8B-B14F-4D97-AF65-F5344CB8AC3E}">
        <p14:creationId xmlns:p14="http://schemas.microsoft.com/office/powerpoint/2010/main" val="3985866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60AF5-F744-8913-112D-3F8848F14D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70C49F-6429-507E-923B-230CEDE049E1}"/>
              </a:ext>
            </a:extLst>
          </p:cNvPr>
          <p:cNvSpPr>
            <a:spLocks noGrp="1"/>
          </p:cNvSpPr>
          <p:nvPr>
            <p:ph type="title"/>
          </p:nvPr>
        </p:nvSpPr>
        <p:spPr>
          <a:xfrm>
            <a:off x="221943" y="218485"/>
            <a:ext cx="8687182" cy="664684"/>
          </a:xfrm>
        </p:spPr>
        <p:txBody>
          <a:bodyPr>
            <a:normAutofit/>
          </a:bodyPr>
          <a:lstStyle/>
          <a:p>
            <a:r>
              <a:rPr lang="en-US" sz="2600" noProof="0" dirty="0"/>
              <a:t>A </a:t>
            </a:r>
            <a:r>
              <a:rPr lang="en-US" sz="2600" dirty="0"/>
              <a:t>Scalable Solution to a </a:t>
            </a:r>
            <a:r>
              <a:rPr lang="en-US" sz="2600" noProof="0" dirty="0"/>
              <a:t>Growing Supply-Demand Imbalance</a:t>
            </a:r>
          </a:p>
        </p:txBody>
      </p:sp>
      <p:graphicFrame>
        <p:nvGraphicFramePr>
          <p:cNvPr id="6" name="Content Placeholder 7">
            <a:extLst>
              <a:ext uri="{FF2B5EF4-FFF2-40B4-BE49-F238E27FC236}">
                <a16:creationId xmlns:a16="http://schemas.microsoft.com/office/drawing/2014/main" id="{439A2105-E13F-3C60-1F44-1B137636C30C}"/>
              </a:ext>
            </a:extLst>
          </p:cNvPr>
          <p:cNvGraphicFramePr>
            <a:graphicFrameLocks noGrp="1"/>
          </p:cNvGraphicFramePr>
          <p:nvPr>
            <p:ph idx="1"/>
            <p:extLst>
              <p:ext uri="{D42A27DB-BD31-4B8C-83A1-F6EECF244321}">
                <p14:modId xmlns:p14="http://schemas.microsoft.com/office/powerpoint/2010/main" val="2733688741"/>
              </p:ext>
            </p:extLst>
          </p:nvPr>
        </p:nvGraphicFramePr>
        <p:xfrm>
          <a:off x="824753" y="1861607"/>
          <a:ext cx="8084372" cy="4480560"/>
        </p:xfrm>
        <a:graphic>
          <a:graphicData uri="http://schemas.openxmlformats.org/drawingml/2006/table">
            <a:tbl>
              <a:tblPr firstRow="1" bandRow="1">
                <a:tableStyleId>{5C22544A-7EE6-4342-B048-85BDC9FD1C3A}</a:tableStyleId>
              </a:tblPr>
              <a:tblGrid>
                <a:gridCol w="2572871">
                  <a:extLst>
                    <a:ext uri="{9D8B030D-6E8A-4147-A177-3AD203B41FA5}">
                      <a16:colId xmlns:a16="http://schemas.microsoft.com/office/drawing/2014/main" val="823806855"/>
                    </a:ext>
                  </a:extLst>
                </a:gridCol>
                <a:gridCol w="304800">
                  <a:extLst>
                    <a:ext uri="{9D8B030D-6E8A-4147-A177-3AD203B41FA5}">
                      <a16:colId xmlns:a16="http://schemas.microsoft.com/office/drawing/2014/main" val="3653787873"/>
                    </a:ext>
                  </a:extLst>
                </a:gridCol>
                <a:gridCol w="5206701">
                  <a:extLst>
                    <a:ext uri="{9D8B030D-6E8A-4147-A177-3AD203B41FA5}">
                      <a16:colId xmlns:a16="http://schemas.microsoft.com/office/drawing/2014/main" val="638307282"/>
                    </a:ext>
                  </a:extLst>
                </a:gridCol>
              </a:tblGrid>
              <a:tr h="594360">
                <a:tc>
                  <a:txBody>
                    <a:bodyPr/>
                    <a:lstStyle/>
                    <a:p>
                      <a:r>
                        <a:rPr lang="en-US" sz="1400" b="1" dirty="0">
                          <a:solidFill>
                            <a:schemeClr val="bg1"/>
                          </a:solidFill>
                        </a:rPr>
                        <a:t>Employer of Choice</a:t>
                      </a:r>
                    </a:p>
                  </a:txBody>
                  <a:tcPr anchor="ctr">
                    <a:solidFill>
                      <a:srgbClr val="143F6A"/>
                    </a:solidFill>
                  </a:tcPr>
                </a:tc>
                <a:tc>
                  <a:txBody>
                    <a:bodyPr/>
                    <a:lstStyle/>
                    <a:p>
                      <a:endParaRPr lang="en-US" sz="100" dirty="0"/>
                    </a:p>
                  </a:txBody>
                  <a:tcPr marL="0" marR="0" marT="0" marB="0">
                    <a:lnR w="12700" cap="flat" cmpd="sng" algn="ctr">
                      <a:solidFill>
                        <a:srgbClr val="143F6A"/>
                      </a:solidFill>
                      <a:prstDash val="sysDash"/>
                      <a:round/>
                      <a:headEnd type="none" w="med" len="med"/>
                      <a:tailEnd type="none" w="med" len="med"/>
                    </a:lnR>
                    <a:noFill/>
                  </a:tcPr>
                </a:tc>
                <a:tc rowSpan="3">
                  <a:txBody>
                    <a:bodyPr/>
                    <a:lstStyle/>
                    <a:p>
                      <a:pPr marL="171450" indent="-171450">
                        <a:buFont typeface="Wingdings" panose="05000000000000000000" pitchFamily="2" charset="2"/>
                        <a:buChar char="§"/>
                      </a:pPr>
                      <a:r>
                        <a:rPr lang="en-US" sz="1000" b="0" dirty="0">
                          <a:solidFill>
                            <a:srgbClr val="143F6A"/>
                          </a:solidFill>
                        </a:rPr>
                        <a:t>AAS is the employer of choice in a market facing a severe and worsening shortage of Nurse Anesthetists (“CRNAs”) and Anesthesiologists (“MDAs”) – AAS’s clinician-first model enables recruitment and retention where others struggle. </a:t>
                      </a:r>
                    </a:p>
                    <a:p>
                      <a:pPr marL="171450" indent="-171450">
                        <a:buFont typeface="Wingdings" panose="05000000000000000000" pitchFamily="2" charset="2"/>
                        <a:buChar char="§"/>
                      </a:pPr>
                      <a:r>
                        <a:rPr lang="en-US" sz="1000" b="0" dirty="0">
                          <a:solidFill>
                            <a:srgbClr val="143F6A"/>
                          </a:solidFill>
                        </a:rPr>
                        <a:t>AAS is focused exclusively on Ambulatory Surgical Centers (“ASCs”), which enables a superior work-life balance for providers: no nights, weekends, or call shifts. In a specialty plagued by burnout, this matters. </a:t>
                      </a:r>
                    </a:p>
                  </a:txBody>
                  <a:tcPr anchor="ctr">
                    <a:lnL w="12700" cap="flat" cmpd="sng" algn="ctr">
                      <a:solidFill>
                        <a:srgbClr val="143F6A"/>
                      </a:solidFill>
                      <a:prstDash val="sysDash"/>
                      <a:round/>
                      <a:headEnd type="none" w="med" len="med"/>
                      <a:tailEnd type="none" w="med" len="med"/>
                    </a:lnL>
                    <a:lnR w="12700" cap="flat" cmpd="sng" algn="ctr">
                      <a:solidFill>
                        <a:srgbClr val="143F6A"/>
                      </a:solidFill>
                      <a:prstDash val="sysDash"/>
                      <a:round/>
                      <a:headEnd type="none" w="med" len="med"/>
                      <a:tailEnd type="none" w="med" len="med"/>
                    </a:lnR>
                    <a:lnT w="12700" cap="flat" cmpd="sng" algn="ctr">
                      <a:solidFill>
                        <a:srgbClr val="143F6A"/>
                      </a:solidFill>
                      <a:prstDash val="sysDash"/>
                      <a:round/>
                      <a:headEnd type="none" w="med" len="med"/>
                      <a:tailEnd type="none" w="med" len="med"/>
                    </a:lnT>
                    <a:lnB w="12700" cap="flat" cmpd="sng" algn="ctr">
                      <a:solidFill>
                        <a:srgbClr val="143F6A"/>
                      </a:solidFill>
                      <a:prstDash val="sysDash"/>
                      <a:round/>
                      <a:headEnd type="none" w="med" len="med"/>
                      <a:tailEnd type="none" w="med" len="med"/>
                    </a:lnB>
                    <a:lnTlToBr w="12700" cmpd="sng">
                      <a:noFill/>
                      <a:prstDash val="solid"/>
                    </a:lnTlToBr>
                    <a:lnBlToTr w="12700" cmpd="sng">
                      <a:noFill/>
                      <a:prstDash val="solid"/>
                    </a:lnBlToTr>
                    <a:solidFill>
                      <a:srgbClr val="E0EBF6"/>
                    </a:solidFill>
                  </a:tcPr>
                </a:tc>
                <a:extLst>
                  <a:ext uri="{0D108BD9-81ED-4DB2-BD59-A6C34878D82A}">
                    <a16:rowId xmlns:a16="http://schemas.microsoft.com/office/drawing/2014/main" val="1102587877"/>
                  </a:ext>
                </a:extLst>
              </a:tr>
              <a:tr h="182880">
                <a:tc>
                  <a:txBody>
                    <a:bodyPr/>
                    <a:lstStyle/>
                    <a:p>
                      <a:endParaRPr lang="en-US" sz="100" dirty="0"/>
                    </a:p>
                  </a:txBody>
                  <a:tcPr marL="0" marR="0" marT="0" marB="0">
                    <a:noFill/>
                  </a:tcPr>
                </a:tc>
                <a:tc>
                  <a:txBody>
                    <a:bodyPr/>
                    <a:lstStyle/>
                    <a:p>
                      <a:endParaRPr lang="en-US" sz="100" dirty="0"/>
                    </a:p>
                  </a:txBody>
                  <a:tcPr marL="0" marR="0" marT="0" marB="0">
                    <a:lnR w="12700" cap="flat" cmpd="sng" algn="ctr">
                      <a:solidFill>
                        <a:srgbClr val="143F6A"/>
                      </a:solidFill>
                      <a:prstDash val="sysDash"/>
                      <a:round/>
                      <a:headEnd type="none" w="med" len="med"/>
                      <a:tailEnd type="none" w="med" len="med"/>
                    </a:lnR>
                    <a:noFill/>
                  </a:tcPr>
                </a:tc>
                <a:tc vMerge="1">
                  <a:txBody>
                    <a:bodyPr/>
                    <a:lstStyle/>
                    <a:p>
                      <a:endParaRPr lang="en-US" sz="100" dirty="0"/>
                    </a:p>
                  </a:txBody>
                  <a:tcPr marL="0" marR="0" marT="0" marB="0">
                    <a:lnT w="12700" cap="flat" cmpd="sng" algn="ctr">
                      <a:solidFill>
                        <a:srgbClr val="143F6A"/>
                      </a:solidFill>
                      <a:prstDash val="sysDash"/>
                      <a:round/>
                      <a:headEnd type="none" w="med" len="med"/>
                      <a:tailEnd type="none" w="med" len="med"/>
                    </a:lnT>
                    <a:lnB w="12700" cap="flat" cmpd="sng" algn="ctr">
                      <a:solidFill>
                        <a:srgbClr val="143F6A"/>
                      </a:solidFill>
                      <a:prstDash val="sysDash"/>
                      <a:round/>
                      <a:headEnd type="none" w="med" len="med"/>
                      <a:tailEnd type="none" w="med" len="med"/>
                    </a:lnB>
                    <a:noFill/>
                  </a:tcPr>
                </a:tc>
                <a:extLst>
                  <a:ext uri="{0D108BD9-81ED-4DB2-BD59-A6C34878D82A}">
                    <a16:rowId xmlns:a16="http://schemas.microsoft.com/office/drawing/2014/main" val="2170717587"/>
                  </a:ext>
                </a:extLst>
              </a:tr>
              <a:tr h="594360">
                <a:tc>
                  <a:txBody>
                    <a:bodyPr/>
                    <a:lstStyle/>
                    <a:p>
                      <a:r>
                        <a:rPr lang="en-US" sz="1400" b="1" dirty="0">
                          <a:solidFill>
                            <a:schemeClr val="bg1"/>
                          </a:solidFill>
                        </a:rPr>
                        <a:t>Focused Exclusively on ASCs</a:t>
                      </a:r>
                    </a:p>
                  </a:txBody>
                  <a:tcPr anchor="ctr">
                    <a:solidFill>
                      <a:srgbClr val="143F6A"/>
                    </a:solidFill>
                  </a:tcPr>
                </a:tc>
                <a:tc>
                  <a:txBody>
                    <a:bodyPr/>
                    <a:lstStyle/>
                    <a:p>
                      <a:endParaRPr lang="en-US" sz="100" dirty="0"/>
                    </a:p>
                  </a:txBody>
                  <a:tcPr marL="0" marR="0" marT="0" marB="0">
                    <a:lnR w="12700" cap="flat" cmpd="sng" algn="ctr">
                      <a:solidFill>
                        <a:srgbClr val="143F6A"/>
                      </a:solidFill>
                      <a:prstDash val="sysDash"/>
                      <a:round/>
                      <a:headEnd type="none" w="med" len="med"/>
                      <a:tailEnd type="none" w="med" len="med"/>
                    </a:lnR>
                    <a:noFill/>
                  </a:tcPr>
                </a:tc>
                <a:tc vMerge="1">
                  <a:txBody>
                    <a:bodyPr/>
                    <a:lstStyle/>
                    <a:p>
                      <a:endParaRPr dirty="0"/>
                    </a:p>
                  </a:txBody>
                  <a:tcPr anchor="ctr">
                    <a:lnL w="12700" cap="flat" cmpd="sng" algn="ctr">
                      <a:solidFill>
                        <a:srgbClr val="143F6A"/>
                      </a:solidFill>
                      <a:prstDash val="sysDash"/>
                      <a:round/>
                      <a:headEnd type="none" w="med" len="med"/>
                      <a:tailEnd type="none" w="med" len="med"/>
                    </a:lnL>
                    <a:lnR w="12700" cap="flat" cmpd="sng" algn="ctr">
                      <a:solidFill>
                        <a:srgbClr val="143F6A"/>
                      </a:solidFill>
                      <a:prstDash val="sysDash"/>
                      <a:round/>
                      <a:headEnd type="none" w="med" len="med"/>
                      <a:tailEnd type="none" w="med" len="med"/>
                    </a:lnR>
                    <a:lnT w="12700" cap="flat" cmpd="sng" algn="ctr">
                      <a:solidFill>
                        <a:srgbClr val="143F6A"/>
                      </a:solidFill>
                      <a:prstDash val="sysDash"/>
                      <a:round/>
                      <a:headEnd type="none" w="med" len="med"/>
                      <a:tailEnd type="none" w="med" len="med"/>
                    </a:lnT>
                    <a:lnB w="12700" cap="flat" cmpd="sng" algn="ctr">
                      <a:solidFill>
                        <a:srgbClr val="143F6A"/>
                      </a:solidFill>
                      <a:prstDash val="sysDash"/>
                      <a:round/>
                      <a:headEnd type="none" w="med" len="med"/>
                      <a:tailEnd type="none" w="med" len="med"/>
                    </a:lnB>
                    <a:solidFill>
                      <a:srgbClr val="E0EBF6"/>
                    </a:solidFill>
                  </a:tcPr>
                </a:tc>
                <a:extLst>
                  <a:ext uri="{0D108BD9-81ED-4DB2-BD59-A6C34878D82A}">
                    <a16:rowId xmlns:a16="http://schemas.microsoft.com/office/drawing/2014/main" val="1017307606"/>
                  </a:ext>
                </a:extLst>
              </a:tr>
              <a:tr h="182880">
                <a:tc>
                  <a:txBody>
                    <a:bodyPr/>
                    <a:lstStyle/>
                    <a:p>
                      <a:endParaRPr lang="en-US" sz="100" dirty="0"/>
                    </a:p>
                  </a:txBody>
                  <a:tcPr marL="0" marR="0" marT="0" marB="0">
                    <a:noFill/>
                  </a:tcPr>
                </a:tc>
                <a:tc>
                  <a:txBody>
                    <a:bodyPr/>
                    <a:lstStyle/>
                    <a:p>
                      <a:endParaRPr lang="en-US" sz="100" dirty="0"/>
                    </a:p>
                  </a:txBody>
                  <a:tcPr marL="0" marR="0" marT="0" marB="0">
                    <a:noFill/>
                  </a:tcPr>
                </a:tc>
                <a:tc>
                  <a:txBody>
                    <a:bodyPr/>
                    <a:lstStyle/>
                    <a:p>
                      <a:endParaRPr lang="en-US" sz="100" dirty="0"/>
                    </a:p>
                  </a:txBody>
                  <a:tcPr marL="0" marR="0" marT="0" marB="0">
                    <a:lnT w="12700" cap="flat" cmpd="sng" algn="ctr">
                      <a:solidFill>
                        <a:srgbClr val="143F6A"/>
                      </a:solidFill>
                      <a:prstDash val="sysDash"/>
                      <a:round/>
                      <a:headEnd type="none" w="med" len="med"/>
                      <a:tailEnd type="none" w="med" len="med"/>
                    </a:lnT>
                    <a:lnB w="12700" cap="flat" cmpd="sng" algn="ctr">
                      <a:solidFill>
                        <a:srgbClr val="143F6A"/>
                      </a:solidFill>
                      <a:prstDash val="sysDash"/>
                      <a:round/>
                      <a:headEnd type="none" w="med" len="med"/>
                      <a:tailEnd type="none" w="med" len="med"/>
                    </a:lnB>
                    <a:noFill/>
                  </a:tcPr>
                </a:tc>
                <a:extLst>
                  <a:ext uri="{0D108BD9-81ED-4DB2-BD59-A6C34878D82A}">
                    <a16:rowId xmlns:a16="http://schemas.microsoft.com/office/drawing/2014/main" val="1481928432"/>
                  </a:ext>
                </a:extLst>
              </a:tr>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solidFill>
                            <a:schemeClr val="bg1"/>
                          </a:solidFill>
                        </a:rPr>
                        <a:t>Large, Flexible Staffing Model</a:t>
                      </a:r>
                    </a:p>
                  </a:txBody>
                  <a:tcPr anchor="ctr">
                    <a:solidFill>
                      <a:srgbClr val="143F6A"/>
                    </a:solidFill>
                  </a:tcPr>
                </a:tc>
                <a:tc>
                  <a:txBody>
                    <a:bodyPr/>
                    <a:lstStyle/>
                    <a:p>
                      <a:endParaRPr lang="en-US" sz="100" dirty="0"/>
                    </a:p>
                  </a:txBody>
                  <a:tcPr marL="0" marR="0" marT="0" marB="0">
                    <a:lnR w="12700" cap="flat" cmpd="sng" algn="ctr">
                      <a:solidFill>
                        <a:srgbClr val="143F6A"/>
                      </a:solidFill>
                      <a:prstDash val="sysDash"/>
                      <a:round/>
                      <a:headEnd type="none" w="med" len="med"/>
                      <a:tailEnd type="none" w="med" len="med"/>
                    </a:lnR>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000" b="0" dirty="0">
                          <a:solidFill>
                            <a:srgbClr val="143F6A"/>
                          </a:solidFill>
                        </a:rPr>
                        <a:t>AAS operates with a large and flexible staffing model allowing efficient scheduling and scaling with the ability to meet new demand quickly – a key advantage as ASC volume continues to rise. </a:t>
                      </a:r>
                    </a:p>
                  </a:txBody>
                  <a:tcPr anchor="ctr">
                    <a:lnL w="12700" cap="flat" cmpd="sng" algn="ctr">
                      <a:solidFill>
                        <a:srgbClr val="143F6A"/>
                      </a:solidFill>
                      <a:prstDash val="sysDash"/>
                      <a:round/>
                      <a:headEnd type="none" w="med" len="med"/>
                      <a:tailEnd type="none" w="med" len="med"/>
                    </a:lnL>
                    <a:lnR w="12700" cap="flat" cmpd="sng" algn="ctr">
                      <a:solidFill>
                        <a:srgbClr val="143F6A"/>
                      </a:solidFill>
                      <a:prstDash val="sysDash"/>
                      <a:round/>
                      <a:headEnd type="none" w="med" len="med"/>
                      <a:tailEnd type="none" w="med" len="med"/>
                    </a:lnR>
                    <a:lnT w="12700" cap="flat" cmpd="sng" algn="ctr">
                      <a:solidFill>
                        <a:srgbClr val="143F6A"/>
                      </a:solidFill>
                      <a:prstDash val="sysDash"/>
                      <a:round/>
                      <a:headEnd type="none" w="med" len="med"/>
                      <a:tailEnd type="none" w="med" len="med"/>
                    </a:lnT>
                    <a:lnB w="12700" cap="flat" cmpd="sng" algn="ctr">
                      <a:solidFill>
                        <a:srgbClr val="143F6A"/>
                      </a:solidFill>
                      <a:prstDash val="sysDash"/>
                      <a:round/>
                      <a:headEnd type="none" w="med" len="med"/>
                      <a:tailEnd type="none" w="med" len="med"/>
                    </a:lnB>
                    <a:lnTlToBr w="12700" cmpd="sng">
                      <a:noFill/>
                      <a:prstDash val="solid"/>
                    </a:lnTlToBr>
                    <a:lnBlToTr w="12700" cmpd="sng">
                      <a:noFill/>
                      <a:prstDash val="solid"/>
                    </a:lnBlToTr>
                    <a:solidFill>
                      <a:srgbClr val="E0EBF6"/>
                    </a:solidFill>
                  </a:tcPr>
                </a:tc>
                <a:extLst>
                  <a:ext uri="{0D108BD9-81ED-4DB2-BD59-A6C34878D82A}">
                    <a16:rowId xmlns:a16="http://schemas.microsoft.com/office/drawing/2014/main" val="211500849"/>
                  </a:ext>
                </a:extLst>
              </a:tr>
              <a:tr h="182880">
                <a:tc>
                  <a:txBody>
                    <a:bodyPr/>
                    <a:lstStyle/>
                    <a:p>
                      <a:endParaRPr lang="en-US" sz="100" dirty="0"/>
                    </a:p>
                  </a:txBody>
                  <a:tcPr marL="0" marR="0" marT="0" marB="0">
                    <a:noFill/>
                  </a:tcPr>
                </a:tc>
                <a:tc>
                  <a:txBody>
                    <a:bodyPr/>
                    <a:lstStyle/>
                    <a:p>
                      <a:endParaRPr lang="en-US" sz="100" dirty="0"/>
                    </a:p>
                  </a:txBody>
                  <a:tcPr marL="0" marR="0" marT="0" marB="0">
                    <a:noFill/>
                  </a:tcPr>
                </a:tc>
                <a:tc>
                  <a:txBody>
                    <a:bodyPr/>
                    <a:lstStyle/>
                    <a:p>
                      <a:endParaRPr lang="en-US" sz="100" dirty="0"/>
                    </a:p>
                  </a:txBody>
                  <a:tcPr marL="0" marR="0" marT="0" marB="0">
                    <a:lnT w="12700" cap="flat" cmpd="sng" algn="ctr">
                      <a:solidFill>
                        <a:srgbClr val="143F6A"/>
                      </a:solidFill>
                      <a:prstDash val="sysDash"/>
                      <a:round/>
                      <a:headEnd type="none" w="med" len="med"/>
                      <a:tailEnd type="none" w="med" len="med"/>
                    </a:lnT>
                    <a:lnB w="12700" cap="flat" cmpd="sng" algn="ctr">
                      <a:solidFill>
                        <a:srgbClr val="143F6A"/>
                      </a:solidFill>
                      <a:prstDash val="sysDash"/>
                      <a:round/>
                      <a:headEnd type="none" w="med" len="med"/>
                      <a:tailEnd type="none" w="med" len="med"/>
                    </a:lnB>
                    <a:noFill/>
                  </a:tcPr>
                </a:tc>
                <a:extLst>
                  <a:ext uri="{0D108BD9-81ED-4DB2-BD59-A6C34878D82A}">
                    <a16:rowId xmlns:a16="http://schemas.microsoft.com/office/drawing/2014/main" val="95444983"/>
                  </a:ext>
                </a:extLst>
              </a:tr>
              <a:tr h="594360">
                <a:tc>
                  <a:txBody>
                    <a:bodyPr/>
                    <a:lstStyle/>
                    <a:p>
                      <a:r>
                        <a:rPr lang="en-US" sz="1400" b="1" dirty="0">
                          <a:solidFill>
                            <a:schemeClr val="bg1"/>
                          </a:solidFill>
                        </a:rPr>
                        <a:t>Positioned to Scale</a:t>
                      </a:r>
                    </a:p>
                  </a:txBody>
                  <a:tcPr anchor="ctr">
                    <a:solidFill>
                      <a:srgbClr val="143F6A"/>
                    </a:solidFill>
                  </a:tcPr>
                </a:tc>
                <a:tc>
                  <a:txBody>
                    <a:bodyPr/>
                    <a:lstStyle/>
                    <a:p>
                      <a:endParaRPr lang="en-US" sz="100" dirty="0"/>
                    </a:p>
                  </a:txBody>
                  <a:tcPr marL="0" marR="0" marT="0" marB="0">
                    <a:lnR w="12700" cap="flat" cmpd="sng" algn="ctr">
                      <a:solidFill>
                        <a:srgbClr val="143F6A"/>
                      </a:solidFill>
                      <a:prstDash val="sysDash"/>
                      <a:round/>
                      <a:headEnd type="none" w="med" len="med"/>
                      <a:tailEnd type="none" w="med" len="med"/>
                    </a:lnR>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000" b="0" dirty="0">
                          <a:solidFill>
                            <a:srgbClr val="143F6A"/>
                          </a:solidFill>
                        </a:rPr>
                        <a:t>Unique model for aggregating a usable labor pool that is well-positioned to scale faster with Northern Shore’s resources and expertise, with the ability to enter new markets at a much more rapid pace than they have historically (e.g., the Indiana expansion in 2022).</a:t>
                      </a:r>
                    </a:p>
                  </a:txBody>
                  <a:tcPr anchor="ctr">
                    <a:lnL w="12700" cap="flat" cmpd="sng" algn="ctr">
                      <a:solidFill>
                        <a:srgbClr val="143F6A"/>
                      </a:solidFill>
                      <a:prstDash val="sysDash"/>
                      <a:round/>
                      <a:headEnd type="none" w="med" len="med"/>
                      <a:tailEnd type="none" w="med" len="med"/>
                    </a:lnL>
                    <a:lnR w="12700" cap="flat" cmpd="sng" algn="ctr">
                      <a:solidFill>
                        <a:srgbClr val="143F6A"/>
                      </a:solidFill>
                      <a:prstDash val="sysDash"/>
                      <a:round/>
                      <a:headEnd type="none" w="med" len="med"/>
                      <a:tailEnd type="none" w="med" len="med"/>
                    </a:lnR>
                    <a:lnT w="12700" cap="flat" cmpd="sng" algn="ctr">
                      <a:solidFill>
                        <a:srgbClr val="143F6A"/>
                      </a:solidFill>
                      <a:prstDash val="sysDash"/>
                      <a:round/>
                      <a:headEnd type="none" w="med" len="med"/>
                      <a:tailEnd type="none" w="med" len="med"/>
                    </a:lnT>
                    <a:lnB w="12700" cap="flat" cmpd="sng" algn="ctr">
                      <a:solidFill>
                        <a:srgbClr val="143F6A"/>
                      </a:solidFill>
                      <a:prstDash val="sysDash"/>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848160788"/>
                  </a:ext>
                </a:extLst>
              </a:tr>
              <a:tr h="182880">
                <a:tc>
                  <a:txBody>
                    <a:bodyPr/>
                    <a:lstStyle/>
                    <a:p>
                      <a:endParaRPr lang="en-US" sz="100" dirty="0"/>
                    </a:p>
                  </a:txBody>
                  <a:tcPr marL="0" marR="0" marT="0" marB="0">
                    <a:noFill/>
                  </a:tcPr>
                </a:tc>
                <a:tc>
                  <a:txBody>
                    <a:bodyPr/>
                    <a:lstStyle/>
                    <a:p>
                      <a:endParaRPr lang="en-US" sz="100" dirty="0"/>
                    </a:p>
                  </a:txBody>
                  <a:tcPr marL="0" marR="0" marT="0" marB="0">
                    <a:noFill/>
                  </a:tcPr>
                </a:tc>
                <a:tc>
                  <a:txBody>
                    <a:bodyPr/>
                    <a:lstStyle/>
                    <a:p>
                      <a:endParaRPr lang="en-US" sz="100" dirty="0"/>
                    </a:p>
                  </a:txBody>
                  <a:tcPr marL="0" marR="0" marT="0" marB="0">
                    <a:lnT w="12700" cap="flat" cmpd="sng" algn="ctr">
                      <a:solidFill>
                        <a:srgbClr val="143F6A"/>
                      </a:solidFill>
                      <a:prstDash val="sysDash"/>
                      <a:round/>
                      <a:headEnd type="none" w="med" len="med"/>
                      <a:tailEnd type="none" w="med" len="med"/>
                    </a:lnT>
                    <a:lnB w="12700" cap="flat" cmpd="sng" algn="ctr">
                      <a:solidFill>
                        <a:srgbClr val="143F6A"/>
                      </a:solidFill>
                      <a:prstDash val="sysDash"/>
                      <a:round/>
                      <a:headEnd type="none" w="med" len="med"/>
                      <a:tailEnd type="none" w="med" len="med"/>
                    </a:lnB>
                    <a:noFill/>
                  </a:tcPr>
                </a:tc>
                <a:extLst>
                  <a:ext uri="{0D108BD9-81ED-4DB2-BD59-A6C34878D82A}">
                    <a16:rowId xmlns:a16="http://schemas.microsoft.com/office/drawing/2014/main" val="1590209620"/>
                  </a:ext>
                </a:extLst>
              </a:tr>
              <a:tr h="594360">
                <a:tc>
                  <a:txBody>
                    <a:bodyPr/>
                    <a:lstStyle/>
                    <a:p>
                      <a:r>
                        <a:rPr lang="en-US" sz="1400" b="1" dirty="0">
                          <a:solidFill>
                            <a:schemeClr val="bg1"/>
                          </a:solidFill>
                        </a:rPr>
                        <a:t>Opportunity to Capitalize on Market Shift</a:t>
                      </a:r>
                    </a:p>
                  </a:txBody>
                  <a:tcPr anchor="ctr">
                    <a:solidFill>
                      <a:schemeClr val="accent3">
                        <a:lumMod val="50000"/>
                      </a:schemeClr>
                    </a:solidFill>
                  </a:tcPr>
                </a:tc>
                <a:tc>
                  <a:txBody>
                    <a:bodyPr/>
                    <a:lstStyle/>
                    <a:p>
                      <a:endParaRPr lang="en-US" sz="100" dirty="0"/>
                    </a:p>
                  </a:txBody>
                  <a:tcPr marL="0" marR="0" marT="0" marB="0">
                    <a:lnR w="12700" cap="flat" cmpd="sng" algn="ctr">
                      <a:solidFill>
                        <a:srgbClr val="143F6A"/>
                      </a:solidFill>
                      <a:prstDash val="sysDash"/>
                      <a:round/>
                      <a:headEnd type="none" w="med" len="med"/>
                      <a:tailEnd type="none" w="med" len="med"/>
                    </a:lnR>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000" b="0" dirty="0">
                          <a:solidFill>
                            <a:srgbClr val="143F6A"/>
                          </a:solidFill>
                        </a:rPr>
                        <a:t>ASCs and hospitals increasingly view anesthesia as a cost center, AAS is positioned to capitalize with a unique staffing model and pricing structure that lowers costs and complexity for ASCs while preserving strong margins and downside protection.</a:t>
                      </a:r>
                    </a:p>
                  </a:txBody>
                  <a:tcPr anchor="ctr">
                    <a:lnL w="12700" cap="flat" cmpd="sng" algn="ctr">
                      <a:solidFill>
                        <a:srgbClr val="143F6A"/>
                      </a:solidFill>
                      <a:prstDash val="sysDash"/>
                      <a:round/>
                      <a:headEnd type="none" w="med" len="med"/>
                      <a:tailEnd type="none" w="med" len="med"/>
                    </a:lnL>
                    <a:lnR w="12700" cap="flat" cmpd="sng" algn="ctr">
                      <a:solidFill>
                        <a:srgbClr val="143F6A"/>
                      </a:solidFill>
                      <a:prstDash val="sysDash"/>
                      <a:round/>
                      <a:headEnd type="none" w="med" len="med"/>
                      <a:tailEnd type="none" w="med" len="med"/>
                    </a:lnR>
                    <a:lnT w="12700" cap="flat" cmpd="sng" algn="ctr">
                      <a:solidFill>
                        <a:srgbClr val="143F6A"/>
                      </a:solidFill>
                      <a:prstDash val="sysDash"/>
                      <a:round/>
                      <a:headEnd type="none" w="med" len="med"/>
                      <a:tailEnd type="none" w="med" len="med"/>
                    </a:lnT>
                    <a:lnB w="12700" cap="flat" cmpd="sng" algn="ctr">
                      <a:solidFill>
                        <a:srgbClr val="143F6A"/>
                      </a:solidFill>
                      <a:prstDash val="sysDash"/>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451017080"/>
                  </a:ext>
                </a:extLst>
              </a:tr>
              <a:tr h="182880">
                <a:tc>
                  <a:txBody>
                    <a:bodyPr/>
                    <a:lstStyle/>
                    <a:p>
                      <a:endParaRPr lang="en-US" sz="100" dirty="0"/>
                    </a:p>
                  </a:txBody>
                  <a:tcPr marL="0" marR="0" marT="0" marB="0">
                    <a:noFill/>
                  </a:tcPr>
                </a:tc>
                <a:tc>
                  <a:txBody>
                    <a:bodyPr/>
                    <a:lstStyle/>
                    <a:p>
                      <a:endParaRPr lang="en-US" sz="100" dirty="0"/>
                    </a:p>
                  </a:txBody>
                  <a:tcPr marL="0" marR="0" marT="0" marB="0">
                    <a:noFill/>
                  </a:tcPr>
                </a:tc>
                <a:tc>
                  <a:txBody>
                    <a:bodyPr/>
                    <a:lstStyle/>
                    <a:p>
                      <a:endParaRPr lang="en-US" sz="100" dirty="0"/>
                    </a:p>
                  </a:txBody>
                  <a:tcPr marL="0" marR="0" marT="0" marB="0">
                    <a:lnT w="12700" cap="flat" cmpd="sng" algn="ctr">
                      <a:solidFill>
                        <a:srgbClr val="143F6A"/>
                      </a:solidFill>
                      <a:prstDash val="sysDash"/>
                      <a:round/>
                      <a:headEnd type="none" w="med" len="med"/>
                      <a:tailEnd type="none" w="med" len="med"/>
                    </a:lnT>
                    <a:lnB w="12700" cap="flat" cmpd="sng" algn="ctr">
                      <a:solidFill>
                        <a:srgbClr val="143F6A"/>
                      </a:solidFill>
                      <a:prstDash val="sysDash"/>
                      <a:round/>
                      <a:headEnd type="none" w="med" len="med"/>
                      <a:tailEnd type="none" w="med" len="med"/>
                    </a:lnB>
                    <a:noFill/>
                  </a:tcPr>
                </a:tc>
                <a:extLst>
                  <a:ext uri="{0D108BD9-81ED-4DB2-BD59-A6C34878D82A}">
                    <a16:rowId xmlns:a16="http://schemas.microsoft.com/office/drawing/2014/main" val="3955738887"/>
                  </a:ext>
                </a:extLst>
              </a:tr>
              <a:tr h="594360">
                <a:tc>
                  <a:txBody>
                    <a:bodyPr/>
                    <a:lstStyle/>
                    <a:p>
                      <a:r>
                        <a:rPr lang="en-US" sz="1400" b="1" dirty="0">
                          <a:solidFill>
                            <a:schemeClr val="bg1"/>
                          </a:solidFill>
                        </a:rPr>
                        <a:t>Platform for Expansion and Improved Profitability</a:t>
                      </a:r>
                    </a:p>
                  </a:txBody>
                  <a:tcPr anchor="ctr">
                    <a:solidFill>
                      <a:schemeClr val="accent3">
                        <a:lumMod val="50000"/>
                      </a:schemeClr>
                    </a:solidFill>
                  </a:tcPr>
                </a:tc>
                <a:tc>
                  <a:txBody>
                    <a:bodyPr/>
                    <a:lstStyle/>
                    <a:p>
                      <a:endParaRPr lang="en-US" sz="100" dirty="0"/>
                    </a:p>
                  </a:txBody>
                  <a:tcPr marL="0" marR="0" marT="0" marB="0">
                    <a:lnR w="12700" cap="flat" cmpd="sng" algn="ctr">
                      <a:solidFill>
                        <a:srgbClr val="143F6A"/>
                      </a:solidFill>
                      <a:prstDash val="sysDash"/>
                      <a:round/>
                      <a:headEnd type="none" w="med" len="med"/>
                      <a:tailEnd type="none" w="med" len="med"/>
                    </a:lnR>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000" b="0" dirty="0">
                          <a:solidFill>
                            <a:srgbClr val="143F6A"/>
                          </a:solidFill>
                        </a:rPr>
                        <a:t>AAS is a scalable platform designed to expand into new geographies while also deepening density in current markets, driving improved reimbursement and Revenue Cycle Management (“RCM”) performance.</a:t>
                      </a:r>
                    </a:p>
                  </a:txBody>
                  <a:tcPr anchor="ctr">
                    <a:lnL w="12700" cap="flat" cmpd="sng" algn="ctr">
                      <a:solidFill>
                        <a:srgbClr val="143F6A"/>
                      </a:solidFill>
                      <a:prstDash val="sysDash"/>
                      <a:round/>
                      <a:headEnd type="none" w="med" len="med"/>
                      <a:tailEnd type="none" w="med" len="med"/>
                    </a:lnL>
                    <a:lnR w="12700" cap="flat" cmpd="sng" algn="ctr">
                      <a:solidFill>
                        <a:srgbClr val="143F6A"/>
                      </a:solidFill>
                      <a:prstDash val="sysDash"/>
                      <a:round/>
                      <a:headEnd type="none" w="med" len="med"/>
                      <a:tailEnd type="none" w="med" len="med"/>
                    </a:lnR>
                    <a:lnT w="12700" cap="flat" cmpd="sng" algn="ctr">
                      <a:solidFill>
                        <a:srgbClr val="143F6A"/>
                      </a:solidFill>
                      <a:prstDash val="sysDash"/>
                      <a:round/>
                      <a:headEnd type="none" w="med" len="med"/>
                      <a:tailEnd type="none" w="med" len="med"/>
                    </a:lnT>
                    <a:lnB w="12700" cap="flat" cmpd="sng" algn="ctr">
                      <a:solidFill>
                        <a:srgbClr val="143F6A"/>
                      </a:solidFill>
                      <a:prstDash val="sysDash"/>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483565542"/>
                  </a:ext>
                </a:extLst>
              </a:tr>
            </a:tbl>
          </a:graphicData>
        </a:graphic>
      </p:graphicFrame>
      <p:sp>
        <p:nvSpPr>
          <p:cNvPr id="8" name="Isosceles Triangle 7">
            <a:extLst>
              <a:ext uri="{FF2B5EF4-FFF2-40B4-BE49-F238E27FC236}">
                <a16:creationId xmlns:a16="http://schemas.microsoft.com/office/drawing/2014/main" id="{A3D420A9-DCB7-D81B-A7EE-670D99B11A05}"/>
              </a:ext>
            </a:extLst>
          </p:cNvPr>
          <p:cNvSpPr/>
          <p:nvPr/>
        </p:nvSpPr>
        <p:spPr>
          <a:xfrm rot="5400000">
            <a:off x="3258499" y="3580907"/>
            <a:ext cx="594360" cy="261271"/>
          </a:xfrm>
          <a:prstGeom prst="triangle">
            <a:avLst/>
          </a:prstGeom>
          <a:solidFill>
            <a:srgbClr val="E0EB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Isosceles Triangle 9">
            <a:extLst>
              <a:ext uri="{FF2B5EF4-FFF2-40B4-BE49-F238E27FC236}">
                <a16:creationId xmlns:a16="http://schemas.microsoft.com/office/drawing/2014/main" id="{F1E19392-DFF3-9C99-4E13-D1FFD6028596}"/>
              </a:ext>
            </a:extLst>
          </p:cNvPr>
          <p:cNvSpPr/>
          <p:nvPr/>
        </p:nvSpPr>
        <p:spPr>
          <a:xfrm rot="5400000">
            <a:off x="3258499" y="5134094"/>
            <a:ext cx="594360" cy="261271"/>
          </a:xfrm>
          <a:prstGeom prst="triangle">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Isosceles Triangle 10">
            <a:extLst>
              <a:ext uri="{FF2B5EF4-FFF2-40B4-BE49-F238E27FC236}">
                <a16:creationId xmlns:a16="http://schemas.microsoft.com/office/drawing/2014/main" id="{EDF9D4FA-2563-6103-65DD-5FAA7C77B918}"/>
              </a:ext>
            </a:extLst>
          </p:cNvPr>
          <p:cNvSpPr/>
          <p:nvPr/>
        </p:nvSpPr>
        <p:spPr>
          <a:xfrm rot="5400000">
            <a:off x="3258499" y="5914353"/>
            <a:ext cx="594360" cy="261271"/>
          </a:xfrm>
          <a:prstGeom prst="triangle">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Isosceles Triangle 11">
            <a:extLst>
              <a:ext uri="{FF2B5EF4-FFF2-40B4-BE49-F238E27FC236}">
                <a16:creationId xmlns:a16="http://schemas.microsoft.com/office/drawing/2014/main" id="{1BD942FA-1B9C-5B3B-F7EB-2CA38C00A411}"/>
              </a:ext>
            </a:extLst>
          </p:cNvPr>
          <p:cNvSpPr/>
          <p:nvPr/>
        </p:nvSpPr>
        <p:spPr>
          <a:xfrm rot="5400000">
            <a:off x="3258499" y="4374538"/>
            <a:ext cx="594360" cy="261271"/>
          </a:xfrm>
          <a:prstGeom prst="triangle">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Isosceles Triangle 12">
            <a:extLst>
              <a:ext uri="{FF2B5EF4-FFF2-40B4-BE49-F238E27FC236}">
                <a16:creationId xmlns:a16="http://schemas.microsoft.com/office/drawing/2014/main" id="{40FF3DB6-D95F-7F4E-31EF-65AD957F9D1E}"/>
              </a:ext>
            </a:extLst>
          </p:cNvPr>
          <p:cNvSpPr/>
          <p:nvPr/>
        </p:nvSpPr>
        <p:spPr>
          <a:xfrm rot="5400000">
            <a:off x="2870824" y="2415828"/>
            <a:ext cx="1369710" cy="261271"/>
          </a:xfrm>
          <a:prstGeom prst="triangle">
            <a:avLst/>
          </a:prstGeom>
          <a:solidFill>
            <a:srgbClr val="E0EB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32ACECB1-0373-B5EC-2036-A6103E3CA877}"/>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62546" y="1903285"/>
            <a:ext cx="456105" cy="506277"/>
          </a:xfrm>
          <a:prstGeom prst="rect">
            <a:avLst/>
          </a:prstGeom>
        </p:spPr>
      </p:pic>
      <p:pic>
        <p:nvPicPr>
          <p:cNvPr id="17" name="Picture 16">
            <a:extLst>
              <a:ext uri="{FF2B5EF4-FFF2-40B4-BE49-F238E27FC236}">
                <a16:creationId xmlns:a16="http://schemas.microsoft.com/office/drawing/2014/main" id="{AE5E22E7-AC61-6958-500B-098D058FCFA3}"/>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270838" y="2670167"/>
            <a:ext cx="439520" cy="510010"/>
          </a:xfrm>
          <a:prstGeom prst="rect">
            <a:avLst/>
          </a:prstGeom>
        </p:spPr>
      </p:pic>
      <p:pic>
        <p:nvPicPr>
          <p:cNvPr id="19" name="Picture 18">
            <a:extLst>
              <a:ext uri="{FF2B5EF4-FFF2-40B4-BE49-F238E27FC236}">
                <a16:creationId xmlns:a16="http://schemas.microsoft.com/office/drawing/2014/main" id="{50B4BDF1-A6A0-1CDA-A0AA-52A61F06EAC8}"/>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208953" y="3447001"/>
            <a:ext cx="563291" cy="529083"/>
          </a:xfrm>
          <a:prstGeom prst="rect">
            <a:avLst/>
          </a:prstGeom>
        </p:spPr>
      </p:pic>
      <p:pic>
        <p:nvPicPr>
          <p:cNvPr id="21" name="Picture 20">
            <a:extLst>
              <a:ext uri="{FF2B5EF4-FFF2-40B4-BE49-F238E27FC236}">
                <a16:creationId xmlns:a16="http://schemas.microsoft.com/office/drawing/2014/main" id="{7FEC209B-FA9D-A0A8-A3B8-462463C1F6D5}"/>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244923" y="4261936"/>
            <a:ext cx="491350" cy="468545"/>
          </a:xfrm>
          <a:prstGeom prst="rect">
            <a:avLst/>
          </a:prstGeom>
        </p:spPr>
      </p:pic>
      <p:pic>
        <p:nvPicPr>
          <p:cNvPr id="23" name="Picture 22">
            <a:extLst>
              <a:ext uri="{FF2B5EF4-FFF2-40B4-BE49-F238E27FC236}">
                <a16:creationId xmlns:a16="http://schemas.microsoft.com/office/drawing/2014/main" id="{6E113944-1C1D-B5D3-2EEE-E3C4C2D8EF9A}"/>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212146" y="5013287"/>
            <a:ext cx="556905" cy="524294"/>
          </a:xfrm>
          <a:prstGeom prst="rect">
            <a:avLst/>
          </a:prstGeom>
        </p:spPr>
      </p:pic>
      <p:pic>
        <p:nvPicPr>
          <p:cNvPr id="25" name="Picture 24">
            <a:extLst>
              <a:ext uri="{FF2B5EF4-FFF2-40B4-BE49-F238E27FC236}">
                <a16:creationId xmlns:a16="http://schemas.microsoft.com/office/drawing/2014/main" id="{A0035290-B4E1-F0B6-9872-94CDBB9E5DC0}"/>
              </a:ext>
            </a:extLst>
          </p:cNvPr>
          <p:cNvPicPr>
            <a:picLocks noChangeAspect="1"/>
          </p:cNvPicPr>
          <p:nvPr/>
        </p:nvPicPr>
        <p:blipFill>
          <a:blip r:embed="rId7">
            <a:clrChange>
              <a:clrFrom>
                <a:srgbClr val="FFFFFF"/>
              </a:clrFrom>
              <a:clrTo>
                <a:srgbClr val="FFFFFF">
                  <a:alpha val="0"/>
                </a:srgbClr>
              </a:clrTo>
            </a:clrChange>
          </a:blip>
          <a:stretch>
            <a:fillRect/>
          </a:stretch>
        </p:blipFill>
        <p:spPr>
          <a:xfrm>
            <a:off x="238928" y="5801706"/>
            <a:ext cx="503340" cy="486562"/>
          </a:xfrm>
          <a:prstGeom prst="rect">
            <a:avLst/>
          </a:prstGeom>
        </p:spPr>
      </p:pic>
      <p:sp>
        <p:nvSpPr>
          <p:cNvPr id="26" name="Rectangle: Rounded Corners 25">
            <a:extLst>
              <a:ext uri="{FF2B5EF4-FFF2-40B4-BE49-F238E27FC236}">
                <a16:creationId xmlns:a16="http://schemas.microsoft.com/office/drawing/2014/main" id="{1C4A70EE-4766-D848-EFFF-5734BE6F7B66}"/>
              </a:ext>
            </a:extLst>
          </p:cNvPr>
          <p:cNvSpPr/>
          <p:nvPr/>
        </p:nvSpPr>
        <p:spPr>
          <a:xfrm>
            <a:off x="575915" y="1071383"/>
            <a:ext cx="7992171" cy="560259"/>
          </a:xfrm>
          <a:prstGeom prst="roundRect">
            <a:avLst/>
          </a:prstGeom>
          <a:solidFill>
            <a:srgbClr val="E0EBF6"/>
          </a:solidFill>
          <a:ln w="28575">
            <a:solidFill>
              <a:srgbClr val="143F6A"/>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AAS is winning in a labor-constrained market by solving a pain-point other providers haven’t.</a:t>
            </a:r>
          </a:p>
        </p:txBody>
      </p:sp>
      <p:sp>
        <p:nvSpPr>
          <p:cNvPr id="3" name="Slide Number Placeholder 8">
            <a:extLst>
              <a:ext uri="{FF2B5EF4-FFF2-40B4-BE49-F238E27FC236}">
                <a16:creationId xmlns:a16="http://schemas.microsoft.com/office/drawing/2014/main" id="{D1C4E034-946B-1194-67A9-261775A64A97}"/>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7</a:t>
            </a:fld>
            <a:endParaRPr lang="en-US" dirty="0"/>
          </a:p>
        </p:txBody>
      </p:sp>
    </p:spTree>
    <p:extLst>
      <p:ext uri="{BB962C8B-B14F-4D97-AF65-F5344CB8AC3E}">
        <p14:creationId xmlns:p14="http://schemas.microsoft.com/office/powerpoint/2010/main" val="3822994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3EA1E-6150-E51F-D157-2EBC0FE8C5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B40063-A748-11D4-35D5-1B014170AA3A}"/>
              </a:ext>
            </a:extLst>
          </p:cNvPr>
          <p:cNvSpPr>
            <a:spLocks noGrp="1"/>
          </p:cNvSpPr>
          <p:nvPr>
            <p:ph type="title"/>
          </p:nvPr>
        </p:nvSpPr>
        <p:spPr/>
        <p:txBody>
          <a:bodyPr>
            <a:normAutofit/>
          </a:bodyPr>
          <a:lstStyle/>
          <a:p>
            <a:r>
              <a:rPr lang="en-US" dirty="0"/>
              <a:t>AAS Investment Thesis</a:t>
            </a:r>
          </a:p>
        </p:txBody>
      </p:sp>
      <p:sp>
        <p:nvSpPr>
          <p:cNvPr id="9" name="Slide Number Placeholder 8">
            <a:extLst>
              <a:ext uri="{FF2B5EF4-FFF2-40B4-BE49-F238E27FC236}">
                <a16:creationId xmlns:a16="http://schemas.microsoft.com/office/drawing/2014/main" id="{E7670680-DB36-54D8-BC11-1D66B9052081}"/>
              </a:ext>
            </a:extLst>
          </p:cNvPr>
          <p:cNvSpPr>
            <a:spLocks noGrp="1"/>
          </p:cNvSpPr>
          <p:nvPr>
            <p:ph type="sldNum" sz="quarter" idx="12"/>
          </p:nvPr>
        </p:nvSpPr>
        <p:spPr/>
        <p:txBody>
          <a:bodyPr/>
          <a:lstStyle/>
          <a:p>
            <a:fld id="{F8DDDAE5-3BDD-4D78-843B-A22FA78305BB}" type="slidenum">
              <a:rPr lang="en-US" smtClean="0"/>
              <a:t>8</a:t>
            </a:fld>
            <a:endParaRPr lang="en-US" dirty="0"/>
          </a:p>
        </p:txBody>
      </p:sp>
      <p:sp>
        <p:nvSpPr>
          <p:cNvPr id="5" name="Rectangle 4">
            <a:extLst>
              <a:ext uri="{FF2B5EF4-FFF2-40B4-BE49-F238E27FC236}">
                <a16:creationId xmlns:a16="http://schemas.microsoft.com/office/drawing/2014/main" id="{6E7001FD-5D68-DC31-EAC9-6D26A33684D5}"/>
              </a:ext>
            </a:extLst>
          </p:cNvPr>
          <p:cNvSpPr/>
          <p:nvPr/>
        </p:nvSpPr>
        <p:spPr>
          <a:xfrm>
            <a:off x="176307" y="976536"/>
            <a:ext cx="2834640" cy="2488861"/>
          </a:xfrm>
          <a:prstGeom prst="rect">
            <a:avLst/>
          </a:prstGeom>
          <a:solidFill>
            <a:schemeClr val="bg1">
              <a:lumMod val="85000"/>
            </a:schemeClr>
          </a:solidFill>
          <a:ln>
            <a:solidFill>
              <a:schemeClr val="bg2">
                <a:lumMod val="2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300"/>
              </a:spcBef>
              <a:spcAft>
                <a:spcPts val="300"/>
              </a:spcAft>
            </a:pPr>
            <a:r>
              <a:rPr lang="en-US" sz="1200" dirty="0">
                <a:solidFill>
                  <a:sysClr val="windowText" lastClr="000000"/>
                </a:solidFill>
              </a:rPr>
              <a:t>Aging population</a:t>
            </a:r>
          </a:p>
          <a:p>
            <a:pPr algn="ctr">
              <a:spcBef>
                <a:spcPts val="300"/>
              </a:spcBef>
              <a:spcAft>
                <a:spcPts val="300"/>
              </a:spcAft>
            </a:pPr>
            <a:endParaRPr lang="en-US" sz="1200" dirty="0">
              <a:solidFill>
                <a:sysClr val="windowText" lastClr="000000"/>
              </a:solidFill>
            </a:endParaRPr>
          </a:p>
          <a:p>
            <a:pPr algn="ctr">
              <a:spcBef>
                <a:spcPts val="300"/>
              </a:spcBef>
              <a:spcAft>
                <a:spcPts val="300"/>
              </a:spcAft>
            </a:pPr>
            <a:r>
              <a:rPr lang="en-US" sz="1200" dirty="0">
                <a:solidFill>
                  <a:sysClr val="windowText" lastClr="000000"/>
                </a:solidFill>
              </a:rPr>
              <a:t>Increasing number of surgeries</a:t>
            </a:r>
          </a:p>
          <a:p>
            <a:pPr algn="ctr">
              <a:spcBef>
                <a:spcPts val="300"/>
              </a:spcBef>
              <a:spcAft>
                <a:spcPts val="300"/>
              </a:spcAft>
            </a:pPr>
            <a:endParaRPr lang="en-US" sz="1200" dirty="0">
              <a:solidFill>
                <a:sysClr val="windowText" lastClr="000000"/>
              </a:solidFill>
            </a:endParaRPr>
          </a:p>
          <a:p>
            <a:pPr algn="ctr">
              <a:spcBef>
                <a:spcPts val="300"/>
              </a:spcBef>
              <a:spcAft>
                <a:spcPts val="300"/>
              </a:spcAft>
            </a:pPr>
            <a:r>
              <a:rPr lang="en-US" sz="1200" dirty="0">
                <a:solidFill>
                  <a:sysClr val="windowText" lastClr="000000"/>
                </a:solidFill>
              </a:rPr>
              <a:t>Increasing demand for anesthesia services</a:t>
            </a:r>
          </a:p>
          <a:p>
            <a:pPr algn="ctr">
              <a:spcBef>
                <a:spcPts val="300"/>
              </a:spcBef>
              <a:spcAft>
                <a:spcPts val="300"/>
              </a:spcAft>
            </a:pPr>
            <a:endParaRPr lang="en-US" sz="1200" dirty="0">
              <a:solidFill>
                <a:sysClr val="windowText" lastClr="000000"/>
              </a:solidFill>
            </a:endParaRPr>
          </a:p>
          <a:p>
            <a:pPr algn="ctr">
              <a:spcBef>
                <a:spcPts val="300"/>
              </a:spcBef>
              <a:spcAft>
                <a:spcPts val="300"/>
              </a:spcAft>
            </a:pPr>
            <a:r>
              <a:rPr lang="en-US" sz="1200" dirty="0">
                <a:solidFill>
                  <a:sysClr val="windowText" lastClr="000000"/>
                </a:solidFill>
              </a:rPr>
              <a:t>Shortage of MDA and CRNAs expected to increase over next ten years</a:t>
            </a:r>
          </a:p>
        </p:txBody>
      </p:sp>
      <p:sp>
        <p:nvSpPr>
          <p:cNvPr id="6" name="Rectangle 5">
            <a:extLst>
              <a:ext uri="{FF2B5EF4-FFF2-40B4-BE49-F238E27FC236}">
                <a16:creationId xmlns:a16="http://schemas.microsoft.com/office/drawing/2014/main" id="{4497725F-FFBC-D348-5ABD-33761EEF9F78}"/>
              </a:ext>
            </a:extLst>
          </p:cNvPr>
          <p:cNvSpPr/>
          <p:nvPr/>
        </p:nvSpPr>
        <p:spPr>
          <a:xfrm>
            <a:off x="3154680" y="976536"/>
            <a:ext cx="2834640" cy="2488861"/>
          </a:xfrm>
          <a:prstGeom prst="rect">
            <a:avLst/>
          </a:prstGeom>
          <a:solidFill>
            <a:schemeClr val="bg1">
              <a:lumMod val="85000"/>
            </a:schemeClr>
          </a:solidFill>
          <a:ln>
            <a:solidFill>
              <a:schemeClr val="bg2">
                <a:lumMod val="2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300"/>
              </a:spcBef>
              <a:spcAft>
                <a:spcPts val="300"/>
              </a:spcAft>
            </a:pPr>
            <a:r>
              <a:rPr lang="en-US" sz="1200" dirty="0">
                <a:solidFill>
                  <a:sysClr val="windowText" lastClr="000000"/>
                </a:solidFill>
              </a:rPr>
              <a:t>Shift towards value-based care</a:t>
            </a:r>
          </a:p>
          <a:p>
            <a:pPr algn="ctr">
              <a:spcBef>
                <a:spcPts val="300"/>
              </a:spcBef>
              <a:spcAft>
                <a:spcPts val="300"/>
              </a:spcAft>
            </a:pPr>
            <a:endParaRPr lang="en-US" sz="1200" dirty="0">
              <a:solidFill>
                <a:sysClr val="windowText" lastClr="000000"/>
              </a:solidFill>
            </a:endParaRPr>
          </a:p>
          <a:p>
            <a:pPr algn="ctr">
              <a:spcBef>
                <a:spcPts val="300"/>
              </a:spcBef>
              <a:spcAft>
                <a:spcPts val="300"/>
              </a:spcAft>
            </a:pPr>
            <a:r>
              <a:rPr lang="en-US" sz="1200" dirty="0">
                <a:solidFill>
                  <a:sysClr val="windowText" lastClr="000000"/>
                </a:solidFill>
              </a:rPr>
              <a:t>Technological advancements</a:t>
            </a:r>
          </a:p>
          <a:p>
            <a:pPr algn="ctr">
              <a:spcBef>
                <a:spcPts val="300"/>
              </a:spcBef>
              <a:spcAft>
                <a:spcPts val="300"/>
              </a:spcAft>
            </a:pPr>
            <a:endParaRPr lang="en-US" sz="1200" dirty="0">
              <a:solidFill>
                <a:sysClr val="windowText" lastClr="000000"/>
              </a:solidFill>
            </a:endParaRPr>
          </a:p>
          <a:p>
            <a:pPr algn="ctr">
              <a:spcBef>
                <a:spcPts val="300"/>
              </a:spcBef>
              <a:spcAft>
                <a:spcPts val="300"/>
              </a:spcAft>
            </a:pPr>
            <a:r>
              <a:rPr lang="en-US" sz="1200" dirty="0">
                <a:solidFill>
                  <a:sysClr val="windowText" lastClr="000000"/>
                </a:solidFill>
              </a:rPr>
              <a:t>Shift towards moving surgeries to outpatient settings</a:t>
            </a:r>
          </a:p>
          <a:p>
            <a:pPr algn="ctr">
              <a:spcBef>
                <a:spcPts val="300"/>
              </a:spcBef>
              <a:spcAft>
                <a:spcPts val="300"/>
              </a:spcAft>
            </a:pPr>
            <a:endParaRPr lang="en-US" sz="1200" dirty="0">
              <a:solidFill>
                <a:sysClr val="windowText" lastClr="000000"/>
              </a:solidFill>
            </a:endParaRPr>
          </a:p>
          <a:p>
            <a:pPr algn="ctr">
              <a:spcBef>
                <a:spcPts val="300"/>
              </a:spcBef>
              <a:spcAft>
                <a:spcPts val="300"/>
              </a:spcAft>
            </a:pPr>
            <a:r>
              <a:rPr lang="en-US" sz="1200" dirty="0">
                <a:solidFill>
                  <a:sysClr val="windowText" lastClr="000000"/>
                </a:solidFill>
              </a:rPr>
              <a:t>Growth in ASC market</a:t>
            </a:r>
          </a:p>
        </p:txBody>
      </p:sp>
      <p:sp>
        <p:nvSpPr>
          <p:cNvPr id="7" name="Oval 6">
            <a:extLst>
              <a:ext uri="{FF2B5EF4-FFF2-40B4-BE49-F238E27FC236}">
                <a16:creationId xmlns:a16="http://schemas.microsoft.com/office/drawing/2014/main" id="{4A2E7B72-A51F-7D63-DA3B-DA24324FAC79}"/>
              </a:ext>
            </a:extLst>
          </p:cNvPr>
          <p:cNvSpPr/>
          <p:nvPr/>
        </p:nvSpPr>
        <p:spPr>
          <a:xfrm>
            <a:off x="537230" y="4380180"/>
            <a:ext cx="8069540" cy="1818889"/>
          </a:xfrm>
          <a:prstGeom prst="ellipse">
            <a:avLst/>
          </a:prstGeom>
          <a:solidFill>
            <a:schemeClr val="accent2">
              <a:lumMod val="20000"/>
              <a:lumOff val="80000"/>
            </a:schemeClr>
          </a:solidFill>
          <a:ln>
            <a:solidFill>
              <a:schemeClr val="bg2">
                <a:lumMod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dirty="0">
                <a:solidFill>
                  <a:sysClr val="windowText" lastClr="000000"/>
                </a:solidFill>
              </a:rPr>
              <a:t>AAS is well positioned to capitalize on converging secular tailwinds by capturing new ASC contracts in a highly fragmented market, driving sustained organic growth over the next 5+ years.</a:t>
            </a:r>
          </a:p>
        </p:txBody>
      </p:sp>
      <p:sp>
        <p:nvSpPr>
          <p:cNvPr id="8" name="Rectangle 7">
            <a:extLst>
              <a:ext uri="{FF2B5EF4-FFF2-40B4-BE49-F238E27FC236}">
                <a16:creationId xmlns:a16="http://schemas.microsoft.com/office/drawing/2014/main" id="{916A10F2-E349-5A38-64E0-385EB00BA74E}"/>
              </a:ext>
            </a:extLst>
          </p:cNvPr>
          <p:cNvSpPr/>
          <p:nvPr/>
        </p:nvSpPr>
        <p:spPr>
          <a:xfrm>
            <a:off x="6133053" y="976536"/>
            <a:ext cx="2834640" cy="2488861"/>
          </a:xfrm>
          <a:prstGeom prst="rect">
            <a:avLst/>
          </a:prstGeom>
          <a:solidFill>
            <a:schemeClr val="bg1">
              <a:lumMod val="85000"/>
            </a:schemeClr>
          </a:solidFill>
          <a:ln>
            <a:solidFill>
              <a:schemeClr val="bg2">
                <a:lumMod val="2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300"/>
              </a:spcBef>
              <a:spcAft>
                <a:spcPts val="300"/>
              </a:spcAft>
            </a:pPr>
            <a:r>
              <a:rPr lang="en-US" sz="1200" dirty="0">
                <a:solidFill>
                  <a:sysClr val="windowText" lastClr="000000"/>
                </a:solidFill>
              </a:rPr>
              <a:t>Highly fragmented ASC market</a:t>
            </a:r>
          </a:p>
          <a:p>
            <a:pPr algn="ctr">
              <a:spcBef>
                <a:spcPts val="300"/>
              </a:spcBef>
              <a:spcAft>
                <a:spcPts val="300"/>
              </a:spcAft>
            </a:pPr>
            <a:endParaRPr lang="en-US" sz="1200" dirty="0">
              <a:solidFill>
                <a:sysClr val="windowText" lastClr="000000"/>
              </a:solidFill>
            </a:endParaRPr>
          </a:p>
          <a:p>
            <a:pPr algn="ctr">
              <a:spcBef>
                <a:spcPts val="300"/>
              </a:spcBef>
              <a:spcAft>
                <a:spcPts val="300"/>
              </a:spcAft>
            </a:pPr>
            <a:r>
              <a:rPr lang="en-US" sz="1200" dirty="0">
                <a:solidFill>
                  <a:sysClr val="windowText" lastClr="000000"/>
                </a:solidFill>
              </a:rPr>
              <a:t>Highly fragmented outsourced anesthesia market</a:t>
            </a:r>
          </a:p>
          <a:p>
            <a:pPr algn="ctr">
              <a:spcBef>
                <a:spcPts val="300"/>
              </a:spcBef>
              <a:spcAft>
                <a:spcPts val="300"/>
              </a:spcAft>
            </a:pPr>
            <a:endParaRPr lang="en-US" sz="1200" dirty="0">
              <a:solidFill>
                <a:sysClr val="windowText" lastClr="000000"/>
              </a:solidFill>
            </a:endParaRPr>
          </a:p>
          <a:p>
            <a:pPr algn="ctr">
              <a:spcBef>
                <a:spcPts val="300"/>
              </a:spcBef>
              <a:spcAft>
                <a:spcPts val="300"/>
              </a:spcAft>
            </a:pPr>
            <a:r>
              <a:rPr lang="en-US" sz="1200" dirty="0">
                <a:solidFill>
                  <a:sysClr val="windowText" lastClr="000000"/>
                </a:solidFill>
              </a:rPr>
              <a:t>Fragmented market creates opportunity for new contract wins, along with acquisitions in current and new geographies</a:t>
            </a:r>
          </a:p>
        </p:txBody>
      </p:sp>
      <p:sp>
        <p:nvSpPr>
          <p:cNvPr id="16" name="Plus Sign 15">
            <a:extLst>
              <a:ext uri="{FF2B5EF4-FFF2-40B4-BE49-F238E27FC236}">
                <a16:creationId xmlns:a16="http://schemas.microsoft.com/office/drawing/2014/main" id="{CD3BB815-5962-1320-ECDA-1EE8F4EBBB53}"/>
              </a:ext>
            </a:extLst>
          </p:cNvPr>
          <p:cNvSpPr/>
          <p:nvPr/>
        </p:nvSpPr>
        <p:spPr>
          <a:xfrm>
            <a:off x="4454095" y="1458375"/>
            <a:ext cx="233464" cy="220494"/>
          </a:xfrm>
          <a:prstGeom prst="mathPlus">
            <a:avLst/>
          </a:prstGeom>
          <a:solidFill>
            <a:schemeClr val="bg2">
              <a:lumMod val="2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Plus Sign 16">
            <a:extLst>
              <a:ext uri="{FF2B5EF4-FFF2-40B4-BE49-F238E27FC236}">
                <a16:creationId xmlns:a16="http://schemas.microsoft.com/office/drawing/2014/main" id="{2B1BE088-3276-CB07-DF10-D3FF5EB34C87}"/>
              </a:ext>
            </a:extLst>
          </p:cNvPr>
          <p:cNvSpPr/>
          <p:nvPr/>
        </p:nvSpPr>
        <p:spPr>
          <a:xfrm>
            <a:off x="7433640" y="1498800"/>
            <a:ext cx="233464" cy="220494"/>
          </a:xfrm>
          <a:prstGeom prst="mathPlus">
            <a:avLst/>
          </a:prstGeom>
          <a:solidFill>
            <a:schemeClr val="bg2">
              <a:lumMod val="2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Isosceles Triangle 17">
            <a:extLst>
              <a:ext uri="{FF2B5EF4-FFF2-40B4-BE49-F238E27FC236}">
                <a16:creationId xmlns:a16="http://schemas.microsoft.com/office/drawing/2014/main" id="{DA88D74D-7CD5-FCA2-2A43-4515A02C21F3}"/>
              </a:ext>
            </a:extLst>
          </p:cNvPr>
          <p:cNvSpPr/>
          <p:nvPr/>
        </p:nvSpPr>
        <p:spPr>
          <a:xfrm rot="10800000">
            <a:off x="176307" y="3590446"/>
            <a:ext cx="8791386" cy="664684"/>
          </a:xfrm>
          <a:prstGeom prst="triangle">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Arrow: Down 9">
            <a:extLst>
              <a:ext uri="{FF2B5EF4-FFF2-40B4-BE49-F238E27FC236}">
                <a16:creationId xmlns:a16="http://schemas.microsoft.com/office/drawing/2014/main" id="{6A39F6BB-F7FD-DE18-24B2-36EBFD5A5F87}"/>
              </a:ext>
            </a:extLst>
          </p:cNvPr>
          <p:cNvSpPr/>
          <p:nvPr/>
        </p:nvSpPr>
        <p:spPr>
          <a:xfrm>
            <a:off x="1443560" y="1362809"/>
            <a:ext cx="274722" cy="278005"/>
          </a:xfrm>
          <a:prstGeom prst="downArrow">
            <a:avLst/>
          </a:prstGeom>
          <a:solidFill>
            <a:schemeClr val="bg2">
              <a:lumMod val="25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Arrow: Down 10">
            <a:extLst>
              <a:ext uri="{FF2B5EF4-FFF2-40B4-BE49-F238E27FC236}">
                <a16:creationId xmlns:a16="http://schemas.microsoft.com/office/drawing/2014/main" id="{206E9D24-9708-6DA2-E5F2-21626871FA0C}"/>
              </a:ext>
            </a:extLst>
          </p:cNvPr>
          <p:cNvSpPr/>
          <p:nvPr/>
        </p:nvSpPr>
        <p:spPr>
          <a:xfrm>
            <a:off x="1443560" y="1929608"/>
            <a:ext cx="274722" cy="278005"/>
          </a:xfrm>
          <a:prstGeom prst="downArrow">
            <a:avLst/>
          </a:prstGeom>
          <a:solidFill>
            <a:schemeClr val="bg2">
              <a:lumMod val="25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Arrow: Down 11">
            <a:extLst>
              <a:ext uri="{FF2B5EF4-FFF2-40B4-BE49-F238E27FC236}">
                <a16:creationId xmlns:a16="http://schemas.microsoft.com/office/drawing/2014/main" id="{F367A8F2-57E7-57E0-0B92-8DF28180CABE}"/>
              </a:ext>
            </a:extLst>
          </p:cNvPr>
          <p:cNvSpPr/>
          <p:nvPr/>
        </p:nvSpPr>
        <p:spPr>
          <a:xfrm>
            <a:off x="1456266" y="2610128"/>
            <a:ext cx="274722" cy="278005"/>
          </a:xfrm>
          <a:prstGeom prst="downArrow">
            <a:avLst/>
          </a:prstGeom>
          <a:solidFill>
            <a:schemeClr val="bg2">
              <a:lumMod val="25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Arrow: Down 12">
            <a:extLst>
              <a:ext uri="{FF2B5EF4-FFF2-40B4-BE49-F238E27FC236}">
                <a16:creationId xmlns:a16="http://schemas.microsoft.com/office/drawing/2014/main" id="{74C8B1DD-6DEF-A4D7-87F9-BFA03DD54C5F}"/>
              </a:ext>
            </a:extLst>
          </p:cNvPr>
          <p:cNvSpPr/>
          <p:nvPr/>
        </p:nvSpPr>
        <p:spPr>
          <a:xfrm>
            <a:off x="4438315" y="2018621"/>
            <a:ext cx="274722" cy="278005"/>
          </a:xfrm>
          <a:prstGeom prst="downArrow">
            <a:avLst/>
          </a:prstGeom>
          <a:solidFill>
            <a:schemeClr val="bg2">
              <a:lumMod val="25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Arrow: Down 13">
            <a:extLst>
              <a:ext uri="{FF2B5EF4-FFF2-40B4-BE49-F238E27FC236}">
                <a16:creationId xmlns:a16="http://schemas.microsoft.com/office/drawing/2014/main" id="{C7B9F916-EB4B-A614-0EFA-CC1A1D78DC65}"/>
              </a:ext>
            </a:extLst>
          </p:cNvPr>
          <p:cNvSpPr/>
          <p:nvPr/>
        </p:nvSpPr>
        <p:spPr>
          <a:xfrm>
            <a:off x="4438315" y="2672508"/>
            <a:ext cx="274722" cy="278005"/>
          </a:xfrm>
          <a:prstGeom prst="downArrow">
            <a:avLst/>
          </a:prstGeom>
          <a:solidFill>
            <a:schemeClr val="bg2">
              <a:lumMod val="25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Arrow: Down 14">
            <a:extLst>
              <a:ext uri="{FF2B5EF4-FFF2-40B4-BE49-F238E27FC236}">
                <a16:creationId xmlns:a16="http://schemas.microsoft.com/office/drawing/2014/main" id="{364918F8-8BB0-B831-CE81-3EEAF288C2E5}"/>
              </a:ext>
            </a:extLst>
          </p:cNvPr>
          <p:cNvSpPr/>
          <p:nvPr/>
        </p:nvSpPr>
        <p:spPr>
          <a:xfrm>
            <a:off x="7413011" y="2176951"/>
            <a:ext cx="274722" cy="278005"/>
          </a:xfrm>
          <a:prstGeom prst="downArrow">
            <a:avLst/>
          </a:prstGeom>
          <a:solidFill>
            <a:schemeClr val="bg2">
              <a:lumMod val="25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49240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978EE-F416-C5D0-D843-D14CD52C5342}"/>
              </a:ext>
            </a:extLst>
          </p:cNvPr>
          <p:cNvSpPr>
            <a:spLocks noGrp="1"/>
          </p:cNvSpPr>
          <p:nvPr>
            <p:ph type="title"/>
          </p:nvPr>
        </p:nvSpPr>
        <p:spPr/>
        <p:txBody>
          <a:bodyPr/>
          <a:lstStyle/>
          <a:p>
            <a:r>
              <a:rPr lang="en-US" dirty="0"/>
              <a:t>Company Overview</a:t>
            </a:r>
          </a:p>
        </p:txBody>
      </p:sp>
      <p:pic>
        <p:nvPicPr>
          <p:cNvPr id="3" name="Picture 2">
            <a:extLst>
              <a:ext uri="{FF2B5EF4-FFF2-40B4-BE49-F238E27FC236}">
                <a16:creationId xmlns:a16="http://schemas.microsoft.com/office/drawing/2014/main" id="{5D02A56F-11B6-82C2-1518-634DB7F2DEFA}"/>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7243624" y="4908636"/>
            <a:ext cx="1703194" cy="1517130"/>
          </a:xfrm>
          <a:prstGeom prst="rect">
            <a:avLst/>
          </a:prstGeom>
        </p:spPr>
      </p:pic>
      <p:sp>
        <p:nvSpPr>
          <p:cNvPr id="4" name="TextBox 3">
            <a:extLst>
              <a:ext uri="{FF2B5EF4-FFF2-40B4-BE49-F238E27FC236}">
                <a16:creationId xmlns:a16="http://schemas.microsoft.com/office/drawing/2014/main" id="{B91F29E0-C5E1-19F5-7E4A-F7228255AB5A}"/>
              </a:ext>
            </a:extLst>
          </p:cNvPr>
          <p:cNvSpPr txBox="1"/>
          <p:nvPr/>
        </p:nvSpPr>
        <p:spPr>
          <a:xfrm>
            <a:off x="221942" y="4687503"/>
            <a:ext cx="1558731" cy="1862048"/>
          </a:xfrm>
          <a:prstGeom prst="rect">
            <a:avLst/>
          </a:prstGeom>
          <a:noFill/>
        </p:spPr>
        <p:txBody>
          <a:bodyPr wrap="square" rtlCol="0">
            <a:spAutoFit/>
          </a:bodyPr>
          <a:lstStyle/>
          <a:p>
            <a:r>
              <a:rPr lang="en-US" sz="11500" dirty="0"/>
              <a:t>II</a:t>
            </a:r>
          </a:p>
        </p:txBody>
      </p:sp>
    </p:spTree>
    <p:extLst>
      <p:ext uri="{BB962C8B-B14F-4D97-AF65-F5344CB8AC3E}">
        <p14:creationId xmlns:p14="http://schemas.microsoft.com/office/powerpoint/2010/main" val="1669078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1AD93-1E14-EA83-08D5-885976D0E5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6404E4-9B6E-96A5-B382-1F25D1ADD9E1}"/>
              </a:ext>
            </a:extLst>
          </p:cNvPr>
          <p:cNvSpPr>
            <a:spLocks noGrp="1"/>
          </p:cNvSpPr>
          <p:nvPr>
            <p:ph type="title"/>
          </p:nvPr>
        </p:nvSpPr>
        <p:spPr/>
        <p:txBody>
          <a:bodyPr>
            <a:normAutofit/>
          </a:bodyPr>
          <a:lstStyle/>
          <a:p>
            <a:r>
              <a:rPr lang="en-US" dirty="0"/>
              <a:t>Company Overview</a:t>
            </a:r>
          </a:p>
        </p:txBody>
      </p:sp>
      <p:sp>
        <p:nvSpPr>
          <p:cNvPr id="15" name="Rectangle: Diagonal Corners Snipped 14">
            <a:extLst>
              <a:ext uri="{FF2B5EF4-FFF2-40B4-BE49-F238E27FC236}">
                <a16:creationId xmlns:a16="http://schemas.microsoft.com/office/drawing/2014/main" id="{B13F69C6-A892-9ADC-639A-5CDEAF2190E2}"/>
              </a:ext>
            </a:extLst>
          </p:cNvPr>
          <p:cNvSpPr/>
          <p:nvPr/>
        </p:nvSpPr>
        <p:spPr>
          <a:xfrm>
            <a:off x="176305" y="1033301"/>
            <a:ext cx="4261223"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Payor Mix</a:t>
            </a:r>
          </a:p>
        </p:txBody>
      </p:sp>
      <p:sp>
        <p:nvSpPr>
          <p:cNvPr id="3" name="Rectangle: Diagonal Corners Snipped 2">
            <a:extLst>
              <a:ext uri="{FF2B5EF4-FFF2-40B4-BE49-F238E27FC236}">
                <a16:creationId xmlns:a16="http://schemas.microsoft.com/office/drawing/2014/main" id="{F8D4FA4A-9F91-F48D-BEC4-526DBB6020FF}"/>
              </a:ext>
            </a:extLst>
          </p:cNvPr>
          <p:cNvSpPr/>
          <p:nvPr/>
        </p:nvSpPr>
        <p:spPr>
          <a:xfrm>
            <a:off x="4706471" y="1033301"/>
            <a:ext cx="4261223"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Procedure Mix</a:t>
            </a:r>
          </a:p>
        </p:txBody>
      </p:sp>
      <p:sp>
        <p:nvSpPr>
          <p:cNvPr id="4" name="Rectangle: Diagonal Corners Snipped 3">
            <a:extLst>
              <a:ext uri="{FF2B5EF4-FFF2-40B4-BE49-F238E27FC236}">
                <a16:creationId xmlns:a16="http://schemas.microsoft.com/office/drawing/2014/main" id="{7F00F61B-2F80-4101-BD23-61454D03F1B1}"/>
              </a:ext>
            </a:extLst>
          </p:cNvPr>
          <p:cNvSpPr/>
          <p:nvPr/>
        </p:nvSpPr>
        <p:spPr>
          <a:xfrm>
            <a:off x="4706471" y="3844721"/>
            <a:ext cx="4261223"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Growth Opportunities</a:t>
            </a:r>
          </a:p>
        </p:txBody>
      </p:sp>
      <p:sp>
        <p:nvSpPr>
          <p:cNvPr id="7" name="TextBox 6">
            <a:extLst>
              <a:ext uri="{FF2B5EF4-FFF2-40B4-BE49-F238E27FC236}">
                <a16:creationId xmlns:a16="http://schemas.microsoft.com/office/drawing/2014/main" id="{75548104-46EB-E5EC-753B-FDEEA886B69A}"/>
              </a:ext>
            </a:extLst>
          </p:cNvPr>
          <p:cNvSpPr txBox="1"/>
          <p:nvPr/>
        </p:nvSpPr>
        <p:spPr>
          <a:xfrm>
            <a:off x="4706471" y="4178622"/>
            <a:ext cx="4261223" cy="2323713"/>
          </a:xfrm>
          <a:prstGeom prst="rect">
            <a:avLst/>
          </a:prstGeom>
          <a:noFill/>
        </p:spPr>
        <p:txBody>
          <a:bodyPr wrap="square" rtlCol="0">
            <a:spAutoFit/>
          </a:bodyPr>
          <a:lstStyle/>
          <a:p>
            <a:pPr marL="171450" indent="-171450">
              <a:spcBef>
                <a:spcPts val="300"/>
              </a:spcBef>
              <a:spcAft>
                <a:spcPts val="300"/>
              </a:spcAft>
              <a:buFont typeface="Arial" panose="020B0604020202020204" pitchFamily="34" charset="0"/>
              <a:buChar char="•"/>
            </a:pPr>
            <a:r>
              <a:rPr lang="en-US" sz="1000" u="sng" dirty="0"/>
              <a:t>Expand ASC Partnerships</a:t>
            </a:r>
            <a:r>
              <a:rPr lang="en-US" sz="1000" dirty="0"/>
              <a:t> – AAS has a strong pipeline of new Ambulatory Surgery Centers (ASCs), particularly in Indiana and Michigan, where management is actively pursuing additional contracts​.</a:t>
            </a:r>
          </a:p>
          <a:p>
            <a:pPr marL="171450" indent="-171450">
              <a:spcBef>
                <a:spcPts val="300"/>
              </a:spcBef>
              <a:spcAft>
                <a:spcPts val="300"/>
              </a:spcAft>
              <a:buFont typeface="Arial" panose="020B0604020202020204" pitchFamily="34" charset="0"/>
              <a:buChar char="•"/>
            </a:pPr>
            <a:r>
              <a:rPr lang="en-US" sz="1000" u="sng" dirty="0"/>
              <a:t>Deeper Penetration into IU Health</a:t>
            </a:r>
            <a:r>
              <a:rPr lang="en-US" sz="1000" dirty="0"/>
              <a:t> – AAS currently serves 7 of IU Health’s 17 ASCs. Successfully scaling operations within IU Health could significantly increase revenue​.</a:t>
            </a:r>
          </a:p>
          <a:p>
            <a:pPr marL="171450" indent="-171450">
              <a:spcBef>
                <a:spcPts val="300"/>
              </a:spcBef>
              <a:spcAft>
                <a:spcPts val="300"/>
              </a:spcAft>
              <a:buFont typeface="Arial" panose="020B0604020202020204" pitchFamily="34" charset="0"/>
              <a:buChar char="•"/>
            </a:pPr>
            <a:r>
              <a:rPr lang="en-US" sz="1000" u="sng" dirty="0"/>
              <a:t>Geographic Expansion</a:t>
            </a:r>
            <a:r>
              <a:rPr lang="en-US" sz="1000" dirty="0"/>
              <a:t> – The company’s scalable staffing model allows it to expand beyond its current Michigan and Indiana footprint into other states with superior reimbursement rates.</a:t>
            </a:r>
          </a:p>
          <a:p>
            <a:pPr marL="171450" indent="-171450">
              <a:spcBef>
                <a:spcPts val="300"/>
              </a:spcBef>
              <a:spcAft>
                <a:spcPts val="300"/>
              </a:spcAft>
              <a:buFont typeface="Arial" panose="020B0604020202020204" pitchFamily="34" charset="0"/>
              <a:buChar char="•"/>
            </a:pPr>
            <a:r>
              <a:rPr lang="en-US" sz="1000" u="sng" dirty="0"/>
              <a:t>Increased Collections + Labor Floor Contracts</a:t>
            </a:r>
            <a:r>
              <a:rPr lang="en-US" sz="1000" dirty="0"/>
              <a:t> – Shifting more ASCs to a billing &amp; collections model with a labor floor provides downside protection with potential for outsized margins to the extent AAS can collect above the floor.</a:t>
            </a:r>
          </a:p>
        </p:txBody>
      </p:sp>
      <p:sp>
        <p:nvSpPr>
          <p:cNvPr id="5" name="Slide Number Placeholder 8">
            <a:extLst>
              <a:ext uri="{FF2B5EF4-FFF2-40B4-BE49-F238E27FC236}">
                <a16:creationId xmlns:a16="http://schemas.microsoft.com/office/drawing/2014/main" id="{8A04FD2A-E3A4-130D-E110-9982A80A4763}"/>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10</a:t>
            </a:fld>
            <a:endParaRPr lang="en-US" dirty="0"/>
          </a:p>
        </p:txBody>
      </p:sp>
      <p:sp>
        <p:nvSpPr>
          <p:cNvPr id="8" name="Rectangle 13">
            <a:extLst>
              <a:ext uri="{FF2B5EF4-FFF2-40B4-BE49-F238E27FC236}">
                <a16:creationId xmlns:a16="http://schemas.microsoft.com/office/drawing/2014/main" id="{26F3031C-91C6-DAEB-6AE8-28D7447ACA9A}"/>
              </a:ext>
            </a:extLst>
          </p:cNvPr>
          <p:cNvSpPr/>
          <p:nvPr/>
        </p:nvSpPr>
        <p:spPr bwMode="auto">
          <a:xfrm>
            <a:off x="1370692" y="5283051"/>
            <a:ext cx="2065775" cy="633261"/>
          </a:xfrm>
          <a:custGeom>
            <a:avLst/>
            <a:gdLst>
              <a:gd name="connsiteX0" fmla="*/ 0 w 2157029"/>
              <a:gd name="connsiteY0" fmla="*/ 0 h 1057682"/>
              <a:gd name="connsiteX1" fmla="*/ 2157029 w 2157029"/>
              <a:gd name="connsiteY1" fmla="*/ 0 h 1057682"/>
              <a:gd name="connsiteX2" fmla="*/ 2157029 w 2157029"/>
              <a:gd name="connsiteY2" fmla="*/ 1057682 h 1057682"/>
              <a:gd name="connsiteX3" fmla="*/ 0 w 2157029"/>
              <a:gd name="connsiteY3" fmla="*/ 1057682 h 1057682"/>
              <a:gd name="connsiteX4" fmla="*/ 0 w 2157029"/>
              <a:gd name="connsiteY4" fmla="*/ 0 h 1057682"/>
              <a:gd name="connsiteX0" fmla="*/ 0 w 2157029"/>
              <a:gd name="connsiteY0" fmla="*/ 57150 h 1114832"/>
              <a:gd name="connsiteX1" fmla="*/ 1852229 w 2157029"/>
              <a:gd name="connsiteY1" fmla="*/ 0 h 1114832"/>
              <a:gd name="connsiteX2" fmla="*/ 2157029 w 2157029"/>
              <a:gd name="connsiteY2" fmla="*/ 1114832 h 1114832"/>
              <a:gd name="connsiteX3" fmla="*/ 0 w 2157029"/>
              <a:gd name="connsiteY3" fmla="*/ 1114832 h 1114832"/>
              <a:gd name="connsiteX4" fmla="*/ 0 w 2157029"/>
              <a:gd name="connsiteY4" fmla="*/ 57150 h 1114832"/>
              <a:gd name="connsiteX0" fmla="*/ 0 w 1852229"/>
              <a:gd name="connsiteY0" fmla="*/ 57150 h 1114832"/>
              <a:gd name="connsiteX1" fmla="*/ 1852229 w 1852229"/>
              <a:gd name="connsiteY1" fmla="*/ 0 h 1114832"/>
              <a:gd name="connsiteX2" fmla="*/ 1737929 w 1852229"/>
              <a:gd name="connsiteY2" fmla="*/ 1114832 h 1114832"/>
              <a:gd name="connsiteX3" fmla="*/ 0 w 1852229"/>
              <a:gd name="connsiteY3" fmla="*/ 1114832 h 1114832"/>
              <a:gd name="connsiteX4" fmla="*/ 0 w 1852229"/>
              <a:gd name="connsiteY4" fmla="*/ 57150 h 1114832"/>
              <a:gd name="connsiteX0" fmla="*/ 0 w 1852229"/>
              <a:gd name="connsiteY0" fmla="*/ 57150 h 1114832"/>
              <a:gd name="connsiteX1" fmla="*/ 1852229 w 1852229"/>
              <a:gd name="connsiteY1" fmla="*/ 0 h 1114832"/>
              <a:gd name="connsiteX2" fmla="*/ 1737929 w 1852229"/>
              <a:gd name="connsiteY2" fmla="*/ 1114832 h 1114832"/>
              <a:gd name="connsiteX3" fmla="*/ 0 w 1852229"/>
              <a:gd name="connsiteY3" fmla="*/ 1114832 h 1114832"/>
              <a:gd name="connsiteX4" fmla="*/ 0 w 1852229"/>
              <a:gd name="connsiteY4" fmla="*/ 57150 h 1114832"/>
              <a:gd name="connsiteX0" fmla="*/ 0 w 1833179"/>
              <a:gd name="connsiteY0" fmla="*/ 66675 h 1124357"/>
              <a:gd name="connsiteX1" fmla="*/ 1833179 w 1833179"/>
              <a:gd name="connsiteY1" fmla="*/ 0 h 1124357"/>
              <a:gd name="connsiteX2" fmla="*/ 1737929 w 1833179"/>
              <a:gd name="connsiteY2" fmla="*/ 1124357 h 1124357"/>
              <a:gd name="connsiteX3" fmla="*/ 0 w 1833179"/>
              <a:gd name="connsiteY3" fmla="*/ 1124357 h 1124357"/>
              <a:gd name="connsiteX4" fmla="*/ 0 w 1833179"/>
              <a:gd name="connsiteY4" fmla="*/ 66675 h 1124357"/>
              <a:gd name="connsiteX0" fmla="*/ 0 w 1833179"/>
              <a:gd name="connsiteY0" fmla="*/ 66675 h 1124357"/>
              <a:gd name="connsiteX1" fmla="*/ 1833179 w 1833179"/>
              <a:gd name="connsiteY1" fmla="*/ 0 h 1124357"/>
              <a:gd name="connsiteX2" fmla="*/ 1737929 w 1833179"/>
              <a:gd name="connsiteY2" fmla="*/ 1124357 h 1124357"/>
              <a:gd name="connsiteX3" fmla="*/ 0 w 1833179"/>
              <a:gd name="connsiteY3" fmla="*/ 1124357 h 1124357"/>
              <a:gd name="connsiteX4" fmla="*/ 0 w 1833179"/>
              <a:gd name="connsiteY4" fmla="*/ 66675 h 1124357"/>
              <a:gd name="connsiteX0" fmla="*/ 0 w 1833179"/>
              <a:gd name="connsiteY0" fmla="*/ 66675 h 1124357"/>
              <a:gd name="connsiteX1" fmla="*/ 1833179 w 1833179"/>
              <a:gd name="connsiteY1" fmla="*/ 0 h 1124357"/>
              <a:gd name="connsiteX2" fmla="*/ 1737929 w 1833179"/>
              <a:gd name="connsiteY2" fmla="*/ 1124357 h 1124357"/>
              <a:gd name="connsiteX3" fmla="*/ 0 w 1833179"/>
              <a:gd name="connsiteY3" fmla="*/ 1124357 h 1124357"/>
              <a:gd name="connsiteX4" fmla="*/ 0 w 1833179"/>
              <a:gd name="connsiteY4" fmla="*/ 66675 h 1124357"/>
              <a:gd name="connsiteX0" fmla="*/ 0 w 1833179"/>
              <a:gd name="connsiteY0" fmla="*/ 66675 h 1124357"/>
              <a:gd name="connsiteX1" fmla="*/ 1833179 w 1833179"/>
              <a:gd name="connsiteY1" fmla="*/ 0 h 1124357"/>
              <a:gd name="connsiteX2" fmla="*/ 1737929 w 1833179"/>
              <a:gd name="connsiteY2" fmla="*/ 1124357 h 1124357"/>
              <a:gd name="connsiteX3" fmla="*/ 0 w 1833179"/>
              <a:gd name="connsiteY3" fmla="*/ 1124357 h 1124357"/>
              <a:gd name="connsiteX4" fmla="*/ 0 w 1833179"/>
              <a:gd name="connsiteY4" fmla="*/ 66675 h 1124357"/>
              <a:gd name="connsiteX0" fmla="*/ 0 w 1833179"/>
              <a:gd name="connsiteY0" fmla="*/ 66675 h 1124357"/>
              <a:gd name="connsiteX1" fmla="*/ 1833179 w 1833179"/>
              <a:gd name="connsiteY1" fmla="*/ 0 h 1124357"/>
              <a:gd name="connsiteX2" fmla="*/ 1737929 w 1833179"/>
              <a:gd name="connsiteY2" fmla="*/ 1124357 h 1124357"/>
              <a:gd name="connsiteX3" fmla="*/ 0 w 1833179"/>
              <a:gd name="connsiteY3" fmla="*/ 1124357 h 1124357"/>
              <a:gd name="connsiteX4" fmla="*/ 0 w 1833179"/>
              <a:gd name="connsiteY4" fmla="*/ 66675 h 1124357"/>
              <a:gd name="connsiteX0" fmla="*/ 0 w 1922079"/>
              <a:gd name="connsiteY0" fmla="*/ 104775 h 1162457"/>
              <a:gd name="connsiteX1" fmla="*/ 1922079 w 1922079"/>
              <a:gd name="connsiteY1" fmla="*/ 0 h 1162457"/>
              <a:gd name="connsiteX2" fmla="*/ 1737929 w 1922079"/>
              <a:gd name="connsiteY2" fmla="*/ 1162457 h 1162457"/>
              <a:gd name="connsiteX3" fmla="*/ 0 w 1922079"/>
              <a:gd name="connsiteY3" fmla="*/ 1162457 h 1162457"/>
              <a:gd name="connsiteX4" fmla="*/ 0 w 1922079"/>
              <a:gd name="connsiteY4" fmla="*/ 104775 h 1162457"/>
              <a:gd name="connsiteX0" fmla="*/ 0 w 1922079"/>
              <a:gd name="connsiteY0" fmla="*/ 104775 h 1245007"/>
              <a:gd name="connsiteX1" fmla="*/ 1922079 w 1922079"/>
              <a:gd name="connsiteY1" fmla="*/ 0 h 1245007"/>
              <a:gd name="connsiteX2" fmla="*/ 1871279 w 1922079"/>
              <a:gd name="connsiteY2" fmla="*/ 1245007 h 1245007"/>
              <a:gd name="connsiteX3" fmla="*/ 0 w 1922079"/>
              <a:gd name="connsiteY3" fmla="*/ 1162457 h 1245007"/>
              <a:gd name="connsiteX4" fmla="*/ 0 w 1922079"/>
              <a:gd name="connsiteY4" fmla="*/ 104775 h 1245007"/>
              <a:gd name="connsiteX0" fmla="*/ 0 w 1922079"/>
              <a:gd name="connsiteY0" fmla="*/ 104775 h 1245007"/>
              <a:gd name="connsiteX1" fmla="*/ 1922079 w 1922079"/>
              <a:gd name="connsiteY1" fmla="*/ 0 h 1245007"/>
              <a:gd name="connsiteX2" fmla="*/ 1871279 w 1922079"/>
              <a:gd name="connsiteY2" fmla="*/ 1245007 h 1245007"/>
              <a:gd name="connsiteX3" fmla="*/ 0 w 1922079"/>
              <a:gd name="connsiteY3" fmla="*/ 1162457 h 1245007"/>
              <a:gd name="connsiteX4" fmla="*/ 0 w 1922079"/>
              <a:gd name="connsiteY4" fmla="*/ 104775 h 1245007"/>
              <a:gd name="connsiteX0" fmla="*/ 0 w 1922079"/>
              <a:gd name="connsiteY0" fmla="*/ 104775 h 1245007"/>
              <a:gd name="connsiteX1" fmla="*/ 1922079 w 1922079"/>
              <a:gd name="connsiteY1" fmla="*/ 0 h 1245007"/>
              <a:gd name="connsiteX2" fmla="*/ 1871279 w 1922079"/>
              <a:gd name="connsiteY2" fmla="*/ 1245007 h 1245007"/>
              <a:gd name="connsiteX3" fmla="*/ 0 w 1922079"/>
              <a:gd name="connsiteY3" fmla="*/ 1162457 h 1245007"/>
              <a:gd name="connsiteX4" fmla="*/ 0 w 1922079"/>
              <a:gd name="connsiteY4" fmla="*/ 104775 h 1245007"/>
              <a:gd name="connsiteX0" fmla="*/ 0 w 1922079"/>
              <a:gd name="connsiteY0" fmla="*/ 104775 h 1245007"/>
              <a:gd name="connsiteX1" fmla="*/ 1922079 w 1922079"/>
              <a:gd name="connsiteY1" fmla="*/ 0 h 1245007"/>
              <a:gd name="connsiteX2" fmla="*/ 1871279 w 1922079"/>
              <a:gd name="connsiteY2" fmla="*/ 1245007 h 1245007"/>
              <a:gd name="connsiteX3" fmla="*/ 0 w 1922079"/>
              <a:gd name="connsiteY3" fmla="*/ 1162457 h 1245007"/>
              <a:gd name="connsiteX4" fmla="*/ 0 w 1922079"/>
              <a:gd name="connsiteY4" fmla="*/ 104775 h 1245007"/>
              <a:gd name="connsiteX0" fmla="*/ 0 w 1928429"/>
              <a:gd name="connsiteY0" fmla="*/ 73025 h 1245007"/>
              <a:gd name="connsiteX1" fmla="*/ 1928429 w 1928429"/>
              <a:gd name="connsiteY1" fmla="*/ 0 h 1245007"/>
              <a:gd name="connsiteX2" fmla="*/ 1877629 w 1928429"/>
              <a:gd name="connsiteY2" fmla="*/ 1245007 h 1245007"/>
              <a:gd name="connsiteX3" fmla="*/ 6350 w 1928429"/>
              <a:gd name="connsiteY3" fmla="*/ 1162457 h 1245007"/>
              <a:gd name="connsiteX4" fmla="*/ 0 w 1928429"/>
              <a:gd name="connsiteY4" fmla="*/ 73025 h 1245007"/>
              <a:gd name="connsiteX0" fmla="*/ 0 w 1928429"/>
              <a:gd name="connsiteY0" fmla="*/ 73025 h 1245007"/>
              <a:gd name="connsiteX1" fmla="*/ 1928429 w 1928429"/>
              <a:gd name="connsiteY1" fmla="*/ 0 h 1245007"/>
              <a:gd name="connsiteX2" fmla="*/ 1877629 w 1928429"/>
              <a:gd name="connsiteY2" fmla="*/ 1245007 h 1245007"/>
              <a:gd name="connsiteX3" fmla="*/ 6350 w 1928429"/>
              <a:gd name="connsiteY3" fmla="*/ 1162457 h 1245007"/>
              <a:gd name="connsiteX4" fmla="*/ 0 w 1928429"/>
              <a:gd name="connsiteY4" fmla="*/ 73025 h 1245007"/>
              <a:gd name="connsiteX0" fmla="*/ 0 w 1928429"/>
              <a:gd name="connsiteY0" fmla="*/ 73025 h 1245007"/>
              <a:gd name="connsiteX1" fmla="*/ 1928429 w 1928429"/>
              <a:gd name="connsiteY1" fmla="*/ 0 h 1245007"/>
              <a:gd name="connsiteX2" fmla="*/ 1877629 w 1928429"/>
              <a:gd name="connsiteY2" fmla="*/ 1245007 h 1245007"/>
              <a:gd name="connsiteX3" fmla="*/ 6350 w 1928429"/>
              <a:gd name="connsiteY3" fmla="*/ 1162457 h 1245007"/>
              <a:gd name="connsiteX4" fmla="*/ 0 w 1928429"/>
              <a:gd name="connsiteY4" fmla="*/ 73025 h 1245007"/>
              <a:gd name="connsiteX0" fmla="*/ 28512 w 1956941"/>
              <a:gd name="connsiteY0" fmla="*/ 73025 h 1245007"/>
              <a:gd name="connsiteX1" fmla="*/ 1956941 w 1956941"/>
              <a:gd name="connsiteY1" fmla="*/ 0 h 1245007"/>
              <a:gd name="connsiteX2" fmla="*/ 1906141 w 1956941"/>
              <a:gd name="connsiteY2" fmla="*/ 1245007 h 1245007"/>
              <a:gd name="connsiteX3" fmla="*/ 0 w 1956941"/>
              <a:gd name="connsiteY3" fmla="*/ 1166628 h 1245007"/>
              <a:gd name="connsiteX4" fmla="*/ 28512 w 1956941"/>
              <a:gd name="connsiteY4" fmla="*/ 73025 h 1245007"/>
              <a:gd name="connsiteX0" fmla="*/ 28512 w 1956941"/>
              <a:gd name="connsiteY0" fmla="*/ 73025 h 1219983"/>
              <a:gd name="connsiteX1" fmla="*/ 1956941 w 1956941"/>
              <a:gd name="connsiteY1" fmla="*/ 0 h 1219983"/>
              <a:gd name="connsiteX2" fmla="*/ 1922547 w 1956941"/>
              <a:gd name="connsiteY2" fmla="*/ 1219983 h 1219983"/>
              <a:gd name="connsiteX3" fmla="*/ 0 w 1956941"/>
              <a:gd name="connsiteY3" fmla="*/ 1166628 h 1219983"/>
              <a:gd name="connsiteX4" fmla="*/ 28512 w 1956941"/>
              <a:gd name="connsiteY4" fmla="*/ 73025 h 12199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6941" h="1219983">
                <a:moveTo>
                  <a:pt x="28512" y="73025"/>
                </a:moveTo>
                <a:cubicBezTo>
                  <a:pt x="671322" y="273050"/>
                  <a:pt x="758506" y="517525"/>
                  <a:pt x="1956941" y="0"/>
                </a:cubicBezTo>
                <a:cubicBezTo>
                  <a:pt x="1185416" y="870086"/>
                  <a:pt x="1954297" y="845197"/>
                  <a:pt x="1922547" y="1219983"/>
                </a:cubicBezTo>
                <a:cubicBezTo>
                  <a:pt x="482812" y="588158"/>
                  <a:pt x="458660" y="1007878"/>
                  <a:pt x="0" y="1166628"/>
                </a:cubicBezTo>
                <a:cubicBezTo>
                  <a:pt x="0" y="814067"/>
                  <a:pt x="323787" y="530361"/>
                  <a:pt x="28512" y="73025"/>
                </a:cubicBezTo>
                <a:close/>
              </a:path>
            </a:pathLst>
          </a:custGeom>
          <a:gradFill>
            <a:gsLst>
              <a:gs pos="0">
                <a:srgbClr val="151515">
                  <a:lumMod val="5000"/>
                  <a:lumOff val="95000"/>
                  <a:alpha val="0"/>
                </a:srgbClr>
              </a:gs>
              <a:gs pos="100000">
                <a:srgbClr val="6997BB"/>
              </a:gs>
            </a:gsLst>
            <a:lin ang="5400000" scaled="1"/>
          </a:gradFill>
          <a:ln w="9525"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75000"/>
              </a:spcAft>
              <a:buClr>
                <a:srgbClr val="033F5E"/>
              </a:buClr>
              <a:buSzTx/>
              <a:buFontTx/>
              <a:buNone/>
              <a:tabLst/>
              <a:defRPr/>
            </a:pPr>
            <a:endParaRPr kumimoji="0" lang="en-US" sz="1200" b="1" i="0" u="none" strike="noStrike" kern="0" cap="none" spc="0" normalizeH="0" baseline="0" noProof="0" dirty="0">
              <a:ln>
                <a:noFill/>
              </a:ln>
              <a:solidFill>
                <a:srgbClr val="151515"/>
              </a:solidFill>
              <a:effectLst/>
              <a:uLnTx/>
              <a:uFillTx/>
              <a:latin typeface="Arial" panose="020B0604020202020204" pitchFamily="34" charset="0"/>
            </a:endParaRPr>
          </a:p>
        </p:txBody>
      </p:sp>
      <p:pic>
        <p:nvPicPr>
          <p:cNvPr id="9" name="Graphic 8">
            <a:extLst>
              <a:ext uri="{FF2B5EF4-FFF2-40B4-BE49-F238E27FC236}">
                <a16:creationId xmlns:a16="http://schemas.microsoft.com/office/drawing/2014/main" id="{ADE9BE00-6802-6956-80B8-AB2D7BC557C5}"/>
              </a:ext>
            </a:extLst>
          </p:cNvPr>
          <p:cNvPicPr>
            <a:picLocks noChangeAspect="1"/>
          </p:cNvPicPr>
          <p:nvPr>
            <p:custDataLst>
              <p:tags r:id="rId1"/>
            </p:custDataLst>
          </p:nvPr>
        </p:nvPicPr>
        <p:blipFill>
          <a:blip r:embed="rId8">
            <a:extLst>
              <a:ext uri="{96DAC541-7B7A-43D3-8B79-37D633B846F1}">
                <asvg:svgBlip xmlns:asvg="http://schemas.microsoft.com/office/drawing/2016/SVG/main" r:embed="rId9"/>
              </a:ext>
            </a:extLst>
          </a:blip>
          <a:stretch>
            <a:fillRect/>
          </a:stretch>
        </p:blipFill>
        <p:spPr>
          <a:xfrm>
            <a:off x="340750" y="5086786"/>
            <a:ext cx="1846352" cy="1051141"/>
          </a:xfrm>
          <a:prstGeom prst="rect">
            <a:avLst/>
          </a:prstGeom>
        </p:spPr>
      </p:pic>
      <p:pic>
        <p:nvPicPr>
          <p:cNvPr id="10" name="Graphic 9">
            <a:extLst>
              <a:ext uri="{FF2B5EF4-FFF2-40B4-BE49-F238E27FC236}">
                <a16:creationId xmlns:a16="http://schemas.microsoft.com/office/drawing/2014/main" id="{7DF9AED8-8D3D-EAE7-B673-AF2FF0A0273A}"/>
              </a:ext>
            </a:extLst>
          </p:cNvPr>
          <p:cNvPicPr>
            <a:picLocks noChangeAspect="1"/>
          </p:cNvPicPr>
          <p:nvPr>
            <p:custDataLst>
              <p:tags r:id="rId2"/>
            </p:custDataLst>
          </p:nvPr>
        </p:nvPicPr>
        <p:blipFill>
          <a:blip r:embed="rId10">
            <a:extLst>
              <a:ext uri="{96DAC541-7B7A-43D3-8B79-37D633B846F1}">
                <asvg:svgBlip xmlns:asvg="http://schemas.microsoft.com/office/drawing/2016/SVG/main" r:embed="rId11"/>
              </a:ext>
            </a:extLst>
          </a:blip>
          <a:stretch>
            <a:fillRect/>
          </a:stretch>
        </p:blipFill>
        <p:spPr>
          <a:xfrm>
            <a:off x="2450952" y="5086786"/>
            <a:ext cx="1846352" cy="1051141"/>
          </a:xfrm>
          <a:prstGeom prst="rect">
            <a:avLst/>
          </a:prstGeom>
        </p:spPr>
      </p:pic>
      <p:sp>
        <p:nvSpPr>
          <p:cNvPr id="11" name="Text Placeholder 5">
            <a:extLst>
              <a:ext uri="{FF2B5EF4-FFF2-40B4-BE49-F238E27FC236}">
                <a16:creationId xmlns:a16="http://schemas.microsoft.com/office/drawing/2014/main" id="{6A13A381-8650-F223-675D-3A7FD8B4804F}"/>
              </a:ext>
            </a:extLst>
          </p:cNvPr>
          <p:cNvSpPr txBox="1">
            <a:spLocks/>
          </p:cNvSpPr>
          <p:nvPr/>
        </p:nvSpPr>
        <p:spPr>
          <a:xfrm>
            <a:off x="306066" y="3772823"/>
            <a:ext cx="3914642" cy="249382"/>
          </a:xfrm>
          <a:prstGeom prst="rect">
            <a:avLst/>
          </a:prstGeom>
          <a:solidFill>
            <a:srgbClr val="0F537C"/>
          </a:solidFill>
        </p:spPr>
        <p:txBody>
          <a:bodyPr/>
          <a:lstStyle>
            <a:lvl1pPr marL="0" indent="0" algn="ctr" rtl="0" eaLnBrk="1" fontAlgn="base" hangingPunct="1">
              <a:spcBef>
                <a:spcPct val="0"/>
              </a:spcBef>
              <a:spcAft>
                <a:spcPts val="450"/>
              </a:spcAft>
              <a:buClrTx/>
              <a:buFont typeface="Arial" panose="020B0604020202020204" pitchFamily="34" charset="0"/>
              <a:buNone/>
              <a:defRPr sz="1200" b="1">
                <a:solidFill>
                  <a:schemeClr val="bg1"/>
                </a:solidFill>
                <a:latin typeface="+mn-lt"/>
                <a:ea typeface="MS PGothic" pitchFamily="34" charset="-128"/>
                <a:cs typeface="MS PGothic"/>
              </a:defRPr>
            </a:lvl1pPr>
            <a:lvl2pPr marL="285712" indent="-141667" algn="l" rtl="0" eaLnBrk="1" fontAlgn="base" hangingPunct="1">
              <a:spcBef>
                <a:spcPct val="0"/>
              </a:spcBef>
              <a:spcAft>
                <a:spcPts val="450"/>
              </a:spcAft>
              <a:buClrTx/>
              <a:buFont typeface="Arial" panose="020B0604020202020204" pitchFamily="34" charset="0"/>
              <a:buChar char="–"/>
              <a:defRPr sz="1000">
                <a:solidFill>
                  <a:schemeClr val="tx1"/>
                </a:solidFill>
                <a:latin typeface="+mn-lt"/>
                <a:ea typeface="MS PGothic" pitchFamily="34" charset="-128"/>
                <a:cs typeface="MS PGothic"/>
              </a:defRPr>
            </a:lvl2pPr>
            <a:lvl3pPr marL="438091" indent="-151190" algn="l" rtl="0" eaLnBrk="1" fontAlgn="base" hangingPunct="1">
              <a:spcBef>
                <a:spcPct val="0"/>
              </a:spcBef>
              <a:spcAft>
                <a:spcPts val="450"/>
              </a:spcAft>
              <a:buClrTx/>
              <a:buFont typeface="Arial" panose="020B0604020202020204" pitchFamily="34" charset="0"/>
              <a:buChar char="•"/>
              <a:defRPr sz="1000">
                <a:solidFill>
                  <a:schemeClr val="tx1"/>
                </a:solidFill>
                <a:latin typeface="+mn-lt"/>
                <a:ea typeface="MS PGothic" pitchFamily="34" charset="-128"/>
                <a:cs typeface="MS PGothic"/>
              </a:defRPr>
            </a:lvl3pPr>
            <a:lvl4pPr marL="561900" indent="-122618" algn="l" rtl="0" eaLnBrk="1" fontAlgn="base" hangingPunct="1">
              <a:spcBef>
                <a:spcPct val="0"/>
              </a:spcBef>
              <a:spcAft>
                <a:spcPts val="450"/>
              </a:spcAft>
              <a:buClr>
                <a:schemeClr val="bg2"/>
              </a:buClr>
              <a:buChar char="—"/>
              <a:defRPr sz="1000">
                <a:solidFill>
                  <a:schemeClr val="tx1"/>
                </a:solidFill>
                <a:latin typeface="+mn-lt"/>
                <a:ea typeface="MS PGothic" pitchFamily="34" charset="-128"/>
                <a:cs typeface="MS PGothic"/>
              </a:defRPr>
            </a:lvl4pPr>
            <a:lvl5pPr marL="714279" indent="-151190" algn="l" rtl="0" eaLnBrk="1" fontAlgn="base" hangingPunct="1">
              <a:spcBef>
                <a:spcPct val="0"/>
              </a:spcBef>
              <a:spcAft>
                <a:spcPts val="450"/>
              </a:spcAft>
              <a:buClr>
                <a:schemeClr val="bg2"/>
              </a:buClr>
              <a:buChar char="—"/>
              <a:defRPr sz="1000">
                <a:solidFill>
                  <a:schemeClr val="tx1"/>
                </a:solidFill>
                <a:latin typeface="+mn-lt"/>
                <a:ea typeface="MS PGothic" pitchFamily="34" charset="-128"/>
                <a:cs typeface="MS PGothic"/>
              </a:defRPr>
            </a:lvl5pPr>
            <a:lvl6pPr marL="1057133" indent="-151190" algn="l" rtl="0" eaLnBrk="1" fontAlgn="base" hangingPunct="1">
              <a:spcBef>
                <a:spcPct val="0"/>
              </a:spcBef>
              <a:spcAft>
                <a:spcPts val="450"/>
              </a:spcAft>
              <a:buClr>
                <a:schemeClr val="bg2"/>
              </a:buClr>
              <a:buChar char="—"/>
              <a:defRPr sz="750">
                <a:solidFill>
                  <a:schemeClr val="tx1"/>
                </a:solidFill>
                <a:latin typeface="+mn-lt"/>
              </a:defRPr>
            </a:lvl6pPr>
            <a:lvl7pPr marL="1399987" indent="-151190" algn="l" rtl="0" eaLnBrk="1" fontAlgn="base" hangingPunct="1">
              <a:spcBef>
                <a:spcPct val="0"/>
              </a:spcBef>
              <a:spcAft>
                <a:spcPts val="450"/>
              </a:spcAft>
              <a:buClr>
                <a:schemeClr val="bg2"/>
              </a:buClr>
              <a:buChar char="—"/>
              <a:defRPr sz="750">
                <a:solidFill>
                  <a:schemeClr val="tx1"/>
                </a:solidFill>
                <a:latin typeface="+mn-lt"/>
              </a:defRPr>
            </a:lvl7pPr>
            <a:lvl8pPr marL="1742842" indent="-151190" algn="l" rtl="0" eaLnBrk="1" fontAlgn="base" hangingPunct="1">
              <a:spcBef>
                <a:spcPct val="0"/>
              </a:spcBef>
              <a:spcAft>
                <a:spcPts val="450"/>
              </a:spcAft>
              <a:buClr>
                <a:schemeClr val="bg2"/>
              </a:buClr>
              <a:buChar char="—"/>
              <a:defRPr sz="750">
                <a:solidFill>
                  <a:schemeClr val="tx1"/>
                </a:solidFill>
                <a:latin typeface="+mn-lt"/>
              </a:defRPr>
            </a:lvl8pPr>
            <a:lvl9pPr marL="2085696" indent="-151190" algn="l" rtl="0" eaLnBrk="1" fontAlgn="base" hangingPunct="1">
              <a:spcBef>
                <a:spcPct val="0"/>
              </a:spcBef>
              <a:spcAft>
                <a:spcPts val="450"/>
              </a:spcAft>
              <a:buClr>
                <a:schemeClr val="bg2"/>
              </a:buClr>
              <a:buChar char="—"/>
              <a:defRPr sz="750">
                <a:solidFill>
                  <a:schemeClr val="tx1"/>
                </a:solidFill>
                <a:latin typeface="+mn-lt"/>
              </a:defRPr>
            </a:lvl9pPr>
          </a:lstStyle>
          <a:p>
            <a:pPr defTabSz="914400"/>
            <a:r>
              <a:rPr lang="en-US" kern="0" dirty="0"/>
              <a:t>2022 - TTM Aug-2024 Payor Mix</a:t>
            </a:r>
          </a:p>
        </p:txBody>
      </p:sp>
      <p:sp>
        <p:nvSpPr>
          <p:cNvPr id="12" name="TextBox 11">
            <a:extLst>
              <a:ext uri="{FF2B5EF4-FFF2-40B4-BE49-F238E27FC236}">
                <a16:creationId xmlns:a16="http://schemas.microsoft.com/office/drawing/2014/main" id="{4A8D7DDA-6DF3-165A-9F05-130D76F5E6E0}"/>
              </a:ext>
            </a:extLst>
          </p:cNvPr>
          <p:cNvSpPr txBox="1"/>
          <p:nvPr/>
        </p:nvSpPr>
        <p:spPr>
          <a:xfrm>
            <a:off x="306066" y="4120225"/>
            <a:ext cx="1865053" cy="216843"/>
          </a:xfrm>
          <a:prstGeom prst="rect">
            <a:avLst/>
          </a:prstGeom>
          <a:solidFill>
            <a:srgbClr val="5EB5BD"/>
          </a:solidFill>
        </p:spPr>
        <p:txBody>
          <a:bodyPr wrap="square" lIns="9144" rIns="9144" rtlCol="0">
            <a:spAutoFit/>
          </a:bodyPr>
          <a:lstStyle/>
          <a:p>
            <a:pPr marL="0" marR="0" lvl="0" indent="0" algn="ctr" defTabSz="1018824" eaLnBrk="1" fontAlgn="auto" latinLnBrk="0" hangingPunct="1">
              <a:lnSpc>
                <a:spcPct val="100000"/>
              </a:lnSpc>
              <a:spcBef>
                <a:spcPts val="0"/>
              </a:spcBef>
              <a:spcAft>
                <a:spcPts val="0"/>
              </a:spcAft>
              <a:buClrTx/>
              <a:buSzTx/>
              <a:buFontTx/>
              <a:buNone/>
              <a:tabLst/>
              <a:defRPr/>
            </a:pPr>
            <a:r>
              <a:rPr lang="en-US" sz="950" b="1" kern="0" dirty="0">
                <a:solidFill>
                  <a:srgbClr val="FFFFFF"/>
                </a:solidFill>
              </a:rPr>
              <a:t>Overall </a:t>
            </a:r>
            <a:r>
              <a:rPr kumimoji="0" lang="en-US" sz="950" b="1" i="0" u="none" strike="noStrike" kern="0" cap="none" spc="0" normalizeH="0" baseline="0" noProof="0" dirty="0">
                <a:ln>
                  <a:noFill/>
                </a:ln>
                <a:solidFill>
                  <a:srgbClr val="FFFFFF"/>
                </a:solidFill>
                <a:effectLst/>
                <a:uLnTx/>
                <a:uFillTx/>
              </a:rPr>
              <a:t>Payor Mix</a:t>
            </a:r>
          </a:p>
        </p:txBody>
      </p:sp>
      <p:sp>
        <p:nvSpPr>
          <p:cNvPr id="13" name="TextBox 12">
            <a:extLst>
              <a:ext uri="{FF2B5EF4-FFF2-40B4-BE49-F238E27FC236}">
                <a16:creationId xmlns:a16="http://schemas.microsoft.com/office/drawing/2014/main" id="{FC18402F-D418-E93F-7BAC-095F25BE373C}"/>
              </a:ext>
            </a:extLst>
          </p:cNvPr>
          <p:cNvSpPr txBox="1"/>
          <p:nvPr/>
        </p:nvSpPr>
        <p:spPr>
          <a:xfrm>
            <a:off x="2251864" y="4120225"/>
            <a:ext cx="1968845" cy="223837"/>
          </a:xfrm>
          <a:prstGeom prst="rect">
            <a:avLst/>
          </a:prstGeom>
          <a:solidFill>
            <a:srgbClr val="5EB5BD"/>
          </a:solidFill>
        </p:spPr>
        <p:txBody>
          <a:bodyPr wrap="square" lIns="9144" rIns="9144" rtlCol="0">
            <a:spAutoFit/>
          </a:bodyPr>
          <a:lstStyle/>
          <a:p>
            <a:pPr marL="0" marR="0" lvl="0" indent="0" algn="ctr" defTabSz="1018824" eaLnBrk="1" fontAlgn="auto" latinLnBrk="0" hangingPunct="1">
              <a:lnSpc>
                <a:spcPct val="100000"/>
              </a:lnSpc>
              <a:spcBef>
                <a:spcPts val="0"/>
              </a:spcBef>
              <a:spcAft>
                <a:spcPts val="0"/>
              </a:spcAft>
              <a:buClrTx/>
              <a:buSzTx/>
              <a:buFontTx/>
              <a:buNone/>
              <a:tabLst/>
              <a:defRPr/>
            </a:pPr>
            <a:r>
              <a:rPr kumimoji="0" lang="en-US" sz="950" b="1" i="0" u="none" strike="noStrike" kern="0" cap="none" spc="0" normalizeH="0" baseline="0" noProof="0" dirty="0">
                <a:ln>
                  <a:noFill/>
                </a:ln>
                <a:solidFill>
                  <a:srgbClr val="FFFFFF"/>
                </a:solidFill>
                <a:effectLst/>
                <a:uLnTx/>
                <a:uFillTx/>
              </a:rPr>
              <a:t>Commercial Payor Mix</a:t>
            </a:r>
          </a:p>
        </p:txBody>
      </p:sp>
      <p:sp>
        <p:nvSpPr>
          <p:cNvPr id="16" name="TextBox 15">
            <a:extLst>
              <a:ext uri="{FF2B5EF4-FFF2-40B4-BE49-F238E27FC236}">
                <a16:creationId xmlns:a16="http://schemas.microsoft.com/office/drawing/2014/main" id="{B73B24A3-F54E-5472-9414-07D2FDCCABD3}"/>
              </a:ext>
            </a:extLst>
          </p:cNvPr>
          <p:cNvSpPr txBox="1"/>
          <p:nvPr/>
        </p:nvSpPr>
        <p:spPr>
          <a:xfrm rot="16200000">
            <a:off x="-31530" y="4664658"/>
            <a:ext cx="906025" cy="230833"/>
          </a:xfrm>
          <a:prstGeom prst="rect">
            <a:avLst/>
          </a:prstGeom>
          <a:noFill/>
        </p:spPr>
        <p:txBody>
          <a:bodyPr wrap="square" rtlCol="0">
            <a:spAutoFit/>
          </a:bodyPr>
          <a:lstStyle/>
          <a:p>
            <a:pPr marL="0" marR="0" lvl="0" indent="0" algn="ctr" defTabSz="1018824"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effectLst/>
                <a:uLnTx/>
                <a:uFillTx/>
              </a:rPr>
              <a:t>Michigan</a:t>
            </a:r>
          </a:p>
        </p:txBody>
      </p:sp>
      <p:sp>
        <p:nvSpPr>
          <p:cNvPr id="17" name="TextBox 16">
            <a:extLst>
              <a:ext uri="{FF2B5EF4-FFF2-40B4-BE49-F238E27FC236}">
                <a16:creationId xmlns:a16="http://schemas.microsoft.com/office/drawing/2014/main" id="{018B45D1-CAC8-865F-8353-E452AF8A4C09}"/>
              </a:ext>
            </a:extLst>
          </p:cNvPr>
          <p:cNvSpPr txBox="1"/>
          <p:nvPr/>
        </p:nvSpPr>
        <p:spPr>
          <a:xfrm rot="16200000">
            <a:off x="-31530" y="5436770"/>
            <a:ext cx="906025" cy="230833"/>
          </a:xfrm>
          <a:prstGeom prst="rect">
            <a:avLst/>
          </a:prstGeom>
          <a:noFill/>
        </p:spPr>
        <p:txBody>
          <a:bodyPr wrap="square" rtlCol="0">
            <a:spAutoFit/>
          </a:bodyPr>
          <a:lstStyle/>
          <a:p>
            <a:pPr marL="0" marR="0" lvl="0" indent="0" algn="ctr" defTabSz="1018824"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effectLst/>
                <a:uLnTx/>
                <a:uFillTx/>
              </a:rPr>
              <a:t>Indiana</a:t>
            </a:r>
          </a:p>
        </p:txBody>
      </p:sp>
      <p:grpSp>
        <p:nvGrpSpPr>
          <p:cNvPr id="18" name="Group 17">
            <a:extLst>
              <a:ext uri="{FF2B5EF4-FFF2-40B4-BE49-F238E27FC236}">
                <a16:creationId xmlns:a16="http://schemas.microsoft.com/office/drawing/2014/main" id="{987A9F6B-5CA8-E8DD-8FA5-4A3445DB398D}"/>
              </a:ext>
            </a:extLst>
          </p:cNvPr>
          <p:cNvGrpSpPr/>
          <p:nvPr/>
        </p:nvGrpSpPr>
        <p:grpSpPr>
          <a:xfrm>
            <a:off x="1380779" y="4487542"/>
            <a:ext cx="2102578" cy="646250"/>
            <a:chOff x="5821195" y="4330613"/>
            <a:chExt cx="2312836" cy="710875"/>
          </a:xfrm>
        </p:grpSpPr>
        <p:sp>
          <p:nvSpPr>
            <p:cNvPr id="19" name="Rectangle 13">
              <a:extLst>
                <a:ext uri="{FF2B5EF4-FFF2-40B4-BE49-F238E27FC236}">
                  <a16:creationId xmlns:a16="http://schemas.microsoft.com/office/drawing/2014/main" id="{37066491-EB1B-FAD1-968C-03279D252A0F}"/>
                </a:ext>
              </a:extLst>
            </p:cNvPr>
            <p:cNvSpPr/>
            <p:nvPr/>
          </p:nvSpPr>
          <p:spPr bwMode="auto">
            <a:xfrm>
              <a:off x="5821195" y="4330613"/>
              <a:ext cx="2312836" cy="710875"/>
            </a:xfrm>
            <a:custGeom>
              <a:avLst/>
              <a:gdLst>
                <a:gd name="connsiteX0" fmla="*/ 0 w 2157029"/>
                <a:gd name="connsiteY0" fmla="*/ 0 h 1057682"/>
                <a:gd name="connsiteX1" fmla="*/ 2157029 w 2157029"/>
                <a:gd name="connsiteY1" fmla="*/ 0 h 1057682"/>
                <a:gd name="connsiteX2" fmla="*/ 2157029 w 2157029"/>
                <a:gd name="connsiteY2" fmla="*/ 1057682 h 1057682"/>
                <a:gd name="connsiteX3" fmla="*/ 0 w 2157029"/>
                <a:gd name="connsiteY3" fmla="*/ 1057682 h 1057682"/>
                <a:gd name="connsiteX4" fmla="*/ 0 w 2157029"/>
                <a:gd name="connsiteY4" fmla="*/ 0 h 1057682"/>
                <a:gd name="connsiteX0" fmla="*/ 0 w 2157029"/>
                <a:gd name="connsiteY0" fmla="*/ 57150 h 1114832"/>
                <a:gd name="connsiteX1" fmla="*/ 1852229 w 2157029"/>
                <a:gd name="connsiteY1" fmla="*/ 0 h 1114832"/>
                <a:gd name="connsiteX2" fmla="*/ 2157029 w 2157029"/>
                <a:gd name="connsiteY2" fmla="*/ 1114832 h 1114832"/>
                <a:gd name="connsiteX3" fmla="*/ 0 w 2157029"/>
                <a:gd name="connsiteY3" fmla="*/ 1114832 h 1114832"/>
                <a:gd name="connsiteX4" fmla="*/ 0 w 2157029"/>
                <a:gd name="connsiteY4" fmla="*/ 57150 h 1114832"/>
                <a:gd name="connsiteX0" fmla="*/ 0 w 1852229"/>
                <a:gd name="connsiteY0" fmla="*/ 57150 h 1114832"/>
                <a:gd name="connsiteX1" fmla="*/ 1852229 w 1852229"/>
                <a:gd name="connsiteY1" fmla="*/ 0 h 1114832"/>
                <a:gd name="connsiteX2" fmla="*/ 1737929 w 1852229"/>
                <a:gd name="connsiteY2" fmla="*/ 1114832 h 1114832"/>
                <a:gd name="connsiteX3" fmla="*/ 0 w 1852229"/>
                <a:gd name="connsiteY3" fmla="*/ 1114832 h 1114832"/>
                <a:gd name="connsiteX4" fmla="*/ 0 w 1852229"/>
                <a:gd name="connsiteY4" fmla="*/ 57150 h 1114832"/>
                <a:gd name="connsiteX0" fmla="*/ 0 w 1852229"/>
                <a:gd name="connsiteY0" fmla="*/ 57150 h 1114832"/>
                <a:gd name="connsiteX1" fmla="*/ 1852229 w 1852229"/>
                <a:gd name="connsiteY1" fmla="*/ 0 h 1114832"/>
                <a:gd name="connsiteX2" fmla="*/ 1737929 w 1852229"/>
                <a:gd name="connsiteY2" fmla="*/ 1114832 h 1114832"/>
                <a:gd name="connsiteX3" fmla="*/ 0 w 1852229"/>
                <a:gd name="connsiteY3" fmla="*/ 1114832 h 1114832"/>
                <a:gd name="connsiteX4" fmla="*/ 0 w 1852229"/>
                <a:gd name="connsiteY4" fmla="*/ 57150 h 1114832"/>
                <a:gd name="connsiteX0" fmla="*/ 0 w 1833179"/>
                <a:gd name="connsiteY0" fmla="*/ 66675 h 1124357"/>
                <a:gd name="connsiteX1" fmla="*/ 1833179 w 1833179"/>
                <a:gd name="connsiteY1" fmla="*/ 0 h 1124357"/>
                <a:gd name="connsiteX2" fmla="*/ 1737929 w 1833179"/>
                <a:gd name="connsiteY2" fmla="*/ 1124357 h 1124357"/>
                <a:gd name="connsiteX3" fmla="*/ 0 w 1833179"/>
                <a:gd name="connsiteY3" fmla="*/ 1124357 h 1124357"/>
                <a:gd name="connsiteX4" fmla="*/ 0 w 1833179"/>
                <a:gd name="connsiteY4" fmla="*/ 66675 h 1124357"/>
                <a:gd name="connsiteX0" fmla="*/ 0 w 1833179"/>
                <a:gd name="connsiteY0" fmla="*/ 66675 h 1124357"/>
                <a:gd name="connsiteX1" fmla="*/ 1833179 w 1833179"/>
                <a:gd name="connsiteY1" fmla="*/ 0 h 1124357"/>
                <a:gd name="connsiteX2" fmla="*/ 1737929 w 1833179"/>
                <a:gd name="connsiteY2" fmla="*/ 1124357 h 1124357"/>
                <a:gd name="connsiteX3" fmla="*/ 0 w 1833179"/>
                <a:gd name="connsiteY3" fmla="*/ 1124357 h 1124357"/>
                <a:gd name="connsiteX4" fmla="*/ 0 w 1833179"/>
                <a:gd name="connsiteY4" fmla="*/ 66675 h 1124357"/>
                <a:gd name="connsiteX0" fmla="*/ 0 w 1833179"/>
                <a:gd name="connsiteY0" fmla="*/ 66675 h 1124357"/>
                <a:gd name="connsiteX1" fmla="*/ 1833179 w 1833179"/>
                <a:gd name="connsiteY1" fmla="*/ 0 h 1124357"/>
                <a:gd name="connsiteX2" fmla="*/ 1737929 w 1833179"/>
                <a:gd name="connsiteY2" fmla="*/ 1124357 h 1124357"/>
                <a:gd name="connsiteX3" fmla="*/ 0 w 1833179"/>
                <a:gd name="connsiteY3" fmla="*/ 1124357 h 1124357"/>
                <a:gd name="connsiteX4" fmla="*/ 0 w 1833179"/>
                <a:gd name="connsiteY4" fmla="*/ 66675 h 1124357"/>
                <a:gd name="connsiteX0" fmla="*/ 0 w 1833179"/>
                <a:gd name="connsiteY0" fmla="*/ 66675 h 1124357"/>
                <a:gd name="connsiteX1" fmla="*/ 1833179 w 1833179"/>
                <a:gd name="connsiteY1" fmla="*/ 0 h 1124357"/>
                <a:gd name="connsiteX2" fmla="*/ 1737929 w 1833179"/>
                <a:gd name="connsiteY2" fmla="*/ 1124357 h 1124357"/>
                <a:gd name="connsiteX3" fmla="*/ 0 w 1833179"/>
                <a:gd name="connsiteY3" fmla="*/ 1124357 h 1124357"/>
                <a:gd name="connsiteX4" fmla="*/ 0 w 1833179"/>
                <a:gd name="connsiteY4" fmla="*/ 66675 h 1124357"/>
                <a:gd name="connsiteX0" fmla="*/ 0 w 1833179"/>
                <a:gd name="connsiteY0" fmla="*/ 66675 h 1124357"/>
                <a:gd name="connsiteX1" fmla="*/ 1833179 w 1833179"/>
                <a:gd name="connsiteY1" fmla="*/ 0 h 1124357"/>
                <a:gd name="connsiteX2" fmla="*/ 1737929 w 1833179"/>
                <a:gd name="connsiteY2" fmla="*/ 1124357 h 1124357"/>
                <a:gd name="connsiteX3" fmla="*/ 0 w 1833179"/>
                <a:gd name="connsiteY3" fmla="*/ 1124357 h 1124357"/>
                <a:gd name="connsiteX4" fmla="*/ 0 w 1833179"/>
                <a:gd name="connsiteY4" fmla="*/ 66675 h 1124357"/>
                <a:gd name="connsiteX0" fmla="*/ 0 w 1922079"/>
                <a:gd name="connsiteY0" fmla="*/ 104775 h 1162457"/>
                <a:gd name="connsiteX1" fmla="*/ 1922079 w 1922079"/>
                <a:gd name="connsiteY1" fmla="*/ 0 h 1162457"/>
                <a:gd name="connsiteX2" fmla="*/ 1737929 w 1922079"/>
                <a:gd name="connsiteY2" fmla="*/ 1162457 h 1162457"/>
                <a:gd name="connsiteX3" fmla="*/ 0 w 1922079"/>
                <a:gd name="connsiteY3" fmla="*/ 1162457 h 1162457"/>
                <a:gd name="connsiteX4" fmla="*/ 0 w 1922079"/>
                <a:gd name="connsiteY4" fmla="*/ 104775 h 1162457"/>
                <a:gd name="connsiteX0" fmla="*/ 0 w 1922079"/>
                <a:gd name="connsiteY0" fmla="*/ 104775 h 1245007"/>
                <a:gd name="connsiteX1" fmla="*/ 1922079 w 1922079"/>
                <a:gd name="connsiteY1" fmla="*/ 0 h 1245007"/>
                <a:gd name="connsiteX2" fmla="*/ 1871279 w 1922079"/>
                <a:gd name="connsiteY2" fmla="*/ 1245007 h 1245007"/>
                <a:gd name="connsiteX3" fmla="*/ 0 w 1922079"/>
                <a:gd name="connsiteY3" fmla="*/ 1162457 h 1245007"/>
                <a:gd name="connsiteX4" fmla="*/ 0 w 1922079"/>
                <a:gd name="connsiteY4" fmla="*/ 104775 h 1245007"/>
                <a:gd name="connsiteX0" fmla="*/ 0 w 1922079"/>
                <a:gd name="connsiteY0" fmla="*/ 104775 h 1245007"/>
                <a:gd name="connsiteX1" fmla="*/ 1922079 w 1922079"/>
                <a:gd name="connsiteY1" fmla="*/ 0 h 1245007"/>
                <a:gd name="connsiteX2" fmla="*/ 1871279 w 1922079"/>
                <a:gd name="connsiteY2" fmla="*/ 1245007 h 1245007"/>
                <a:gd name="connsiteX3" fmla="*/ 0 w 1922079"/>
                <a:gd name="connsiteY3" fmla="*/ 1162457 h 1245007"/>
                <a:gd name="connsiteX4" fmla="*/ 0 w 1922079"/>
                <a:gd name="connsiteY4" fmla="*/ 104775 h 1245007"/>
                <a:gd name="connsiteX0" fmla="*/ 0 w 1922079"/>
                <a:gd name="connsiteY0" fmla="*/ 104775 h 1245007"/>
                <a:gd name="connsiteX1" fmla="*/ 1922079 w 1922079"/>
                <a:gd name="connsiteY1" fmla="*/ 0 h 1245007"/>
                <a:gd name="connsiteX2" fmla="*/ 1871279 w 1922079"/>
                <a:gd name="connsiteY2" fmla="*/ 1245007 h 1245007"/>
                <a:gd name="connsiteX3" fmla="*/ 0 w 1922079"/>
                <a:gd name="connsiteY3" fmla="*/ 1162457 h 1245007"/>
                <a:gd name="connsiteX4" fmla="*/ 0 w 1922079"/>
                <a:gd name="connsiteY4" fmla="*/ 104775 h 1245007"/>
                <a:gd name="connsiteX0" fmla="*/ 0 w 1922079"/>
                <a:gd name="connsiteY0" fmla="*/ 104775 h 1245007"/>
                <a:gd name="connsiteX1" fmla="*/ 1922079 w 1922079"/>
                <a:gd name="connsiteY1" fmla="*/ 0 h 1245007"/>
                <a:gd name="connsiteX2" fmla="*/ 1871279 w 1922079"/>
                <a:gd name="connsiteY2" fmla="*/ 1245007 h 1245007"/>
                <a:gd name="connsiteX3" fmla="*/ 0 w 1922079"/>
                <a:gd name="connsiteY3" fmla="*/ 1162457 h 1245007"/>
                <a:gd name="connsiteX4" fmla="*/ 0 w 1922079"/>
                <a:gd name="connsiteY4" fmla="*/ 104775 h 1245007"/>
                <a:gd name="connsiteX0" fmla="*/ 0 w 1928429"/>
                <a:gd name="connsiteY0" fmla="*/ 73025 h 1245007"/>
                <a:gd name="connsiteX1" fmla="*/ 1928429 w 1928429"/>
                <a:gd name="connsiteY1" fmla="*/ 0 h 1245007"/>
                <a:gd name="connsiteX2" fmla="*/ 1877629 w 1928429"/>
                <a:gd name="connsiteY2" fmla="*/ 1245007 h 1245007"/>
                <a:gd name="connsiteX3" fmla="*/ 6350 w 1928429"/>
                <a:gd name="connsiteY3" fmla="*/ 1162457 h 1245007"/>
                <a:gd name="connsiteX4" fmla="*/ 0 w 1928429"/>
                <a:gd name="connsiteY4" fmla="*/ 73025 h 1245007"/>
                <a:gd name="connsiteX0" fmla="*/ 0 w 1928429"/>
                <a:gd name="connsiteY0" fmla="*/ 73025 h 1245007"/>
                <a:gd name="connsiteX1" fmla="*/ 1928429 w 1928429"/>
                <a:gd name="connsiteY1" fmla="*/ 0 h 1245007"/>
                <a:gd name="connsiteX2" fmla="*/ 1877629 w 1928429"/>
                <a:gd name="connsiteY2" fmla="*/ 1245007 h 1245007"/>
                <a:gd name="connsiteX3" fmla="*/ 6350 w 1928429"/>
                <a:gd name="connsiteY3" fmla="*/ 1162457 h 1245007"/>
                <a:gd name="connsiteX4" fmla="*/ 0 w 1928429"/>
                <a:gd name="connsiteY4" fmla="*/ 73025 h 1245007"/>
                <a:gd name="connsiteX0" fmla="*/ 0 w 1928429"/>
                <a:gd name="connsiteY0" fmla="*/ 73025 h 1245007"/>
                <a:gd name="connsiteX1" fmla="*/ 1928429 w 1928429"/>
                <a:gd name="connsiteY1" fmla="*/ 0 h 1245007"/>
                <a:gd name="connsiteX2" fmla="*/ 1877629 w 1928429"/>
                <a:gd name="connsiteY2" fmla="*/ 1245007 h 1245007"/>
                <a:gd name="connsiteX3" fmla="*/ 6350 w 1928429"/>
                <a:gd name="connsiteY3" fmla="*/ 1162457 h 1245007"/>
                <a:gd name="connsiteX4" fmla="*/ 0 w 1928429"/>
                <a:gd name="connsiteY4" fmla="*/ 73025 h 1245007"/>
                <a:gd name="connsiteX0" fmla="*/ 63375 w 1991804"/>
                <a:gd name="connsiteY0" fmla="*/ 73025 h 1245007"/>
                <a:gd name="connsiteX1" fmla="*/ 1991804 w 1991804"/>
                <a:gd name="connsiteY1" fmla="*/ 0 h 1245007"/>
                <a:gd name="connsiteX2" fmla="*/ 1941004 w 1991804"/>
                <a:gd name="connsiteY2" fmla="*/ 1245007 h 1245007"/>
                <a:gd name="connsiteX3" fmla="*/ 0 w 1991804"/>
                <a:gd name="connsiteY3" fmla="*/ 1187481 h 1245007"/>
                <a:gd name="connsiteX4" fmla="*/ 63375 w 1991804"/>
                <a:gd name="connsiteY4" fmla="*/ 73025 h 1245007"/>
                <a:gd name="connsiteX0" fmla="*/ 63375 w 1991804"/>
                <a:gd name="connsiteY0" fmla="*/ 73025 h 1245007"/>
                <a:gd name="connsiteX1" fmla="*/ 1991804 w 1991804"/>
                <a:gd name="connsiteY1" fmla="*/ 0 h 1245007"/>
                <a:gd name="connsiteX2" fmla="*/ 1947156 w 1991804"/>
                <a:gd name="connsiteY2" fmla="*/ 1245007 h 1245007"/>
                <a:gd name="connsiteX3" fmla="*/ 0 w 1991804"/>
                <a:gd name="connsiteY3" fmla="*/ 1187481 h 1245007"/>
                <a:gd name="connsiteX4" fmla="*/ 63375 w 1991804"/>
                <a:gd name="connsiteY4" fmla="*/ 73025 h 1245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91804" h="1245007">
                  <a:moveTo>
                    <a:pt x="63375" y="73025"/>
                  </a:moveTo>
                  <a:cubicBezTo>
                    <a:pt x="706185" y="273050"/>
                    <a:pt x="793369" y="517525"/>
                    <a:pt x="1991804" y="0"/>
                  </a:cubicBezTo>
                  <a:cubicBezTo>
                    <a:pt x="1220279" y="870086"/>
                    <a:pt x="1978906" y="870221"/>
                    <a:pt x="1947156" y="1245007"/>
                  </a:cubicBezTo>
                  <a:cubicBezTo>
                    <a:pt x="507421" y="613182"/>
                    <a:pt x="458660" y="1028731"/>
                    <a:pt x="0" y="1187481"/>
                  </a:cubicBezTo>
                  <a:cubicBezTo>
                    <a:pt x="0" y="834920"/>
                    <a:pt x="358650" y="530361"/>
                    <a:pt x="63375" y="73025"/>
                  </a:cubicBezTo>
                  <a:close/>
                </a:path>
              </a:pathLst>
            </a:custGeom>
            <a:gradFill>
              <a:gsLst>
                <a:gs pos="0">
                  <a:srgbClr val="151515">
                    <a:lumMod val="5000"/>
                    <a:lumOff val="95000"/>
                    <a:alpha val="0"/>
                  </a:srgbClr>
                </a:gs>
                <a:gs pos="100000">
                  <a:srgbClr val="6997BB"/>
                </a:gs>
              </a:gsLst>
              <a:lin ang="5400000" scaled="1"/>
            </a:gradFill>
            <a:ln w="9525"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75000"/>
                </a:spcAft>
                <a:buClr>
                  <a:srgbClr val="033F5E"/>
                </a:buClr>
                <a:buSzTx/>
                <a:buFontTx/>
                <a:buNone/>
                <a:tabLst/>
                <a:defRPr/>
              </a:pPr>
              <a:endParaRPr kumimoji="0" lang="en-US" sz="1200" b="1" i="0" u="none" strike="noStrike" kern="0" cap="none" spc="0" normalizeH="0" baseline="0" noProof="0" dirty="0">
                <a:ln>
                  <a:noFill/>
                </a:ln>
                <a:solidFill>
                  <a:srgbClr val="151515"/>
                </a:solidFill>
                <a:effectLst/>
                <a:uLnTx/>
                <a:uFillTx/>
                <a:latin typeface="Arial" panose="020B0604020202020204" pitchFamily="34" charset="0"/>
              </a:endParaRPr>
            </a:p>
          </p:txBody>
        </p:sp>
        <p:grpSp>
          <p:nvGrpSpPr>
            <p:cNvPr id="20" name="Group 19">
              <a:extLst>
                <a:ext uri="{FF2B5EF4-FFF2-40B4-BE49-F238E27FC236}">
                  <a16:creationId xmlns:a16="http://schemas.microsoft.com/office/drawing/2014/main" id="{52D54384-BA8E-96F4-41BF-ABA40318A2F7}"/>
                </a:ext>
              </a:extLst>
            </p:cNvPr>
            <p:cNvGrpSpPr>
              <a:grpSpLocks noChangeAspect="1"/>
            </p:cNvGrpSpPr>
            <p:nvPr/>
          </p:nvGrpSpPr>
          <p:grpSpPr>
            <a:xfrm>
              <a:off x="6454425" y="4380041"/>
              <a:ext cx="491775" cy="438184"/>
              <a:chOff x="5426943" y="2081578"/>
              <a:chExt cx="1287596" cy="1147281"/>
            </a:xfrm>
          </p:grpSpPr>
          <p:sp>
            <p:nvSpPr>
              <p:cNvPr id="21" name="Freeform 39">
                <a:extLst>
                  <a:ext uri="{FF2B5EF4-FFF2-40B4-BE49-F238E27FC236}">
                    <a16:creationId xmlns:a16="http://schemas.microsoft.com/office/drawing/2014/main" id="{516DDFCD-99E6-41BA-A575-87CC2B0A4215}"/>
                  </a:ext>
                </a:extLst>
              </p:cNvPr>
              <p:cNvSpPr>
                <a:spLocks/>
              </p:cNvSpPr>
              <p:nvPr/>
            </p:nvSpPr>
            <p:spPr bwMode="auto">
              <a:xfrm>
                <a:off x="5426943" y="2081578"/>
                <a:ext cx="914469" cy="388451"/>
              </a:xfrm>
              <a:custGeom>
                <a:avLst/>
                <a:gdLst>
                  <a:gd name="T0" fmla="*/ 0 w 299"/>
                  <a:gd name="T1" fmla="*/ 71 h 129"/>
                  <a:gd name="T2" fmla="*/ 67 w 299"/>
                  <a:gd name="T3" fmla="*/ 0 h 129"/>
                  <a:gd name="T4" fmla="*/ 55 w 299"/>
                  <a:gd name="T5" fmla="*/ 29 h 129"/>
                  <a:gd name="T6" fmla="*/ 64 w 299"/>
                  <a:gd name="T7" fmla="*/ 38 h 129"/>
                  <a:gd name="T8" fmla="*/ 85 w 299"/>
                  <a:gd name="T9" fmla="*/ 26 h 129"/>
                  <a:gd name="T10" fmla="*/ 131 w 299"/>
                  <a:gd name="T11" fmla="*/ 44 h 129"/>
                  <a:gd name="T12" fmla="*/ 151 w 299"/>
                  <a:gd name="T13" fmla="*/ 29 h 129"/>
                  <a:gd name="T14" fmla="*/ 213 w 299"/>
                  <a:gd name="T15" fmla="*/ 21 h 129"/>
                  <a:gd name="T16" fmla="*/ 225 w 299"/>
                  <a:gd name="T17" fmla="*/ 39 h 129"/>
                  <a:gd name="T18" fmla="*/ 249 w 299"/>
                  <a:gd name="T19" fmla="*/ 35 h 129"/>
                  <a:gd name="T20" fmla="*/ 296 w 299"/>
                  <a:gd name="T21" fmla="*/ 54 h 129"/>
                  <a:gd name="T22" fmla="*/ 299 w 299"/>
                  <a:gd name="T23" fmla="*/ 68 h 129"/>
                  <a:gd name="T24" fmla="*/ 248 w 299"/>
                  <a:gd name="T25" fmla="*/ 80 h 129"/>
                  <a:gd name="T26" fmla="*/ 233 w 299"/>
                  <a:gd name="T27" fmla="*/ 71 h 129"/>
                  <a:gd name="T28" fmla="*/ 207 w 299"/>
                  <a:gd name="T29" fmla="*/ 74 h 129"/>
                  <a:gd name="T30" fmla="*/ 177 w 299"/>
                  <a:gd name="T31" fmla="*/ 92 h 129"/>
                  <a:gd name="T32" fmla="*/ 163 w 299"/>
                  <a:gd name="T33" fmla="*/ 93 h 129"/>
                  <a:gd name="T34" fmla="*/ 152 w 299"/>
                  <a:gd name="T35" fmla="*/ 80 h 129"/>
                  <a:gd name="T36" fmla="*/ 135 w 299"/>
                  <a:gd name="T37" fmla="*/ 128 h 129"/>
                  <a:gd name="T38" fmla="*/ 116 w 299"/>
                  <a:gd name="T39" fmla="*/ 129 h 129"/>
                  <a:gd name="T40" fmla="*/ 108 w 299"/>
                  <a:gd name="T41" fmla="*/ 110 h 129"/>
                  <a:gd name="T42" fmla="*/ 68 w 299"/>
                  <a:gd name="T43" fmla="*/ 101 h 129"/>
                  <a:gd name="T44" fmla="*/ 49 w 299"/>
                  <a:gd name="T45" fmla="*/ 87 h 129"/>
                  <a:gd name="T46" fmla="*/ 16 w 299"/>
                  <a:gd name="T47" fmla="*/ 92 h 129"/>
                  <a:gd name="T48" fmla="*/ 0 w 299"/>
                  <a:gd name="T49" fmla="*/ 71 h 12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99"/>
                  <a:gd name="T76" fmla="*/ 0 h 129"/>
                  <a:gd name="T77" fmla="*/ 299 w 299"/>
                  <a:gd name="T78" fmla="*/ 129 h 12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99" h="129">
                    <a:moveTo>
                      <a:pt x="0" y="71"/>
                    </a:moveTo>
                    <a:lnTo>
                      <a:pt x="67" y="0"/>
                    </a:lnTo>
                    <a:lnTo>
                      <a:pt x="55" y="29"/>
                    </a:lnTo>
                    <a:lnTo>
                      <a:pt x="64" y="38"/>
                    </a:lnTo>
                    <a:lnTo>
                      <a:pt x="85" y="26"/>
                    </a:lnTo>
                    <a:lnTo>
                      <a:pt x="131" y="44"/>
                    </a:lnTo>
                    <a:lnTo>
                      <a:pt x="151" y="29"/>
                    </a:lnTo>
                    <a:lnTo>
                      <a:pt x="213" y="21"/>
                    </a:lnTo>
                    <a:lnTo>
                      <a:pt x="225" y="39"/>
                    </a:lnTo>
                    <a:lnTo>
                      <a:pt x="249" y="35"/>
                    </a:lnTo>
                    <a:lnTo>
                      <a:pt x="296" y="54"/>
                    </a:lnTo>
                    <a:lnTo>
                      <a:pt x="299" y="68"/>
                    </a:lnTo>
                    <a:lnTo>
                      <a:pt x="248" y="80"/>
                    </a:lnTo>
                    <a:lnTo>
                      <a:pt x="233" y="71"/>
                    </a:lnTo>
                    <a:lnTo>
                      <a:pt x="207" y="74"/>
                    </a:lnTo>
                    <a:lnTo>
                      <a:pt x="177" y="92"/>
                    </a:lnTo>
                    <a:lnTo>
                      <a:pt x="163" y="93"/>
                    </a:lnTo>
                    <a:lnTo>
                      <a:pt x="152" y="80"/>
                    </a:lnTo>
                    <a:lnTo>
                      <a:pt x="135" y="128"/>
                    </a:lnTo>
                    <a:lnTo>
                      <a:pt x="116" y="129"/>
                    </a:lnTo>
                    <a:lnTo>
                      <a:pt x="108" y="110"/>
                    </a:lnTo>
                    <a:lnTo>
                      <a:pt x="68" y="101"/>
                    </a:lnTo>
                    <a:lnTo>
                      <a:pt x="49" y="87"/>
                    </a:lnTo>
                    <a:lnTo>
                      <a:pt x="16" y="92"/>
                    </a:lnTo>
                    <a:lnTo>
                      <a:pt x="0" y="71"/>
                    </a:lnTo>
                    <a:close/>
                  </a:path>
                </a:pathLst>
              </a:custGeom>
              <a:solidFill>
                <a:schemeClr val="bg1">
                  <a:lumMod val="85000"/>
                </a:schemeClr>
              </a:solidFill>
              <a:ln w="3175">
                <a:solidFill>
                  <a:schemeClr val="bg1"/>
                </a:solidFill>
                <a:prstDash val="solid"/>
                <a:round/>
                <a:headEnd/>
                <a:tailEnd/>
              </a:ln>
            </p:spPr>
            <p:txBody>
              <a:bodyPr/>
              <a:lstStyle>
                <a:defPPr>
                  <a:defRPr lang="en-US"/>
                </a:defPPr>
                <a:lvl1pPr algn="l" defTabSz="509412" rtl="0" fontAlgn="base">
                  <a:spcBef>
                    <a:spcPct val="0"/>
                  </a:spcBef>
                  <a:spcAft>
                    <a:spcPct val="0"/>
                  </a:spcAft>
                  <a:defRPr kern="1200">
                    <a:solidFill>
                      <a:schemeClr val="tx1"/>
                    </a:solidFill>
                    <a:latin typeface="Arial" charset="0"/>
                    <a:ea typeface="ＭＳ Ｐゴシック" charset="-128"/>
                    <a:cs typeface="+mn-cs"/>
                  </a:defRPr>
                </a:lvl1pPr>
                <a:lvl2pPr marL="509412" algn="l" defTabSz="509412" rtl="0" fontAlgn="base">
                  <a:spcBef>
                    <a:spcPct val="0"/>
                  </a:spcBef>
                  <a:spcAft>
                    <a:spcPct val="0"/>
                  </a:spcAft>
                  <a:defRPr kern="1200">
                    <a:solidFill>
                      <a:schemeClr val="tx1"/>
                    </a:solidFill>
                    <a:latin typeface="Arial" charset="0"/>
                    <a:ea typeface="ＭＳ Ｐゴシック" charset="-128"/>
                    <a:cs typeface="+mn-cs"/>
                  </a:defRPr>
                </a:lvl2pPr>
                <a:lvl3pPr marL="1018824" algn="l" defTabSz="509412" rtl="0" fontAlgn="base">
                  <a:spcBef>
                    <a:spcPct val="0"/>
                  </a:spcBef>
                  <a:spcAft>
                    <a:spcPct val="0"/>
                  </a:spcAft>
                  <a:defRPr kern="1200">
                    <a:solidFill>
                      <a:schemeClr val="tx1"/>
                    </a:solidFill>
                    <a:latin typeface="Arial" charset="0"/>
                    <a:ea typeface="ＭＳ Ｐゴシック" charset="-128"/>
                    <a:cs typeface="+mn-cs"/>
                  </a:defRPr>
                </a:lvl3pPr>
                <a:lvl4pPr marL="1528237" algn="l" defTabSz="509412" rtl="0" fontAlgn="base">
                  <a:spcBef>
                    <a:spcPct val="0"/>
                  </a:spcBef>
                  <a:spcAft>
                    <a:spcPct val="0"/>
                  </a:spcAft>
                  <a:defRPr kern="1200">
                    <a:solidFill>
                      <a:schemeClr val="tx1"/>
                    </a:solidFill>
                    <a:latin typeface="Arial" charset="0"/>
                    <a:ea typeface="ＭＳ Ｐゴシック" charset="-128"/>
                    <a:cs typeface="+mn-cs"/>
                  </a:defRPr>
                </a:lvl4pPr>
                <a:lvl5pPr marL="2037649" algn="l" defTabSz="509412" rtl="0" fontAlgn="base">
                  <a:spcBef>
                    <a:spcPct val="0"/>
                  </a:spcBef>
                  <a:spcAft>
                    <a:spcPct val="0"/>
                  </a:spcAft>
                  <a:defRPr kern="1200">
                    <a:solidFill>
                      <a:schemeClr val="tx1"/>
                    </a:solidFill>
                    <a:latin typeface="Arial" charset="0"/>
                    <a:ea typeface="ＭＳ Ｐゴシック" charset="-128"/>
                    <a:cs typeface="+mn-cs"/>
                  </a:defRPr>
                </a:lvl5pPr>
                <a:lvl6pPr marL="2547061" algn="l" defTabSz="1018824" rtl="0" eaLnBrk="1" latinLnBrk="0" hangingPunct="1">
                  <a:defRPr kern="1200">
                    <a:solidFill>
                      <a:schemeClr val="tx1"/>
                    </a:solidFill>
                    <a:latin typeface="Arial" charset="0"/>
                    <a:ea typeface="ＭＳ Ｐゴシック" charset="-128"/>
                    <a:cs typeface="+mn-cs"/>
                  </a:defRPr>
                </a:lvl6pPr>
                <a:lvl7pPr marL="3056473" algn="l" defTabSz="1018824" rtl="0" eaLnBrk="1" latinLnBrk="0" hangingPunct="1">
                  <a:defRPr kern="1200">
                    <a:solidFill>
                      <a:schemeClr val="tx1"/>
                    </a:solidFill>
                    <a:latin typeface="Arial" charset="0"/>
                    <a:ea typeface="ＭＳ Ｐゴシック" charset="-128"/>
                    <a:cs typeface="+mn-cs"/>
                  </a:defRPr>
                </a:lvl7pPr>
                <a:lvl8pPr marL="3565886" algn="l" defTabSz="1018824" rtl="0" eaLnBrk="1" latinLnBrk="0" hangingPunct="1">
                  <a:defRPr kern="1200">
                    <a:solidFill>
                      <a:schemeClr val="tx1"/>
                    </a:solidFill>
                    <a:latin typeface="Arial" charset="0"/>
                    <a:ea typeface="ＭＳ Ｐゴシック" charset="-128"/>
                    <a:cs typeface="+mn-cs"/>
                  </a:defRPr>
                </a:lvl8pPr>
                <a:lvl9pPr marL="4075298" algn="l" defTabSz="1018824" rtl="0" eaLnBrk="1" latinLnBrk="0" hangingPunct="1">
                  <a:defRPr kern="1200">
                    <a:solidFill>
                      <a:schemeClr val="tx1"/>
                    </a:solidFill>
                    <a:latin typeface="Arial" charset="0"/>
                    <a:ea typeface="ＭＳ Ｐゴシック" charset="-128"/>
                    <a:cs typeface="+mn-cs"/>
                  </a:defRPr>
                </a:lvl9pPr>
              </a:lstStyle>
              <a:p>
                <a:endParaRPr lang="en-US" dirty="0"/>
              </a:p>
            </p:txBody>
          </p:sp>
          <p:sp>
            <p:nvSpPr>
              <p:cNvPr id="22" name="Freeform 40">
                <a:extLst>
                  <a:ext uri="{FF2B5EF4-FFF2-40B4-BE49-F238E27FC236}">
                    <a16:creationId xmlns:a16="http://schemas.microsoft.com/office/drawing/2014/main" id="{03605F26-1D54-0D84-AA73-FF84BDA728D3}"/>
                  </a:ext>
                </a:extLst>
              </p:cNvPr>
              <p:cNvSpPr>
                <a:spLocks/>
              </p:cNvSpPr>
              <p:nvPr/>
            </p:nvSpPr>
            <p:spPr bwMode="auto">
              <a:xfrm>
                <a:off x="6060037" y="2355600"/>
                <a:ext cx="654502" cy="873259"/>
              </a:xfrm>
              <a:custGeom>
                <a:avLst/>
                <a:gdLst>
                  <a:gd name="T0" fmla="*/ 54 w 214"/>
                  <a:gd name="T1" fmla="*/ 12 h 290"/>
                  <a:gd name="T2" fmla="*/ 62 w 214"/>
                  <a:gd name="T3" fmla="*/ 30 h 290"/>
                  <a:gd name="T4" fmla="*/ 47 w 214"/>
                  <a:gd name="T5" fmla="*/ 41 h 290"/>
                  <a:gd name="T6" fmla="*/ 46 w 214"/>
                  <a:gd name="T7" fmla="*/ 87 h 290"/>
                  <a:gd name="T8" fmla="*/ 38 w 214"/>
                  <a:gd name="T9" fmla="*/ 57 h 290"/>
                  <a:gd name="T10" fmla="*/ 7 w 214"/>
                  <a:gd name="T11" fmla="*/ 86 h 290"/>
                  <a:gd name="T12" fmla="*/ 0 w 214"/>
                  <a:gd name="T13" fmla="*/ 169 h 290"/>
                  <a:gd name="T14" fmla="*/ 20 w 214"/>
                  <a:gd name="T15" fmla="*/ 210 h 290"/>
                  <a:gd name="T16" fmla="*/ 22 w 214"/>
                  <a:gd name="T17" fmla="*/ 231 h 290"/>
                  <a:gd name="T18" fmla="*/ 23 w 214"/>
                  <a:gd name="T19" fmla="*/ 248 h 290"/>
                  <a:gd name="T20" fmla="*/ 22 w 214"/>
                  <a:gd name="T21" fmla="*/ 263 h 290"/>
                  <a:gd name="T22" fmla="*/ 18 w 214"/>
                  <a:gd name="T23" fmla="*/ 290 h 290"/>
                  <a:gd name="T24" fmla="*/ 102 w 214"/>
                  <a:gd name="T25" fmla="*/ 285 h 290"/>
                  <a:gd name="T26" fmla="*/ 213 w 214"/>
                  <a:gd name="T27" fmla="*/ 275 h 290"/>
                  <a:gd name="T28" fmla="*/ 193 w 214"/>
                  <a:gd name="T29" fmla="*/ 269 h 290"/>
                  <a:gd name="T30" fmla="*/ 182 w 214"/>
                  <a:gd name="T31" fmla="*/ 254 h 290"/>
                  <a:gd name="T32" fmla="*/ 199 w 214"/>
                  <a:gd name="T33" fmla="*/ 241 h 290"/>
                  <a:gd name="T34" fmla="*/ 199 w 214"/>
                  <a:gd name="T35" fmla="*/ 225 h 290"/>
                  <a:gd name="T36" fmla="*/ 191 w 214"/>
                  <a:gd name="T37" fmla="*/ 211 h 290"/>
                  <a:gd name="T38" fmla="*/ 199 w 214"/>
                  <a:gd name="T39" fmla="*/ 201 h 290"/>
                  <a:gd name="T40" fmla="*/ 214 w 214"/>
                  <a:gd name="T41" fmla="*/ 202 h 290"/>
                  <a:gd name="T42" fmla="*/ 211 w 214"/>
                  <a:gd name="T43" fmla="*/ 162 h 290"/>
                  <a:gd name="T44" fmla="*/ 207 w 214"/>
                  <a:gd name="T45" fmla="*/ 138 h 290"/>
                  <a:gd name="T46" fmla="*/ 198 w 214"/>
                  <a:gd name="T47" fmla="*/ 123 h 290"/>
                  <a:gd name="T48" fmla="*/ 189 w 214"/>
                  <a:gd name="T49" fmla="*/ 114 h 290"/>
                  <a:gd name="T50" fmla="*/ 175 w 214"/>
                  <a:gd name="T51" fmla="*/ 111 h 290"/>
                  <a:gd name="T52" fmla="*/ 162 w 214"/>
                  <a:gd name="T53" fmla="*/ 111 h 290"/>
                  <a:gd name="T54" fmla="*/ 148 w 214"/>
                  <a:gd name="T55" fmla="*/ 130 h 290"/>
                  <a:gd name="T56" fmla="*/ 139 w 214"/>
                  <a:gd name="T57" fmla="*/ 136 h 290"/>
                  <a:gd name="T58" fmla="*/ 133 w 214"/>
                  <a:gd name="T59" fmla="*/ 138 h 290"/>
                  <a:gd name="T60" fmla="*/ 126 w 214"/>
                  <a:gd name="T61" fmla="*/ 135 h 290"/>
                  <a:gd name="T62" fmla="*/ 124 w 214"/>
                  <a:gd name="T63" fmla="*/ 126 h 290"/>
                  <a:gd name="T64" fmla="*/ 126 w 214"/>
                  <a:gd name="T65" fmla="*/ 120 h 290"/>
                  <a:gd name="T66" fmla="*/ 132 w 214"/>
                  <a:gd name="T67" fmla="*/ 114 h 290"/>
                  <a:gd name="T68" fmla="*/ 138 w 214"/>
                  <a:gd name="T69" fmla="*/ 111 h 290"/>
                  <a:gd name="T70" fmla="*/ 144 w 214"/>
                  <a:gd name="T71" fmla="*/ 110 h 290"/>
                  <a:gd name="T72" fmla="*/ 144 w 214"/>
                  <a:gd name="T73" fmla="*/ 99 h 290"/>
                  <a:gd name="T74" fmla="*/ 160 w 214"/>
                  <a:gd name="T75" fmla="*/ 87 h 290"/>
                  <a:gd name="T76" fmla="*/ 144 w 214"/>
                  <a:gd name="T77" fmla="*/ 49 h 290"/>
                  <a:gd name="T78" fmla="*/ 144 w 214"/>
                  <a:gd name="T79" fmla="*/ 31 h 290"/>
                  <a:gd name="T80" fmla="*/ 117 w 214"/>
                  <a:gd name="T81" fmla="*/ 24 h 290"/>
                  <a:gd name="T82" fmla="*/ 78 w 214"/>
                  <a:gd name="T83" fmla="*/ 0 h 290"/>
                  <a:gd name="T84" fmla="*/ 54 w 214"/>
                  <a:gd name="T85" fmla="*/ 12 h 29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14"/>
                  <a:gd name="T130" fmla="*/ 0 h 290"/>
                  <a:gd name="T131" fmla="*/ 214 w 214"/>
                  <a:gd name="T132" fmla="*/ 290 h 29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14" h="290">
                    <a:moveTo>
                      <a:pt x="54" y="12"/>
                    </a:moveTo>
                    <a:lnTo>
                      <a:pt x="62" y="30"/>
                    </a:lnTo>
                    <a:lnTo>
                      <a:pt x="47" y="41"/>
                    </a:lnTo>
                    <a:lnTo>
                      <a:pt x="46" y="87"/>
                    </a:lnTo>
                    <a:lnTo>
                      <a:pt x="38" y="57"/>
                    </a:lnTo>
                    <a:lnTo>
                      <a:pt x="7" y="86"/>
                    </a:lnTo>
                    <a:lnTo>
                      <a:pt x="0" y="169"/>
                    </a:lnTo>
                    <a:lnTo>
                      <a:pt x="20" y="210"/>
                    </a:lnTo>
                    <a:lnTo>
                      <a:pt x="22" y="231"/>
                    </a:lnTo>
                    <a:lnTo>
                      <a:pt x="23" y="248"/>
                    </a:lnTo>
                    <a:lnTo>
                      <a:pt x="22" y="263"/>
                    </a:lnTo>
                    <a:lnTo>
                      <a:pt x="18" y="290"/>
                    </a:lnTo>
                    <a:lnTo>
                      <a:pt x="102" y="285"/>
                    </a:lnTo>
                    <a:lnTo>
                      <a:pt x="213" y="275"/>
                    </a:lnTo>
                    <a:lnTo>
                      <a:pt x="193" y="269"/>
                    </a:lnTo>
                    <a:lnTo>
                      <a:pt x="182" y="254"/>
                    </a:lnTo>
                    <a:lnTo>
                      <a:pt x="199" y="241"/>
                    </a:lnTo>
                    <a:lnTo>
                      <a:pt x="199" y="225"/>
                    </a:lnTo>
                    <a:lnTo>
                      <a:pt x="191" y="211"/>
                    </a:lnTo>
                    <a:lnTo>
                      <a:pt x="199" y="201"/>
                    </a:lnTo>
                    <a:lnTo>
                      <a:pt x="214" y="202"/>
                    </a:lnTo>
                    <a:lnTo>
                      <a:pt x="211" y="162"/>
                    </a:lnTo>
                    <a:lnTo>
                      <a:pt x="207" y="138"/>
                    </a:lnTo>
                    <a:lnTo>
                      <a:pt x="198" y="123"/>
                    </a:lnTo>
                    <a:lnTo>
                      <a:pt x="189" y="114"/>
                    </a:lnTo>
                    <a:lnTo>
                      <a:pt x="175" y="111"/>
                    </a:lnTo>
                    <a:lnTo>
                      <a:pt x="162" y="111"/>
                    </a:lnTo>
                    <a:lnTo>
                      <a:pt x="148" y="130"/>
                    </a:lnTo>
                    <a:lnTo>
                      <a:pt x="139" y="136"/>
                    </a:lnTo>
                    <a:lnTo>
                      <a:pt x="133" y="138"/>
                    </a:lnTo>
                    <a:lnTo>
                      <a:pt x="126" y="135"/>
                    </a:lnTo>
                    <a:lnTo>
                      <a:pt x="124" y="126"/>
                    </a:lnTo>
                    <a:lnTo>
                      <a:pt x="126" y="120"/>
                    </a:lnTo>
                    <a:lnTo>
                      <a:pt x="132" y="114"/>
                    </a:lnTo>
                    <a:lnTo>
                      <a:pt x="138" y="111"/>
                    </a:lnTo>
                    <a:lnTo>
                      <a:pt x="144" y="110"/>
                    </a:lnTo>
                    <a:lnTo>
                      <a:pt x="144" y="99"/>
                    </a:lnTo>
                    <a:lnTo>
                      <a:pt x="160" y="87"/>
                    </a:lnTo>
                    <a:lnTo>
                      <a:pt x="144" y="49"/>
                    </a:lnTo>
                    <a:lnTo>
                      <a:pt x="144" y="31"/>
                    </a:lnTo>
                    <a:lnTo>
                      <a:pt x="117" y="24"/>
                    </a:lnTo>
                    <a:lnTo>
                      <a:pt x="78" y="0"/>
                    </a:lnTo>
                    <a:lnTo>
                      <a:pt x="54" y="12"/>
                    </a:lnTo>
                    <a:close/>
                  </a:path>
                </a:pathLst>
              </a:custGeom>
              <a:solidFill>
                <a:schemeClr val="bg1">
                  <a:lumMod val="85000"/>
                </a:schemeClr>
              </a:solidFill>
              <a:ln w="3175">
                <a:solidFill>
                  <a:schemeClr val="bg1"/>
                </a:solidFill>
                <a:prstDash val="solid"/>
                <a:round/>
                <a:headEnd/>
                <a:tailEnd/>
              </a:ln>
            </p:spPr>
            <p:txBody>
              <a:bodyPr/>
              <a:lstStyle>
                <a:defPPr>
                  <a:defRPr lang="en-US"/>
                </a:defPPr>
                <a:lvl1pPr algn="l" defTabSz="509412" rtl="0" fontAlgn="base">
                  <a:spcBef>
                    <a:spcPct val="0"/>
                  </a:spcBef>
                  <a:spcAft>
                    <a:spcPct val="0"/>
                  </a:spcAft>
                  <a:defRPr kern="1200">
                    <a:solidFill>
                      <a:schemeClr val="tx1"/>
                    </a:solidFill>
                    <a:latin typeface="Arial" charset="0"/>
                    <a:ea typeface="ＭＳ Ｐゴシック" charset="-128"/>
                    <a:cs typeface="+mn-cs"/>
                  </a:defRPr>
                </a:lvl1pPr>
                <a:lvl2pPr marL="509412" algn="l" defTabSz="509412" rtl="0" fontAlgn="base">
                  <a:spcBef>
                    <a:spcPct val="0"/>
                  </a:spcBef>
                  <a:spcAft>
                    <a:spcPct val="0"/>
                  </a:spcAft>
                  <a:defRPr kern="1200">
                    <a:solidFill>
                      <a:schemeClr val="tx1"/>
                    </a:solidFill>
                    <a:latin typeface="Arial" charset="0"/>
                    <a:ea typeface="ＭＳ Ｐゴシック" charset="-128"/>
                    <a:cs typeface="+mn-cs"/>
                  </a:defRPr>
                </a:lvl2pPr>
                <a:lvl3pPr marL="1018824" algn="l" defTabSz="509412" rtl="0" fontAlgn="base">
                  <a:spcBef>
                    <a:spcPct val="0"/>
                  </a:spcBef>
                  <a:spcAft>
                    <a:spcPct val="0"/>
                  </a:spcAft>
                  <a:defRPr kern="1200">
                    <a:solidFill>
                      <a:schemeClr val="tx1"/>
                    </a:solidFill>
                    <a:latin typeface="Arial" charset="0"/>
                    <a:ea typeface="ＭＳ Ｐゴシック" charset="-128"/>
                    <a:cs typeface="+mn-cs"/>
                  </a:defRPr>
                </a:lvl3pPr>
                <a:lvl4pPr marL="1528237" algn="l" defTabSz="509412" rtl="0" fontAlgn="base">
                  <a:spcBef>
                    <a:spcPct val="0"/>
                  </a:spcBef>
                  <a:spcAft>
                    <a:spcPct val="0"/>
                  </a:spcAft>
                  <a:defRPr kern="1200">
                    <a:solidFill>
                      <a:schemeClr val="tx1"/>
                    </a:solidFill>
                    <a:latin typeface="Arial" charset="0"/>
                    <a:ea typeface="ＭＳ Ｐゴシック" charset="-128"/>
                    <a:cs typeface="+mn-cs"/>
                  </a:defRPr>
                </a:lvl4pPr>
                <a:lvl5pPr marL="2037649" algn="l" defTabSz="509412" rtl="0" fontAlgn="base">
                  <a:spcBef>
                    <a:spcPct val="0"/>
                  </a:spcBef>
                  <a:spcAft>
                    <a:spcPct val="0"/>
                  </a:spcAft>
                  <a:defRPr kern="1200">
                    <a:solidFill>
                      <a:schemeClr val="tx1"/>
                    </a:solidFill>
                    <a:latin typeface="Arial" charset="0"/>
                    <a:ea typeface="ＭＳ Ｐゴシック" charset="-128"/>
                    <a:cs typeface="+mn-cs"/>
                  </a:defRPr>
                </a:lvl5pPr>
                <a:lvl6pPr marL="2547061" algn="l" defTabSz="1018824" rtl="0" eaLnBrk="1" latinLnBrk="0" hangingPunct="1">
                  <a:defRPr kern="1200">
                    <a:solidFill>
                      <a:schemeClr val="tx1"/>
                    </a:solidFill>
                    <a:latin typeface="Arial" charset="0"/>
                    <a:ea typeface="ＭＳ Ｐゴシック" charset="-128"/>
                    <a:cs typeface="+mn-cs"/>
                  </a:defRPr>
                </a:lvl6pPr>
                <a:lvl7pPr marL="3056473" algn="l" defTabSz="1018824" rtl="0" eaLnBrk="1" latinLnBrk="0" hangingPunct="1">
                  <a:defRPr kern="1200">
                    <a:solidFill>
                      <a:schemeClr val="tx1"/>
                    </a:solidFill>
                    <a:latin typeface="Arial" charset="0"/>
                    <a:ea typeface="ＭＳ Ｐゴシック" charset="-128"/>
                    <a:cs typeface="+mn-cs"/>
                  </a:defRPr>
                </a:lvl7pPr>
                <a:lvl8pPr marL="3565886" algn="l" defTabSz="1018824" rtl="0" eaLnBrk="1" latinLnBrk="0" hangingPunct="1">
                  <a:defRPr kern="1200">
                    <a:solidFill>
                      <a:schemeClr val="tx1"/>
                    </a:solidFill>
                    <a:latin typeface="Arial" charset="0"/>
                    <a:ea typeface="ＭＳ Ｐゴシック" charset="-128"/>
                    <a:cs typeface="+mn-cs"/>
                  </a:defRPr>
                </a:lvl8pPr>
                <a:lvl9pPr marL="4075298" algn="l" defTabSz="1018824" rtl="0" eaLnBrk="1" latinLnBrk="0" hangingPunct="1">
                  <a:defRPr kern="1200">
                    <a:solidFill>
                      <a:schemeClr val="tx1"/>
                    </a:solidFill>
                    <a:latin typeface="Arial" charset="0"/>
                    <a:ea typeface="ＭＳ Ｐゴシック" charset="-128"/>
                    <a:cs typeface="+mn-cs"/>
                  </a:defRPr>
                </a:lvl9pPr>
              </a:lstStyle>
              <a:p>
                <a:endParaRPr lang="en-US" dirty="0"/>
              </a:p>
            </p:txBody>
          </p:sp>
        </p:grpSp>
      </p:grpSp>
      <p:sp>
        <p:nvSpPr>
          <p:cNvPr id="23" name="Freeform 43">
            <a:extLst>
              <a:ext uri="{FF2B5EF4-FFF2-40B4-BE49-F238E27FC236}">
                <a16:creationId xmlns:a16="http://schemas.microsoft.com/office/drawing/2014/main" id="{2604AD10-60E7-E744-31A7-9CCAD016EAB8}"/>
              </a:ext>
            </a:extLst>
          </p:cNvPr>
          <p:cNvSpPr>
            <a:spLocks noChangeAspect="1"/>
          </p:cNvSpPr>
          <p:nvPr/>
        </p:nvSpPr>
        <p:spPr bwMode="auto">
          <a:xfrm>
            <a:off x="2151024" y="5348876"/>
            <a:ext cx="242632" cy="383552"/>
          </a:xfrm>
          <a:custGeom>
            <a:avLst/>
            <a:gdLst>
              <a:gd name="T0" fmla="*/ 0 w 180"/>
              <a:gd name="T1" fmla="*/ 21 h 296"/>
              <a:gd name="T2" fmla="*/ 21 w 180"/>
              <a:gd name="T3" fmla="*/ 32 h 296"/>
              <a:gd name="T4" fmla="*/ 41 w 180"/>
              <a:gd name="T5" fmla="*/ 30 h 296"/>
              <a:gd name="T6" fmla="*/ 48 w 180"/>
              <a:gd name="T7" fmla="*/ 24 h 296"/>
              <a:gd name="T8" fmla="*/ 53 w 180"/>
              <a:gd name="T9" fmla="*/ 6 h 296"/>
              <a:gd name="T10" fmla="*/ 140 w 180"/>
              <a:gd name="T11" fmla="*/ 0 h 296"/>
              <a:gd name="T12" fmla="*/ 180 w 180"/>
              <a:gd name="T13" fmla="*/ 209 h 296"/>
              <a:gd name="T14" fmla="*/ 177 w 180"/>
              <a:gd name="T15" fmla="*/ 207 h 296"/>
              <a:gd name="T16" fmla="*/ 147 w 180"/>
              <a:gd name="T17" fmla="*/ 219 h 296"/>
              <a:gd name="T18" fmla="*/ 126 w 180"/>
              <a:gd name="T19" fmla="*/ 275 h 296"/>
              <a:gd name="T20" fmla="*/ 95 w 180"/>
              <a:gd name="T21" fmla="*/ 267 h 296"/>
              <a:gd name="T22" fmla="*/ 59 w 180"/>
              <a:gd name="T23" fmla="*/ 288 h 296"/>
              <a:gd name="T24" fmla="*/ 12 w 180"/>
              <a:gd name="T25" fmla="*/ 296 h 296"/>
              <a:gd name="T26" fmla="*/ 33 w 180"/>
              <a:gd name="T27" fmla="*/ 241 h 296"/>
              <a:gd name="T28" fmla="*/ 24 w 180"/>
              <a:gd name="T29" fmla="*/ 210 h 296"/>
              <a:gd name="T30" fmla="*/ 0 w 180"/>
              <a:gd name="T31" fmla="*/ 21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0"/>
              <a:gd name="T49" fmla="*/ 0 h 296"/>
              <a:gd name="T50" fmla="*/ 180 w 180"/>
              <a:gd name="T51" fmla="*/ 296 h 29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0" h="296">
                <a:moveTo>
                  <a:pt x="0" y="21"/>
                </a:moveTo>
                <a:lnTo>
                  <a:pt x="21" y="32"/>
                </a:lnTo>
                <a:lnTo>
                  <a:pt x="41" y="30"/>
                </a:lnTo>
                <a:lnTo>
                  <a:pt x="48" y="24"/>
                </a:lnTo>
                <a:lnTo>
                  <a:pt x="53" y="6"/>
                </a:lnTo>
                <a:lnTo>
                  <a:pt x="140" y="0"/>
                </a:lnTo>
                <a:lnTo>
                  <a:pt x="180" y="209"/>
                </a:lnTo>
                <a:lnTo>
                  <a:pt x="177" y="207"/>
                </a:lnTo>
                <a:lnTo>
                  <a:pt x="147" y="219"/>
                </a:lnTo>
                <a:lnTo>
                  <a:pt x="126" y="275"/>
                </a:lnTo>
                <a:lnTo>
                  <a:pt x="95" y="267"/>
                </a:lnTo>
                <a:lnTo>
                  <a:pt x="59" y="288"/>
                </a:lnTo>
                <a:lnTo>
                  <a:pt x="12" y="296"/>
                </a:lnTo>
                <a:lnTo>
                  <a:pt x="33" y="241"/>
                </a:lnTo>
                <a:lnTo>
                  <a:pt x="24" y="210"/>
                </a:lnTo>
                <a:lnTo>
                  <a:pt x="0" y="21"/>
                </a:lnTo>
                <a:close/>
              </a:path>
            </a:pathLst>
          </a:custGeom>
          <a:solidFill>
            <a:schemeClr val="bg1">
              <a:lumMod val="85000"/>
            </a:schemeClr>
          </a:solidFill>
          <a:ln w="3175">
            <a:solidFill>
              <a:schemeClr val="bg1"/>
            </a:solidFill>
            <a:prstDash val="solid"/>
            <a:round/>
            <a:headEnd/>
            <a:tailEnd/>
          </a:ln>
        </p:spPr>
        <p:txBody>
          <a:bodyPr/>
          <a:lstStyle>
            <a:defPPr>
              <a:defRPr lang="en-US"/>
            </a:defPPr>
            <a:lvl1pPr algn="l" defTabSz="509412" rtl="0" fontAlgn="base">
              <a:spcBef>
                <a:spcPct val="0"/>
              </a:spcBef>
              <a:spcAft>
                <a:spcPct val="0"/>
              </a:spcAft>
              <a:defRPr kern="1200">
                <a:solidFill>
                  <a:schemeClr val="tx1"/>
                </a:solidFill>
                <a:latin typeface="Arial" charset="0"/>
                <a:ea typeface="ＭＳ Ｐゴシック" charset="-128"/>
                <a:cs typeface="+mn-cs"/>
              </a:defRPr>
            </a:lvl1pPr>
            <a:lvl2pPr marL="509412" algn="l" defTabSz="509412" rtl="0" fontAlgn="base">
              <a:spcBef>
                <a:spcPct val="0"/>
              </a:spcBef>
              <a:spcAft>
                <a:spcPct val="0"/>
              </a:spcAft>
              <a:defRPr kern="1200">
                <a:solidFill>
                  <a:schemeClr val="tx1"/>
                </a:solidFill>
                <a:latin typeface="Arial" charset="0"/>
                <a:ea typeface="ＭＳ Ｐゴシック" charset="-128"/>
                <a:cs typeface="+mn-cs"/>
              </a:defRPr>
            </a:lvl2pPr>
            <a:lvl3pPr marL="1018824" algn="l" defTabSz="509412" rtl="0" fontAlgn="base">
              <a:spcBef>
                <a:spcPct val="0"/>
              </a:spcBef>
              <a:spcAft>
                <a:spcPct val="0"/>
              </a:spcAft>
              <a:defRPr kern="1200">
                <a:solidFill>
                  <a:schemeClr val="tx1"/>
                </a:solidFill>
                <a:latin typeface="Arial" charset="0"/>
                <a:ea typeface="ＭＳ Ｐゴシック" charset="-128"/>
                <a:cs typeface="+mn-cs"/>
              </a:defRPr>
            </a:lvl3pPr>
            <a:lvl4pPr marL="1528237" algn="l" defTabSz="509412" rtl="0" fontAlgn="base">
              <a:spcBef>
                <a:spcPct val="0"/>
              </a:spcBef>
              <a:spcAft>
                <a:spcPct val="0"/>
              </a:spcAft>
              <a:defRPr kern="1200">
                <a:solidFill>
                  <a:schemeClr val="tx1"/>
                </a:solidFill>
                <a:latin typeface="Arial" charset="0"/>
                <a:ea typeface="ＭＳ Ｐゴシック" charset="-128"/>
                <a:cs typeface="+mn-cs"/>
              </a:defRPr>
            </a:lvl4pPr>
            <a:lvl5pPr marL="2037649" algn="l" defTabSz="509412" rtl="0" fontAlgn="base">
              <a:spcBef>
                <a:spcPct val="0"/>
              </a:spcBef>
              <a:spcAft>
                <a:spcPct val="0"/>
              </a:spcAft>
              <a:defRPr kern="1200">
                <a:solidFill>
                  <a:schemeClr val="tx1"/>
                </a:solidFill>
                <a:latin typeface="Arial" charset="0"/>
                <a:ea typeface="ＭＳ Ｐゴシック" charset="-128"/>
                <a:cs typeface="+mn-cs"/>
              </a:defRPr>
            </a:lvl5pPr>
            <a:lvl6pPr marL="2547061" algn="l" defTabSz="1018824" rtl="0" eaLnBrk="1" latinLnBrk="0" hangingPunct="1">
              <a:defRPr kern="1200">
                <a:solidFill>
                  <a:schemeClr val="tx1"/>
                </a:solidFill>
                <a:latin typeface="Arial" charset="0"/>
                <a:ea typeface="ＭＳ Ｐゴシック" charset="-128"/>
                <a:cs typeface="+mn-cs"/>
              </a:defRPr>
            </a:lvl6pPr>
            <a:lvl7pPr marL="3056473" algn="l" defTabSz="1018824" rtl="0" eaLnBrk="1" latinLnBrk="0" hangingPunct="1">
              <a:defRPr kern="1200">
                <a:solidFill>
                  <a:schemeClr val="tx1"/>
                </a:solidFill>
                <a:latin typeface="Arial" charset="0"/>
                <a:ea typeface="ＭＳ Ｐゴシック" charset="-128"/>
                <a:cs typeface="+mn-cs"/>
              </a:defRPr>
            </a:lvl7pPr>
            <a:lvl8pPr marL="3565886" algn="l" defTabSz="1018824" rtl="0" eaLnBrk="1" latinLnBrk="0" hangingPunct="1">
              <a:defRPr kern="1200">
                <a:solidFill>
                  <a:schemeClr val="tx1"/>
                </a:solidFill>
                <a:latin typeface="Arial" charset="0"/>
                <a:ea typeface="ＭＳ Ｐゴシック" charset="-128"/>
                <a:cs typeface="+mn-cs"/>
              </a:defRPr>
            </a:lvl8pPr>
            <a:lvl9pPr marL="4075298" algn="l" defTabSz="1018824" rtl="0" eaLnBrk="1" latinLnBrk="0" hangingPunct="1">
              <a:defRPr kern="1200">
                <a:solidFill>
                  <a:schemeClr val="tx1"/>
                </a:solidFill>
                <a:latin typeface="Arial" charset="0"/>
                <a:ea typeface="ＭＳ Ｐゴシック" charset="-128"/>
                <a:cs typeface="+mn-cs"/>
              </a:defRPr>
            </a:lvl9pPr>
          </a:lstStyle>
          <a:p>
            <a:endParaRPr lang="en-US" dirty="0"/>
          </a:p>
        </p:txBody>
      </p:sp>
      <p:sp>
        <p:nvSpPr>
          <p:cNvPr id="24" name="Rectangle 23">
            <a:extLst>
              <a:ext uri="{FF2B5EF4-FFF2-40B4-BE49-F238E27FC236}">
                <a16:creationId xmlns:a16="http://schemas.microsoft.com/office/drawing/2014/main" id="{DF6C0B78-C0B9-8B70-B46A-755872AF6792}"/>
              </a:ext>
            </a:extLst>
          </p:cNvPr>
          <p:cNvSpPr/>
          <p:nvPr/>
        </p:nvSpPr>
        <p:spPr bwMode="auto">
          <a:xfrm>
            <a:off x="461113" y="6156847"/>
            <a:ext cx="124691" cy="124691"/>
          </a:xfrm>
          <a:prstGeom prst="rect">
            <a:avLst/>
          </a:prstGeom>
          <a:solidFill>
            <a:srgbClr val="207293"/>
          </a:solidFill>
          <a:ln w="9525"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defTabSz="914400" eaLnBrk="0" fontAlgn="base" hangingPunct="0">
              <a:spcBef>
                <a:spcPct val="0"/>
              </a:spcBef>
              <a:spcAft>
                <a:spcPct val="75000"/>
              </a:spcAft>
              <a:buClr>
                <a:srgbClr val="033F5E"/>
              </a:buClr>
              <a:buFont typeface="Wingdings" pitchFamily="2" charset="2"/>
              <a:buNone/>
            </a:pPr>
            <a:endParaRPr lang="en-US" sz="1200" b="1" dirty="0">
              <a:solidFill>
                <a:srgbClr val="151515"/>
              </a:solidFill>
              <a:latin typeface="Arial" panose="020B0604020202020204" pitchFamily="34" charset="0"/>
            </a:endParaRPr>
          </a:p>
        </p:txBody>
      </p:sp>
      <p:sp>
        <p:nvSpPr>
          <p:cNvPr id="25" name="TextBox 24">
            <a:extLst>
              <a:ext uri="{FF2B5EF4-FFF2-40B4-BE49-F238E27FC236}">
                <a16:creationId xmlns:a16="http://schemas.microsoft.com/office/drawing/2014/main" id="{6F957013-F696-62E1-0066-DB4B52A01953}"/>
              </a:ext>
            </a:extLst>
          </p:cNvPr>
          <p:cNvSpPr txBox="1"/>
          <p:nvPr/>
        </p:nvSpPr>
        <p:spPr>
          <a:xfrm>
            <a:off x="564584" y="6118389"/>
            <a:ext cx="872410" cy="209847"/>
          </a:xfrm>
          <a:prstGeom prst="rect">
            <a:avLst/>
          </a:prstGeom>
          <a:noFill/>
        </p:spPr>
        <p:txBody>
          <a:bodyPr wrap="square" lIns="45720" rIns="45720" rtlCol="0">
            <a:spAutoFit/>
          </a:bodyPr>
          <a:lstStyle/>
          <a:p>
            <a:pPr marL="0" marR="0" lvl="0" indent="0" defTabSz="1018824"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51515"/>
                </a:solidFill>
                <a:effectLst/>
                <a:uLnTx/>
                <a:uFillTx/>
              </a:rPr>
              <a:t>Commercial</a:t>
            </a:r>
          </a:p>
        </p:txBody>
      </p:sp>
      <p:sp>
        <p:nvSpPr>
          <p:cNvPr id="26" name="Rectangle 25">
            <a:extLst>
              <a:ext uri="{FF2B5EF4-FFF2-40B4-BE49-F238E27FC236}">
                <a16:creationId xmlns:a16="http://schemas.microsoft.com/office/drawing/2014/main" id="{189203A6-739C-D8F4-0130-F30F20CB393D}"/>
              </a:ext>
            </a:extLst>
          </p:cNvPr>
          <p:cNvSpPr/>
          <p:nvPr/>
        </p:nvSpPr>
        <p:spPr bwMode="auto">
          <a:xfrm>
            <a:off x="461113" y="6346900"/>
            <a:ext cx="124691" cy="124691"/>
          </a:xfrm>
          <a:prstGeom prst="rect">
            <a:avLst/>
          </a:prstGeom>
          <a:solidFill>
            <a:srgbClr val="0C7C59"/>
          </a:solidFill>
          <a:ln w="9525"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defTabSz="914400" eaLnBrk="0" fontAlgn="base" hangingPunct="0">
              <a:spcBef>
                <a:spcPct val="0"/>
              </a:spcBef>
              <a:spcAft>
                <a:spcPct val="75000"/>
              </a:spcAft>
              <a:buClr>
                <a:srgbClr val="033F5E"/>
              </a:buClr>
              <a:buFont typeface="Wingdings" pitchFamily="2" charset="2"/>
              <a:buNone/>
            </a:pPr>
            <a:endParaRPr lang="en-US" sz="1200" b="1" dirty="0">
              <a:solidFill>
                <a:srgbClr val="151515"/>
              </a:solidFill>
              <a:latin typeface="Arial" panose="020B0604020202020204" pitchFamily="34" charset="0"/>
            </a:endParaRPr>
          </a:p>
        </p:txBody>
      </p:sp>
      <p:sp>
        <p:nvSpPr>
          <p:cNvPr id="27" name="TextBox 26">
            <a:extLst>
              <a:ext uri="{FF2B5EF4-FFF2-40B4-BE49-F238E27FC236}">
                <a16:creationId xmlns:a16="http://schemas.microsoft.com/office/drawing/2014/main" id="{5DA773F5-560F-2D69-C12D-92D96FD2010C}"/>
              </a:ext>
            </a:extLst>
          </p:cNvPr>
          <p:cNvSpPr txBox="1"/>
          <p:nvPr/>
        </p:nvSpPr>
        <p:spPr>
          <a:xfrm>
            <a:off x="564584" y="6308442"/>
            <a:ext cx="872410" cy="209847"/>
          </a:xfrm>
          <a:prstGeom prst="rect">
            <a:avLst/>
          </a:prstGeom>
          <a:noFill/>
        </p:spPr>
        <p:txBody>
          <a:bodyPr wrap="square" lIns="45720" rIns="45720" rtlCol="0">
            <a:spAutoFit/>
          </a:bodyPr>
          <a:lstStyle/>
          <a:p>
            <a:pPr marL="0" marR="0" lvl="0" indent="0" defTabSz="1018824"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51515"/>
                </a:solidFill>
                <a:effectLst/>
                <a:uLnTx/>
                <a:uFillTx/>
              </a:rPr>
              <a:t>Government</a:t>
            </a:r>
          </a:p>
        </p:txBody>
      </p:sp>
      <p:sp>
        <p:nvSpPr>
          <p:cNvPr id="28" name="Rectangle 27">
            <a:extLst>
              <a:ext uri="{FF2B5EF4-FFF2-40B4-BE49-F238E27FC236}">
                <a16:creationId xmlns:a16="http://schemas.microsoft.com/office/drawing/2014/main" id="{1E7631E9-C0A2-F39E-CA24-D882203983EF}"/>
              </a:ext>
            </a:extLst>
          </p:cNvPr>
          <p:cNvSpPr/>
          <p:nvPr/>
        </p:nvSpPr>
        <p:spPr bwMode="auto">
          <a:xfrm>
            <a:off x="1290772" y="6156847"/>
            <a:ext cx="124691" cy="124691"/>
          </a:xfrm>
          <a:prstGeom prst="rect">
            <a:avLst/>
          </a:prstGeom>
          <a:solidFill>
            <a:srgbClr val="5EB5BD"/>
          </a:solidFill>
          <a:ln w="9525"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defTabSz="914400" eaLnBrk="0" fontAlgn="base" hangingPunct="0">
              <a:spcBef>
                <a:spcPct val="0"/>
              </a:spcBef>
              <a:spcAft>
                <a:spcPct val="75000"/>
              </a:spcAft>
              <a:buClr>
                <a:srgbClr val="033F5E"/>
              </a:buClr>
              <a:buFont typeface="Wingdings" pitchFamily="2" charset="2"/>
              <a:buNone/>
            </a:pPr>
            <a:endParaRPr lang="en-US" sz="1200" b="1" dirty="0">
              <a:solidFill>
                <a:srgbClr val="151515"/>
              </a:solidFill>
              <a:latin typeface="Arial" panose="020B0604020202020204" pitchFamily="34" charset="0"/>
            </a:endParaRPr>
          </a:p>
        </p:txBody>
      </p:sp>
      <p:sp>
        <p:nvSpPr>
          <p:cNvPr id="29" name="TextBox 28">
            <a:extLst>
              <a:ext uri="{FF2B5EF4-FFF2-40B4-BE49-F238E27FC236}">
                <a16:creationId xmlns:a16="http://schemas.microsoft.com/office/drawing/2014/main" id="{2D15C3ED-37C4-C879-06CF-886E7C6180B6}"/>
              </a:ext>
            </a:extLst>
          </p:cNvPr>
          <p:cNvSpPr txBox="1"/>
          <p:nvPr/>
        </p:nvSpPr>
        <p:spPr>
          <a:xfrm>
            <a:off x="1394244" y="6118389"/>
            <a:ext cx="850154" cy="209847"/>
          </a:xfrm>
          <a:prstGeom prst="rect">
            <a:avLst/>
          </a:prstGeom>
          <a:noFill/>
        </p:spPr>
        <p:txBody>
          <a:bodyPr wrap="square" lIns="45720" rIns="45720" rtlCol="0">
            <a:spAutoFit/>
          </a:bodyPr>
          <a:lstStyle/>
          <a:p>
            <a:pPr marL="0" marR="0" lvl="0" indent="0" defTabSz="1018824"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51515"/>
                </a:solidFill>
                <a:effectLst/>
                <a:uLnTx/>
                <a:uFillTx/>
              </a:rPr>
              <a:t>Workers Comp</a:t>
            </a:r>
          </a:p>
        </p:txBody>
      </p:sp>
      <p:sp>
        <p:nvSpPr>
          <p:cNvPr id="30" name="Rectangle 29">
            <a:extLst>
              <a:ext uri="{FF2B5EF4-FFF2-40B4-BE49-F238E27FC236}">
                <a16:creationId xmlns:a16="http://schemas.microsoft.com/office/drawing/2014/main" id="{97204DD5-E3CE-529B-7E8B-7A02CD78E1A0}"/>
              </a:ext>
            </a:extLst>
          </p:cNvPr>
          <p:cNvSpPr/>
          <p:nvPr/>
        </p:nvSpPr>
        <p:spPr bwMode="auto">
          <a:xfrm>
            <a:off x="1290772" y="6346900"/>
            <a:ext cx="124691" cy="124691"/>
          </a:xfrm>
          <a:prstGeom prst="rect">
            <a:avLst/>
          </a:prstGeom>
          <a:solidFill>
            <a:srgbClr val="F3CB56"/>
          </a:solidFill>
          <a:ln w="9525"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defTabSz="914400" eaLnBrk="0" fontAlgn="base" hangingPunct="0">
              <a:spcBef>
                <a:spcPct val="0"/>
              </a:spcBef>
              <a:spcAft>
                <a:spcPct val="75000"/>
              </a:spcAft>
              <a:buClr>
                <a:srgbClr val="033F5E"/>
              </a:buClr>
              <a:buFont typeface="Wingdings" pitchFamily="2" charset="2"/>
              <a:buNone/>
            </a:pPr>
            <a:endParaRPr kumimoji="0" lang="en-US" sz="1200" b="1" i="0" u="none" strike="noStrike" kern="0" cap="none" spc="0" normalizeH="0" baseline="0" noProof="0" dirty="0">
              <a:ln>
                <a:noFill/>
              </a:ln>
              <a:solidFill>
                <a:srgbClr val="151515"/>
              </a:solidFill>
              <a:effectLst/>
              <a:highlight>
                <a:srgbClr val="F3CB56"/>
              </a:highlight>
              <a:uLnTx/>
              <a:uFillTx/>
              <a:latin typeface="Arial" panose="020B0604020202020204" pitchFamily="34" charset="0"/>
            </a:endParaRPr>
          </a:p>
        </p:txBody>
      </p:sp>
      <p:sp>
        <p:nvSpPr>
          <p:cNvPr id="31" name="TextBox 30">
            <a:extLst>
              <a:ext uri="{FF2B5EF4-FFF2-40B4-BE49-F238E27FC236}">
                <a16:creationId xmlns:a16="http://schemas.microsoft.com/office/drawing/2014/main" id="{4F35B220-A23E-02B5-877F-7AA194ACD006}"/>
              </a:ext>
            </a:extLst>
          </p:cNvPr>
          <p:cNvSpPr txBox="1"/>
          <p:nvPr/>
        </p:nvSpPr>
        <p:spPr>
          <a:xfrm>
            <a:off x="1394243" y="6308442"/>
            <a:ext cx="872410" cy="209847"/>
          </a:xfrm>
          <a:prstGeom prst="rect">
            <a:avLst/>
          </a:prstGeom>
          <a:noFill/>
        </p:spPr>
        <p:txBody>
          <a:bodyPr wrap="square" lIns="45720" rIns="45720" rtlCol="0">
            <a:spAutoFit/>
          </a:bodyPr>
          <a:lstStyle/>
          <a:p>
            <a:pPr marL="0" marR="0" lvl="0" indent="0" defTabSz="1018824"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51515"/>
                </a:solidFill>
                <a:effectLst/>
                <a:uLnTx/>
                <a:uFillTx/>
              </a:rPr>
              <a:t>Self Pay</a:t>
            </a:r>
          </a:p>
        </p:txBody>
      </p:sp>
      <p:sp>
        <p:nvSpPr>
          <p:cNvPr id="32" name="Rectangle 31">
            <a:extLst>
              <a:ext uri="{FF2B5EF4-FFF2-40B4-BE49-F238E27FC236}">
                <a16:creationId xmlns:a16="http://schemas.microsoft.com/office/drawing/2014/main" id="{C661266C-8FC4-70CC-927F-113A284F66DE}"/>
              </a:ext>
            </a:extLst>
          </p:cNvPr>
          <p:cNvSpPr/>
          <p:nvPr/>
        </p:nvSpPr>
        <p:spPr bwMode="auto">
          <a:xfrm>
            <a:off x="2748606" y="6162456"/>
            <a:ext cx="124691" cy="124691"/>
          </a:xfrm>
          <a:prstGeom prst="rect">
            <a:avLst/>
          </a:prstGeom>
          <a:solidFill>
            <a:srgbClr val="207293"/>
          </a:solidFill>
          <a:ln w="9525"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defTabSz="914400" eaLnBrk="0" fontAlgn="base" hangingPunct="0">
              <a:spcBef>
                <a:spcPct val="0"/>
              </a:spcBef>
              <a:spcAft>
                <a:spcPct val="75000"/>
              </a:spcAft>
              <a:buClr>
                <a:srgbClr val="033F5E"/>
              </a:buClr>
              <a:buFont typeface="Wingdings" pitchFamily="2" charset="2"/>
              <a:buNone/>
            </a:pPr>
            <a:endParaRPr lang="en-US" sz="1200" b="1" dirty="0">
              <a:solidFill>
                <a:srgbClr val="151515"/>
              </a:solidFill>
              <a:latin typeface="Arial" panose="020B0604020202020204" pitchFamily="34" charset="0"/>
            </a:endParaRPr>
          </a:p>
        </p:txBody>
      </p:sp>
      <p:sp>
        <p:nvSpPr>
          <p:cNvPr id="33" name="TextBox 32">
            <a:extLst>
              <a:ext uri="{FF2B5EF4-FFF2-40B4-BE49-F238E27FC236}">
                <a16:creationId xmlns:a16="http://schemas.microsoft.com/office/drawing/2014/main" id="{F6438550-8867-1A88-808F-6BF52B97AFCB}"/>
              </a:ext>
            </a:extLst>
          </p:cNvPr>
          <p:cNvSpPr txBox="1"/>
          <p:nvPr/>
        </p:nvSpPr>
        <p:spPr>
          <a:xfrm>
            <a:off x="2852077" y="6123998"/>
            <a:ext cx="1280160" cy="209847"/>
          </a:xfrm>
          <a:prstGeom prst="rect">
            <a:avLst/>
          </a:prstGeom>
          <a:noFill/>
        </p:spPr>
        <p:txBody>
          <a:bodyPr wrap="square" lIns="45720" rIns="45720" rtlCol="0">
            <a:spAutoFit/>
          </a:bodyPr>
          <a:lstStyle/>
          <a:p>
            <a:pPr marL="0" marR="0" lvl="0" indent="0" defTabSz="1018824"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51515"/>
                </a:solidFill>
                <a:effectLst/>
                <a:uLnTx/>
                <a:uFillTx/>
              </a:rPr>
              <a:t>Commercial (BCBS)</a:t>
            </a:r>
          </a:p>
        </p:txBody>
      </p:sp>
      <p:sp>
        <p:nvSpPr>
          <p:cNvPr id="34" name="Rectangle 33">
            <a:extLst>
              <a:ext uri="{FF2B5EF4-FFF2-40B4-BE49-F238E27FC236}">
                <a16:creationId xmlns:a16="http://schemas.microsoft.com/office/drawing/2014/main" id="{3270B6A4-BB58-A2DA-2239-98C06F67F7A1}"/>
              </a:ext>
            </a:extLst>
          </p:cNvPr>
          <p:cNvSpPr/>
          <p:nvPr/>
        </p:nvSpPr>
        <p:spPr bwMode="auto">
          <a:xfrm>
            <a:off x="2748606" y="6352509"/>
            <a:ext cx="124691" cy="124691"/>
          </a:xfrm>
          <a:prstGeom prst="rect">
            <a:avLst/>
          </a:prstGeom>
          <a:solidFill>
            <a:srgbClr val="BB7353"/>
          </a:solidFill>
          <a:ln w="9525"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defTabSz="914400" eaLnBrk="0" fontAlgn="base" hangingPunct="0">
              <a:spcBef>
                <a:spcPct val="0"/>
              </a:spcBef>
              <a:spcAft>
                <a:spcPct val="75000"/>
              </a:spcAft>
              <a:buClr>
                <a:srgbClr val="033F5E"/>
              </a:buClr>
              <a:buFont typeface="Wingdings" pitchFamily="2" charset="2"/>
              <a:buNone/>
            </a:pPr>
            <a:endParaRPr lang="en-US" sz="1200" b="1" dirty="0">
              <a:solidFill>
                <a:srgbClr val="151515"/>
              </a:solidFill>
              <a:latin typeface="Arial" panose="020B0604020202020204" pitchFamily="34" charset="0"/>
            </a:endParaRPr>
          </a:p>
        </p:txBody>
      </p:sp>
      <p:sp>
        <p:nvSpPr>
          <p:cNvPr id="35" name="TextBox 34">
            <a:extLst>
              <a:ext uri="{FF2B5EF4-FFF2-40B4-BE49-F238E27FC236}">
                <a16:creationId xmlns:a16="http://schemas.microsoft.com/office/drawing/2014/main" id="{3C516700-F3F7-03FE-8CB6-8F21B6DBF8E2}"/>
              </a:ext>
            </a:extLst>
          </p:cNvPr>
          <p:cNvSpPr txBox="1"/>
          <p:nvPr/>
        </p:nvSpPr>
        <p:spPr>
          <a:xfrm>
            <a:off x="2852077" y="6314051"/>
            <a:ext cx="1280160" cy="209847"/>
          </a:xfrm>
          <a:prstGeom prst="rect">
            <a:avLst/>
          </a:prstGeom>
          <a:noFill/>
        </p:spPr>
        <p:txBody>
          <a:bodyPr wrap="square" lIns="45720" rIns="45720" rtlCol="0">
            <a:spAutoFit/>
          </a:bodyPr>
          <a:lstStyle/>
          <a:p>
            <a:pPr marL="0" marR="0" lvl="0" indent="0" defTabSz="1018824"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51515"/>
                </a:solidFill>
                <a:effectLst/>
                <a:uLnTx/>
                <a:uFillTx/>
              </a:rPr>
              <a:t>Commercial (Others)</a:t>
            </a:r>
          </a:p>
        </p:txBody>
      </p:sp>
      <p:sp>
        <p:nvSpPr>
          <p:cNvPr id="36" name="Text Placeholder 5">
            <a:extLst>
              <a:ext uri="{FF2B5EF4-FFF2-40B4-BE49-F238E27FC236}">
                <a16:creationId xmlns:a16="http://schemas.microsoft.com/office/drawing/2014/main" id="{9DE25BCB-F436-B268-7E4D-1D28DD67F68C}"/>
              </a:ext>
            </a:extLst>
          </p:cNvPr>
          <p:cNvSpPr txBox="1">
            <a:spLocks/>
          </p:cNvSpPr>
          <p:nvPr/>
        </p:nvSpPr>
        <p:spPr>
          <a:xfrm>
            <a:off x="306066" y="1468603"/>
            <a:ext cx="3914642" cy="249382"/>
          </a:xfrm>
          <a:prstGeom prst="rect">
            <a:avLst/>
          </a:prstGeom>
          <a:solidFill>
            <a:srgbClr val="0F537C"/>
          </a:solidFill>
        </p:spPr>
        <p:txBody>
          <a:bodyPr/>
          <a:lstStyle>
            <a:lvl1pPr marL="0" indent="0" algn="ctr" rtl="0" eaLnBrk="1" fontAlgn="base" hangingPunct="1">
              <a:spcBef>
                <a:spcPct val="0"/>
              </a:spcBef>
              <a:spcAft>
                <a:spcPts val="450"/>
              </a:spcAft>
              <a:buClrTx/>
              <a:buFont typeface="Arial" panose="020B0604020202020204" pitchFamily="34" charset="0"/>
              <a:buNone/>
              <a:defRPr sz="1200" b="1">
                <a:solidFill>
                  <a:schemeClr val="bg1"/>
                </a:solidFill>
                <a:latin typeface="+mn-lt"/>
                <a:ea typeface="MS PGothic" pitchFamily="34" charset="-128"/>
                <a:cs typeface="MS PGothic"/>
              </a:defRPr>
            </a:lvl1pPr>
            <a:lvl2pPr marL="285712" indent="-141667" algn="l" rtl="0" eaLnBrk="1" fontAlgn="base" hangingPunct="1">
              <a:spcBef>
                <a:spcPct val="0"/>
              </a:spcBef>
              <a:spcAft>
                <a:spcPts val="450"/>
              </a:spcAft>
              <a:buClrTx/>
              <a:buFont typeface="Arial" panose="020B0604020202020204" pitchFamily="34" charset="0"/>
              <a:buChar char="–"/>
              <a:defRPr sz="1000">
                <a:solidFill>
                  <a:schemeClr val="tx1"/>
                </a:solidFill>
                <a:latin typeface="+mn-lt"/>
                <a:ea typeface="MS PGothic" pitchFamily="34" charset="-128"/>
                <a:cs typeface="MS PGothic"/>
              </a:defRPr>
            </a:lvl2pPr>
            <a:lvl3pPr marL="438091" indent="-151190" algn="l" rtl="0" eaLnBrk="1" fontAlgn="base" hangingPunct="1">
              <a:spcBef>
                <a:spcPct val="0"/>
              </a:spcBef>
              <a:spcAft>
                <a:spcPts val="450"/>
              </a:spcAft>
              <a:buClrTx/>
              <a:buFont typeface="Arial" panose="020B0604020202020204" pitchFamily="34" charset="0"/>
              <a:buChar char="•"/>
              <a:defRPr sz="1000">
                <a:solidFill>
                  <a:schemeClr val="tx1"/>
                </a:solidFill>
                <a:latin typeface="+mn-lt"/>
                <a:ea typeface="MS PGothic" pitchFamily="34" charset="-128"/>
                <a:cs typeface="MS PGothic"/>
              </a:defRPr>
            </a:lvl3pPr>
            <a:lvl4pPr marL="561900" indent="-122618" algn="l" rtl="0" eaLnBrk="1" fontAlgn="base" hangingPunct="1">
              <a:spcBef>
                <a:spcPct val="0"/>
              </a:spcBef>
              <a:spcAft>
                <a:spcPts val="450"/>
              </a:spcAft>
              <a:buClr>
                <a:schemeClr val="bg2"/>
              </a:buClr>
              <a:buChar char="—"/>
              <a:defRPr sz="1000">
                <a:solidFill>
                  <a:schemeClr val="tx1"/>
                </a:solidFill>
                <a:latin typeface="+mn-lt"/>
                <a:ea typeface="MS PGothic" pitchFamily="34" charset="-128"/>
                <a:cs typeface="MS PGothic"/>
              </a:defRPr>
            </a:lvl4pPr>
            <a:lvl5pPr marL="714279" indent="-151190" algn="l" rtl="0" eaLnBrk="1" fontAlgn="base" hangingPunct="1">
              <a:spcBef>
                <a:spcPct val="0"/>
              </a:spcBef>
              <a:spcAft>
                <a:spcPts val="450"/>
              </a:spcAft>
              <a:buClr>
                <a:schemeClr val="bg2"/>
              </a:buClr>
              <a:buChar char="—"/>
              <a:defRPr sz="1000">
                <a:solidFill>
                  <a:schemeClr val="tx1"/>
                </a:solidFill>
                <a:latin typeface="+mn-lt"/>
                <a:ea typeface="MS PGothic" pitchFamily="34" charset="-128"/>
                <a:cs typeface="MS PGothic"/>
              </a:defRPr>
            </a:lvl5pPr>
            <a:lvl6pPr marL="1057133" indent="-151190" algn="l" rtl="0" eaLnBrk="1" fontAlgn="base" hangingPunct="1">
              <a:spcBef>
                <a:spcPct val="0"/>
              </a:spcBef>
              <a:spcAft>
                <a:spcPts val="450"/>
              </a:spcAft>
              <a:buClr>
                <a:schemeClr val="bg2"/>
              </a:buClr>
              <a:buChar char="—"/>
              <a:defRPr sz="750">
                <a:solidFill>
                  <a:schemeClr val="tx1"/>
                </a:solidFill>
                <a:latin typeface="+mn-lt"/>
              </a:defRPr>
            </a:lvl6pPr>
            <a:lvl7pPr marL="1399987" indent="-151190" algn="l" rtl="0" eaLnBrk="1" fontAlgn="base" hangingPunct="1">
              <a:spcBef>
                <a:spcPct val="0"/>
              </a:spcBef>
              <a:spcAft>
                <a:spcPts val="450"/>
              </a:spcAft>
              <a:buClr>
                <a:schemeClr val="bg2"/>
              </a:buClr>
              <a:buChar char="—"/>
              <a:defRPr sz="750">
                <a:solidFill>
                  <a:schemeClr val="tx1"/>
                </a:solidFill>
                <a:latin typeface="+mn-lt"/>
              </a:defRPr>
            </a:lvl7pPr>
            <a:lvl8pPr marL="1742842" indent="-151190" algn="l" rtl="0" eaLnBrk="1" fontAlgn="base" hangingPunct="1">
              <a:spcBef>
                <a:spcPct val="0"/>
              </a:spcBef>
              <a:spcAft>
                <a:spcPts val="450"/>
              </a:spcAft>
              <a:buClr>
                <a:schemeClr val="bg2"/>
              </a:buClr>
              <a:buChar char="—"/>
              <a:defRPr sz="750">
                <a:solidFill>
                  <a:schemeClr val="tx1"/>
                </a:solidFill>
                <a:latin typeface="+mn-lt"/>
              </a:defRPr>
            </a:lvl8pPr>
            <a:lvl9pPr marL="2085696" indent="-151190" algn="l" rtl="0" eaLnBrk="1" fontAlgn="base" hangingPunct="1">
              <a:spcBef>
                <a:spcPct val="0"/>
              </a:spcBef>
              <a:spcAft>
                <a:spcPts val="450"/>
              </a:spcAft>
              <a:buClr>
                <a:schemeClr val="bg2"/>
              </a:buClr>
              <a:buChar char="—"/>
              <a:defRPr sz="750">
                <a:solidFill>
                  <a:schemeClr val="tx1"/>
                </a:solidFill>
                <a:latin typeface="+mn-lt"/>
              </a:defRPr>
            </a:lvl9pPr>
          </a:lstStyle>
          <a:p>
            <a:pPr defTabSz="914400"/>
            <a:r>
              <a:rPr lang="en-US" kern="0" dirty="0"/>
              <a:t>Sales Mix: Limited Payor Mix Exposure</a:t>
            </a:r>
          </a:p>
        </p:txBody>
      </p:sp>
      <p:sp>
        <p:nvSpPr>
          <p:cNvPr id="37" name="Text Placeholder 5">
            <a:extLst>
              <a:ext uri="{FF2B5EF4-FFF2-40B4-BE49-F238E27FC236}">
                <a16:creationId xmlns:a16="http://schemas.microsoft.com/office/drawing/2014/main" id="{1D4290BA-23BF-C21B-CC78-03D539A1BB6D}"/>
              </a:ext>
            </a:extLst>
          </p:cNvPr>
          <p:cNvSpPr txBox="1">
            <a:spLocks/>
          </p:cNvSpPr>
          <p:nvPr/>
        </p:nvSpPr>
        <p:spPr>
          <a:xfrm>
            <a:off x="3093239" y="1785878"/>
            <a:ext cx="1127470" cy="1847357"/>
          </a:xfrm>
          <a:prstGeom prst="rect">
            <a:avLst/>
          </a:prstGeom>
          <a:solidFill>
            <a:srgbClr val="FDDF64"/>
          </a:solidFill>
          <a:ln>
            <a:solidFill>
              <a:srgbClr val="074485"/>
            </a:solidFill>
          </a:ln>
        </p:spPr>
        <p:txBody>
          <a:bodyPr anchor="ctr"/>
          <a:lstStyle>
            <a:lvl1pPr marL="0" indent="0" algn="ctr" rtl="0" eaLnBrk="1" fontAlgn="base" hangingPunct="1">
              <a:spcBef>
                <a:spcPct val="0"/>
              </a:spcBef>
              <a:spcAft>
                <a:spcPts val="450"/>
              </a:spcAft>
              <a:buClrTx/>
              <a:buFont typeface="Arial" panose="020B0604020202020204" pitchFamily="34" charset="0"/>
              <a:buNone/>
              <a:defRPr sz="1200" b="1">
                <a:solidFill>
                  <a:schemeClr val="bg1"/>
                </a:solidFill>
                <a:latin typeface="+mn-lt"/>
                <a:ea typeface="MS PGothic" pitchFamily="34" charset="-128"/>
                <a:cs typeface="MS PGothic"/>
              </a:defRPr>
            </a:lvl1pPr>
            <a:lvl2pPr marL="285712" indent="-141667" algn="l" rtl="0" eaLnBrk="1" fontAlgn="base" hangingPunct="1">
              <a:spcBef>
                <a:spcPct val="0"/>
              </a:spcBef>
              <a:spcAft>
                <a:spcPts val="450"/>
              </a:spcAft>
              <a:buClrTx/>
              <a:buFont typeface="Arial" panose="020B0604020202020204" pitchFamily="34" charset="0"/>
              <a:buChar char="–"/>
              <a:defRPr sz="1000">
                <a:solidFill>
                  <a:schemeClr val="tx1"/>
                </a:solidFill>
                <a:latin typeface="+mn-lt"/>
                <a:ea typeface="MS PGothic" pitchFamily="34" charset="-128"/>
                <a:cs typeface="MS PGothic"/>
              </a:defRPr>
            </a:lvl2pPr>
            <a:lvl3pPr marL="438091" indent="-151190" algn="l" rtl="0" eaLnBrk="1" fontAlgn="base" hangingPunct="1">
              <a:spcBef>
                <a:spcPct val="0"/>
              </a:spcBef>
              <a:spcAft>
                <a:spcPts val="450"/>
              </a:spcAft>
              <a:buClrTx/>
              <a:buFont typeface="Arial" panose="020B0604020202020204" pitchFamily="34" charset="0"/>
              <a:buChar char="•"/>
              <a:defRPr sz="1000">
                <a:solidFill>
                  <a:schemeClr val="tx1"/>
                </a:solidFill>
                <a:latin typeface="+mn-lt"/>
                <a:ea typeface="MS PGothic" pitchFamily="34" charset="-128"/>
                <a:cs typeface="MS PGothic"/>
              </a:defRPr>
            </a:lvl3pPr>
            <a:lvl4pPr marL="561900" indent="-122618" algn="l" rtl="0" eaLnBrk="1" fontAlgn="base" hangingPunct="1">
              <a:spcBef>
                <a:spcPct val="0"/>
              </a:spcBef>
              <a:spcAft>
                <a:spcPts val="450"/>
              </a:spcAft>
              <a:buClr>
                <a:schemeClr val="bg2"/>
              </a:buClr>
              <a:buChar char="—"/>
              <a:defRPr sz="1000">
                <a:solidFill>
                  <a:schemeClr val="tx1"/>
                </a:solidFill>
                <a:latin typeface="+mn-lt"/>
                <a:ea typeface="MS PGothic" pitchFamily="34" charset="-128"/>
                <a:cs typeface="MS PGothic"/>
              </a:defRPr>
            </a:lvl4pPr>
            <a:lvl5pPr marL="714279" indent="-151190" algn="l" rtl="0" eaLnBrk="1" fontAlgn="base" hangingPunct="1">
              <a:spcBef>
                <a:spcPct val="0"/>
              </a:spcBef>
              <a:spcAft>
                <a:spcPts val="450"/>
              </a:spcAft>
              <a:buClr>
                <a:schemeClr val="bg2"/>
              </a:buClr>
              <a:buChar char="—"/>
              <a:defRPr sz="1000">
                <a:solidFill>
                  <a:schemeClr val="tx1"/>
                </a:solidFill>
                <a:latin typeface="+mn-lt"/>
                <a:ea typeface="MS PGothic" pitchFamily="34" charset="-128"/>
                <a:cs typeface="MS PGothic"/>
              </a:defRPr>
            </a:lvl5pPr>
            <a:lvl6pPr marL="1057133" indent="-151190" algn="l" rtl="0" eaLnBrk="1" fontAlgn="base" hangingPunct="1">
              <a:spcBef>
                <a:spcPct val="0"/>
              </a:spcBef>
              <a:spcAft>
                <a:spcPts val="450"/>
              </a:spcAft>
              <a:buClr>
                <a:schemeClr val="bg2"/>
              </a:buClr>
              <a:buChar char="—"/>
              <a:defRPr sz="750">
                <a:solidFill>
                  <a:schemeClr val="tx1"/>
                </a:solidFill>
                <a:latin typeface="+mn-lt"/>
              </a:defRPr>
            </a:lvl6pPr>
            <a:lvl7pPr marL="1399987" indent="-151190" algn="l" rtl="0" eaLnBrk="1" fontAlgn="base" hangingPunct="1">
              <a:spcBef>
                <a:spcPct val="0"/>
              </a:spcBef>
              <a:spcAft>
                <a:spcPts val="450"/>
              </a:spcAft>
              <a:buClr>
                <a:schemeClr val="bg2"/>
              </a:buClr>
              <a:buChar char="—"/>
              <a:defRPr sz="750">
                <a:solidFill>
                  <a:schemeClr val="tx1"/>
                </a:solidFill>
                <a:latin typeface="+mn-lt"/>
              </a:defRPr>
            </a:lvl7pPr>
            <a:lvl8pPr marL="1742842" indent="-151190" algn="l" rtl="0" eaLnBrk="1" fontAlgn="base" hangingPunct="1">
              <a:spcBef>
                <a:spcPct val="0"/>
              </a:spcBef>
              <a:spcAft>
                <a:spcPts val="450"/>
              </a:spcAft>
              <a:buClr>
                <a:schemeClr val="bg2"/>
              </a:buClr>
              <a:buChar char="—"/>
              <a:defRPr sz="750">
                <a:solidFill>
                  <a:schemeClr val="tx1"/>
                </a:solidFill>
                <a:latin typeface="+mn-lt"/>
              </a:defRPr>
            </a:lvl8pPr>
            <a:lvl9pPr marL="2085696" indent="-151190" algn="l" rtl="0" eaLnBrk="1" fontAlgn="base" hangingPunct="1">
              <a:spcBef>
                <a:spcPct val="0"/>
              </a:spcBef>
              <a:spcAft>
                <a:spcPts val="450"/>
              </a:spcAft>
              <a:buClr>
                <a:schemeClr val="bg2"/>
              </a:buClr>
              <a:buChar char="—"/>
              <a:defRPr sz="750">
                <a:solidFill>
                  <a:schemeClr val="tx1"/>
                </a:solidFill>
                <a:latin typeface="+mn-lt"/>
              </a:defRPr>
            </a:lvl9pPr>
          </a:lstStyle>
          <a:p>
            <a:pPr defTabSz="914400"/>
            <a:r>
              <a:rPr lang="en-US" i="1" kern="0" dirty="0">
                <a:solidFill>
                  <a:schemeClr val="tx1"/>
                </a:solidFill>
              </a:rPr>
              <a:t>Only 23% of AAS revenue is directly tied to potential payor risk</a:t>
            </a:r>
          </a:p>
        </p:txBody>
      </p:sp>
      <p:pic>
        <p:nvPicPr>
          <p:cNvPr id="38" name="Graphic 37">
            <a:extLst>
              <a:ext uri="{FF2B5EF4-FFF2-40B4-BE49-F238E27FC236}">
                <a16:creationId xmlns:a16="http://schemas.microsoft.com/office/drawing/2014/main" id="{290515EC-D3DF-5961-E7F9-34F1E9190B59}"/>
              </a:ext>
            </a:extLst>
          </p:cNvPr>
          <p:cNvPicPr>
            <a:picLocks noChangeAspect="1"/>
          </p:cNvPicPr>
          <p:nvPr>
            <p:custDataLst>
              <p:tags r:id="rId3"/>
            </p:custDataLst>
          </p:nvPr>
        </p:nvPicPr>
        <p:blipFill>
          <a:blip r:embed="rId12">
            <a:extLst>
              <a:ext uri="{96DAC541-7B7A-43D3-8B79-37D633B846F1}">
                <asvg:svgBlip xmlns:asvg="http://schemas.microsoft.com/office/drawing/2016/SVG/main" r:embed="rId13"/>
              </a:ext>
            </a:extLst>
          </a:blip>
          <a:stretch>
            <a:fillRect/>
          </a:stretch>
        </p:blipFill>
        <p:spPr>
          <a:xfrm>
            <a:off x="292168" y="1692220"/>
            <a:ext cx="3749386" cy="2008909"/>
          </a:xfrm>
          <a:prstGeom prst="rect">
            <a:avLst/>
          </a:prstGeom>
        </p:spPr>
      </p:pic>
      <p:sp>
        <p:nvSpPr>
          <p:cNvPr id="39" name="Rectangle 38">
            <a:extLst>
              <a:ext uri="{FF2B5EF4-FFF2-40B4-BE49-F238E27FC236}">
                <a16:creationId xmlns:a16="http://schemas.microsoft.com/office/drawing/2014/main" id="{7111CBFD-0C72-6437-DEC8-55582FC63C95}"/>
              </a:ext>
            </a:extLst>
          </p:cNvPr>
          <p:cNvSpPr/>
          <p:nvPr/>
        </p:nvSpPr>
        <p:spPr bwMode="auto">
          <a:xfrm>
            <a:off x="385997" y="2184421"/>
            <a:ext cx="124691" cy="124691"/>
          </a:xfrm>
          <a:prstGeom prst="rect">
            <a:avLst/>
          </a:prstGeom>
          <a:solidFill>
            <a:srgbClr val="10537C"/>
          </a:solidFill>
          <a:ln w="9525"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defTabSz="914400" eaLnBrk="0" fontAlgn="base" hangingPunct="0">
              <a:spcBef>
                <a:spcPct val="0"/>
              </a:spcBef>
              <a:spcAft>
                <a:spcPct val="75000"/>
              </a:spcAft>
              <a:buClr>
                <a:srgbClr val="033F5E"/>
              </a:buClr>
              <a:buFont typeface="Wingdings" pitchFamily="2" charset="2"/>
              <a:buNone/>
            </a:pPr>
            <a:endParaRPr lang="en-US" sz="1200" b="1" dirty="0">
              <a:solidFill>
                <a:srgbClr val="151515"/>
              </a:solidFill>
              <a:latin typeface="Arial" panose="020B0604020202020204" pitchFamily="34" charset="0"/>
            </a:endParaRPr>
          </a:p>
        </p:txBody>
      </p:sp>
      <p:sp>
        <p:nvSpPr>
          <p:cNvPr id="40" name="Rectangle 39">
            <a:extLst>
              <a:ext uri="{FF2B5EF4-FFF2-40B4-BE49-F238E27FC236}">
                <a16:creationId xmlns:a16="http://schemas.microsoft.com/office/drawing/2014/main" id="{A44D3B48-DE05-8503-A386-E295C6EC8FFD}"/>
              </a:ext>
            </a:extLst>
          </p:cNvPr>
          <p:cNvSpPr/>
          <p:nvPr/>
        </p:nvSpPr>
        <p:spPr bwMode="auto">
          <a:xfrm>
            <a:off x="385997" y="2615980"/>
            <a:ext cx="124691" cy="124691"/>
          </a:xfrm>
          <a:prstGeom prst="rect">
            <a:avLst/>
          </a:prstGeom>
          <a:solidFill>
            <a:srgbClr val="A6A6A6"/>
          </a:solidFill>
          <a:ln w="9525"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defTabSz="914400" eaLnBrk="0" fontAlgn="base" hangingPunct="0">
              <a:spcBef>
                <a:spcPct val="0"/>
              </a:spcBef>
              <a:spcAft>
                <a:spcPct val="75000"/>
              </a:spcAft>
              <a:buClr>
                <a:srgbClr val="033F5E"/>
              </a:buClr>
              <a:buFont typeface="Wingdings" pitchFamily="2" charset="2"/>
              <a:buNone/>
            </a:pPr>
            <a:endParaRPr lang="en-US" sz="1200" b="1" dirty="0">
              <a:solidFill>
                <a:srgbClr val="151515"/>
              </a:solidFill>
              <a:latin typeface="Arial" panose="020B0604020202020204" pitchFamily="34" charset="0"/>
            </a:endParaRPr>
          </a:p>
        </p:txBody>
      </p:sp>
      <p:sp>
        <p:nvSpPr>
          <p:cNvPr id="41" name="Rectangle 40">
            <a:extLst>
              <a:ext uri="{FF2B5EF4-FFF2-40B4-BE49-F238E27FC236}">
                <a16:creationId xmlns:a16="http://schemas.microsoft.com/office/drawing/2014/main" id="{C098BDA6-1EC8-1119-F302-E51F26362F33}"/>
              </a:ext>
            </a:extLst>
          </p:cNvPr>
          <p:cNvSpPr/>
          <p:nvPr/>
        </p:nvSpPr>
        <p:spPr bwMode="auto">
          <a:xfrm>
            <a:off x="385997" y="3055226"/>
            <a:ext cx="124691" cy="124691"/>
          </a:xfrm>
          <a:prstGeom prst="rect">
            <a:avLst/>
          </a:prstGeom>
          <a:solidFill>
            <a:srgbClr val="539BBB"/>
          </a:solidFill>
          <a:ln w="9525" cap="flat" cmpd="sng" algn="ctr">
            <a:no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bodyPr>
          <a:lstStyle/>
          <a:p>
            <a:pPr defTabSz="914400" eaLnBrk="0" fontAlgn="base" hangingPunct="0">
              <a:spcBef>
                <a:spcPct val="0"/>
              </a:spcBef>
              <a:spcAft>
                <a:spcPct val="75000"/>
              </a:spcAft>
              <a:buClr>
                <a:srgbClr val="033F5E"/>
              </a:buClr>
              <a:buFont typeface="Wingdings" pitchFamily="2" charset="2"/>
              <a:buNone/>
            </a:pPr>
            <a:endParaRPr lang="en-US" sz="1200" b="1" dirty="0">
              <a:solidFill>
                <a:srgbClr val="151515"/>
              </a:solidFill>
              <a:latin typeface="Arial" panose="020B0604020202020204" pitchFamily="34" charset="0"/>
            </a:endParaRPr>
          </a:p>
        </p:txBody>
      </p:sp>
      <p:sp>
        <p:nvSpPr>
          <p:cNvPr id="42" name="Text Placeholder 1">
            <a:extLst>
              <a:ext uri="{FF2B5EF4-FFF2-40B4-BE49-F238E27FC236}">
                <a16:creationId xmlns:a16="http://schemas.microsoft.com/office/drawing/2014/main" id="{32503351-2A21-8830-4911-AE0959370DE9}"/>
              </a:ext>
            </a:extLst>
          </p:cNvPr>
          <p:cNvSpPr txBox="1">
            <a:spLocks/>
          </p:cNvSpPr>
          <p:nvPr/>
        </p:nvSpPr>
        <p:spPr>
          <a:xfrm>
            <a:off x="365164" y="3508647"/>
            <a:ext cx="1863496" cy="149267"/>
          </a:xfrm>
          <a:prstGeom prst="rect">
            <a:avLst/>
          </a:prstGeom>
          <a:noFill/>
        </p:spPr>
        <p:txBody>
          <a:bodyPr/>
          <a:lstStyle>
            <a:lvl1pPr marL="142856" indent="-142856" algn="l" rtl="0" eaLnBrk="1" fontAlgn="base" hangingPunct="1">
              <a:spcBef>
                <a:spcPct val="0"/>
              </a:spcBef>
              <a:spcAft>
                <a:spcPts val="450"/>
              </a:spcAft>
              <a:buClrTx/>
              <a:buFont typeface="Arial" panose="020B0604020202020204" pitchFamily="34" charset="0"/>
              <a:buChar char="●"/>
              <a:defRPr sz="1050">
                <a:solidFill>
                  <a:schemeClr val="tx1"/>
                </a:solidFill>
                <a:latin typeface="+mn-lt"/>
                <a:ea typeface="MS PGothic" pitchFamily="34" charset="-128"/>
                <a:cs typeface="MS PGothic"/>
              </a:defRPr>
            </a:lvl1pPr>
            <a:lvl2pPr marL="285712" indent="-141667" algn="l" rtl="0" eaLnBrk="1" fontAlgn="base" hangingPunct="1">
              <a:spcBef>
                <a:spcPct val="0"/>
              </a:spcBef>
              <a:spcAft>
                <a:spcPts val="450"/>
              </a:spcAft>
              <a:buClrTx/>
              <a:buFont typeface="Arial" panose="020B0604020202020204" pitchFamily="34" charset="0"/>
              <a:buChar char="–"/>
              <a:defRPr sz="1050">
                <a:solidFill>
                  <a:schemeClr val="tx1"/>
                </a:solidFill>
                <a:latin typeface="+mn-lt"/>
                <a:ea typeface="MS PGothic" pitchFamily="34" charset="-128"/>
                <a:cs typeface="MS PGothic"/>
              </a:defRPr>
            </a:lvl2pPr>
            <a:lvl3pPr marL="438091" indent="-151190" algn="l" rtl="0" eaLnBrk="1" fontAlgn="base" hangingPunct="1">
              <a:spcBef>
                <a:spcPct val="0"/>
              </a:spcBef>
              <a:spcAft>
                <a:spcPts val="450"/>
              </a:spcAft>
              <a:buClrTx/>
              <a:buFont typeface="Arial" panose="020B0604020202020204" pitchFamily="34" charset="0"/>
              <a:buChar char="•"/>
              <a:defRPr sz="1050">
                <a:solidFill>
                  <a:schemeClr val="tx1"/>
                </a:solidFill>
                <a:latin typeface="+mn-lt"/>
                <a:ea typeface="MS PGothic" pitchFamily="34" charset="-128"/>
                <a:cs typeface="MS PGothic"/>
              </a:defRPr>
            </a:lvl3pPr>
            <a:lvl4pPr marL="561900" indent="-122618" algn="l" rtl="0" eaLnBrk="1" fontAlgn="base" hangingPunct="1">
              <a:spcBef>
                <a:spcPct val="0"/>
              </a:spcBef>
              <a:spcAft>
                <a:spcPts val="450"/>
              </a:spcAft>
              <a:buClr>
                <a:schemeClr val="bg2"/>
              </a:buClr>
              <a:buChar char="—"/>
              <a:defRPr sz="1000">
                <a:solidFill>
                  <a:schemeClr val="tx1"/>
                </a:solidFill>
                <a:latin typeface="+mn-lt"/>
                <a:ea typeface="MS PGothic" pitchFamily="34" charset="-128"/>
                <a:cs typeface="MS PGothic"/>
              </a:defRPr>
            </a:lvl4pPr>
            <a:lvl5pPr marL="714279" indent="-151190" algn="l" rtl="0" eaLnBrk="1" fontAlgn="base" hangingPunct="1">
              <a:spcBef>
                <a:spcPct val="0"/>
              </a:spcBef>
              <a:spcAft>
                <a:spcPts val="450"/>
              </a:spcAft>
              <a:buClr>
                <a:schemeClr val="bg2"/>
              </a:buClr>
              <a:buChar char="—"/>
              <a:defRPr sz="1000">
                <a:solidFill>
                  <a:schemeClr val="tx1"/>
                </a:solidFill>
                <a:latin typeface="+mn-lt"/>
                <a:ea typeface="MS PGothic" pitchFamily="34" charset="-128"/>
                <a:cs typeface="MS PGothic"/>
              </a:defRPr>
            </a:lvl5pPr>
            <a:lvl6pPr marL="1057133" indent="-151190" algn="l" rtl="0" eaLnBrk="1" fontAlgn="base" hangingPunct="1">
              <a:spcBef>
                <a:spcPct val="0"/>
              </a:spcBef>
              <a:spcAft>
                <a:spcPts val="450"/>
              </a:spcAft>
              <a:buClr>
                <a:schemeClr val="bg2"/>
              </a:buClr>
              <a:buChar char="—"/>
              <a:defRPr sz="750">
                <a:solidFill>
                  <a:schemeClr val="tx1"/>
                </a:solidFill>
                <a:latin typeface="+mn-lt"/>
              </a:defRPr>
            </a:lvl6pPr>
            <a:lvl7pPr marL="1399987" indent="-151190" algn="l" rtl="0" eaLnBrk="1" fontAlgn="base" hangingPunct="1">
              <a:spcBef>
                <a:spcPct val="0"/>
              </a:spcBef>
              <a:spcAft>
                <a:spcPts val="450"/>
              </a:spcAft>
              <a:buClr>
                <a:schemeClr val="bg2"/>
              </a:buClr>
              <a:buChar char="—"/>
              <a:defRPr sz="750">
                <a:solidFill>
                  <a:schemeClr val="tx1"/>
                </a:solidFill>
                <a:latin typeface="+mn-lt"/>
              </a:defRPr>
            </a:lvl7pPr>
            <a:lvl8pPr marL="1742842" indent="-151190" algn="l" rtl="0" eaLnBrk="1" fontAlgn="base" hangingPunct="1">
              <a:spcBef>
                <a:spcPct val="0"/>
              </a:spcBef>
              <a:spcAft>
                <a:spcPts val="450"/>
              </a:spcAft>
              <a:buClr>
                <a:schemeClr val="bg2"/>
              </a:buClr>
              <a:buChar char="—"/>
              <a:defRPr sz="750">
                <a:solidFill>
                  <a:schemeClr val="tx1"/>
                </a:solidFill>
                <a:latin typeface="+mn-lt"/>
              </a:defRPr>
            </a:lvl8pPr>
            <a:lvl9pPr marL="2085696" indent="-151190" algn="l" rtl="0" eaLnBrk="1" fontAlgn="base" hangingPunct="1">
              <a:spcBef>
                <a:spcPct val="0"/>
              </a:spcBef>
              <a:spcAft>
                <a:spcPts val="450"/>
              </a:spcAft>
              <a:buClr>
                <a:schemeClr val="bg2"/>
              </a:buClr>
              <a:buChar char="—"/>
              <a:defRPr sz="750">
                <a:solidFill>
                  <a:schemeClr val="tx1"/>
                </a:solidFill>
                <a:latin typeface="+mn-lt"/>
              </a:defRPr>
            </a:lvl9pPr>
          </a:lstStyle>
          <a:p>
            <a:pPr marL="0" indent="0" defTabSz="914400">
              <a:buNone/>
            </a:pPr>
            <a:r>
              <a:rPr lang="en-US" sz="700" i="1" kern="0" dirty="0"/>
              <a:t>*Sales as of TTM Aug-2024</a:t>
            </a:r>
          </a:p>
        </p:txBody>
      </p:sp>
      <p:pic>
        <p:nvPicPr>
          <p:cNvPr id="43" name="Graphic 42">
            <a:extLst>
              <a:ext uri="{FF2B5EF4-FFF2-40B4-BE49-F238E27FC236}">
                <a16:creationId xmlns:a16="http://schemas.microsoft.com/office/drawing/2014/main" id="{DEBF3088-9C47-1505-0B2E-990EE164D18F}"/>
              </a:ext>
            </a:extLst>
          </p:cNvPr>
          <p:cNvPicPr>
            <a:picLocks noChangeAspect="1"/>
          </p:cNvPicPr>
          <p:nvPr>
            <p:custDataLst>
              <p:tags r:id="rId4"/>
            </p:custDataLst>
          </p:nvPr>
        </p:nvPicPr>
        <p:blipFill>
          <a:blip r:embed="rId14">
            <a:extLst>
              <a:ext uri="{96DAC541-7B7A-43D3-8B79-37D633B846F1}">
                <asvg:svgBlip xmlns:asvg="http://schemas.microsoft.com/office/drawing/2016/SVG/main" r:embed="rId15"/>
              </a:ext>
            </a:extLst>
          </a:blip>
          <a:stretch>
            <a:fillRect/>
          </a:stretch>
        </p:blipFill>
        <p:spPr>
          <a:xfrm>
            <a:off x="2475313" y="4307090"/>
            <a:ext cx="1846352" cy="1056370"/>
          </a:xfrm>
          <a:prstGeom prst="rect">
            <a:avLst/>
          </a:prstGeom>
        </p:spPr>
      </p:pic>
      <p:pic>
        <p:nvPicPr>
          <p:cNvPr id="44" name="Graphic 43">
            <a:extLst>
              <a:ext uri="{FF2B5EF4-FFF2-40B4-BE49-F238E27FC236}">
                <a16:creationId xmlns:a16="http://schemas.microsoft.com/office/drawing/2014/main" id="{C738DEA2-26E2-7656-9D62-91C8FE254F69}"/>
              </a:ext>
            </a:extLst>
          </p:cNvPr>
          <p:cNvPicPr>
            <a:picLocks noChangeAspect="1"/>
          </p:cNvPicPr>
          <p:nvPr>
            <p:custDataLst>
              <p:tags r:id="rId5"/>
            </p:custDataLst>
          </p:nvPr>
        </p:nvPicPr>
        <p:blipFill>
          <a:blip r:embed="rId16">
            <a:extLst>
              <a:ext uri="{96DAC541-7B7A-43D3-8B79-37D633B846F1}">
                <asvg:svgBlip xmlns:asvg="http://schemas.microsoft.com/office/drawing/2016/SVG/main" r:embed="rId17"/>
              </a:ext>
            </a:extLst>
          </a:blip>
          <a:stretch>
            <a:fillRect/>
          </a:stretch>
        </p:blipFill>
        <p:spPr>
          <a:xfrm>
            <a:off x="340750" y="4309976"/>
            <a:ext cx="1840579" cy="1047854"/>
          </a:xfrm>
          <a:prstGeom prst="rect">
            <a:avLst/>
          </a:prstGeom>
        </p:spPr>
      </p:pic>
      <p:graphicFrame>
        <p:nvGraphicFramePr>
          <p:cNvPr id="46" name="Table 45">
            <a:extLst>
              <a:ext uri="{FF2B5EF4-FFF2-40B4-BE49-F238E27FC236}">
                <a16:creationId xmlns:a16="http://schemas.microsoft.com/office/drawing/2014/main" id="{1E454B50-8EF1-2F00-E79E-FB65958AE4F3}"/>
              </a:ext>
            </a:extLst>
          </p:cNvPr>
          <p:cNvGraphicFramePr>
            <a:graphicFrameLocks noGrp="1"/>
          </p:cNvGraphicFramePr>
          <p:nvPr>
            <p:extLst>
              <p:ext uri="{D42A27DB-BD31-4B8C-83A1-F6EECF244321}">
                <p14:modId xmlns:p14="http://schemas.microsoft.com/office/powerpoint/2010/main" val="1647126853"/>
              </p:ext>
            </p:extLst>
          </p:nvPr>
        </p:nvGraphicFramePr>
        <p:xfrm>
          <a:off x="7176945" y="1546230"/>
          <a:ext cx="1720153" cy="1785684"/>
        </p:xfrm>
        <a:graphic>
          <a:graphicData uri="http://schemas.openxmlformats.org/drawingml/2006/table">
            <a:tbl>
              <a:tblPr>
                <a:tableStyleId>{21E4AEA4-8DFA-4A89-87EB-49C32662AFE0}</a:tableStyleId>
              </a:tblPr>
              <a:tblGrid>
                <a:gridCol w="1211524">
                  <a:extLst>
                    <a:ext uri="{9D8B030D-6E8A-4147-A177-3AD203B41FA5}">
                      <a16:colId xmlns:a16="http://schemas.microsoft.com/office/drawing/2014/main" val="670495274"/>
                    </a:ext>
                  </a:extLst>
                </a:gridCol>
                <a:gridCol w="508629">
                  <a:extLst>
                    <a:ext uri="{9D8B030D-6E8A-4147-A177-3AD203B41FA5}">
                      <a16:colId xmlns:a16="http://schemas.microsoft.com/office/drawing/2014/main" val="2543709953"/>
                    </a:ext>
                  </a:extLst>
                </a:gridCol>
              </a:tblGrid>
              <a:tr h="148807">
                <a:tc>
                  <a:txBody>
                    <a:bodyPr/>
                    <a:lstStyle/>
                    <a:p>
                      <a:pPr algn="l" fontAlgn="b"/>
                      <a:r>
                        <a:rPr lang="en-US" sz="800" b="0" u="none" strike="noStrike" dirty="0">
                          <a:solidFill>
                            <a:srgbClr val="000000"/>
                          </a:solidFill>
                          <a:effectLst/>
                        </a:rPr>
                        <a:t>Ophthalmologic</a:t>
                      </a:r>
                      <a:endParaRPr lang="en-US" sz="800" b="0" i="0" u="none" strike="noStrike" dirty="0">
                        <a:solidFill>
                          <a:srgbClr val="000000"/>
                        </a:solidFill>
                        <a:effectLst/>
                        <a:latin typeface="Arial" panose="020B0604020202020204" pitchFamily="34" charset="0"/>
                      </a:endParaRPr>
                    </a:p>
                  </a:txBody>
                  <a:tcPr marL="0" marR="0" marT="0" marB="0" anchor="ctr">
                    <a:noFill/>
                  </a:tcPr>
                </a:tc>
                <a:tc>
                  <a:txBody>
                    <a:bodyPr/>
                    <a:lstStyle/>
                    <a:p>
                      <a:pPr algn="r" fontAlgn="b"/>
                      <a:r>
                        <a:rPr lang="en-US" sz="800" b="0" i="0" u="none" strike="noStrike" dirty="0">
                          <a:solidFill>
                            <a:srgbClr val="000000"/>
                          </a:solidFill>
                          <a:effectLst/>
                          <a:latin typeface="Arial" panose="020B0604020202020204" pitchFamily="34" charset="0"/>
                        </a:rPr>
                        <a:t>22.9%</a:t>
                      </a:r>
                    </a:p>
                  </a:txBody>
                  <a:tcPr marL="0" marR="0" marT="0" marB="0" anchor="b">
                    <a:noFill/>
                  </a:tcPr>
                </a:tc>
                <a:extLst>
                  <a:ext uri="{0D108BD9-81ED-4DB2-BD59-A6C34878D82A}">
                    <a16:rowId xmlns:a16="http://schemas.microsoft.com/office/drawing/2014/main" val="2767219207"/>
                  </a:ext>
                </a:extLst>
              </a:tr>
              <a:tr h="148807">
                <a:tc>
                  <a:txBody>
                    <a:bodyPr/>
                    <a:lstStyle/>
                    <a:p>
                      <a:pPr algn="l" fontAlgn="b"/>
                      <a:r>
                        <a:rPr lang="en-US" sz="800" b="0" u="none" strike="noStrike" dirty="0">
                          <a:solidFill>
                            <a:srgbClr val="000000"/>
                          </a:solidFill>
                          <a:effectLst/>
                        </a:rPr>
                        <a:t>Orthopedic</a:t>
                      </a:r>
                      <a:endParaRPr lang="en-US" sz="800" b="0" i="0" u="none" strike="noStrike" dirty="0">
                        <a:solidFill>
                          <a:srgbClr val="000000"/>
                        </a:solidFill>
                        <a:effectLst/>
                        <a:latin typeface="Arial" panose="020B0604020202020204" pitchFamily="34" charset="0"/>
                      </a:endParaRPr>
                    </a:p>
                  </a:txBody>
                  <a:tcPr marL="0" marR="0" marT="0" marB="0" anchor="ctr">
                    <a:noFill/>
                  </a:tcPr>
                </a:tc>
                <a:tc>
                  <a:txBody>
                    <a:bodyPr/>
                    <a:lstStyle/>
                    <a:p>
                      <a:pPr algn="r" fontAlgn="b"/>
                      <a:r>
                        <a:rPr lang="en-US" sz="800" b="0" i="0" u="none" strike="noStrike" dirty="0">
                          <a:solidFill>
                            <a:srgbClr val="000000"/>
                          </a:solidFill>
                          <a:effectLst/>
                          <a:latin typeface="Arial" panose="020B0604020202020204" pitchFamily="34" charset="0"/>
                        </a:rPr>
                        <a:t>17.7%</a:t>
                      </a:r>
                    </a:p>
                  </a:txBody>
                  <a:tcPr marL="0" marR="0" marT="0" marB="0" anchor="b">
                    <a:noFill/>
                  </a:tcPr>
                </a:tc>
                <a:extLst>
                  <a:ext uri="{0D108BD9-81ED-4DB2-BD59-A6C34878D82A}">
                    <a16:rowId xmlns:a16="http://schemas.microsoft.com/office/drawing/2014/main" val="3383195559"/>
                  </a:ext>
                </a:extLst>
              </a:tr>
              <a:tr h="148807">
                <a:tc>
                  <a:txBody>
                    <a:bodyPr/>
                    <a:lstStyle/>
                    <a:p>
                      <a:pPr algn="l" fontAlgn="b"/>
                      <a:r>
                        <a:rPr lang="en-US" sz="800" b="0" u="none" strike="noStrike" dirty="0">
                          <a:solidFill>
                            <a:srgbClr val="000000"/>
                          </a:solidFill>
                          <a:effectLst/>
                        </a:rPr>
                        <a:t>Neuromuscular</a:t>
                      </a:r>
                      <a:endParaRPr lang="en-US" sz="800" b="0" i="0" u="none" strike="noStrike" dirty="0">
                        <a:solidFill>
                          <a:srgbClr val="000000"/>
                        </a:solidFill>
                        <a:effectLst/>
                        <a:latin typeface="Arial" panose="020B0604020202020204" pitchFamily="34" charset="0"/>
                      </a:endParaRPr>
                    </a:p>
                  </a:txBody>
                  <a:tcPr marL="0" marR="0" marT="0" marB="0" anchor="ctr">
                    <a:noFill/>
                  </a:tcPr>
                </a:tc>
                <a:tc>
                  <a:txBody>
                    <a:bodyPr/>
                    <a:lstStyle/>
                    <a:p>
                      <a:pPr algn="r" fontAlgn="b"/>
                      <a:r>
                        <a:rPr lang="en-US" sz="800" b="0" i="0" u="none" strike="noStrike" dirty="0">
                          <a:solidFill>
                            <a:srgbClr val="000000"/>
                          </a:solidFill>
                          <a:effectLst/>
                          <a:latin typeface="Arial" panose="020B0604020202020204" pitchFamily="34" charset="0"/>
                        </a:rPr>
                        <a:t>12.8%</a:t>
                      </a:r>
                    </a:p>
                  </a:txBody>
                  <a:tcPr marL="0" marR="0" marT="0" marB="0" anchor="b">
                    <a:noFill/>
                  </a:tcPr>
                </a:tc>
                <a:extLst>
                  <a:ext uri="{0D108BD9-81ED-4DB2-BD59-A6C34878D82A}">
                    <a16:rowId xmlns:a16="http://schemas.microsoft.com/office/drawing/2014/main" val="3446958180"/>
                  </a:ext>
                </a:extLst>
              </a:tr>
              <a:tr h="148807">
                <a:tc>
                  <a:txBody>
                    <a:bodyPr/>
                    <a:lstStyle/>
                    <a:p>
                      <a:pPr algn="l" fontAlgn="b"/>
                      <a:r>
                        <a:rPr lang="en-US" sz="800" b="0" u="none" strike="noStrike" dirty="0">
                          <a:solidFill>
                            <a:srgbClr val="000000"/>
                          </a:solidFill>
                          <a:effectLst/>
                        </a:rPr>
                        <a:t>Endoscopic</a:t>
                      </a:r>
                      <a:endParaRPr lang="en-US" sz="800" b="0" i="0" u="none" strike="noStrike" dirty="0">
                        <a:solidFill>
                          <a:srgbClr val="000000"/>
                        </a:solidFill>
                        <a:effectLst/>
                        <a:latin typeface="Arial" panose="020B0604020202020204" pitchFamily="34" charset="0"/>
                      </a:endParaRPr>
                    </a:p>
                  </a:txBody>
                  <a:tcPr marL="0" marR="0" marT="0" marB="0" anchor="ctr">
                    <a:noFill/>
                  </a:tcPr>
                </a:tc>
                <a:tc>
                  <a:txBody>
                    <a:bodyPr/>
                    <a:lstStyle/>
                    <a:p>
                      <a:pPr algn="r" fontAlgn="b"/>
                      <a:r>
                        <a:rPr lang="en-US" sz="800" b="0" i="0" u="none" strike="noStrike" dirty="0">
                          <a:solidFill>
                            <a:srgbClr val="000000"/>
                          </a:solidFill>
                          <a:effectLst/>
                          <a:latin typeface="Arial" panose="020B0604020202020204" pitchFamily="34" charset="0"/>
                        </a:rPr>
                        <a:t>8.4%</a:t>
                      </a:r>
                    </a:p>
                  </a:txBody>
                  <a:tcPr marL="0" marR="0" marT="0" marB="0" anchor="b">
                    <a:noFill/>
                  </a:tcPr>
                </a:tc>
                <a:extLst>
                  <a:ext uri="{0D108BD9-81ED-4DB2-BD59-A6C34878D82A}">
                    <a16:rowId xmlns:a16="http://schemas.microsoft.com/office/drawing/2014/main" val="2110555053"/>
                  </a:ext>
                </a:extLst>
              </a:tr>
              <a:tr h="148807">
                <a:tc>
                  <a:txBody>
                    <a:bodyPr/>
                    <a:lstStyle/>
                    <a:p>
                      <a:pPr algn="l" fontAlgn="b"/>
                      <a:r>
                        <a:rPr lang="en-US" sz="800" b="0" u="none" strike="noStrike" dirty="0">
                          <a:solidFill>
                            <a:srgbClr val="000000"/>
                          </a:solidFill>
                          <a:effectLst/>
                        </a:rPr>
                        <a:t>Gastrointestinal</a:t>
                      </a:r>
                      <a:endParaRPr lang="en-US" sz="800" b="0" i="0" u="none" strike="noStrike" dirty="0">
                        <a:solidFill>
                          <a:srgbClr val="000000"/>
                        </a:solidFill>
                        <a:effectLst/>
                        <a:latin typeface="Arial" panose="020B0604020202020204" pitchFamily="34" charset="0"/>
                      </a:endParaRPr>
                    </a:p>
                  </a:txBody>
                  <a:tcPr marL="0" marR="0" marT="0" marB="0" anchor="ctr">
                    <a:noFill/>
                  </a:tcPr>
                </a:tc>
                <a:tc>
                  <a:txBody>
                    <a:bodyPr/>
                    <a:lstStyle/>
                    <a:p>
                      <a:pPr algn="r" fontAlgn="b"/>
                      <a:r>
                        <a:rPr lang="en-US" sz="800" b="0" i="0" u="none" strike="noStrike" dirty="0">
                          <a:solidFill>
                            <a:srgbClr val="000000"/>
                          </a:solidFill>
                          <a:effectLst/>
                          <a:latin typeface="Arial" panose="020B0604020202020204" pitchFamily="34" charset="0"/>
                        </a:rPr>
                        <a:t>7.5%</a:t>
                      </a:r>
                    </a:p>
                  </a:txBody>
                  <a:tcPr marL="0" marR="0" marT="0" marB="0" anchor="b">
                    <a:noFill/>
                  </a:tcPr>
                </a:tc>
                <a:extLst>
                  <a:ext uri="{0D108BD9-81ED-4DB2-BD59-A6C34878D82A}">
                    <a16:rowId xmlns:a16="http://schemas.microsoft.com/office/drawing/2014/main" val="136129421"/>
                  </a:ext>
                </a:extLst>
              </a:tr>
              <a:tr h="148807">
                <a:tc>
                  <a:txBody>
                    <a:bodyPr/>
                    <a:lstStyle/>
                    <a:p>
                      <a:pPr algn="l" fontAlgn="b"/>
                      <a:r>
                        <a:rPr lang="en-US" sz="800" b="0" u="none" strike="noStrike" dirty="0">
                          <a:solidFill>
                            <a:srgbClr val="000000"/>
                          </a:solidFill>
                          <a:effectLst/>
                        </a:rPr>
                        <a:t>Pain Management</a:t>
                      </a:r>
                      <a:endParaRPr lang="en-US" sz="800" b="0" i="0" u="none" strike="noStrike" dirty="0">
                        <a:solidFill>
                          <a:srgbClr val="000000"/>
                        </a:solidFill>
                        <a:effectLst/>
                        <a:latin typeface="Arial" panose="020B0604020202020204" pitchFamily="34" charset="0"/>
                      </a:endParaRPr>
                    </a:p>
                  </a:txBody>
                  <a:tcPr marL="0" marR="0" marT="0" marB="0" anchor="ctr">
                    <a:noFill/>
                  </a:tcPr>
                </a:tc>
                <a:tc>
                  <a:txBody>
                    <a:bodyPr/>
                    <a:lstStyle/>
                    <a:p>
                      <a:pPr algn="r" fontAlgn="b"/>
                      <a:r>
                        <a:rPr lang="en-US" sz="800" b="0" i="0" u="none" strike="noStrike" dirty="0">
                          <a:solidFill>
                            <a:srgbClr val="000000"/>
                          </a:solidFill>
                          <a:effectLst/>
                          <a:latin typeface="Arial" panose="020B0604020202020204" pitchFamily="34" charset="0"/>
                        </a:rPr>
                        <a:t>7.2%</a:t>
                      </a:r>
                    </a:p>
                  </a:txBody>
                  <a:tcPr marL="0" marR="0" marT="0" marB="0" anchor="b">
                    <a:noFill/>
                  </a:tcPr>
                </a:tc>
                <a:extLst>
                  <a:ext uri="{0D108BD9-81ED-4DB2-BD59-A6C34878D82A}">
                    <a16:rowId xmlns:a16="http://schemas.microsoft.com/office/drawing/2014/main" val="4026590977"/>
                  </a:ext>
                </a:extLst>
              </a:tr>
              <a:tr h="148807">
                <a:tc>
                  <a:txBody>
                    <a:bodyPr/>
                    <a:lstStyle/>
                    <a:p>
                      <a:pPr algn="l" fontAlgn="b"/>
                      <a:r>
                        <a:rPr lang="en-US" sz="800" b="0" u="none" strike="noStrike" dirty="0">
                          <a:solidFill>
                            <a:srgbClr val="000000"/>
                          </a:solidFill>
                          <a:effectLst/>
                        </a:rPr>
                        <a:t>Image-Guided</a:t>
                      </a:r>
                      <a:endParaRPr lang="en-US" sz="800" b="0" i="0" u="none" strike="noStrike" dirty="0">
                        <a:solidFill>
                          <a:srgbClr val="000000"/>
                        </a:solidFill>
                        <a:effectLst/>
                        <a:latin typeface="Arial" panose="020B0604020202020204" pitchFamily="34" charset="0"/>
                      </a:endParaRPr>
                    </a:p>
                  </a:txBody>
                  <a:tcPr marL="0" marR="0" marT="0" marB="0" anchor="ctr">
                    <a:noFill/>
                  </a:tcPr>
                </a:tc>
                <a:tc>
                  <a:txBody>
                    <a:bodyPr/>
                    <a:lstStyle/>
                    <a:p>
                      <a:pPr algn="r" fontAlgn="b"/>
                      <a:r>
                        <a:rPr lang="en-US" sz="800" b="0" i="0" u="none" strike="noStrike" dirty="0">
                          <a:solidFill>
                            <a:srgbClr val="000000"/>
                          </a:solidFill>
                          <a:effectLst/>
                          <a:latin typeface="Arial" panose="020B0604020202020204" pitchFamily="34" charset="0"/>
                        </a:rPr>
                        <a:t>4.3%</a:t>
                      </a:r>
                    </a:p>
                  </a:txBody>
                  <a:tcPr marL="0" marR="0" marT="0" marB="0" anchor="b">
                    <a:noFill/>
                  </a:tcPr>
                </a:tc>
                <a:extLst>
                  <a:ext uri="{0D108BD9-81ED-4DB2-BD59-A6C34878D82A}">
                    <a16:rowId xmlns:a16="http://schemas.microsoft.com/office/drawing/2014/main" val="4198042863"/>
                  </a:ext>
                </a:extLst>
              </a:tr>
              <a:tr h="148807">
                <a:tc>
                  <a:txBody>
                    <a:bodyPr/>
                    <a:lstStyle/>
                    <a:p>
                      <a:pPr algn="l" fontAlgn="b"/>
                      <a:r>
                        <a:rPr lang="en-US" sz="800" b="0" u="none" strike="noStrike" dirty="0">
                          <a:solidFill>
                            <a:srgbClr val="000000"/>
                          </a:solidFill>
                          <a:effectLst/>
                        </a:rPr>
                        <a:t>ENT</a:t>
                      </a:r>
                      <a:endParaRPr lang="en-US" sz="800" b="0" i="0" u="none" strike="noStrike" dirty="0">
                        <a:solidFill>
                          <a:srgbClr val="000000"/>
                        </a:solidFill>
                        <a:effectLst/>
                        <a:latin typeface="Arial" panose="020B0604020202020204" pitchFamily="34" charset="0"/>
                      </a:endParaRPr>
                    </a:p>
                  </a:txBody>
                  <a:tcPr marL="0" marR="0" marT="0" marB="0" anchor="ctr">
                    <a:noFill/>
                  </a:tcPr>
                </a:tc>
                <a:tc>
                  <a:txBody>
                    <a:bodyPr/>
                    <a:lstStyle/>
                    <a:p>
                      <a:pPr algn="r" fontAlgn="b"/>
                      <a:r>
                        <a:rPr lang="en-US" sz="800" b="0" i="0" u="none" strike="noStrike" dirty="0">
                          <a:solidFill>
                            <a:srgbClr val="000000"/>
                          </a:solidFill>
                          <a:effectLst/>
                          <a:latin typeface="Arial" panose="020B0604020202020204" pitchFamily="34" charset="0"/>
                        </a:rPr>
                        <a:t>3.3%</a:t>
                      </a:r>
                    </a:p>
                  </a:txBody>
                  <a:tcPr marL="0" marR="0" marT="0" marB="0" anchor="b">
                    <a:noFill/>
                  </a:tcPr>
                </a:tc>
                <a:extLst>
                  <a:ext uri="{0D108BD9-81ED-4DB2-BD59-A6C34878D82A}">
                    <a16:rowId xmlns:a16="http://schemas.microsoft.com/office/drawing/2014/main" val="1200192030"/>
                  </a:ext>
                </a:extLst>
              </a:tr>
              <a:tr h="148807">
                <a:tc>
                  <a:txBody>
                    <a:bodyPr/>
                    <a:lstStyle/>
                    <a:p>
                      <a:pPr algn="l" fontAlgn="b"/>
                      <a:r>
                        <a:rPr lang="en-US" sz="800" b="0" u="none" strike="noStrike" dirty="0">
                          <a:solidFill>
                            <a:srgbClr val="000000"/>
                          </a:solidFill>
                          <a:effectLst/>
                        </a:rPr>
                        <a:t>Neurosurgical</a:t>
                      </a:r>
                      <a:endParaRPr lang="en-US" sz="800" b="0" i="0" u="none" strike="noStrike" dirty="0">
                        <a:solidFill>
                          <a:srgbClr val="000000"/>
                        </a:solidFill>
                        <a:effectLst/>
                        <a:latin typeface="Arial" panose="020B0604020202020204" pitchFamily="34" charset="0"/>
                      </a:endParaRPr>
                    </a:p>
                  </a:txBody>
                  <a:tcPr marL="0" marR="0" marT="0" marB="0" anchor="ctr">
                    <a:noFill/>
                  </a:tcPr>
                </a:tc>
                <a:tc>
                  <a:txBody>
                    <a:bodyPr/>
                    <a:lstStyle/>
                    <a:p>
                      <a:pPr algn="r" fontAlgn="b"/>
                      <a:r>
                        <a:rPr lang="en-US" sz="800" b="0" i="0" u="none" strike="noStrike" dirty="0">
                          <a:solidFill>
                            <a:srgbClr val="000000"/>
                          </a:solidFill>
                          <a:effectLst/>
                          <a:latin typeface="Arial" panose="020B0604020202020204" pitchFamily="34" charset="0"/>
                        </a:rPr>
                        <a:t>2.9%</a:t>
                      </a:r>
                    </a:p>
                  </a:txBody>
                  <a:tcPr marL="0" marR="0" marT="0" marB="0" anchor="b">
                    <a:noFill/>
                  </a:tcPr>
                </a:tc>
                <a:extLst>
                  <a:ext uri="{0D108BD9-81ED-4DB2-BD59-A6C34878D82A}">
                    <a16:rowId xmlns:a16="http://schemas.microsoft.com/office/drawing/2014/main" val="2418950669"/>
                  </a:ext>
                </a:extLst>
              </a:tr>
              <a:tr h="148807">
                <a:tc>
                  <a:txBody>
                    <a:bodyPr/>
                    <a:lstStyle/>
                    <a:p>
                      <a:pPr algn="l" fontAlgn="b"/>
                      <a:r>
                        <a:rPr lang="en-US" sz="800" b="0" u="none" strike="noStrike" dirty="0">
                          <a:solidFill>
                            <a:srgbClr val="000000"/>
                          </a:solidFill>
                          <a:effectLst/>
                        </a:rPr>
                        <a:t>Abdominal</a:t>
                      </a:r>
                      <a:endParaRPr lang="en-US" sz="800" b="0" i="0" u="none" strike="noStrike" dirty="0">
                        <a:solidFill>
                          <a:srgbClr val="000000"/>
                        </a:solidFill>
                        <a:effectLst/>
                        <a:latin typeface="Arial" panose="020B0604020202020204" pitchFamily="34" charset="0"/>
                      </a:endParaRPr>
                    </a:p>
                  </a:txBody>
                  <a:tcPr marL="0" marR="0" marT="0" marB="0" anchor="ctr">
                    <a:noFill/>
                  </a:tcPr>
                </a:tc>
                <a:tc>
                  <a:txBody>
                    <a:bodyPr/>
                    <a:lstStyle/>
                    <a:p>
                      <a:pPr algn="r" fontAlgn="b"/>
                      <a:r>
                        <a:rPr lang="en-US" sz="800" b="0" i="0" u="none" strike="noStrike" dirty="0">
                          <a:solidFill>
                            <a:srgbClr val="000000"/>
                          </a:solidFill>
                          <a:effectLst/>
                          <a:latin typeface="Arial" panose="020B0604020202020204" pitchFamily="34" charset="0"/>
                        </a:rPr>
                        <a:t>2.9%</a:t>
                      </a:r>
                    </a:p>
                  </a:txBody>
                  <a:tcPr marL="0" marR="0" marT="0" marB="0" anchor="b">
                    <a:noFill/>
                  </a:tcPr>
                </a:tc>
                <a:extLst>
                  <a:ext uri="{0D108BD9-81ED-4DB2-BD59-A6C34878D82A}">
                    <a16:rowId xmlns:a16="http://schemas.microsoft.com/office/drawing/2014/main" val="2542850630"/>
                  </a:ext>
                </a:extLst>
              </a:tr>
              <a:tr h="148807">
                <a:tc>
                  <a:txBody>
                    <a:bodyPr/>
                    <a:lstStyle/>
                    <a:p>
                      <a:pPr algn="l" fontAlgn="b"/>
                      <a:r>
                        <a:rPr lang="en-US" sz="800" b="0" u="none" strike="noStrike" dirty="0">
                          <a:solidFill>
                            <a:srgbClr val="000000"/>
                          </a:solidFill>
                          <a:effectLst/>
                        </a:rPr>
                        <a:t>Dental / Oral Surgery</a:t>
                      </a:r>
                      <a:endParaRPr lang="en-US" sz="800" b="0" i="0" u="none" strike="noStrike" dirty="0">
                        <a:solidFill>
                          <a:srgbClr val="000000"/>
                        </a:solidFill>
                        <a:effectLst/>
                        <a:latin typeface="Arial" panose="020B0604020202020204" pitchFamily="34" charset="0"/>
                      </a:endParaRPr>
                    </a:p>
                  </a:txBody>
                  <a:tcPr marL="0" marR="0" marT="0" marB="0" anchor="ctr">
                    <a:noFill/>
                  </a:tcPr>
                </a:tc>
                <a:tc>
                  <a:txBody>
                    <a:bodyPr/>
                    <a:lstStyle/>
                    <a:p>
                      <a:pPr algn="r" fontAlgn="b"/>
                      <a:r>
                        <a:rPr lang="en-US" sz="800" b="0" i="0" u="none" strike="noStrike" dirty="0">
                          <a:solidFill>
                            <a:srgbClr val="000000"/>
                          </a:solidFill>
                          <a:effectLst/>
                          <a:latin typeface="Arial" panose="020B0604020202020204" pitchFamily="34" charset="0"/>
                        </a:rPr>
                        <a:t>2.4%</a:t>
                      </a:r>
                    </a:p>
                  </a:txBody>
                  <a:tcPr marL="0" marR="0" marT="0" marB="0" anchor="b">
                    <a:noFill/>
                  </a:tcPr>
                </a:tc>
                <a:extLst>
                  <a:ext uri="{0D108BD9-81ED-4DB2-BD59-A6C34878D82A}">
                    <a16:rowId xmlns:a16="http://schemas.microsoft.com/office/drawing/2014/main" val="3253527578"/>
                  </a:ext>
                </a:extLst>
              </a:tr>
              <a:tr h="148807">
                <a:tc>
                  <a:txBody>
                    <a:bodyPr/>
                    <a:lstStyle/>
                    <a:p>
                      <a:pPr algn="l" fontAlgn="b"/>
                      <a:r>
                        <a:rPr lang="en-US" sz="800" b="0" u="none" strike="noStrike" dirty="0">
                          <a:solidFill>
                            <a:srgbClr val="000000"/>
                          </a:solidFill>
                          <a:effectLst/>
                        </a:rPr>
                        <a:t>Miscellaneous / Other </a:t>
                      </a:r>
                      <a:endParaRPr lang="en-US" sz="800" b="0" i="0" u="none" strike="noStrike" dirty="0">
                        <a:solidFill>
                          <a:srgbClr val="000000"/>
                        </a:solidFill>
                        <a:effectLst/>
                        <a:latin typeface="Arial" panose="020B0604020202020204" pitchFamily="34" charset="0"/>
                      </a:endParaRPr>
                    </a:p>
                  </a:txBody>
                  <a:tcPr marL="0" marR="0" marT="0" marB="0" anchor="ctr">
                    <a:noFill/>
                  </a:tcPr>
                </a:tc>
                <a:tc>
                  <a:txBody>
                    <a:bodyPr/>
                    <a:lstStyle/>
                    <a:p>
                      <a:pPr algn="r" fontAlgn="b"/>
                      <a:r>
                        <a:rPr lang="en-US" sz="800" b="0" i="0" u="none" strike="noStrike" dirty="0">
                          <a:solidFill>
                            <a:srgbClr val="000000"/>
                          </a:solidFill>
                          <a:effectLst/>
                          <a:latin typeface="Arial" panose="020B0604020202020204" pitchFamily="34" charset="0"/>
                        </a:rPr>
                        <a:t>7.6%</a:t>
                      </a:r>
                    </a:p>
                  </a:txBody>
                  <a:tcPr marL="0" marR="0" marT="0" marB="0" anchor="b">
                    <a:noFill/>
                  </a:tcPr>
                </a:tc>
                <a:extLst>
                  <a:ext uri="{0D108BD9-81ED-4DB2-BD59-A6C34878D82A}">
                    <a16:rowId xmlns:a16="http://schemas.microsoft.com/office/drawing/2014/main" val="3206245803"/>
                  </a:ext>
                </a:extLst>
              </a:tr>
            </a:tbl>
          </a:graphicData>
        </a:graphic>
      </p:graphicFrame>
      <p:grpSp>
        <p:nvGrpSpPr>
          <p:cNvPr id="47" name="Group 46">
            <a:extLst>
              <a:ext uri="{FF2B5EF4-FFF2-40B4-BE49-F238E27FC236}">
                <a16:creationId xmlns:a16="http://schemas.microsoft.com/office/drawing/2014/main" id="{CF7EB3D9-E095-CC61-7A06-ABB9CC7C45B7}"/>
              </a:ext>
            </a:extLst>
          </p:cNvPr>
          <p:cNvGrpSpPr/>
          <p:nvPr/>
        </p:nvGrpSpPr>
        <p:grpSpPr>
          <a:xfrm>
            <a:off x="7057124" y="1580488"/>
            <a:ext cx="80963" cy="1717168"/>
            <a:chOff x="6964936" y="1612609"/>
            <a:chExt cx="80963" cy="1717168"/>
          </a:xfrm>
        </p:grpSpPr>
        <p:sp>
          <p:nvSpPr>
            <p:cNvPr id="48" name="Rectangle 47">
              <a:extLst>
                <a:ext uri="{FF2B5EF4-FFF2-40B4-BE49-F238E27FC236}">
                  <a16:creationId xmlns:a16="http://schemas.microsoft.com/office/drawing/2014/main" id="{FD495AEF-510B-FA8F-6DFA-5563A8FF21DE}"/>
                </a:ext>
              </a:extLst>
            </p:cNvPr>
            <p:cNvSpPr/>
            <p:nvPr/>
          </p:nvSpPr>
          <p:spPr bwMode="auto">
            <a:xfrm>
              <a:off x="6964936" y="1612609"/>
              <a:ext cx="80963" cy="80963"/>
            </a:xfrm>
            <a:prstGeom prst="rect">
              <a:avLst/>
            </a:prstGeom>
            <a:solidFill>
              <a:srgbClr val="156082"/>
            </a:solidFill>
            <a:ln w="12700" cap="flat" cmpd="sng" algn="ctr">
              <a:noFill/>
              <a:prstDash val="solid"/>
              <a:round/>
              <a:headEnd type="none" w="med" len="med"/>
              <a:tailEnd type="none" w="med" len="med"/>
            </a:ln>
            <a:effectLst/>
          </p:spPr>
          <p:txBody>
            <a:bodyPr vert="horz" wrap="square" lIns="45720" tIns="45720" rIns="4572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ts val="450"/>
                </a:spcAft>
                <a:buClr>
                  <a:schemeClr val="tx2"/>
                </a:buClr>
                <a:buSzTx/>
                <a:buFont typeface="Wingdings" pitchFamily="2" charset="2"/>
                <a:buNone/>
                <a:tabLst/>
              </a:pPr>
              <a:endParaRPr kumimoji="0" lang="en-US" sz="1050" i="0" u="none" strike="noStrike" cap="none" normalizeH="0" baseline="0" dirty="0">
                <a:ln>
                  <a:noFill/>
                </a:ln>
                <a:solidFill>
                  <a:schemeClr val="tx1"/>
                </a:solidFill>
                <a:effectLst/>
                <a:latin typeface="+mj-lt"/>
              </a:endParaRPr>
            </a:p>
          </p:txBody>
        </p:sp>
        <p:sp>
          <p:nvSpPr>
            <p:cNvPr id="49" name="Rectangle 48">
              <a:extLst>
                <a:ext uri="{FF2B5EF4-FFF2-40B4-BE49-F238E27FC236}">
                  <a16:creationId xmlns:a16="http://schemas.microsoft.com/office/drawing/2014/main" id="{085A3813-E63F-2F6C-FD0D-2903DB80623E}"/>
                </a:ext>
              </a:extLst>
            </p:cNvPr>
            <p:cNvSpPr/>
            <p:nvPr/>
          </p:nvSpPr>
          <p:spPr bwMode="auto">
            <a:xfrm>
              <a:off x="6964936" y="1761355"/>
              <a:ext cx="80963" cy="80963"/>
            </a:xfrm>
            <a:prstGeom prst="rect">
              <a:avLst/>
            </a:prstGeom>
            <a:solidFill>
              <a:srgbClr val="E97132"/>
            </a:solidFill>
            <a:ln w="12700" cap="flat" cmpd="sng" algn="ctr">
              <a:noFill/>
              <a:prstDash val="solid"/>
              <a:round/>
              <a:headEnd type="none" w="med" len="med"/>
              <a:tailEnd type="none" w="med" len="med"/>
            </a:ln>
            <a:effectLst/>
          </p:spPr>
          <p:txBody>
            <a:bodyPr vert="horz" wrap="square" lIns="45720" tIns="45720" rIns="4572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ts val="450"/>
                </a:spcAft>
                <a:buClr>
                  <a:schemeClr val="tx2"/>
                </a:buClr>
                <a:buSzTx/>
                <a:buFont typeface="Wingdings" pitchFamily="2" charset="2"/>
                <a:buNone/>
                <a:tabLst/>
              </a:pPr>
              <a:endParaRPr kumimoji="0" lang="en-US" sz="1050" i="0" u="none" strike="noStrike" cap="none" normalizeH="0" baseline="0" dirty="0">
                <a:ln>
                  <a:noFill/>
                </a:ln>
                <a:solidFill>
                  <a:schemeClr val="tx1"/>
                </a:solidFill>
                <a:effectLst/>
                <a:latin typeface="+mj-lt"/>
              </a:endParaRPr>
            </a:p>
          </p:txBody>
        </p:sp>
        <p:sp>
          <p:nvSpPr>
            <p:cNvPr id="50" name="Rectangle 49">
              <a:extLst>
                <a:ext uri="{FF2B5EF4-FFF2-40B4-BE49-F238E27FC236}">
                  <a16:creationId xmlns:a16="http://schemas.microsoft.com/office/drawing/2014/main" id="{CA1DA7AC-B5CF-BEDE-1B8B-1C25748FA478}"/>
                </a:ext>
              </a:extLst>
            </p:cNvPr>
            <p:cNvSpPr/>
            <p:nvPr/>
          </p:nvSpPr>
          <p:spPr bwMode="auto">
            <a:xfrm>
              <a:off x="6964936" y="1910101"/>
              <a:ext cx="80963" cy="80963"/>
            </a:xfrm>
            <a:prstGeom prst="rect">
              <a:avLst/>
            </a:prstGeom>
            <a:solidFill>
              <a:srgbClr val="C00000"/>
            </a:solidFill>
            <a:ln w="12700" cap="flat" cmpd="sng" algn="ctr">
              <a:noFill/>
              <a:prstDash val="solid"/>
              <a:round/>
              <a:headEnd type="none" w="med" len="med"/>
              <a:tailEnd type="none" w="med" len="med"/>
            </a:ln>
            <a:effectLst/>
          </p:spPr>
          <p:txBody>
            <a:bodyPr vert="horz" wrap="square" lIns="45720" tIns="45720" rIns="4572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ts val="450"/>
                </a:spcAft>
                <a:buClr>
                  <a:schemeClr val="tx2"/>
                </a:buClr>
                <a:buSzTx/>
                <a:buFont typeface="Wingdings" pitchFamily="2" charset="2"/>
                <a:buNone/>
                <a:tabLst/>
              </a:pPr>
              <a:endParaRPr kumimoji="0" lang="en-US" sz="1050" i="0" u="none" strike="noStrike" cap="none" normalizeH="0" baseline="0" dirty="0">
                <a:ln>
                  <a:noFill/>
                </a:ln>
                <a:solidFill>
                  <a:schemeClr val="tx1"/>
                </a:solidFill>
                <a:effectLst/>
                <a:latin typeface="+mj-lt"/>
              </a:endParaRPr>
            </a:p>
          </p:txBody>
        </p:sp>
        <p:sp>
          <p:nvSpPr>
            <p:cNvPr id="51" name="Rectangle 50">
              <a:extLst>
                <a:ext uri="{FF2B5EF4-FFF2-40B4-BE49-F238E27FC236}">
                  <a16:creationId xmlns:a16="http://schemas.microsoft.com/office/drawing/2014/main" id="{8F49B7DC-8311-6D0F-2EE4-E7AB6185FB0C}"/>
                </a:ext>
              </a:extLst>
            </p:cNvPr>
            <p:cNvSpPr/>
            <p:nvPr/>
          </p:nvSpPr>
          <p:spPr bwMode="auto">
            <a:xfrm>
              <a:off x="6964936" y="2058847"/>
              <a:ext cx="80963" cy="80963"/>
            </a:xfrm>
            <a:prstGeom prst="rect">
              <a:avLst/>
            </a:prstGeom>
            <a:solidFill>
              <a:srgbClr val="000066"/>
            </a:solidFill>
            <a:ln w="12700" cap="flat" cmpd="sng" algn="ctr">
              <a:noFill/>
              <a:prstDash val="solid"/>
              <a:round/>
              <a:headEnd type="none" w="med" len="med"/>
              <a:tailEnd type="none" w="med" len="med"/>
            </a:ln>
            <a:effectLst/>
          </p:spPr>
          <p:txBody>
            <a:bodyPr vert="horz" wrap="square" lIns="45720" tIns="45720" rIns="4572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ts val="450"/>
                </a:spcAft>
                <a:buClr>
                  <a:schemeClr val="tx2"/>
                </a:buClr>
                <a:buSzTx/>
                <a:buFont typeface="Wingdings" pitchFamily="2" charset="2"/>
                <a:buNone/>
                <a:tabLst/>
              </a:pPr>
              <a:endParaRPr kumimoji="0" lang="en-US" sz="1050" i="0" u="none" strike="noStrike" cap="none" normalizeH="0" baseline="0" dirty="0">
                <a:ln>
                  <a:noFill/>
                </a:ln>
                <a:solidFill>
                  <a:schemeClr val="tx1"/>
                </a:solidFill>
                <a:effectLst/>
                <a:latin typeface="+mj-lt"/>
              </a:endParaRPr>
            </a:p>
          </p:txBody>
        </p:sp>
        <p:sp>
          <p:nvSpPr>
            <p:cNvPr id="52" name="Rectangle 51">
              <a:extLst>
                <a:ext uri="{FF2B5EF4-FFF2-40B4-BE49-F238E27FC236}">
                  <a16:creationId xmlns:a16="http://schemas.microsoft.com/office/drawing/2014/main" id="{C50EB5D6-E498-C91E-394F-6218AE3D356D}"/>
                </a:ext>
              </a:extLst>
            </p:cNvPr>
            <p:cNvSpPr/>
            <p:nvPr/>
          </p:nvSpPr>
          <p:spPr bwMode="auto">
            <a:xfrm>
              <a:off x="6964936" y="2207593"/>
              <a:ext cx="80963" cy="80963"/>
            </a:xfrm>
            <a:prstGeom prst="rect">
              <a:avLst/>
            </a:prstGeom>
            <a:solidFill>
              <a:srgbClr val="7F7F7F"/>
            </a:solidFill>
            <a:ln w="12700" cap="flat" cmpd="sng" algn="ctr">
              <a:noFill/>
              <a:prstDash val="solid"/>
              <a:round/>
              <a:headEnd type="none" w="med" len="med"/>
              <a:tailEnd type="none" w="med" len="med"/>
            </a:ln>
            <a:effectLst/>
          </p:spPr>
          <p:txBody>
            <a:bodyPr vert="horz" wrap="square" lIns="45720" tIns="45720" rIns="4572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ts val="450"/>
                </a:spcAft>
                <a:buClr>
                  <a:schemeClr val="tx2"/>
                </a:buClr>
                <a:buSzTx/>
                <a:buFont typeface="Wingdings" pitchFamily="2" charset="2"/>
                <a:buNone/>
                <a:tabLst/>
              </a:pPr>
              <a:endParaRPr kumimoji="0" lang="en-US" sz="1050" i="0" u="none" strike="noStrike" cap="none" normalizeH="0" baseline="0" dirty="0">
                <a:ln>
                  <a:noFill/>
                </a:ln>
                <a:solidFill>
                  <a:schemeClr val="tx1"/>
                </a:solidFill>
                <a:effectLst/>
                <a:latin typeface="+mj-lt"/>
              </a:endParaRPr>
            </a:p>
          </p:txBody>
        </p:sp>
        <p:sp>
          <p:nvSpPr>
            <p:cNvPr id="53" name="Rectangle 52">
              <a:extLst>
                <a:ext uri="{FF2B5EF4-FFF2-40B4-BE49-F238E27FC236}">
                  <a16:creationId xmlns:a16="http://schemas.microsoft.com/office/drawing/2014/main" id="{71B81687-EC70-A881-DE98-59699EBCDEF5}"/>
                </a:ext>
              </a:extLst>
            </p:cNvPr>
            <p:cNvSpPr/>
            <p:nvPr/>
          </p:nvSpPr>
          <p:spPr bwMode="auto">
            <a:xfrm>
              <a:off x="6964936" y="2356339"/>
              <a:ext cx="80963" cy="80963"/>
            </a:xfrm>
            <a:prstGeom prst="rect">
              <a:avLst/>
            </a:prstGeom>
            <a:solidFill>
              <a:srgbClr val="4EA72E"/>
            </a:solidFill>
            <a:ln w="12700" cap="flat" cmpd="sng" algn="ctr">
              <a:noFill/>
              <a:prstDash val="solid"/>
              <a:round/>
              <a:headEnd type="none" w="med" len="med"/>
              <a:tailEnd type="none" w="med" len="med"/>
            </a:ln>
            <a:effectLst/>
          </p:spPr>
          <p:txBody>
            <a:bodyPr vert="horz" wrap="square" lIns="45720" tIns="45720" rIns="4572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ts val="450"/>
                </a:spcAft>
                <a:buClr>
                  <a:schemeClr val="tx2"/>
                </a:buClr>
                <a:buSzTx/>
                <a:buFont typeface="Wingdings" pitchFamily="2" charset="2"/>
                <a:buNone/>
                <a:tabLst/>
              </a:pPr>
              <a:endParaRPr kumimoji="0" lang="en-US" sz="1050" i="0" u="none" strike="noStrike" cap="none" normalizeH="0" baseline="0" dirty="0">
                <a:ln>
                  <a:noFill/>
                </a:ln>
                <a:solidFill>
                  <a:schemeClr val="tx1"/>
                </a:solidFill>
                <a:effectLst/>
                <a:latin typeface="+mj-lt"/>
              </a:endParaRPr>
            </a:p>
          </p:txBody>
        </p:sp>
        <p:sp>
          <p:nvSpPr>
            <p:cNvPr id="54" name="Rectangle 53">
              <a:extLst>
                <a:ext uri="{FF2B5EF4-FFF2-40B4-BE49-F238E27FC236}">
                  <a16:creationId xmlns:a16="http://schemas.microsoft.com/office/drawing/2014/main" id="{62B3E33D-C286-7E5F-090D-E538C68151B1}"/>
                </a:ext>
              </a:extLst>
            </p:cNvPr>
            <p:cNvSpPr/>
            <p:nvPr/>
          </p:nvSpPr>
          <p:spPr bwMode="auto">
            <a:xfrm>
              <a:off x="6964936" y="2505085"/>
              <a:ext cx="80963" cy="80963"/>
            </a:xfrm>
            <a:prstGeom prst="rect">
              <a:avLst/>
            </a:prstGeom>
            <a:solidFill>
              <a:srgbClr val="0D3A4E"/>
            </a:solidFill>
            <a:ln w="12700" cap="flat" cmpd="sng" algn="ctr">
              <a:noFill/>
              <a:prstDash val="solid"/>
              <a:round/>
              <a:headEnd type="none" w="med" len="med"/>
              <a:tailEnd type="none" w="med" len="med"/>
            </a:ln>
            <a:effectLst/>
          </p:spPr>
          <p:txBody>
            <a:bodyPr vert="horz" wrap="square" lIns="45720" tIns="45720" rIns="4572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ts val="450"/>
                </a:spcAft>
                <a:buClr>
                  <a:schemeClr val="tx2"/>
                </a:buClr>
                <a:buSzTx/>
                <a:buFont typeface="Wingdings" pitchFamily="2" charset="2"/>
                <a:buNone/>
                <a:tabLst/>
              </a:pPr>
              <a:endParaRPr kumimoji="0" lang="en-US" sz="1050" i="0" u="none" strike="noStrike" cap="none" normalizeH="0" baseline="0" dirty="0">
                <a:ln>
                  <a:noFill/>
                </a:ln>
                <a:solidFill>
                  <a:schemeClr val="tx1"/>
                </a:solidFill>
                <a:effectLst/>
                <a:latin typeface="+mj-lt"/>
              </a:endParaRPr>
            </a:p>
          </p:txBody>
        </p:sp>
        <p:sp>
          <p:nvSpPr>
            <p:cNvPr id="55" name="Rectangle 54">
              <a:extLst>
                <a:ext uri="{FF2B5EF4-FFF2-40B4-BE49-F238E27FC236}">
                  <a16:creationId xmlns:a16="http://schemas.microsoft.com/office/drawing/2014/main" id="{B8AB5341-D6D5-25E6-C244-20C3294A9066}"/>
                </a:ext>
              </a:extLst>
            </p:cNvPr>
            <p:cNvSpPr/>
            <p:nvPr/>
          </p:nvSpPr>
          <p:spPr bwMode="auto">
            <a:xfrm>
              <a:off x="6964936" y="2653831"/>
              <a:ext cx="80963" cy="80963"/>
            </a:xfrm>
            <a:prstGeom prst="rect">
              <a:avLst/>
            </a:prstGeom>
            <a:solidFill>
              <a:srgbClr val="D9F2D0"/>
            </a:solidFill>
            <a:ln w="12700" cap="flat" cmpd="sng" algn="ctr">
              <a:noFill/>
              <a:prstDash val="solid"/>
              <a:round/>
              <a:headEnd type="none" w="med" len="med"/>
              <a:tailEnd type="none" w="med" len="med"/>
            </a:ln>
            <a:effectLst/>
          </p:spPr>
          <p:txBody>
            <a:bodyPr vert="horz" wrap="square" lIns="45720" tIns="45720" rIns="4572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ts val="450"/>
                </a:spcAft>
                <a:buClr>
                  <a:schemeClr val="tx2"/>
                </a:buClr>
                <a:buSzTx/>
                <a:buFont typeface="Wingdings" pitchFamily="2" charset="2"/>
                <a:buNone/>
                <a:tabLst/>
              </a:pPr>
              <a:endParaRPr kumimoji="0" lang="en-US" sz="1050" i="0" u="none" strike="noStrike" cap="none" normalizeH="0" baseline="0" dirty="0">
                <a:ln>
                  <a:noFill/>
                </a:ln>
                <a:solidFill>
                  <a:schemeClr val="tx1"/>
                </a:solidFill>
                <a:effectLst/>
                <a:latin typeface="+mj-lt"/>
              </a:endParaRPr>
            </a:p>
          </p:txBody>
        </p:sp>
        <p:sp>
          <p:nvSpPr>
            <p:cNvPr id="56" name="Rectangle 55">
              <a:extLst>
                <a:ext uri="{FF2B5EF4-FFF2-40B4-BE49-F238E27FC236}">
                  <a16:creationId xmlns:a16="http://schemas.microsoft.com/office/drawing/2014/main" id="{5225B416-5B89-7C9D-7E8E-1B5D6A3A2F04}"/>
                </a:ext>
              </a:extLst>
            </p:cNvPr>
            <p:cNvSpPr/>
            <p:nvPr/>
          </p:nvSpPr>
          <p:spPr bwMode="auto">
            <a:xfrm>
              <a:off x="6964936" y="2802577"/>
              <a:ext cx="80963" cy="80963"/>
            </a:xfrm>
            <a:prstGeom prst="rect">
              <a:avLst/>
            </a:prstGeom>
            <a:solidFill>
              <a:srgbClr val="E59EDD"/>
            </a:solidFill>
            <a:ln w="12700" cap="flat" cmpd="sng" algn="ctr">
              <a:noFill/>
              <a:prstDash val="solid"/>
              <a:round/>
              <a:headEnd type="none" w="med" len="med"/>
              <a:tailEnd type="none" w="med" len="med"/>
            </a:ln>
            <a:effectLst/>
          </p:spPr>
          <p:txBody>
            <a:bodyPr vert="horz" wrap="square" lIns="45720" tIns="45720" rIns="4572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ts val="450"/>
                </a:spcAft>
                <a:buClr>
                  <a:schemeClr val="tx2"/>
                </a:buClr>
                <a:buSzTx/>
                <a:buFont typeface="Wingdings" pitchFamily="2" charset="2"/>
                <a:buNone/>
                <a:tabLst/>
              </a:pPr>
              <a:endParaRPr kumimoji="0" lang="en-US" sz="1050" i="0" u="none" strike="noStrike" cap="none" normalizeH="0" baseline="0" dirty="0">
                <a:ln>
                  <a:noFill/>
                </a:ln>
                <a:solidFill>
                  <a:schemeClr val="tx1"/>
                </a:solidFill>
                <a:effectLst/>
                <a:latin typeface="+mj-lt"/>
              </a:endParaRPr>
            </a:p>
          </p:txBody>
        </p:sp>
        <p:sp>
          <p:nvSpPr>
            <p:cNvPr id="57" name="Rectangle 56">
              <a:extLst>
                <a:ext uri="{FF2B5EF4-FFF2-40B4-BE49-F238E27FC236}">
                  <a16:creationId xmlns:a16="http://schemas.microsoft.com/office/drawing/2014/main" id="{C41FDA1B-5807-8477-5549-9CE596E1889B}"/>
                </a:ext>
              </a:extLst>
            </p:cNvPr>
            <p:cNvSpPr/>
            <p:nvPr/>
          </p:nvSpPr>
          <p:spPr bwMode="auto">
            <a:xfrm>
              <a:off x="6964936" y="2951323"/>
              <a:ext cx="80963" cy="80963"/>
            </a:xfrm>
            <a:prstGeom prst="rect">
              <a:avLst/>
            </a:prstGeom>
            <a:solidFill>
              <a:srgbClr val="095F80"/>
            </a:solidFill>
            <a:ln w="12700" cap="flat" cmpd="sng" algn="ctr">
              <a:noFill/>
              <a:prstDash val="solid"/>
              <a:round/>
              <a:headEnd type="none" w="med" len="med"/>
              <a:tailEnd type="none" w="med" len="med"/>
            </a:ln>
            <a:effectLst/>
          </p:spPr>
          <p:txBody>
            <a:bodyPr vert="horz" wrap="square" lIns="45720" tIns="45720" rIns="4572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ts val="450"/>
                </a:spcAft>
                <a:buClr>
                  <a:schemeClr val="tx2"/>
                </a:buClr>
                <a:buSzTx/>
                <a:buFont typeface="Wingdings" pitchFamily="2" charset="2"/>
                <a:buNone/>
                <a:tabLst/>
              </a:pPr>
              <a:endParaRPr kumimoji="0" lang="en-US" sz="1050" i="0" u="none" strike="noStrike" cap="none" normalizeH="0" baseline="0" dirty="0">
                <a:ln>
                  <a:noFill/>
                </a:ln>
                <a:solidFill>
                  <a:schemeClr val="tx1"/>
                </a:solidFill>
                <a:effectLst/>
                <a:latin typeface="+mj-lt"/>
              </a:endParaRPr>
            </a:p>
          </p:txBody>
        </p:sp>
        <p:sp>
          <p:nvSpPr>
            <p:cNvPr id="58" name="Rectangle 57">
              <a:extLst>
                <a:ext uri="{FF2B5EF4-FFF2-40B4-BE49-F238E27FC236}">
                  <a16:creationId xmlns:a16="http://schemas.microsoft.com/office/drawing/2014/main" id="{6A87281A-495D-96A1-3B14-BDF4325A31C1}"/>
                </a:ext>
              </a:extLst>
            </p:cNvPr>
            <p:cNvSpPr/>
            <p:nvPr/>
          </p:nvSpPr>
          <p:spPr bwMode="auto">
            <a:xfrm>
              <a:off x="6964936" y="3100069"/>
              <a:ext cx="80963" cy="80963"/>
            </a:xfrm>
            <a:prstGeom prst="rect">
              <a:avLst/>
            </a:prstGeom>
            <a:solidFill>
              <a:srgbClr val="601A58"/>
            </a:solidFill>
            <a:ln w="12700" cap="flat" cmpd="sng" algn="ctr">
              <a:noFill/>
              <a:prstDash val="solid"/>
              <a:round/>
              <a:headEnd type="none" w="med" len="med"/>
              <a:tailEnd type="none" w="med" len="med"/>
            </a:ln>
            <a:effectLst/>
          </p:spPr>
          <p:txBody>
            <a:bodyPr vert="horz" wrap="square" lIns="45720" tIns="45720" rIns="4572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ts val="450"/>
                </a:spcAft>
                <a:buClr>
                  <a:schemeClr val="tx2"/>
                </a:buClr>
                <a:buSzTx/>
                <a:buFont typeface="Wingdings" pitchFamily="2" charset="2"/>
                <a:buNone/>
                <a:tabLst/>
              </a:pPr>
              <a:endParaRPr kumimoji="0" lang="en-US" sz="1050" i="0" u="none" strike="noStrike" cap="none" normalizeH="0" baseline="0" dirty="0">
                <a:ln>
                  <a:noFill/>
                </a:ln>
                <a:solidFill>
                  <a:schemeClr val="tx1"/>
                </a:solidFill>
                <a:effectLst/>
                <a:latin typeface="+mj-lt"/>
              </a:endParaRPr>
            </a:p>
          </p:txBody>
        </p:sp>
        <p:sp>
          <p:nvSpPr>
            <p:cNvPr id="59" name="Rectangle 58">
              <a:extLst>
                <a:ext uri="{FF2B5EF4-FFF2-40B4-BE49-F238E27FC236}">
                  <a16:creationId xmlns:a16="http://schemas.microsoft.com/office/drawing/2014/main" id="{1E7CB6C6-F506-4148-32B0-7D4A15F281F5}"/>
                </a:ext>
              </a:extLst>
            </p:cNvPr>
            <p:cNvSpPr/>
            <p:nvPr/>
          </p:nvSpPr>
          <p:spPr bwMode="auto">
            <a:xfrm>
              <a:off x="6964936" y="3248814"/>
              <a:ext cx="80963" cy="80963"/>
            </a:xfrm>
            <a:prstGeom prst="rect">
              <a:avLst/>
            </a:prstGeom>
            <a:solidFill>
              <a:srgbClr val="2F641C"/>
            </a:solidFill>
            <a:ln w="12700" cap="flat" cmpd="sng" algn="ctr">
              <a:noFill/>
              <a:prstDash val="solid"/>
              <a:round/>
              <a:headEnd type="none" w="med" len="med"/>
              <a:tailEnd type="none" w="med" len="med"/>
            </a:ln>
            <a:effectLst/>
          </p:spPr>
          <p:txBody>
            <a:bodyPr vert="horz" wrap="square" lIns="45720" tIns="45720" rIns="4572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ts val="450"/>
                </a:spcAft>
                <a:buClr>
                  <a:schemeClr val="tx2"/>
                </a:buClr>
                <a:buSzTx/>
                <a:buFont typeface="Wingdings" pitchFamily="2" charset="2"/>
                <a:buNone/>
                <a:tabLst/>
              </a:pPr>
              <a:endParaRPr kumimoji="0" lang="en-US" sz="1050" i="0" u="none" strike="noStrike" cap="none" normalizeH="0" baseline="0" dirty="0">
                <a:ln>
                  <a:noFill/>
                </a:ln>
                <a:solidFill>
                  <a:schemeClr val="tx1"/>
                </a:solidFill>
                <a:effectLst/>
                <a:latin typeface="+mj-lt"/>
              </a:endParaRPr>
            </a:p>
          </p:txBody>
        </p:sp>
      </p:grpSp>
      <p:pic>
        <p:nvPicPr>
          <p:cNvPr id="60" name="Graphic 59">
            <a:extLst>
              <a:ext uri="{FF2B5EF4-FFF2-40B4-BE49-F238E27FC236}">
                <a16:creationId xmlns:a16="http://schemas.microsoft.com/office/drawing/2014/main" id="{8960BA5D-2EBD-AFA1-CE67-B709F443526A}"/>
              </a:ext>
            </a:extLst>
          </p:cNvPr>
          <p:cNvPicPr>
            <a:picLocks noChangeAspect="1"/>
          </p:cNvPicPr>
          <p:nvPr>
            <p:custDataLst>
              <p:tags r:id="rId6"/>
            </p:custDataLst>
          </p:nvPr>
        </p:nvPicPr>
        <p:blipFill>
          <a:blip r:embed="rId18">
            <a:extLst>
              <a:ext uri="{96DAC541-7B7A-43D3-8B79-37D633B846F1}">
                <asvg:svgBlip xmlns:asvg="http://schemas.microsoft.com/office/drawing/2016/SVG/main" r:embed="rId19"/>
              </a:ext>
            </a:extLst>
          </a:blip>
          <a:stretch>
            <a:fillRect/>
          </a:stretch>
        </p:blipFill>
        <p:spPr>
          <a:xfrm>
            <a:off x="4842780" y="1430409"/>
            <a:ext cx="1924788" cy="2017326"/>
          </a:xfrm>
          <a:prstGeom prst="rect">
            <a:avLst/>
          </a:prstGeom>
        </p:spPr>
      </p:pic>
    </p:spTree>
    <p:extLst>
      <p:ext uri="{BB962C8B-B14F-4D97-AF65-F5344CB8AC3E}">
        <p14:creationId xmlns:p14="http://schemas.microsoft.com/office/powerpoint/2010/main" val="3225941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6A503-3D6C-A521-1F59-677C8BC9B6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A1B89F-559B-0CE2-6EBC-7D68B55785FC}"/>
              </a:ext>
            </a:extLst>
          </p:cNvPr>
          <p:cNvSpPr>
            <a:spLocks noGrp="1"/>
          </p:cNvSpPr>
          <p:nvPr>
            <p:ph type="title"/>
          </p:nvPr>
        </p:nvSpPr>
        <p:spPr/>
        <p:txBody>
          <a:bodyPr>
            <a:normAutofit/>
          </a:bodyPr>
          <a:lstStyle/>
          <a:p>
            <a:r>
              <a:rPr lang="en-US" dirty="0"/>
              <a:t>Company Overview (cont’d)</a:t>
            </a:r>
          </a:p>
        </p:txBody>
      </p:sp>
      <p:sp>
        <p:nvSpPr>
          <p:cNvPr id="9" name="Slide Number Placeholder 8">
            <a:extLst>
              <a:ext uri="{FF2B5EF4-FFF2-40B4-BE49-F238E27FC236}">
                <a16:creationId xmlns:a16="http://schemas.microsoft.com/office/drawing/2014/main" id="{E6FE234C-ACF8-9FE3-3D50-B6C40B883843}"/>
              </a:ext>
            </a:extLst>
          </p:cNvPr>
          <p:cNvSpPr>
            <a:spLocks noGrp="1"/>
          </p:cNvSpPr>
          <p:nvPr>
            <p:ph type="sldNum" sz="quarter" idx="12"/>
          </p:nvPr>
        </p:nvSpPr>
        <p:spPr/>
        <p:txBody>
          <a:bodyPr/>
          <a:lstStyle/>
          <a:p>
            <a:fld id="{F8DDDAE5-3BDD-4D78-843B-A22FA78305BB}" type="slidenum">
              <a:rPr lang="en-US" smtClean="0"/>
              <a:t>11</a:t>
            </a:fld>
            <a:endParaRPr lang="en-US" dirty="0"/>
          </a:p>
        </p:txBody>
      </p:sp>
      <p:sp>
        <p:nvSpPr>
          <p:cNvPr id="15" name="Rectangle: Diagonal Corners Snipped 14">
            <a:extLst>
              <a:ext uri="{FF2B5EF4-FFF2-40B4-BE49-F238E27FC236}">
                <a16:creationId xmlns:a16="http://schemas.microsoft.com/office/drawing/2014/main" id="{432DA8B9-61EF-8F8E-D261-A2032231B682}"/>
              </a:ext>
            </a:extLst>
          </p:cNvPr>
          <p:cNvSpPr/>
          <p:nvPr/>
        </p:nvSpPr>
        <p:spPr>
          <a:xfrm>
            <a:off x="176305" y="927426"/>
            <a:ext cx="8791389"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Business Unit Comparison</a:t>
            </a:r>
          </a:p>
        </p:txBody>
      </p:sp>
      <p:graphicFrame>
        <p:nvGraphicFramePr>
          <p:cNvPr id="5" name="Table 4">
            <a:extLst>
              <a:ext uri="{FF2B5EF4-FFF2-40B4-BE49-F238E27FC236}">
                <a16:creationId xmlns:a16="http://schemas.microsoft.com/office/drawing/2014/main" id="{2433395F-59E8-7E9A-A8D6-3E065130527B}"/>
              </a:ext>
            </a:extLst>
          </p:cNvPr>
          <p:cNvGraphicFramePr>
            <a:graphicFrameLocks noGrp="1"/>
          </p:cNvGraphicFramePr>
          <p:nvPr>
            <p:extLst>
              <p:ext uri="{D42A27DB-BD31-4B8C-83A1-F6EECF244321}">
                <p14:modId xmlns:p14="http://schemas.microsoft.com/office/powerpoint/2010/main" val="884606426"/>
              </p:ext>
            </p:extLst>
          </p:nvPr>
        </p:nvGraphicFramePr>
        <p:xfrm>
          <a:off x="221940" y="1291126"/>
          <a:ext cx="8745753" cy="5180643"/>
        </p:xfrm>
        <a:graphic>
          <a:graphicData uri="http://schemas.openxmlformats.org/drawingml/2006/table">
            <a:tbl>
              <a:tblPr firstRow="1" bandRow="1">
                <a:tableStyleId>{5C22544A-7EE6-4342-B048-85BDC9FD1C3A}</a:tableStyleId>
              </a:tblPr>
              <a:tblGrid>
                <a:gridCol w="1451585">
                  <a:extLst>
                    <a:ext uri="{9D8B030D-6E8A-4147-A177-3AD203B41FA5}">
                      <a16:colId xmlns:a16="http://schemas.microsoft.com/office/drawing/2014/main" val="1878388552"/>
                    </a:ext>
                  </a:extLst>
                </a:gridCol>
                <a:gridCol w="3647084">
                  <a:extLst>
                    <a:ext uri="{9D8B030D-6E8A-4147-A177-3AD203B41FA5}">
                      <a16:colId xmlns:a16="http://schemas.microsoft.com/office/drawing/2014/main" val="3827564731"/>
                    </a:ext>
                  </a:extLst>
                </a:gridCol>
                <a:gridCol w="3647084">
                  <a:extLst>
                    <a:ext uri="{9D8B030D-6E8A-4147-A177-3AD203B41FA5}">
                      <a16:colId xmlns:a16="http://schemas.microsoft.com/office/drawing/2014/main" val="3505276527"/>
                    </a:ext>
                  </a:extLst>
                </a:gridCol>
              </a:tblGrid>
              <a:tr h="575627">
                <a:tc>
                  <a:txBody>
                    <a:bodyPr/>
                    <a:lstStyle/>
                    <a:p>
                      <a:r>
                        <a:rPr lang="en-US" b="1" dirty="0"/>
                        <a:t>Factor</a:t>
                      </a:r>
                      <a:endParaRPr lang="en-US" dirty="0"/>
                    </a:p>
                  </a:txBody>
                  <a:tcPr anchor="ctr">
                    <a:solidFill>
                      <a:srgbClr val="143F6A"/>
                    </a:solidFill>
                  </a:tcPr>
                </a:tc>
                <a:tc>
                  <a:txBody>
                    <a:bodyPr/>
                    <a:lstStyle/>
                    <a:p>
                      <a:pPr algn="ctr"/>
                      <a:r>
                        <a:rPr lang="en-US" b="1" dirty="0"/>
                        <a:t>AAS Michigan</a:t>
                      </a:r>
                      <a:endParaRPr lang="en-US" dirty="0"/>
                    </a:p>
                  </a:txBody>
                  <a:tcPr anchor="ctr">
                    <a:solidFill>
                      <a:srgbClr val="143F6A"/>
                    </a:solidFill>
                  </a:tcPr>
                </a:tc>
                <a:tc>
                  <a:txBody>
                    <a:bodyPr/>
                    <a:lstStyle/>
                    <a:p>
                      <a:pPr algn="ctr"/>
                      <a:r>
                        <a:rPr lang="en-US" b="1" dirty="0"/>
                        <a:t>AAS Indiana</a:t>
                      </a:r>
                      <a:endParaRPr lang="en-US" dirty="0"/>
                    </a:p>
                  </a:txBody>
                  <a:tcPr anchor="ctr">
                    <a:solidFill>
                      <a:srgbClr val="143F6A"/>
                    </a:solidFill>
                  </a:tcPr>
                </a:tc>
                <a:extLst>
                  <a:ext uri="{0D108BD9-81ED-4DB2-BD59-A6C34878D82A}">
                    <a16:rowId xmlns:a16="http://schemas.microsoft.com/office/drawing/2014/main" val="3316395631"/>
                  </a:ext>
                </a:extLst>
              </a:tr>
              <a:tr h="575627">
                <a:tc>
                  <a:txBody>
                    <a:bodyPr/>
                    <a:lstStyle/>
                    <a:p>
                      <a:r>
                        <a:rPr lang="en-US" sz="1200" b="0" dirty="0"/>
                        <a:t>Market Entry</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a:r>
                        <a:rPr lang="en-US" sz="1200" b="0" dirty="0"/>
                        <a:t>Founded in 2009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a:r>
                        <a:rPr lang="en-US" sz="1200" b="0" dirty="0"/>
                        <a:t>Expanded into in 2022</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8088926"/>
                  </a:ext>
                </a:extLst>
              </a:tr>
              <a:tr h="575627">
                <a:tc>
                  <a:txBody>
                    <a:bodyPr/>
                    <a:lstStyle/>
                    <a:p>
                      <a:r>
                        <a:rPr lang="en-US" sz="1200" b="0" dirty="0"/>
                        <a:t>Revenue / EBITDA (2025E)*</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0" dirty="0"/>
                        <a:t>$12.3M / $1.7M (13.8%)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0" dirty="0"/>
                        <a:t>$15.7M / $2.9M (18.5%)</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1034613"/>
                  </a:ext>
                </a:extLst>
              </a:tr>
              <a:tr h="575627">
                <a:tc>
                  <a:txBody>
                    <a:bodyPr/>
                    <a:lstStyle/>
                    <a:p>
                      <a:r>
                        <a:rPr lang="en-US" sz="1200" b="0" dirty="0"/>
                        <a:t>FY 2025 Customer Base</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0" dirty="0"/>
                        <a:t>16 ASCs, diversified partnerships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0" dirty="0"/>
                        <a:t>13 ASCs, concentrated in IU Health</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1413492"/>
                  </a:ext>
                </a:extLst>
              </a:tr>
              <a:tr h="575627">
                <a:tc>
                  <a:txBody>
                    <a:bodyPr/>
                    <a:lstStyle/>
                    <a:p>
                      <a:r>
                        <a:rPr lang="en-US" sz="1200" b="0" dirty="0"/>
                        <a:t>Employees (est.)</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0" dirty="0"/>
                        <a:t>16 MDAs / 110 CRNAs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0" dirty="0"/>
                        <a:t>36 MDAs / 37 CRNAs</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2300815"/>
                  </a:ext>
                </a:extLst>
              </a:tr>
              <a:tr h="575627">
                <a:tc>
                  <a:txBody>
                    <a:bodyPr/>
                    <a:lstStyle/>
                    <a:p>
                      <a:r>
                        <a:rPr lang="en-US" sz="1200" b="0" dirty="0"/>
                        <a:t>Revenue Model</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0" dirty="0"/>
                        <a:t>Mix of fee-for-service and collections-based income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0" dirty="0"/>
                        <a:t>Guaranteed minimum payments via true-up contracts</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5926944"/>
                  </a:ext>
                </a:extLst>
              </a:tr>
              <a:tr h="575627">
                <a:tc>
                  <a:txBody>
                    <a:bodyPr/>
                    <a:lstStyle/>
                    <a:p>
                      <a:r>
                        <a:rPr lang="en-US" sz="1200" b="0" dirty="0"/>
                        <a:t>Contract Structure</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0" dirty="0"/>
                        <a:t>Some fee-for-day arrangements, others dependent on insurance reimbursements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0" dirty="0"/>
                        <a:t>3- to 5-year ASC contracts with locked-in labor costs and annual escalators</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6725794"/>
                  </a:ext>
                </a:extLst>
              </a:tr>
              <a:tr h="575627">
                <a:tc>
                  <a:txBody>
                    <a:bodyPr/>
                    <a:lstStyle/>
                    <a:p>
                      <a:r>
                        <a:rPr lang="en-US" sz="1200" b="0" dirty="0"/>
                        <a:t>Payor Risk</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0" dirty="0"/>
                        <a:t>Higher payor risk due to reliance on insurance collections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0" dirty="0"/>
                        <a:t>Lower payor risk since ASCs must cover labor costs, regardless of collections</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3192756"/>
                  </a:ext>
                </a:extLst>
              </a:tr>
              <a:tr h="575627">
                <a:tc>
                  <a:txBody>
                    <a:bodyPr/>
                    <a:lstStyle/>
                    <a:p>
                      <a:r>
                        <a:rPr lang="en-US" sz="1200" b="0" dirty="0"/>
                        <a:t>Anesthesia Model</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sv-SE" sz="1200" b="0" dirty="0"/>
                        <a:t>Traditional MDA/CRNA staffing model</a:t>
                      </a:r>
                      <a:endParaRPr lang="en-US" sz="12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0" dirty="0"/>
                        <a:t>Introduced CRNA model to IU Health (previously MDA-only)</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13838087"/>
                  </a:ext>
                </a:extLst>
              </a:tr>
            </a:tbl>
          </a:graphicData>
        </a:graphic>
      </p:graphicFrame>
      <p:sp>
        <p:nvSpPr>
          <p:cNvPr id="4" name="TextBox 3">
            <a:extLst>
              <a:ext uri="{FF2B5EF4-FFF2-40B4-BE49-F238E27FC236}">
                <a16:creationId xmlns:a16="http://schemas.microsoft.com/office/drawing/2014/main" id="{9CC53EAA-347D-EEE0-C1F0-24F550748627}"/>
              </a:ext>
            </a:extLst>
          </p:cNvPr>
          <p:cNvSpPr txBox="1"/>
          <p:nvPr/>
        </p:nvSpPr>
        <p:spPr>
          <a:xfrm>
            <a:off x="-8180" y="6586525"/>
            <a:ext cx="5138445" cy="215444"/>
          </a:xfrm>
          <a:prstGeom prst="rect">
            <a:avLst/>
          </a:prstGeom>
          <a:noFill/>
        </p:spPr>
        <p:txBody>
          <a:bodyPr wrap="square" rtlCol="0">
            <a:spAutoFit/>
          </a:bodyPr>
          <a:lstStyle/>
          <a:p>
            <a:r>
              <a:rPr lang="en-US" sz="800" dirty="0"/>
              <a:t>*Company projections, exclude NSC Corporate Overhead costs</a:t>
            </a:r>
          </a:p>
        </p:txBody>
      </p:sp>
    </p:spTree>
    <p:extLst>
      <p:ext uri="{BB962C8B-B14F-4D97-AF65-F5344CB8AC3E}">
        <p14:creationId xmlns:p14="http://schemas.microsoft.com/office/powerpoint/2010/main" val="1540715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44D6F-3D06-C8E3-C5FE-042073D4BCF3}"/>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3F7F1D01-F5C6-4E94-2F31-750C50CAA3D1}"/>
              </a:ext>
            </a:extLst>
          </p:cNvPr>
          <p:cNvSpPr/>
          <p:nvPr/>
        </p:nvSpPr>
        <p:spPr bwMode="auto">
          <a:xfrm>
            <a:off x="176305" y="2709400"/>
            <a:ext cx="4261224" cy="4083351"/>
          </a:xfrm>
          <a:prstGeom prst="rect">
            <a:avLst/>
          </a:prstGeom>
          <a:solidFill>
            <a:srgbClr val="F2F2F2"/>
          </a:solidFill>
          <a:ln w="12700" cap="flat" cmpd="sng" algn="ctr">
            <a:noFill/>
            <a:prstDash val="solid"/>
            <a:round/>
            <a:headEnd type="none" w="med" len="med"/>
            <a:tailEnd type="none" w="med" len="med"/>
          </a:ln>
          <a:effectLst/>
        </p:spPr>
        <p:txBody>
          <a:bodyPr vert="horz" wrap="square" lIns="45720" tIns="45720" rIns="4572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ts val="450"/>
              </a:spcAft>
              <a:buClr>
                <a:schemeClr val="tx2"/>
              </a:buClr>
              <a:buSzTx/>
              <a:buFont typeface="Wingdings" pitchFamily="2" charset="2"/>
              <a:buNone/>
              <a:tabLst/>
            </a:pPr>
            <a:endParaRPr kumimoji="0" lang="en-US" sz="1050" i="0" u="none" strike="noStrike" cap="none" normalizeH="0" baseline="0" dirty="0">
              <a:ln>
                <a:noFill/>
              </a:ln>
              <a:solidFill>
                <a:schemeClr val="tx1"/>
              </a:solidFill>
              <a:effectLst/>
              <a:latin typeface="+mj-lt"/>
            </a:endParaRPr>
          </a:p>
        </p:txBody>
      </p:sp>
      <p:sp>
        <p:nvSpPr>
          <p:cNvPr id="2" name="Title 1">
            <a:extLst>
              <a:ext uri="{FF2B5EF4-FFF2-40B4-BE49-F238E27FC236}">
                <a16:creationId xmlns:a16="http://schemas.microsoft.com/office/drawing/2014/main" id="{7C9C19E1-EFF6-41FA-A3A1-4F33CA0739C8}"/>
              </a:ext>
            </a:extLst>
          </p:cNvPr>
          <p:cNvSpPr>
            <a:spLocks noGrp="1"/>
          </p:cNvSpPr>
          <p:nvPr>
            <p:ph type="title"/>
          </p:nvPr>
        </p:nvSpPr>
        <p:spPr/>
        <p:txBody>
          <a:bodyPr>
            <a:normAutofit/>
          </a:bodyPr>
          <a:lstStyle/>
          <a:p>
            <a:r>
              <a:rPr lang="en-US" dirty="0"/>
              <a:t>Employee Overview</a:t>
            </a:r>
          </a:p>
        </p:txBody>
      </p:sp>
      <p:sp>
        <p:nvSpPr>
          <p:cNvPr id="9" name="Slide Number Placeholder 8">
            <a:extLst>
              <a:ext uri="{FF2B5EF4-FFF2-40B4-BE49-F238E27FC236}">
                <a16:creationId xmlns:a16="http://schemas.microsoft.com/office/drawing/2014/main" id="{2952D630-5374-7030-8C85-A080D75FDA70}"/>
              </a:ext>
            </a:extLst>
          </p:cNvPr>
          <p:cNvSpPr>
            <a:spLocks noGrp="1"/>
          </p:cNvSpPr>
          <p:nvPr>
            <p:ph type="sldNum" sz="quarter" idx="12"/>
          </p:nvPr>
        </p:nvSpPr>
        <p:spPr/>
        <p:txBody>
          <a:bodyPr/>
          <a:lstStyle/>
          <a:p>
            <a:fld id="{F8DDDAE5-3BDD-4D78-843B-A22FA78305BB}" type="slidenum">
              <a:rPr lang="en-US" smtClean="0"/>
              <a:t>12</a:t>
            </a:fld>
            <a:endParaRPr lang="en-US" dirty="0"/>
          </a:p>
        </p:txBody>
      </p:sp>
      <p:sp>
        <p:nvSpPr>
          <p:cNvPr id="13" name="Rectangle: Diagonal Corners Snipped 12">
            <a:extLst>
              <a:ext uri="{FF2B5EF4-FFF2-40B4-BE49-F238E27FC236}">
                <a16:creationId xmlns:a16="http://schemas.microsoft.com/office/drawing/2014/main" id="{8BC76F1D-1240-68E6-7AC7-5E3EF8620600}"/>
              </a:ext>
            </a:extLst>
          </p:cNvPr>
          <p:cNvSpPr/>
          <p:nvPr/>
        </p:nvSpPr>
        <p:spPr>
          <a:xfrm>
            <a:off x="176305" y="927422"/>
            <a:ext cx="4261223"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Employee Overview</a:t>
            </a:r>
          </a:p>
        </p:txBody>
      </p:sp>
      <p:sp>
        <p:nvSpPr>
          <p:cNvPr id="16" name="TextBox 15">
            <a:extLst>
              <a:ext uri="{FF2B5EF4-FFF2-40B4-BE49-F238E27FC236}">
                <a16:creationId xmlns:a16="http://schemas.microsoft.com/office/drawing/2014/main" id="{3897421A-AFF4-2859-3A10-55392E42B162}"/>
              </a:ext>
            </a:extLst>
          </p:cNvPr>
          <p:cNvSpPr txBox="1"/>
          <p:nvPr/>
        </p:nvSpPr>
        <p:spPr>
          <a:xfrm>
            <a:off x="176305" y="1221814"/>
            <a:ext cx="4261223" cy="1487587"/>
          </a:xfrm>
          <a:prstGeom prst="rect">
            <a:avLst/>
          </a:prstGeom>
          <a:noFill/>
        </p:spPr>
        <p:txBody>
          <a:bodyPr wrap="square" rtlCol="0">
            <a:spAutoFit/>
          </a:bodyPr>
          <a:lstStyle/>
          <a:p>
            <a:pPr marL="171450" indent="-171450">
              <a:spcBef>
                <a:spcPts val="400"/>
              </a:spcBef>
              <a:spcAft>
                <a:spcPts val="400"/>
              </a:spcAft>
              <a:buFont typeface="Arial" panose="020B0604020202020204" pitchFamily="34" charset="0"/>
              <a:buChar char="•"/>
            </a:pPr>
            <a:r>
              <a:rPr lang="en-US" sz="1200" dirty="0"/>
              <a:t>Previously, all full-time and part-time employees were structured as 1099 independent contractors, including both providers (MDAs, CRNAs) as well as back-office and administrative staff.</a:t>
            </a:r>
          </a:p>
          <a:p>
            <a:pPr marL="171450" indent="-171450">
              <a:spcBef>
                <a:spcPts val="400"/>
              </a:spcBef>
              <a:spcAft>
                <a:spcPts val="400"/>
              </a:spcAft>
              <a:buFont typeface="Arial" panose="020B0604020202020204" pitchFamily="34" charset="0"/>
              <a:buChar char="•"/>
            </a:pPr>
            <a:r>
              <a:rPr lang="en-US" sz="1200" dirty="0"/>
              <a:t>The Company has since fully completed its conversion of full-time and part-time 1099 staff to W2, with remaining PRN staying 1099</a:t>
            </a:r>
          </a:p>
        </p:txBody>
      </p:sp>
      <p:sp>
        <p:nvSpPr>
          <p:cNvPr id="17" name="Rectangle: Diagonal Corners Snipped 16">
            <a:extLst>
              <a:ext uri="{FF2B5EF4-FFF2-40B4-BE49-F238E27FC236}">
                <a16:creationId xmlns:a16="http://schemas.microsoft.com/office/drawing/2014/main" id="{82E110A4-C899-1010-92C5-B060EFE5E641}"/>
              </a:ext>
            </a:extLst>
          </p:cNvPr>
          <p:cNvSpPr/>
          <p:nvPr/>
        </p:nvSpPr>
        <p:spPr>
          <a:xfrm>
            <a:off x="4658490" y="926119"/>
            <a:ext cx="4261223"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Clinical Staff Overview</a:t>
            </a:r>
          </a:p>
        </p:txBody>
      </p:sp>
      <p:sp>
        <p:nvSpPr>
          <p:cNvPr id="18" name="Rectangle: Diagonal Corners Snipped 17">
            <a:extLst>
              <a:ext uri="{FF2B5EF4-FFF2-40B4-BE49-F238E27FC236}">
                <a16:creationId xmlns:a16="http://schemas.microsoft.com/office/drawing/2014/main" id="{92515E19-2060-6188-2C81-32D112C22683}"/>
              </a:ext>
            </a:extLst>
          </p:cNvPr>
          <p:cNvSpPr/>
          <p:nvPr/>
        </p:nvSpPr>
        <p:spPr>
          <a:xfrm>
            <a:off x="4658490" y="4421318"/>
            <a:ext cx="4261223"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Office Staff Overview</a:t>
            </a:r>
          </a:p>
        </p:txBody>
      </p:sp>
      <p:sp>
        <p:nvSpPr>
          <p:cNvPr id="19" name="TextBox 18">
            <a:extLst>
              <a:ext uri="{FF2B5EF4-FFF2-40B4-BE49-F238E27FC236}">
                <a16:creationId xmlns:a16="http://schemas.microsoft.com/office/drawing/2014/main" id="{FA953C5F-9A82-B64F-D55D-3B6CC9A36526}"/>
              </a:ext>
            </a:extLst>
          </p:cNvPr>
          <p:cNvSpPr txBox="1"/>
          <p:nvPr/>
        </p:nvSpPr>
        <p:spPr>
          <a:xfrm>
            <a:off x="4658489" y="1217662"/>
            <a:ext cx="4261223" cy="3375283"/>
          </a:xfrm>
          <a:prstGeom prst="rect">
            <a:avLst/>
          </a:prstGeom>
          <a:noFill/>
        </p:spPr>
        <p:txBody>
          <a:bodyPr wrap="square" rtlCol="0">
            <a:spAutoFit/>
          </a:bodyPr>
          <a:lstStyle/>
          <a:p>
            <a:pPr marL="171450" indent="-171450">
              <a:spcBef>
                <a:spcPts val="300"/>
              </a:spcBef>
              <a:spcAft>
                <a:spcPts val="300"/>
              </a:spcAft>
              <a:buFont typeface="Arial" panose="020B0604020202020204" pitchFamily="34" charset="0"/>
              <a:buChar char="•"/>
            </a:pPr>
            <a:r>
              <a:rPr lang="en-US" sz="1200" dirty="0"/>
              <a:t>AAS’s clinical staff is composed of highly skilled anesthesiologists and CRNAs, committed to providing top-tier patient care.</a:t>
            </a:r>
          </a:p>
          <a:p>
            <a:pPr marL="171450" indent="-171450">
              <a:spcBef>
                <a:spcPts val="300"/>
              </a:spcBef>
              <a:spcAft>
                <a:spcPts val="300"/>
              </a:spcAft>
              <a:buFont typeface="Arial" panose="020B0604020202020204" pitchFamily="34" charset="0"/>
              <a:buChar char="•"/>
            </a:pPr>
            <a:r>
              <a:rPr lang="en-US" sz="1200" dirty="0"/>
              <a:t>Clinical staff includes a dedicated Clinical Lead attached to each ASC to ensure the highest standards are upheld.</a:t>
            </a:r>
          </a:p>
          <a:p>
            <a:pPr marL="171450" indent="-171450">
              <a:spcBef>
                <a:spcPts val="300"/>
              </a:spcBef>
              <a:spcAft>
                <a:spcPts val="300"/>
              </a:spcAft>
              <a:buFont typeface="Arial" panose="020B0604020202020204" pitchFamily="34" charset="0"/>
              <a:buChar char="•"/>
            </a:pPr>
            <a:r>
              <a:rPr lang="en-US" sz="1200" dirty="0"/>
              <a:t>AAS employs a tiered payment structure and bonus for its clinical staff, with employment options including full-time, part-time, and as needed staff (PRNs).</a:t>
            </a:r>
          </a:p>
          <a:p>
            <a:pPr marL="171450" indent="-171450">
              <a:spcBef>
                <a:spcPts val="300"/>
              </a:spcBef>
              <a:spcAft>
                <a:spcPts val="300"/>
              </a:spcAft>
              <a:buFont typeface="Arial" panose="020B0604020202020204" pitchFamily="34" charset="0"/>
              <a:buChar char="•"/>
            </a:pPr>
            <a:r>
              <a:rPr lang="en-US" sz="1200" dirty="0"/>
              <a:t>Clinical staff is equipped to handle a wide range of ambulatory procedures across a variety of specialties.</a:t>
            </a:r>
          </a:p>
          <a:p>
            <a:pPr marL="171450" indent="-171450">
              <a:spcBef>
                <a:spcPts val="300"/>
              </a:spcBef>
              <a:spcAft>
                <a:spcPts val="300"/>
              </a:spcAft>
              <a:buFont typeface="Arial" panose="020B0604020202020204" pitchFamily="34" charset="0"/>
              <a:buChar char="•"/>
            </a:pPr>
            <a:r>
              <a:rPr lang="en-US" sz="1200" dirty="0"/>
              <a:t>AAS prides itself on enabling favorable work-life balance for its contractors, as the healthcare industry experiences a collective burnout.</a:t>
            </a:r>
          </a:p>
          <a:p>
            <a:pPr marL="171450" indent="-171450">
              <a:spcBef>
                <a:spcPts val="300"/>
              </a:spcBef>
              <a:spcAft>
                <a:spcPts val="300"/>
              </a:spcAft>
              <a:buFont typeface="Arial" panose="020B0604020202020204" pitchFamily="34" charset="0"/>
              <a:buChar char="•"/>
            </a:pPr>
            <a:r>
              <a:rPr lang="en-US" sz="1200" dirty="0"/>
              <a:t>Clinical staff maintains up-to-date credentialing, trained on various platforms including EPIC, among others.</a:t>
            </a:r>
          </a:p>
        </p:txBody>
      </p:sp>
      <p:sp>
        <p:nvSpPr>
          <p:cNvPr id="20" name="TextBox 19">
            <a:extLst>
              <a:ext uri="{FF2B5EF4-FFF2-40B4-BE49-F238E27FC236}">
                <a16:creationId xmlns:a16="http://schemas.microsoft.com/office/drawing/2014/main" id="{654475FF-C5D5-51C7-5940-440107703EC1}"/>
              </a:ext>
            </a:extLst>
          </p:cNvPr>
          <p:cNvSpPr txBox="1"/>
          <p:nvPr/>
        </p:nvSpPr>
        <p:spPr>
          <a:xfrm>
            <a:off x="4658488" y="4784197"/>
            <a:ext cx="4261223" cy="1826141"/>
          </a:xfrm>
          <a:prstGeom prst="rect">
            <a:avLst/>
          </a:prstGeom>
          <a:noFill/>
        </p:spPr>
        <p:txBody>
          <a:bodyPr wrap="square" rtlCol="0">
            <a:spAutoFit/>
          </a:bodyPr>
          <a:lstStyle/>
          <a:p>
            <a:pPr marL="171450" indent="-171450">
              <a:spcBef>
                <a:spcPts val="500"/>
              </a:spcBef>
              <a:spcAft>
                <a:spcPts val="500"/>
              </a:spcAft>
              <a:buFont typeface="Arial" panose="020B0604020202020204" pitchFamily="34" charset="0"/>
              <a:buChar char="•"/>
            </a:pPr>
            <a:r>
              <a:rPr lang="en-US" sz="1200" dirty="0"/>
              <a:t>AAS maintains a lean back-office function of 5 employees in a fully-remote work environment. Investment in back-office will be critical to achieve growth.</a:t>
            </a:r>
          </a:p>
          <a:p>
            <a:pPr marL="171450" indent="-171450">
              <a:spcBef>
                <a:spcPts val="500"/>
              </a:spcBef>
              <a:spcAft>
                <a:spcPts val="500"/>
              </a:spcAft>
              <a:buFont typeface="Arial" panose="020B0604020202020204" pitchFamily="34" charset="0"/>
              <a:buChar char="•"/>
            </a:pPr>
            <a:r>
              <a:rPr lang="en-US" sz="1200" dirty="0"/>
              <a:t>Office staff are eligible for performance-based bonuses.</a:t>
            </a:r>
          </a:p>
          <a:p>
            <a:pPr marL="171450" indent="-171450">
              <a:spcBef>
                <a:spcPts val="500"/>
              </a:spcBef>
              <a:spcAft>
                <a:spcPts val="500"/>
              </a:spcAft>
              <a:buFont typeface="Arial" panose="020B0604020202020204" pitchFamily="34" charset="0"/>
              <a:buChar char="•"/>
            </a:pPr>
            <a:r>
              <a:rPr lang="en-US" sz="1200" dirty="0"/>
              <a:t>AAS Indiana maintains a shared services agreement with AAS in which it utilizes Michigan’s office staff. For all intents and purposes, it operates as one back office for both Michigan and Indiana.</a:t>
            </a:r>
          </a:p>
        </p:txBody>
      </p:sp>
      <p:sp>
        <p:nvSpPr>
          <p:cNvPr id="3" name="Rectangle 2">
            <a:extLst>
              <a:ext uri="{FF2B5EF4-FFF2-40B4-BE49-F238E27FC236}">
                <a16:creationId xmlns:a16="http://schemas.microsoft.com/office/drawing/2014/main" id="{9D12265D-69CF-2F1D-42A4-A7195C0E3CC9}"/>
              </a:ext>
            </a:extLst>
          </p:cNvPr>
          <p:cNvSpPr/>
          <p:nvPr/>
        </p:nvSpPr>
        <p:spPr bwMode="auto">
          <a:xfrm>
            <a:off x="451115" y="5567851"/>
            <a:ext cx="1439182" cy="373971"/>
          </a:xfrm>
          <a:prstGeom prst="rect">
            <a:avLst/>
          </a:prstGeom>
          <a:solidFill>
            <a:srgbClr val="207293"/>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36000" tIns="36000" rIns="36000" bIns="360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75000"/>
              </a:spcAft>
              <a:buClr>
                <a:schemeClr val="tx2"/>
              </a:buClr>
              <a:buSzTx/>
              <a:buFont typeface="Wingdings" pitchFamily="2" charset="2"/>
              <a:buNone/>
              <a:tabLst/>
            </a:pPr>
            <a:r>
              <a:rPr kumimoji="0" lang="en-US" sz="1100" b="1" i="0" u="none" strike="noStrike" cap="none" normalizeH="0" baseline="0" dirty="0">
                <a:ln>
                  <a:noFill/>
                </a:ln>
                <a:solidFill>
                  <a:schemeClr val="bg1"/>
                </a:solidFill>
                <a:effectLst/>
              </a:rPr>
              <a:t>Office Staff (5)</a:t>
            </a:r>
          </a:p>
        </p:txBody>
      </p:sp>
      <p:sp>
        <p:nvSpPr>
          <p:cNvPr id="4" name="Rectangle 3">
            <a:extLst>
              <a:ext uri="{FF2B5EF4-FFF2-40B4-BE49-F238E27FC236}">
                <a16:creationId xmlns:a16="http://schemas.microsoft.com/office/drawing/2014/main" id="{0A50F9B6-2346-EA86-F6C5-0FD33B87B2BE}"/>
              </a:ext>
            </a:extLst>
          </p:cNvPr>
          <p:cNvSpPr/>
          <p:nvPr/>
        </p:nvSpPr>
        <p:spPr bwMode="auto">
          <a:xfrm>
            <a:off x="451115" y="4381658"/>
            <a:ext cx="1439182" cy="373971"/>
          </a:xfrm>
          <a:prstGeom prst="rect">
            <a:avLst/>
          </a:prstGeom>
          <a:solidFill>
            <a:srgbClr val="207293"/>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36000" tIns="36000" rIns="36000" bIns="360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75000"/>
              </a:spcAft>
              <a:buClr>
                <a:schemeClr val="tx2"/>
              </a:buClr>
              <a:buSzTx/>
              <a:buFont typeface="Wingdings" pitchFamily="2" charset="2"/>
              <a:buNone/>
              <a:tabLst/>
            </a:pPr>
            <a:r>
              <a:rPr kumimoji="0" lang="en-US" sz="1100" b="1" i="0" u="none" strike="noStrike" cap="none" normalizeH="0" baseline="0" dirty="0">
                <a:ln>
                  <a:noFill/>
                </a:ln>
                <a:solidFill>
                  <a:schemeClr val="bg1"/>
                </a:solidFill>
                <a:effectLst/>
              </a:rPr>
              <a:t>CRNA’s (110)</a:t>
            </a:r>
          </a:p>
        </p:txBody>
      </p:sp>
      <p:sp>
        <p:nvSpPr>
          <p:cNvPr id="5" name="Rectangle 4">
            <a:extLst>
              <a:ext uri="{FF2B5EF4-FFF2-40B4-BE49-F238E27FC236}">
                <a16:creationId xmlns:a16="http://schemas.microsoft.com/office/drawing/2014/main" id="{EC9748AF-AB22-7E70-9458-75343A35CD1E}"/>
              </a:ext>
            </a:extLst>
          </p:cNvPr>
          <p:cNvSpPr/>
          <p:nvPr/>
        </p:nvSpPr>
        <p:spPr bwMode="auto">
          <a:xfrm>
            <a:off x="451115" y="3195464"/>
            <a:ext cx="1439182" cy="373971"/>
          </a:xfrm>
          <a:prstGeom prst="rect">
            <a:avLst/>
          </a:prstGeom>
          <a:solidFill>
            <a:srgbClr val="207293"/>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36000" tIns="36000" rIns="36000" bIns="360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75000"/>
              </a:spcAft>
              <a:buClr>
                <a:schemeClr val="tx2"/>
              </a:buClr>
              <a:buSzTx/>
              <a:buFont typeface="Wingdings" pitchFamily="2" charset="2"/>
              <a:buNone/>
              <a:tabLst/>
            </a:pPr>
            <a:r>
              <a:rPr kumimoji="0" lang="en-US" sz="1100" b="1" i="0" u="none" strike="noStrike" cap="none" normalizeH="0" baseline="0" dirty="0">
                <a:ln>
                  <a:noFill/>
                </a:ln>
                <a:solidFill>
                  <a:schemeClr val="bg1"/>
                </a:solidFill>
                <a:effectLst/>
              </a:rPr>
              <a:t>Physicians (16</a:t>
            </a:r>
            <a:r>
              <a:rPr lang="en-US" sz="1100" b="1" dirty="0">
                <a:solidFill>
                  <a:schemeClr val="bg1"/>
                </a:solidFill>
              </a:rPr>
              <a:t>)</a:t>
            </a:r>
            <a:endParaRPr kumimoji="0" lang="en-US" sz="1100" b="1" i="0" u="none" strike="noStrike" cap="none" normalizeH="0" baseline="0" dirty="0">
              <a:ln>
                <a:noFill/>
              </a:ln>
              <a:solidFill>
                <a:schemeClr val="bg1"/>
              </a:solidFill>
              <a:effectLst/>
            </a:endParaRPr>
          </a:p>
        </p:txBody>
      </p:sp>
      <p:sp>
        <p:nvSpPr>
          <p:cNvPr id="6" name="Rectangle 5">
            <a:extLst>
              <a:ext uri="{FF2B5EF4-FFF2-40B4-BE49-F238E27FC236}">
                <a16:creationId xmlns:a16="http://schemas.microsoft.com/office/drawing/2014/main" id="{928CB8EF-1028-92CB-4EB7-23067CBA4858}"/>
              </a:ext>
            </a:extLst>
          </p:cNvPr>
          <p:cNvSpPr/>
          <p:nvPr/>
        </p:nvSpPr>
        <p:spPr bwMode="auto">
          <a:xfrm>
            <a:off x="2732402" y="5567851"/>
            <a:ext cx="1439182" cy="373971"/>
          </a:xfrm>
          <a:prstGeom prst="rect">
            <a:avLst/>
          </a:prstGeom>
          <a:solidFill>
            <a:srgbClr val="207293"/>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36000" tIns="36000" rIns="36000" bIns="360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75000"/>
              </a:spcAft>
              <a:buClr>
                <a:schemeClr val="tx2"/>
              </a:buClr>
              <a:buSzTx/>
              <a:buFont typeface="Wingdings" pitchFamily="2" charset="2"/>
              <a:buNone/>
              <a:tabLst/>
            </a:pPr>
            <a:r>
              <a:rPr kumimoji="0" lang="en-US" sz="1100" b="1" i="0" u="none" strike="noStrike" cap="none" normalizeH="0" baseline="0" dirty="0">
                <a:ln>
                  <a:noFill/>
                </a:ln>
                <a:solidFill>
                  <a:schemeClr val="bg1"/>
                </a:solidFill>
                <a:effectLst/>
              </a:rPr>
              <a:t>Office Staff (5)</a:t>
            </a:r>
          </a:p>
        </p:txBody>
      </p:sp>
      <p:sp>
        <p:nvSpPr>
          <p:cNvPr id="7" name="Rectangle 6">
            <a:extLst>
              <a:ext uri="{FF2B5EF4-FFF2-40B4-BE49-F238E27FC236}">
                <a16:creationId xmlns:a16="http://schemas.microsoft.com/office/drawing/2014/main" id="{F852A048-70E3-D768-E82C-F1E7D7274176}"/>
              </a:ext>
            </a:extLst>
          </p:cNvPr>
          <p:cNvSpPr/>
          <p:nvPr/>
        </p:nvSpPr>
        <p:spPr bwMode="auto">
          <a:xfrm>
            <a:off x="2732402" y="4381658"/>
            <a:ext cx="1439182" cy="373971"/>
          </a:xfrm>
          <a:prstGeom prst="rect">
            <a:avLst/>
          </a:prstGeom>
          <a:solidFill>
            <a:srgbClr val="207293"/>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36000" tIns="36000" rIns="36000" bIns="360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75000"/>
              </a:spcAft>
              <a:buClr>
                <a:schemeClr val="tx2"/>
              </a:buClr>
              <a:buSzTx/>
              <a:buFont typeface="Wingdings" pitchFamily="2" charset="2"/>
              <a:buNone/>
              <a:tabLst/>
            </a:pPr>
            <a:r>
              <a:rPr kumimoji="0" lang="en-US" sz="1100" b="1" i="0" u="none" strike="noStrike" cap="none" normalizeH="0" baseline="0" dirty="0">
                <a:ln>
                  <a:noFill/>
                </a:ln>
                <a:solidFill>
                  <a:schemeClr val="bg1"/>
                </a:solidFill>
                <a:effectLst/>
              </a:rPr>
              <a:t>CRNA’s (</a:t>
            </a:r>
            <a:r>
              <a:rPr lang="en-US" sz="1100" b="1" dirty="0">
                <a:solidFill>
                  <a:schemeClr val="bg1"/>
                </a:solidFill>
              </a:rPr>
              <a:t>37</a:t>
            </a:r>
            <a:r>
              <a:rPr kumimoji="0" lang="en-US" sz="1100" b="1" i="0" u="none" strike="noStrike" cap="none" normalizeH="0" baseline="0" dirty="0">
                <a:ln>
                  <a:noFill/>
                </a:ln>
                <a:solidFill>
                  <a:schemeClr val="bg1"/>
                </a:solidFill>
                <a:effectLst/>
              </a:rPr>
              <a:t>)</a:t>
            </a:r>
          </a:p>
        </p:txBody>
      </p:sp>
      <p:sp>
        <p:nvSpPr>
          <p:cNvPr id="8" name="Rectangle 7">
            <a:extLst>
              <a:ext uri="{FF2B5EF4-FFF2-40B4-BE49-F238E27FC236}">
                <a16:creationId xmlns:a16="http://schemas.microsoft.com/office/drawing/2014/main" id="{539B0BD8-1053-3BF3-E47C-3AECA352C6D8}"/>
              </a:ext>
            </a:extLst>
          </p:cNvPr>
          <p:cNvSpPr/>
          <p:nvPr/>
        </p:nvSpPr>
        <p:spPr bwMode="auto">
          <a:xfrm>
            <a:off x="2732402" y="3195464"/>
            <a:ext cx="1439182" cy="373971"/>
          </a:xfrm>
          <a:prstGeom prst="rect">
            <a:avLst/>
          </a:prstGeom>
          <a:solidFill>
            <a:srgbClr val="207293"/>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36000" tIns="36000" rIns="36000" bIns="360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75000"/>
              </a:spcAft>
              <a:buClr>
                <a:schemeClr val="tx2"/>
              </a:buClr>
              <a:buSzTx/>
              <a:buFont typeface="Wingdings" pitchFamily="2" charset="2"/>
              <a:buNone/>
              <a:tabLst/>
            </a:pPr>
            <a:r>
              <a:rPr kumimoji="0" lang="en-US" sz="1100" b="1" i="0" u="none" strike="noStrike" cap="none" normalizeH="0" baseline="0" dirty="0">
                <a:ln>
                  <a:noFill/>
                </a:ln>
                <a:solidFill>
                  <a:schemeClr val="bg1"/>
                </a:solidFill>
                <a:effectLst/>
              </a:rPr>
              <a:t>Physicians (</a:t>
            </a:r>
            <a:r>
              <a:rPr lang="en-US" sz="1100" b="1" dirty="0">
                <a:solidFill>
                  <a:schemeClr val="bg1"/>
                </a:solidFill>
              </a:rPr>
              <a:t>36</a:t>
            </a:r>
            <a:r>
              <a:rPr kumimoji="0" lang="en-US" sz="1100" b="1" i="0" u="none" strike="noStrike" cap="none" normalizeH="0" baseline="0" dirty="0">
                <a:ln>
                  <a:noFill/>
                </a:ln>
                <a:solidFill>
                  <a:schemeClr val="bg1"/>
                </a:solidFill>
                <a:effectLst/>
              </a:rPr>
              <a:t>)</a:t>
            </a:r>
          </a:p>
        </p:txBody>
      </p:sp>
      <p:graphicFrame>
        <p:nvGraphicFramePr>
          <p:cNvPr id="11" name="Table 77">
            <a:extLst>
              <a:ext uri="{FF2B5EF4-FFF2-40B4-BE49-F238E27FC236}">
                <a16:creationId xmlns:a16="http://schemas.microsoft.com/office/drawing/2014/main" id="{859135EB-EEEE-19D7-0D3C-BFD0093E9383}"/>
              </a:ext>
            </a:extLst>
          </p:cNvPr>
          <p:cNvGraphicFramePr>
            <a:graphicFrameLocks noGrp="1"/>
          </p:cNvGraphicFramePr>
          <p:nvPr>
            <p:extLst>
              <p:ext uri="{D42A27DB-BD31-4B8C-83A1-F6EECF244321}">
                <p14:modId xmlns:p14="http://schemas.microsoft.com/office/powerpoint/2010/main" val="411951496"/>
              </p:ext>
            </p:extLst>
          </p:nvPr>
        </p:nvGraphicFramePr>
        <p:xfrm>
          <a:off x="451116" y="6006145"/>
          <a:ext cx="1439182" cy="631576"/>
        </p:xfrm>
        <a:graphic>
          <a:graphicData uri="http://schemas.openxmlformats.org/drawingml/2006/table">
            <a:tbl>
              <a:tblPr firstRow="1" bandRow="1">
                <a:tableStyleId>{2D5ABB26-0587-4C30-8999-92F81FD0307C}</a:tableStyleId>
              </a:tblPr>
              <a:tblGrid>
                <a:gridCol w="964400">
                  <a:extLst>
                    <a:ext uri="{9D8B030D-6E8A-4147-A177-3AD203B41FA5}">
                      <a16:colId xmlns:a16="http://schemas.microsoft.com/office/drawing/2014/main" val="372707922"/>
                    </a:ext>
                  </a:extLst>
                </a:gridCol>
                <a:gridCol w="474782">
                  <a:extLst>
                    <a:ext uri="{9D8B030D-6E8A-4147-A177-3AD203B41FA5}">
                      <a16:colId xmlns:a16="http://schemas.microsoft.com/office/drawing/2014/main" val="2011412147"/>
                    </a:ext>
                  </a:extLst>
                </a:gridCol>
              </a:tblGrid>
              <a:tr h="315788">
                <a:tc>
                  <a:txBody>
                    <a:bodyPr/>
                    <a:lstStyle/>
                    <a:p>
                      <a:pPr algn="ctr"/>
                      <a:r>
                        <a:rPr lang="en-US" sz="1100" dirty="0"/>
                        <a:t>Staff:</a:t>
                      </a:r>
                    </a:p>
                  </a:txBody>
                  <a:tcPr marL="77865" marR="77865" marT="38933" marB="38933" anchor="ctr">
                    <a:lnL w="12700"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100" dirty="0"/>
                        <a:t>131</a:t>
                      </a:r>
                    </a:p>
                  </a:txBody>
                  <a:tcPr marL="77865" marR="77865" marT="38933" marB="38933" anchor="ctr">
                    <a:lnL w="31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69778855"/>
                  </a:ext>
                </a:extLst>
              </a:tr>
              <a:tr h="315788">
                <a:tc>
                  <a:txBody>
                    <a:bodyPr/>
                    <a:lstStyle/>
                    <a:p>
                      <a:pPr algn="ctr"/>
                      <a:r>
                        <a:rPr lang="en-US" sz="1100" dirty="0"/>
                        <a:t>ASC’s:</a:t>
                      </a:r>
                    </a:p>
                  </a:txBody>
                  <a:tcPr marL="77865" marR="77865" marT="38933" marB="38933" anchor="ctr">
                    <a:lnL w="12700"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100" dirty="0"/>
                        <a:t>12</a:t>
                      </a:r>
                    </a:p>
                  </a:txBody>
                  <a:tcPr marL="77865" marR="77865" marT="38933" marB="38933" anchor="ctr">
                    <a:lnL w="31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93468788"/>
                  </a:ext>
                </a:extLst>
              </a:tr>
            </a:tbl>
          </a:graphicData>
        </a:graphic>
      </p:graphicFrame>
      <p:graphicFrame>
        <p:nvGraphicFramePr>
          <p:cNvPr id="12" name="Table 77">
            <a:extLst>
              <a:ext uri="{FF2B5EF4-FFF2-40B4-BE49-F238E27FC236}">
                <a16:creationId xmlns:a16="http://schemas.microsoft.com/office/drawing/2014/main" id="{5D8D7811-4452-1327-F3FA-A02568E44B83}"/>
              </a:ext>
            </a:extLst>
          </p:cNvPr>
          <p:cNvGraphicFramePr>
            <a:graphicFrameLocks noGrp="1"/>
          </p:cNvGraphicFramePr>
          <p:nvPr>
            <p:extLst>
              <p:ext uri="{D42A27DB-BD31-4B8C-83A1-F6EECF244321}">
                <p14:modId xmlns:p14="http://schemas.microsoft.com/office/powerpoint/2010/main" val="622542202"/>
              </p:ext>
            </p:extLst>
          </p:nvPr>
        </p:nvGraphicFramePr>
        <p:xfrm>
          <a:off x="2732403" y="6006145"/>
          <a:ext cx="1439182" cy="631576"/>
        </p:xfrm>
        <a:graphic>
          <a:graphicData uri="http://schemas.openxmlformats.org/drawingml/2006/table">
            <a:tbl>
              <a:tblPr firstRow="1" bandRow="1">
                <a:tableStyleId>{2D5ABB26-0587-4C30-8999-92F81FD0307C}</a:tableStyleId>
              </a:tblPr>
              <a:tblGrid>
                <a:gridCol w="1061494">
                  <a:extLst>
                    <a:ext uri="{9D8B030D-6E8A-4147-A177-3AD203B41FA5}">
                      <a16:colId xmlns:a16="http://schemas.microsoft.com/office/drawing/2014/main" val="372707922"/>
                    </a:ext>
                  </a:extLst>
                </a:gridCol>
                <a:gridCol w="377688">
                  <a:extLst>
                    <a:ext uri="{9D8B030D-6E8A-4147-A177-3AD203B41FA5}">
                      <a16:colId xmlns:a16="http://schemas.microsoft.com/office/drawing/2014/main" val="2011412147"/>
                    </a:ext>
                  </a:extLst>
                </a:gridCol>
              </a:tblGrid>
              <a:tr h="315788">
                <a:tc>
                  <a:txBody>
                    <a:bodyPr/>
                    <a:lstStyle/>
                    <a:p>
                      <a:pPr algn="ctr"/>
                      <a:r>
                        <a:rPr lang="en-US" sz="1100" dirty="0"/>
                        <a:t>Staff:</a:t>
                      </a:r>
                    </a:p>
                  </a:txBody>
                  <a:tcPr marL="77865" marR="77865" marT="38933" marB="38933" anchor="ctr">
                    <a:lnL w="12700"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100" dirty="0"/>
                        <a:t>78</a:t>
                      </a:r>
                    </a:p>
                  </a:txBody>
                  <a:tcPr marL="77865" marR="77865" marT="38933" marB="38933" anchor="ctr">
                    <a:lnL w="31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69778855"/>
                  </a:ext>
                </a:extLst>
              </a:tr>
              <a:tr h="315788">
                <a:tc>
                  <a:txBody>
                    <a:bodyPr/>
                    <a:lstStyle/>
                    <a:p>
                      <a:pPr algn="ctr"/>
                      <a:r>
                        <a:rPr lang="en-US" sz="1100" dirty="0"/>
                        <a:t>ASC’s:</a:t>
                      </a:r>
                    </a:p>
                  </a:txBody>
                  <a:tcPr marL="77865" marR="77865" marT="38933" marB="38933" anchor="ctr">
                    <a:lnL w="12700"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100" dirty="0"/>
                        <a:t>8</a:t>
                      </a:r>
                    </a:p>
                  </a:txBody>
                  <a:tcPr marL="77865" marR="77865" marT="38933" marB="38933" anchor="ctr">
                    <a:lnL w="317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93468788"/>
                  </a:ext>
                </a:extLst>
              </a:tr>
            </a:tbl>
          </a:graphicData>
        </a:graphic>
      </p:graphicFrame>
      <p:sp>
        <p:nvSpPr>
          <p:cNvPr id="14" name="Rectangle 13">
            <a:extLst>
              <a:ext uri="{FF2B5EF4-FFF2-40B4-BE49-F238E27FC236}">
                <a16:creationId xmlns:a16="http://schemas.microsoft.com/office/drawing/2014/main" id="{47A596D8-08E5-5A6B-54C9-1892C4419A58}"/>
              </a:ext>
            </a:extLst>
          </p:cNvPr>
          <p:cNvSpPr/>
          <p:nvPr/>
        </p:nvSpPr>
        <p:spPr bwMode="auto">
          <a:xfrm>
            <a:off x="252112" y="2754785"/>
            <a:ext cx="1837189" cy="358673"/>
          </a:xfrm>
          <a:prstGeom prst="rect">
            <a:avLst/>
          </a:prstGeom>
          <a:solidFill>
            <a:srgbClr val="0F537C"/>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36000" tIns="36000" rIns="36000" bIns="360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75000"/>
              </a:spcAft>
              <a:buClr>
                <a:schemeClr val="tx2"/>
              </a:buClr>
              <a:buSzTx/>
              <a:buFont typeface="Wingdings" pitchFamily="2" charset="2"/>
              <a:buNone/>
              <a:tabLst/>
            </a:pPr>
            <a:r>
              <a:rPr kumimoji="0" lang="en-US" sz="1100" b="1" i="0" u="none" strike="noStrike" cap="none" normalizeH="0" baseline="0" dirty="0">
                <a:ln>
                  <a:noFill/>
                </a:ln>
                <a:solidFill>
                  <a:schemeClr val="bg1"/>
                </a:solidFill>
                <a:effectLst/>
              </a:rPr>
              <a:t>AAS Michigan</a:t>
            </a:r>
          </a:p>
        </p:txBody>
      </p:sp>
      <p:sp>
        <p:nvSpPr>
          <p:cNvPr id="15" name="Rectangle 14">
            <a:extLst>
              <a:ext uri="{FF2B5EF4-FFF2-40B4-BE49-F238E27FC236}">
                <a16:creationId xmlns:a16="http://schemas.microsoft.com/office/drawing/2014/main" id="{D281E7E0-3A79-3BE4-6F6C-77780F129FD8}"/>
              </a:ext>
            </a:extLst>
          </p:cNvPr>
          <p:cNvSpPr/>
          <p:nvPr/>
        </p:nvSpPr>
        <p:spPr bwMode="auto">
          <a:xfrm>
            <a:off x="2533399" y="2754785"/>
            <a:ext cx="1837189" cy="358673"/>
          </a:xfrm>
          <a:prstGeom prst="rect">
            <a:avLst/>
          </a:prstGeom>
          <a:solidFill>
            <a:srgbClr val="0F537C"/>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36000" tIns="36000" rIns="36000" bIns="360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75000"/>
              </a:spcAft>
              <a:buClr>
                <a:schemeClr val="tx2"/>
              </a:buClr>
              <a:buSzTx/>
              <a:buFont typeface="Wingdings" pitchFamily="2" charset="2"/>
              <a:buNone/>
              <a:tabLst/>
            </a:pPr>
            <a:r>
              <a:rPr lang="en-US" sz="1100" b="1" dirty="0">
                <a:solidFill>
                  <a:schemeClr val="bg1"/>
                </a:solidFill>
              </a:rPr>
              <a:t>AAS Indiana</a:t>
            </a:r>
            <a:endParaRPr kumimoji="0" lang="en-US" sz="1100" b="1" i="0" u="none" strike="noStrike" cap="none" normalizeH="0" baseline="0" dirty="0">
              <a:ln>
                <a:noFill/>
              </a:ln>
              <a:solidFill>
                <a:schemeClr val="bg1"/>
              </a:solidFill>
              <a:effectLst/>
            </a:endParaRPr>
          </a:p>
        </p:txBody>
      </p:sp>
      <p:cxnSp>
        <p:nvCxnSpPr>
          <p:cNvPr id="21" name="Straight Arrow Connector 20">
            <a:extLst>
              <a:ext uri="{FF2B5EF4-FFF2-40B4-BE49-F238E27FC236}">
                <a16:creationId xmlns:a16="http://schemas.microsoft.com/office/drawing/2014/main" id="{EDEAA000-8582-E443-8CA6-B5F1FC5CEF1A}"/>
              </a:ext>
            </a:extLst>
          </p:cNvPr>
          <p:cNvCxnSpPr>
            <a:stCxn id="3" idx="3"/>
            <a:endCxn id="6" idx="1"/>
          </p:cNvCxnSpPr>
          <p:nvPr/>
        </p:nvCxnSpPr>
        <p:spPr bwMode="auto">
          <a:xfrm>
            <a:off x="1890297" y="5754837"/>
            <a:ext cx="842105" cy="0"/>
          </a:xfrm>
          <a:prstGeom prst="straightConnector1">
            <a:avLst/>
          </a:prstGeom>
          <a:solidFill>
            <a:schemeClr val="accent1"/>
          </a:solidFill>
          <a:ln w="19050" cap="flat" cmpd="sng" algn="ctr">
            <a:solidFill>
              <a:srgbClr val="0F537C"/>
            </a:solidFill>
            <a:prstDash val="solid"/>
            <a:round/>
            <a:headEnd type="triangle"/>
            <a:tailEnd type="triangle"/>
          </a:ln>
          <a:effectLst/>
        </p:spPr>
      </p:cxnSp>
      <p:sp>
        <p:nvSpPr>
          <p:cNvPr id="22" name="Rectangle 21">
            <a:extLst>
              <a:ext uri="{FF2B5EF4-FFF2-40B4-BE49-F238E27FC236}">
                <a16:creationId xmlns:a16="http://schemas.microsoft.com/office/drawing/2014/main" id="{F3330BE9-58F2-8482-6310-A06AE9383583}"/>
              </a:ext>
            </a:extLst>
          </p:cNvPr>
          <p:cNvSpPr/>
          <p:nvPr/>
        </p:nvSpPr>
        <p:spPr bwMode="auto">
          <a:xfrm>
            <a:off x="647658" y="4820344"/>
            <a:ext cx="1046096" cy="184454"/>
          </a:xfrm>
          <a:prstGeom prst="rect">
            <a:avLst/>
          </a:prstGeom>
          <a:solidFill>
            <a:srgbClr val="539BBB"/>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36000" tIns="36000" rIns="36000" bIns="360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75000"/>
              </a:spcAft>
              <a:buClr>
                <a:schemeClr val="tx2"/>
              </a:buClr>
              <a:buSzTx/>
              <a:buFont typeface="Wingdings" pitchFamily="2" charset="2"/>
              <a:buNone/>
              <a:tabLst/>
            </a:pPr>
            <a:r>
              <a:rPr kumimoji="0" lang="en-US" sz="1100" b="1" i="0" u="none" strike="noStrike" cap="none" normalizeH="0" baseline="0" dirty="0">
                <a:ln>
                  <a:noFill/>
                </a:ln>
                <a:solidFill>
                  <a:schemeClr val="bg1"/>
                </a:solidFill>
                <a:effectLst/>
              </a:rPr>
              <a:t>Full-Time (</a:t>
            </a:r>
            <a:r>
              <a:rPr lang="en-US" sz="1100" b="1" dirty="0">
                <a:solidFill>
                  <a:schemeClr val="bg1"/>
                </a:solidFill>
              </a:rPr>
              <a:t>5</a:t>
            </a:r>
            <a:r>
              <a:rPr kumimoji="0" lang="en-US" sz="1100" b="1" i="0" u="none" strike="noStrike" cap="none" normalizeH="0" baseline="0" dirty="0">
                <a:ln>
                  <a:noFill/>
                </a:ln>
                <a:solidFill>
                  <a:schemeClr val="bg1"/>
                </a:solidFill>
                <a:effectLst/>
              </a:rPr>
              <a:t>)</a:t>
            </a:r>
          </a:p>
        </p:txBody>
      </p:sp>
      <p:sp>
        <p:nvSpPr>
          <p:cNvPr id="23" name="Rectangle 22">
            <a:extLst>
              <a:ext uri="{FF2B5EF4-FFF2-40B4-BE49-F238E27FC236}">
                <a16:creationId xmlns:a16="http://schemas.microsoft.com/office/drawing/2014/main" id="{61909E29-9A26-12D2-946F-586B0E9854D7}"/>
              </a:ext>
            </a:extLst>
          </p:cNvPr>
          <p:cNvSpPr/>
          <p:nvPr/>
        </p:nvSpPr>
        <p:spPr bwMode="auto">
          <a:xfrm>
            <a:off x="647658" y="5069513"/>
            <a:ext cx="1046096" cy="184454"/>
          </a:xfrm>
          <a:prstGeom prst="rect">
            <a:avLst/>
          </a:prstGeom>
          <a:solidFill>
            <a:srgbClr val="539BBB"/>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36000" tIns="36000" rIns="36000" bIns="360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75000"/>
              </a:spcAft>
              <a:buClr>
                <a:schemeClr val="tx2"/>
              </a:buClr>
              <a:buSzTx/>
              <a:buFont typeface="Wingdings" pitchFamily="2" charset="2"/>
              <a:buNone/>
              <a:tabLst/>
            </a:pPr>
            <a:r>
              <a:rPr kumimoji="0" lang="en-US" sz="1100" b="1" i="0" u="none" strike="noStrike" cap="none" normalizeH="0" baseline="0" dirty="0">
                <a:ln>
                  <a:noFill/>
                </a:ln>
                <a:solidFill>
                  <a:schemeClr val="bg1"/>
                </a:solidFill>
                <a:effectLst/>
              </a:rPr>
              <a:t>Part-Time (</a:t>
            </a:r>
            <a:r>
              <a:rPr lang="en-US" sz="1100" b="1" dirty="0">
                <a:solidFill>
                  <a:schemeClr val="bg1"/>
                </a:solidFill>
              </a:rPr>
              <a:t>4</a:t>
            </a:r>
            <a:r>
              <a:rPr kumimoji="0" lang="en-US" sz="1100" b="1" i="0" u="none" strike="noStrike" cap="none" normalizeH="0" baseline="0" dirty="0">
                <a:ln>
                  <a:noFill/>
                </a:ln>
                <a:solidFill>
                  <a:schemeClr val="bg1"/>
                </a:solidFill>
                <a:effectLst/>
              </a:rPr>
              <a:t>)</a:t>
            </a:r>
          </a:p>
        </p:txBody>
      </p:sp>
      <p:sp>
        <p:nvSpPr>
          <p:cNvPr id="24" name="Rectangle 23">
            <a:extLst>
              <a:ext uri="{FF2B5EF4-FFF2-40B4-BE49-F238E27FC236}">
                <a16:creationId xmlns:a16="http://schemas.microsoft.com/office/drawing/2014/main" id="{3722AC4B-C7B0-1823-283B-2413A2E529F9}"/>
              </a:ext>
            </a:extLst>
          </p:cNvPr>
          <p:cNvSpPr/>
          <p:nvPr/>
        </p:nvSpPr>
        <p:spPr bwMode="auto">
          <a:xfrm>
            <a:off x="647658" y="5318682"/>
            <a:ext cx="1046096" cy="184454"/>
          </a:xfrm>
          <a:prstGeom prst="rect">
            <a:avLst/>
          </a:prstGeom>
          <a:solidFill>
            <a:srgbClr val="539BBB"/>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36000" tIns="36000" rIns="36000" bIns="360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75000"/>
              </a:spcAft>
              <a:buClr>
                <a:schemeClr val="tx2"/>
              </a:buClr>
              <a:buSzTx/>
              <a:buFont typeface="Wingdings" pitchFamily="2" charset="2"/>
              <a:buNone/>
              <a:tabLst/>
            </a:pPr>
            <a:r>
              <a:rPr kumimoji="0" lang="en-US" sz="1100" b="1" i="0" u="none" strike="noStrike" cap="none" normalizeH="0" baseline="0" dirty="0">
                <a:ln>
                  <a:noFill/>
                </a:ln>
                <a:solidFill>
                  <a:schemeClr val="bg1"/>
                </a:solidFill>
                <a:effectLst/>
              </a:rPr>
              <a:t>PRN* (101)</a:t>
            </a:r>
          </a:p>
        </p:txBody>
      </p:sp>
      <p:sp>
        <p:nvSpPr>
          <p:cNvPr id="25" name="Rectangle 24">
            <a:extLst>
              <a:ext uri="{FF2B5EF4-FFF2-40B4-BE49-F238E27FC236}">
                <a16:creationId xmlns:a16="http://schemas.microsoft.com/office/drawing/2014/main" id="{3821657B-FAFC-AD93-D3E3-A1F52017664F}"/>
              </a:ext>
            </a:extLst>
          </p:cNvPr>
          <p:cNvSpPr/>
          <p:nvPr/>
        </p:nvSpPr>
        <p:spPr bwMode="auto">
          <a:xfrm>
            <a:off x="647658" y="3634150"/>
            <a:ext cx="1046096" cy="184454"/>
          </a:xfrm>
          <a:prstGeom prst="rect">
            <a:avLst/>
          </a:prstGeom>
          <a:solidFill>
            <a:srgbClr val="539BBB"/>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36000" tIns="36000" rIns="36000" bIns="360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75000"/>
              </a:spcAft>
              <a:buClr>
                <a:schemeClr val="tx2"/>
              </a:buClr>
              <a:buSzTx/>
              <a:buFont typeface="Wingdings" pitchFamily="2" charset="2"/>
              <a:buNone/>
              <a:tabLst/>
            </a:pPr>
            <a:r>
              <a:rPr kumimoji="0" lang="en-US" sz="1100" b="1" i="0" u="none" strike="noStrike" cap="none" normalizeH="0" baseline="0" dirty="0">
                <a:ln>
                  <a:noFill/>
                </a:ln>
                <a:solidFill>
                  <a:schemeClr val="bg1"/>
                </a:solidFill>
                <a:effectLst/>
              </a:rPr>
              <a:t>Full-Time (</a:t>
            </a:r>
            <a:r>
              <a:rPr lang="en-US" sz="1100" b="1" dirty="0">
                <a:solidFill>
                  <a:schemeClr val="bg1"/>
                </a:solidFill>
              </a:rPr>
              <a:t>4</a:t>
            </a:r>
            <a:r>
              <a:rPr kumimoji="0" lang="en-US" sz="1100" b="1" i="0" u="none" strike="noStrike" cap="none" normalizeH="0" baseline="0" dirty="0">
                <a:ln>
                  <a:noFill/>
                </a:ln>
                <a:solidFill>
                  <a:schemeClr val="bg1"/>
                </a:solidFill>
                <a:effectLst/>
              </a:rPr>
              <a:t>)</a:t>
            </a:r>
          </a:p>
        </p:txBody>
      </p:sp>
      <p:sp>
        <p:nvSpPr>
          <p:cNvPr id="26" name="Rectangle 25">
            <a:extLst>
              <a:ext uri="{FF2B5EF4-FFF2-40B4-BE49-F238E27FC236}">
                <a16:creationId xmlns:a16="http://schemas.microsoft.com/office/drawing/2014/main" id="{2A5B9AFE-B5A7-7B7B-C857-C8864D57D603}"/>
              </a:ext>
            </a:extLst>
          </p:cNvPr>
          <p:cNvSpPr/>
          <p:nvPr/>
        </p:nvSpPr>
        <p:spPr bwMode="auto">
          <a:xfrm>
            <a:off x="647658" y="3883319"/>
            <a:ext cx="1046096" cy="184454"/>
          </a:xfrm>
          <a:prstGeom prst="rect">
            <a:avLst/>
          </a:prstGeom>
          <a:solidFill>
            <a:srgbClr val="539BBB"/>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36000" tIns="36000" rIns="36000" bIns="360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75000"/>
              </a:spcAft>
              <a:buClr>
                <a:schemeClr val="tx2"/>
              </a:buClr>
              <a:buSzTx/>
              <a:buFont typeface="Wingdings" pitchFamily="2" charset="2"/>
              <a:buNone/>
              <a:tabLst/>
            </a:pPr>
            <a:r>
              <a:rPr kumimoji="0" lang="en-US" sz="1100" b="1" i="0" u="none" strike="noStrike" cap="none" normalizeH="0" baseline="0" dirty="0">
                <a:ln>
                  <a:noFill/>
                </a:ln>
                <a:solidFill>
                  <a:schemeClr val="bg1"/>
                </a:solidFill>
                <a:effectLst/>
              </a:rPr>
              <a:t>Part-Time (1)</a:t>
            </a:r>
          </a:p>
        </p:txBody>
      </p:sp>
      <p:sp>
        <p:nvSpPr>
          <p:cNvPr id="27" name="Rectangle 26">
            <a:extLst>
              <a:ext uri="{FF2B5EF4-FFF2-40B4-BE49-F238E27FC236}">
                <a16:creationId xmlns:a16="http://schemas.microsoft.com/office/drawing/2014/main" id="{6B48D36D-4993-C007-1BE0-3B98DC2E2A1A}"/>
              </a:ext>
            </a:extLst>
          </p:cNvPr>
          <p:cNvSpPr/>
          <p:nvPr/>
        </p:nvSpPr>
        <p:spPr bwMode="auto">
          <a:xfrm>
            <a:off x="647658" y="4132488"/>
            <a:ext cx="1046096" cy="184454"/>
          </a:xfrm>
          <a:prstGeom prst="rect">
            <a:avLst/>
          </a:prstGeom>
          <a:solidFill>
            <a:srgbClr val="539BBB"/>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36000" tIns="36000" rIns="36000" bIns="360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75000"/>
              </a:spcAft>
              <a:buClr>
                <a:schemeClr val="tx2"/>
              </a:buClr>
              <a:buSzTx/>
              <a:buFont typeface="Wingdings" pitchFamily="2" charset="2"/>
              <a:buNone/>
              <a:tabLst/>
            </a:pPr>
            <a:r>
              <a:rPr kumimoji="0" lang="en-US" sz="1100" b="1" i="0" u="none" strike="noStrike" cap="none" normalizeH="0" baseline="0" dirty="0">
                <a:ln>
                  <a:noFill/>
                </a:ln>
                <a:solidFill>
                  <a:schemeClr val="bg1"/>
                </a:solidFill>
                <a:effectLst/>
              </a:rPr>
              <a:t>PRN* (11)</a:t>
            </a:r>
          </a:p>
        </p:txBody>
      </p:sp>
      <p:sp>
        <p:nvSpPr>
          <p:cNvPr id="28" name="Text Placeholder 3">
            <a:extLst>
              <a:ext uri="{FF2B5EF4-FFF2-40B4-BE49-F238E27FC236}">
                <a16:creationId xmlns:a16="http://schemas.microsoft.com/office/drawing/2014/main" id="{F94D819A-653F-C57B-3C83-C37E36BF2CFE}"/>
              </a:ext>
            </a:extLst>
          </p:cNvPr>
          <p:cNvSpPr txBox="1">
            <a:spLocks/>
          </p:cNvSpPr>
          <p:nvPr/>
        </p:nvSpPr>
        <p:spPr>
          <a:xfrm>
            <a:off x="1890297" y="5763838"/>
            <a:ext cx="842106" cy="298981"/>
          </a:xfrm>
          <a:prstGeom prst="rect">
            <a:avLst/>
          </a:prstGeom>
        </p:spPr>
        <p:txBody>
          <a:bodyPr lIns="0" rIns="45720"/>
          <a:lstStyle>
            <a:lvl1pPr marL="0" indent="0" algn="l" rtl="0" eaLnBrk="1" fontAlgn="base" hangingPunct="1">
              <a:spcBef>
                <a:spcPct val="0"/>
              </a:spcBef>
              <a:spcAft>
                <a:spcPts val="450"/>
              </a:spcAft>
              <a:buClr>
                <a:schemeClr val="accent1"/>
              </a:buClr>
              <a:buFont typeface="Wingdings" pitchFamily="2" charset="2"/>
              <a:buNone/>
              <a:defRPr sz="1400" i="1">
                <a:solidFill>
                  <a:schemeClr val="tx1"/>
                </a:solidFill>
                <a:latin typeface="+mj-lt"/>
                <a:ea typeface="MS PGothic" pitchFamily="34" charset="-128"/>
                <a:cs typeface="MS PGothic"/>
              </a:defRPr>
            </a:lvl1pPr>
            <a:lvl2pPr marL="285712" indent="-141667" algn="l" rtl="0" eaLnBrk="1" fontAlgn="base" hangingPunct="1">
              <a:spcBef>
                <a:spcPct val="0"/>
              </a:spcBef>
              <a:spcAft>
                <a:spcPts val="450"/>
              </a:spcAft>
              <a:buClr>
                <a:schemeClr val="bg2"/>
              </a:buClr>
              <a:buChar char="—"/>
              <a:defRPr sz="750">
                <a:solidFill>
                  <a:schemeClr val="tx1"/>
                </a:solidFill>
                <a:latin typeface="+mn-lt"/>
                <a:ea typeface="MS PGothic" pitchFamily="34" charset="-128"/>
                <a:cs typeface="MS PGothic"/>
              </a:defRPr>
            </a:lvl2pPr>
            <a:lvl3pPr marL="438091" indent="-151190" algn="l" rtl="0" eaLnBrk="1" fontAlgn="base" hangingPunct="1">
              <a:spcBef>
                <a:spcPct val="0"/>
              </a:spcBef>
              <a:spcAft>
                <a:spcPts val="450"/>
              </a:spcAft>
              <a:buClr>
                <a:schemeClr val="bg2"/>
              </a:buClr>
              <a:buChar char="—"/>
              <a:defRPr sz="750">
                <a:solidFill>
                  <a:schemeClr val="tx1"/>
                </a:solidFill>
                <a:latin typeface="+mn-lt"/>
                <a:ea typeface="MS PGothic" pitchFamily="34" charset="-128"/>
                <a:cs typeface="MS PGothic"/>
              </a:defRPr>
            </a:lvl3pPr>
            <a:lvl4pPr marL="561900" indent="-122618" algn="l" rtl="0" eaLnBrk="1" fontAlgn="base" hangingPunct="1">
              <a:spcBef>
                <a:spcPct val="0"/>
              </a:spcBef>
              <a:spcAft>
                <a:spcPts val="450"/>
              </a:spcAft>
              <a:buClr>
                <a:schemeClr val="bg2"/>
              </a:buClr>
              <a:buChar char="—"/>
              <a:defRPr sz="750">
                <a:solidFill>
                  <a:schemeClr val="tx1"/>
                </a:solidFill>
                <a:latin typeface="+mn-lt"/>
                <a:ea typeface="MS PGothic" pitchFamily="34" charset="-128"/>
                <a:cs typeface="MS PGothic"/>
              </a:defRPr>
            </a:lvl4pPr>
            <a:lvl5pPr marL="714279" indent="-151190" algn="l" rtl="0" eaLnBrk="1" fontAlgn="base" hangingPunct="1">
              <a:spcBef>
                <a:spcPct val="0"/>
              </a:spcBef>
              <a:spcAft>
                <a:spcPts val="450"/>
              </a:spcAft>
              <a:buClr>
                <a:schemeClr val="bg2"/>
              </a:buClr>
              <a:buChar char="—"/>
              <a:defRPr sz="750">
                <a:solidFill>
                  <a:schemeClr val="tx1"/>
                </a:solidFill>
                <a:latin typeface="+mn-lt"/>
                <a:ea typeface="MS PGothic" pitchFamily="34" charset="-128"/>
                <a:cs typeface="MS PGothic"/>
              </a:defRPr>
            </a:lvl5pPr>
            <a:lvl6pPr marL="1057133" indent="-151190" algn="l" rtl="0" eaLnBrk="1" fontAlgn="base" hangingPunct="1">
              <a:spcBef>
                <a:spcPct val="0"/>
              </a:spcBef>
              <a:spcAft>
                <a:spcPts val="450"/>
              </a:spcAft>
              <a:buClr>
                <a:schemeClr val="bg2"/>
              </a:buClr>
              <a:buChar char="—"/>
              <a:defRPr sz="750">
                <a:solidFill>
                  <a:schemeClr val="tx1"/>
                </a:solidFill>
                <a:latin typeface="+mn-lt"/>
              </a:defRPr>
            </a:lvl6pPr>
            <a:lvl7pPr marL="1399987" indent="-151190" algn="l" rtl="0" eaLnBrk="1" fontAlgn="base" hangingPunct="1">
              <a:spcBef>
                <a:spcPct val="0"/>
              </a:spcBef>
              <a:spcAft>
                <a:spcPts val="450"/>
              </a:spcAft>
              <a:buClr>
                <a:schemeClr val="bg2"/>
              </a:buClr>
              <a:buChar char="—"/>
              <a:defRPr sz="750">
                <a:solidFill>
                  <a:schemeClr val="tx1"/>
                </a:solidFill>
                <a:latin typeface="+mn-lt"/>
              </a:defRPr>
            </a:lvl7pPr>
            <a:lvl8pPr marL="1742842" indent="-151190" algn="l" rtl="0" eaLnBrk="1" fontAlgn="base" hangingPunct="1">
              <a:spcBef>
                <a:spcPct val="0"/>
              </a:spcBef>
              <a:spcAft>
                <a:spcPts val="450"/>
              </a:spcAft>
              <a:buClr>
                <a:schemeClr val="bg2"/>
              </a:buClr>
              <a:buChar char="—"/>
              <a:defRPr sz="750">
                <a:solidFill>
                  <a:schemeClr val="tx1"/>
                </a:solidFill>
                <a:latin typeface="+mn-lt"/>
              </a:defRPr>
            </a:lvl8pPr>
            <a:lvl9pPr marL="2085696" indent="-151190" algn="l" rtl="0" eaLnBrk="1" fontAlgn="base" hangingPunct="1">
              <a:spcBef>
                <a:spcPct val="0"/>
              </a:spcBef>
              <a:spcAft>
                <a:spcPts val="450"/>
              </a:spcAft>
              <a:buClr>
                <a:schemeClr val="bg2"/>
              </a:buClr>
              <a:buChar char="—"/>
              <a:defRPr sz="750">
                <a:solidFill>
                  <a:schemeClr val="tx1"/>
                </a:solidFill>
                <a:latin typeface="+mn-lt"/>
              </a:defRPr>
            </a:lvl9pPr>
          </a:lstStyle>
          <a:p>
            <a:pPr algn="ctr" defTabSz="914400"/>
            <a:r>
              <a:rPr lang="en-US" sz="1050" kern="0" dirty="0"/>
              <a:t>Shared Service Agreement</a:t>
            </a:r>
          </a:p>
        </p:txBody>
      </p:sp>
      <p:sp>
        <p:nvSpPr>
          <p:cNvPr id="29" name="Rectangle 28">
            <a:extLst>
              <a:ext uri="{FF2B5EF4-FFF2-40B4-BE49-F238E27FC236}">
                <a16:creationId xmlns:a16="http://schemas.microsoft.com/office/drawing/2014/main" id="{87C80AD0-6EE0-7967-0C4A-7F4D2513724B}"/>
              </a:ext>
            </a:extLst>
          </p:cNvPr>
          <p:cNvSpPr/>
          <p:nvPr/>
        </p:nvSpPr>
        <p:spPr bwMode="auto">
          <a:xfrm>
            <a:off x="2921943" y="4824127"/>
            <a:ext cx="1046096" cy="184454"/>
          </a:xfrm>
          <a:prstGeom prst="rect">
            <a:avLst/>
          </a:prstGeom>
          <a:solidFill>
            <a:srgbClr val="539BBB"/>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36000" tIns="36000" rIns="36000" bIns="360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75000"/>
              </a:spcAft>
              <a:buClr>
                <a:schemeClr val="tx2"/>
              </a:buClr>
              <a:buSzTx/>
              <a:buFont typeface="Wingdings" pitchFamily="2" charset="2"/>
              <a:buNone/>
              <a:tabLst/>
            </a:pPr>
            <a:r>
              <a:rPr kumimoji="0" lang="en-US" sz="1100" b="1" i="0" u="none" strike="noStrike" cap="none" normalizeH="0" baseline="0" dirty="0">
                <a:ln>
                  <a:noFill/>
                </a:ln>
                <a:solidFill>
                  <a:schemeClr val="bg1"/>
                </a:solidFill>
                <a:effectLst/>
              </a:rPr>
              <a:t>Full-Time (</a:t>
            </a:r>
            <a:r>
              <a:rPr lang="en-US" sz="1100" b="1" dirty="0">
                <a:solidFill>
                  <a:schemeClr val="bg1"/>
                </a:solidFill>
              </a:rPr>
              <a:t>6</a:t>
            </a:r>
            <a:r>
              <a:rPr kumimoji="0" lang="en-US" sz="1100" b="1" i="0" u="none" strike="noStrike" cap="none" normalizeH="0" baseline="0" dirty="0">
                <a:ln>
                  <a:noFill/>
                </a:ln>
                <a:solidFill>
                  <a:schemeClr val="bg1"/>
                </a:solidFill>
                <a:effectLst/>
              </a:rPr>
              <a:t>)</a:t>
            </a:r>
          </a:p>
        </p:txBody>
      </p:sp>
      <p:sp>
        <p:nvSpPr>
          <p:cNvPr id="30" name="Rectangle 29">
            <a:extLst>
              <a:ext uri="{FF2B5EF4-FFF2-40B4-BE49-F238E27FC236}">
                <a16:creationId xmlns:a16="http://schemas.microsoft.com/office/drawing/2014/main" id="{380F2F60-B257-8B04-EE05-155C830A82B9}"/>
              </a:ext>
            </a:extLst>
          </p:cNvPr>
          <p:cNvSpPr/>
          <p:nvPr/>
        </p:nvSpPr>
        <p:spPr bwMode="auto">
          <a:xfrm>
            <a:off x="2921943" y="5073296"/>
            <a:ext cx="1046096" cy="184454"/>
          </a:xfrm>
          <a:prstGeom prst="rect">
            <a:avLst/>
          </a:prstGeom>
          <a:solidFill>
            <a:srgbClr val="539BBB"/>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36000" tIns="36000" rIns="36000" bIns="360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75000"/>
              </a:spcAft>
              <a:buClr>
                <a:schemeClr val="tx2"/>
              </a:buClr>
              <a:buSzTx/>
              <a:buFont typeface="Wingdings" pitchFamily="2" charset="2"/>
              <a:buNone/>
              <a:tabLst/>
            </a:pPr>
            <a:r>
              <a:rPr kumimoji="0" lang="en-US" sz="1100" b="1" i="0" u="none" strike="noStrike" cap="none" normalizeH="0" baseline="0" dirty="0">
                <a:ln>
                  <a:noFill/>
                </a:ln>
                <a:solidFill>
                  <a:schemeClr val="bg1"/>
                </a:solidFill>
                <a:effectLst/>
              </a:rPr>
              <a:t>Part-Time (2)</a:t>
            </a:r>
          </a:p>
        </p:txBody>
      </p:sp>
      <p:sp>
        <p:nvSpPr>
          <p:cNvPr id="31" name="Rectangle 30">
            <a:extLst>
              <a:ext uri="{FF2B5EF4-FFF2-40B4-BE49-F238E27FC236}">
                <a16:creationId xmlns:a16="http://schemas.microsoft.com/office/drawing/2014/main" id="{1E76C218-DB24-C329-5D76-A99D0CCCA741}"/>
              </a:ext>
            </a:extLst>
          </p:cNvPr>
          <p:cNvSpPr/>
          <p:nvPr/>
        </p:nvSpPr>
        <p:spPr bwMode="auto">
          <a:xfrm>
            <a:off x="2921943" y="5322465"/>
            <a:ext cx="1046096" cy="184454"/>
          </a:xfrm>
          <a:prstGeom prst="rect">
            <a:avLst/>
          </a:prstGeom>
          <a:solidFill>
            <a:srgbClr val="539BBB"/>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36000" tIns="36000" rIns="36000" bIns="360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75000"/>
              </a:spcAft>
              <a:buClr>
                <a:schemeClr val="tx2"/>
              </a:buClr>
              <a:buSzTx/>
              <a:buFont typeface="Wingdings" pitchFamily="2" charset="2"/>
              <a:buNone/>
              <a:tabLst/>
            </a:pPr>
            <a:r>
              <a:rPr kumimoji="0" lang="en-US" sz="1100" b="1" i="0" u="none" strike="noStrike" cap="none" normalizeH="0" baseline="0" dirty="0">
                <a:ln>
                  <a:noFill/>
                </a:ln>
                <a:solidFill>
                  <a:schemeClr val="bg1"/>
                </a:solidFill>
                <a:effectLst/>
              </a:rPr>
              <a:t>PRN* (29)</a:t>
            </a:r>
          </a:p>
        </p:txBody>
      </p:sp>
      <p:sp>
        <p:nvSpPr>
          <p:cNvPr id="32" name="Rectangle 31">
            <a:extLst>
              <a:ext uri="{FF2B5EF4-FFF2-40B4-BE49-F238E27FC236}">
                <a16:creationId xmlns:a16="http://schemas.microsoft.com/office/drawing/2014/main" id="{9F3FB7D1-17EE-A97B-7BE3-A45DB304CA37}"/>
              </a:ext>
            </a:extLst>
          </p:cNvPr>
          <p:cNvSpPr/>
          <p:nvPr/>
        </p:nvSpPr>
        <p:spPr bwMode="auto">
          <a:xfrm>
            <a:off x="2921943" y="3618293"/>
            <a:ext cx="1046096" cy="184454"/>
          </a:xfrm>
          <a:prstGeom prst="rect">
            <a:avLst/>
          </a:prstGeom>
          <a:solidFill>
            <a:srgbClr val="539BBB"/>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36000" tIns="36000" rIns="36000" bIns="360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75000"/>
              </a:spcAft>
              <a:buClr>
                <a:schemeClr val="tx2"/>
              </a:buClr>
              <a:buSzTx/>
              <a:buFont typeface="Wingdings" pitchFamily="2" charset="2"/>
              <a:buNone/>
              <a:tabLst/>
            </a:pPr>
            <a:r>
              <a:rPr kumimoji="0" lang="en-US" sz="1100" b="1" i="0" u="none" strike="noStrike" cap="none" normalizeH="0" baseline="0" dirty="0">
                <a:ln>
                  <a:noFill/>
                </a:ln>
                <a:solidFill>
                  <a:schemeClr val="bg1"/>
                </a:solidFill>
                <a:effectLst/>
              </a:rPr>
              <a:t>Full-Time (17)</a:t>
            </a:r>
          </a:p>
        </p:txBody>
      </p:sp>
      <p:sp>
        <p:nvSpPr>
          <p:cNvPr id="33" name="Rectangle 32">
            <a:extLst>
              <a:ext uri="{FF2B5EF4-FFF2-40B4-BE49-F238E27FC236}">
                <a16:creationId xmlns:a16="http://schemas.microsoft.com/office/drawing/2014/main" id="{B68ADC47-54EE-B9BF-287A-6EA94C947FCC}"/>
              </a:ext>
            </a:extLst>
          </p:cNvPr>
          <p:cNvSpPr/>
          <p:nvPr/>
        </p:nvSpPr>
        <p:spPr bwMode="auto">
          <a:xfrm>
            <a:off x="2921943" y="3867462"/>
            <a:ext cx="1046096" cy="184454"/>
          </a:xfrm>
          <a:prstGeom prst="rect">
            <a:avLst/>
          </a:prstGeom>
          <a:solidFill>
            <a:srgbClr val="539BBB"/>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36000" tIns="36000" rIns="36000" bIns="360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75000"/>
              </a:spcAft>
              <a:buClr>
                <a:schemeClr val="tx2"/>
              </a:buClr>
              <a:buSzTx/>
              <a:buFont typeface="Wingdings" pitchFamily="2" charset="2"/>
              <a:buNone/>
              <a:tabLst/>
            </a:pPr>
            <a:r>
              <a:rPr kumimoji="0" lang="en-US" sz="1100" b="1" i="0" u="none" strike="noStrike" cap="none" normalizeH="0" baseline="0" dirty="0">
                <a:ln>
                  <a:noFill/>
                </a:ln>
                <a:solidFill>
                  <a:schemeClr val="bg1"/>
                </a:solidFill>
                <a:effectLst/>
              </a:rPr>
              <a:t>Part-Time (1)</a:t>
            </a:r>
          </a:p>
        </p:txBody>
      </p:sp>
      <p:sp>
        <p:nvSpPr>
          <p:cNvPr id="34" name="Rectangle 33">
            <a:extLst>
              <a:ext uri="{FF2B5EF4-FFF2-40B4-BE49-F238E27FC236}">
                <a16:creationId xmlns:a16="http://schemas.microsoft.com/office/drawing/2014/main" id="{1BA1AE7C-BA21-F299-91D1-79E482AC9A7B}"/>
              </a:ext>
            </a:extLst>
          </p:cNvPr>
          <p:cNvSpPr/>
          <p:nvPr/>
        </p:nvSpPr>
        <p:spPr bwMode="auto">
          <a:xfrm>
            <a:off x="2931568" y="4116631"/>
            <a:ext cx="1046096" cy="184454"/>
          </a:xfrm>
          <a:prstGeom prst="rect">
            <a:avLst/>
          </a:prstGeom>
          <a:solidFill>
            <a:srgbClr val="539BBB"/>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36000" tIns="36000" rIns="36000" bIns="360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75000"/>
              </a:spcAft>
              <a:buClr>
                <a:schemeClr val="tx2"/>
              </a:buClr>
              <a:buSzTx/>
              <a:buFont typeface="Wingdings" pitchFamily="2" charset="2"/>
              <a:buNone/>
              <a:tabLst/>
            </a:pPr>
            <a:r>
              <a:rPr kumimoji="0" lang="en-US" sz="1100" b="1" i="0" u="none" strike="noStrike" cap="none" normalizeH="0" baseline="0" dirty="0">
                <a:ln>
                  <a:noFill/>
                </a:ln>
                <a:solidFill>
                  <a:schemeClr val="bg1"/>
                </a:solidFill>
                <a:effectLst/>
              </a:rPr>
              <a:t>PRN* (</a:t>
            </a:r>
            <a:r>
              <a:rPr lang="en-US" sz="1100" b="1" dirty="0">
                <a:solidFill>
                  <a:schemeClr val="bg1"/>
                </a:solidFill>
              </a:rPr>
              <a:t>18</a:t>
            </a:r>
            <a:r>
              <a:rPr kumimoji="0" lang="en-US" sz="1100" b="1" i="0" u="none" strike="noStrike" cap="none" normalizeH="0" baseline="0" dirty="0">
                <a:ln>
                  <a:noFill/>
                </a:ln>
                <a:solidFill>
                  <a:schemeClr val="bg1"/>
                </a:solidFill>
                <a:effectLst/>
              </a:rPr>
              <a:t>)</a:t>
            </a:r>
          </a:p>
        </p:txBody>
      </p:sp>
      <p:sp>
        <p:nvSpPr>
          <p:cNvPr id="35" name="Text Placeholder 3">
            <a:extLst>
              <a:ext uri="{FF2B5EF4-FFF2-40B4-BE49-F238E27FC236}">
                <a16:creationId xmlns:a16="http://schemas.microsoft.com/office/drawing/2014/main" id="{CD6AAC35-5893-7F46-9D26-4A9F8989E5B9}"/>
              </a:ext>
            </a:extLst>
          </p:cNvPr>
          <p:cNvSpPr txBox="1">
            <a:spLocks/>
          </p:cNvSpPr>
          <p:nvPr/>
        </p:nvSpPr>
        <p:spPr>
          <a:xfrm>
            <a:off x="277930" y="6638333"/>
            <a:ext cx="2265393" cy="298981"/>
          </a:xfrm>
          <a:prstGeom prst="rect">
            <a:avLst/>
          </a:prstGeom>
        </p:spPr>
        <p:txBody>
          <a:bodyPr lIns="0" rIns="45720"/>
          <a:lstStyle>
            <a:lvl1pPr marL="0" indent="0" algn="l" rtl="0" eaLnBrk="1" fontAlgn="base" hangingPunct="1">
              <a:spcBef>
                <a:spcPct val="0"/>
              </a:spcBef>
              <a:spcAft>
                <a:spcPts val="450"/>
              </a:spcAft>
              <a:buClr>
                <a:schemeClr val="accent1"/>
              </a:buClr>
              <a:buFont typeface="Wingdings" pitchFamily="2" charset="2"/>
              <a:buNone/>
              <a:defRPr sz="1400" i="1">
                <a:solidFill>
                  <a:schemeClr val="tx1"/>
                </a:solidFill>
                <a:latin typeface="+mj-lt"/>
                <a:ea typeface="MS PGothic" pitchFamily="34" charset="-128"/>
                <a:cs typeface="MS PGothic"/>
              </a:defRPr>
            </a:lvl1pPr>
            <a:lvl2pPr marL="285712" indent="-141667" algn="l" rtl="0" eaLnBrk="1" fontAlgn="base" hangingPunct="1">
              <a:spcBef>
                <a:spcPct val="0"/>
              </a:spcBef>
              <a:spcAft>
                <a:spcPts val="450"/>
              </a:spcAft>
              <a:buClr>
                <a:schemeClr val="bg2"/>
              </a:buClr>
              <a:buChar char="—"/>
              <a:defRPr sz="750">
                <a:solidFill>
                  <a:schemeClr val="tx1"/>
                </a:solidFill>
                <a:latin typeface="+mn-lt"/>
                <a:ea typeface="MS PGothic" pitchFamily="34" charset="-128"/>
                <a:cs typeface="MS PGothic"/>
              </a:defRPr>
            </a:lvl2pPr>
            <a:lvl3pPr marL="438091" indent="-151190" algn="l" rtl="0" eaLnBrk="1" fontAlgn="base" hangingPunct="1">
              <a:spcBef>
                <a:spcPct val="0"/>
              </a:spcBef>
              <a:spcAft>
                <a:spcPts val="450"/>
              </a:spcAft>
              <a:buClr>
                <a:schemeClr val="bg2"/>
              </a:buClr>
              <a:buChar char="—"/>
              <a:defRPr sz="750">
                <a:solidFill>
                  <a:schemeClr val="tx1"/>
                </a:solidFill>
                <a:latin typeface="+mn-lt"/>
                <a:ea typeface="MS PGothic" pitchFamily="34" charset="-128"/>
                <a:cs typeface="MS PGothic"/>
              </a:defRPr>
            </a:lvl3pPr>
            <a:lvl4pPr marL="561900" indent="-122618" algn="l" rtl="0" eaLnBrk="1" fontAlgn="base" hangingPunct="1">
              <a:spcBef>
                <a:spcPct val="0"/>
              </a:spcBef>
              <a:spcAft>
                <a:spcPts val="450"/>
              </a:spcAft>
              <a:buClr>
                <a:schemeClr val="bg2"/>
              </a:buClr>
              <a:buChar char="—"/>
              <a:defRPr sz="750">
                <a:solidFill>
                  <a:schemeClr val="tx1"/>
                </a:solidFill>
                <a:latin typeface="+mn-lt"/>
                <a:ea typeface="MS PGothic" pitchFamily="34" charset="-128"/>
                <a:cs typeface="MS PGothic"/>
              </a:defRPr>
            </a:lvl4pPr>
            <a:lvl5pPr marL="714279" indent="-151190" algn="l" rtl="0" eaLnBrk="1" fontAlgn="base" hangingPunct="1">
              <a:spcBef>
                <a:spcPct val="0"/>
              </a:spcBef>
              <a:spcAft>
                <a:spcPts val="450"/>
              </a:spcAft>
              <a:buClr>
                <a:schemeClr val="bg2"/>
              </a:buClr>
              <a:buChar char="—"/>
              <a:defRPr sz="750">
                <a:solidFill>
                  <a:schemeClr val="tx1"/>
                </a:solidFill>
                <a:latin typeface="+mn-lt"/>
                <a:ea typeface="MS PGothic" pitchFamily="34" charset="-128"/>
                <a:cs typeface="MS PGothic"/>
              </a:defRPr>
            </a:lvl5pPr>
            <a:lvl6pPr marL="1057133" indent="-151190" algn="l" rtl="0" eaLnBrk="1" fontAlgn="base" hangingPunct="1">
              <a:spcBef>
                <a:spcPct val="0"/>
              </a:spcBef>
              <a:spcAft>
                <a:spcPts val="450"/>
              </a:spcAft>
              <a:buClr>
                <a:schemeClr val="bg2"/>
              </a:buClr>
              <a:buChar char="—"/>
              <a:defRPr sz="750">
                <a:solidFill>
                  <a:schemeClr val="tx1"/>
                </a:solidFill>
                <a:latin typeface="+mn-lt"/>
              </a:defRPr>
            </a:lvl6pPr>
            <a:lvl7pPr marL="1399987" indent="-151190" algn="l" rtl="0" eaLnBrk="1" fontAlgn="base" hangingPunct="1">
              <a:spcBef>
                <a:spcPct val="0"/>
              </a:spcBef>
              <a:spcAft>
                <a:spcPts val="450"/>
              </a:spcAft>
              <a:buClr>
                <a:schemeClr val="bg2"/>
              </a:buClr>
              <a:buChar char="—"/>
              <a:defRPr sz="750">
                <a:solidFill>
                  <a:schemeClr val="tx1"/>
                </a:solidFill>
                <a:latin typeface="+mn-lt"/>
              </a:defRPr>
            </a:lvl7pPr>
            <a:lvl8pPr marL="1742842" indent="-151190" algn="l" rtl="0" eaLnBrk="1" fontAlgn="base" hangingPunct="1">
              <a:spcBef>
                <a:spcPct val="0"/>
              </a:spcBef>
              <a:spcAft>
                <a:spcPts val="450"/>
              </a:spcAft>
              <a:buClr>
                <a:schemeClr val="bg2"/>
              </a:buClr>
              <a:buChar char="—"/>
              <a:defRPr sz="750">
                <a:solidFill>
                  <a:schemeClr val="tx1"/>
                </a:solidFill>
                <a:latin typeface="+mn-lt"/>
              </a:defRPr>
            </a:lvl8pPr>
            <a:lvl9pPr marL="2085696" indent="-151190" algn="l" rtl="0" eaLnBrk="1" fontAlgn="base" hangingPunct="1">
              <a:spcBef>
                <a:spcPct val="0"/>
              </a:spcBef>
              <a:spcAft>
                <a:spcPts val="450"/>
              </a:spcAft>
              <a:buClr>
                <a:schemeClr val="bg2"/>
              </a:buClr>
              <a:buChar char="—"/>
              <a:defRPr sz="750">
                <a:solidFill>
                  <a:schemeClr val="tx1"/>
                </a:solidFill>
                <a:latin typeface="+mn-lt"/>
              </a:defRPr>
            </a:lvl9pPr>
          </a:lstStyle>
          <a:p>
            <a:pPr defTabSz="914400"/>
            <a:r>
              <a:rPr lang="en-US" sz="700" kern="0" dirty="0"/>
              <a:t>*As needed staff</a:t>
            </a:r>
          </a:p>
        </p:txBody>
      </p:sp>
    </p:spTree>
    <p:extLst>
      <p:ext uri="{BB962C8B-B14F-4D97-AF65-F5344CB8AC3E}">
        <p14:creationId xmlns:p14="http://schemas.microsoft.com/office/powerpoint/2010/main" val="19415701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990CD-26A8-CF5F-5F2B-55CDBECAC9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7939D4-0EB9-F4DA-1E1A-A0C2B711EFAE}"/>
              </a:ext>
            </a:extLst>
          </p:cNvPr>
          <p:cNvSpPr>
            <a:spLocks noGrp="1"/>
          </p:cNvSpPr>
          <p:nvPr>
            <p:ph type="title"/>
          </p:nvPr>
        </p:nvSpPr>
        <p:spPr/>
        <p:txBody>
          <a:bodyPr>
            <a:normAutofit/>
          </a:bodyPr>
          <a:lstStyle/>
          <a:p>
            <a:r>
              <a:rPr lang="en-US" dirty="0"/>
              <a:t>Key ASC Wins Driving Growth</a:t>
            </a:r>
          </a:p>
        </p:txBody>
      </p:sp>
      <p:sp>
        <p:nvSpPr>
          <p:cNvPr id="9" name="Slide Number Placeholder 8">
            <a:extLst>
              <a:ext uri="{FF2B5EF4-FFF2-40B4-BE49-F238E27FC236}">
                <a16:creationId xmlns:a16="http://schemas.microsoft.com/office/drawing/2014/main" id="{9F73CDA4-155B-1E0A-315B-DED33E1096B4}"/>
              </a:ext>
            </a:extLst>
          </p:cNvPr>
          <p:cNvSpPr>
            <a:spLocks noGrp="1"/>
          </p:cNvSpPr>
          <p:nvPr>
            <p:ph type="sldNum" sz="quarter" idx="12"/>
          </p:nvPr>
        </p:nvSpPr>
        <p:spPr/>
        <p:txBody>
          <a:bodyPr/>
          <a:lstStyle/>
          <a:p>
            <a:fld id="{F8DDDAE5-3BDD-4D78-843B-A22FA78305BB}" type="slidenum">
              <a:rPr lang="en-US" smtClean="0"/>
              <a:t>13</a:t>
            </a:fld>
            <a:endParaRPr lang="en-US" dirty="0"/>
          </a:p>
        </p:txBody>
      </p:sp>
      <p:sp>
        <p:nvSpPr>
          <p:cNvPr id="7" name="TextBox 6">
            <a:extLst>
              <a:ext uri="{FF2B5EF4-FFF2-40B4-BE49-F238E27FC236}">
                <a16:creationId xmlns:a16="http://schemas.microsoft.com/office/drawing/2014/main" id="{377106F7-8960-4251-ACB7-1DF0B3F60E1E}"/>
              </a:ext>
            </a:extLst>
          </p:cNvPr>
          <p:cNvSpPr txBox="1"/>
          <p:nvPr/>
        </p:nvSpPr>
        <p:spPr>
          <a:xfrm>
            <a:off x="221941" y="917644"/>
            <a:ext cx="8697771" cy="523220"/>
          </a:xfrm>
          <a:prstGeom prst="rect">
            <a:avLst/>
          </a:prstGeom>
          <a:noFill/>
        </p:spPr>
        <p:txBody>
          <a:bodyPr wrap="square" rtlCol="0">
            <a:spAutoFit/>
          </a:bodyPr>
          <a:lstStyle/>
          <a:p>
            <a:pPr marL="168275" indent="-168275">
              <a:spcBef>
                <a:spcPts val="600"/>
              </a:spcBef>
              <a:spcAft>
                <a:spcPts val="600"/>
              </a:spcAft>
              <a:buFont typeface="Arial" panose="020B0604020202020204" pitchFamily="34" charset="0"/>
              <a:buChar char="•"/>
            </a:pPr>
            <a:r>
              <a:rPr lang="en-US" sz="1400" dirty="0"/>
              <a:t>AAS has executed multiple new ASC contracts with several others set to start between November 2025 – March 2026, representing over $13 million of incremental revenue</a:t>
            </a:r>
          </a:p>
        </p:txBody>
      </p:sp>
      <p:graphicFrame>
        <p:nvGraphicFramePr>
          <p:cNvPr id="27" name="Table 6">
            <a:extLst>
              <a:ext uri="{FF2B5EF4-FFF2-40B4-BE49-F238E27FC236}">
                <a16:creationId xmlns:a16="http://schemas.microsoft.com/office/drawing/2014/main" id="{D0BD289F-BEF4-877A-4F3C-F47E70525EBF}"/>
              </a:ext>
            </a:extLst>
          </p:cNvPr>
          <p:cNvGraphicFramePr>
            <a:graphicFrameLocks noGrp="1"/>
          </p:cNvGraphicFramePr>
          <p:nvPr>
            <p:extLst>
              <p:ext uri="{D42A27DB-BD31-4B8C-83A1-F6EECF244321}">
                <p14:modId xmlns:p14="http://schemas.microsoft.com/office/powerpoint/2010/main" val="540279401"/>
              </p:ext>
            </p:extLst>
          </p:nvPr>
        </p:nvGraphicFramePr>
        <p:xfrm>
          <a:off x="160338" y="1641616"/>
          <a:ext cx="8708447" cy="4911581"/>
        </p:xfrm>
        <a:graphic>
          <a:graphicData uri="http://schemas.openxmlformats.org/drawingml/2006/table">
            <a:tbl>
              <a:tblPr firstRow="1" bandRow="1">
                <a:tableStyleId>{5C22544A-7EE6-4342-B048-85BDC9FD1C3A}</a:tableStyleId>
              </a:tblPr>
              <a:tblGrid>
                <a:gridCol w="791677">
                  <a:extLst>
                    <a:ext uri="{9D8B030D-6E8A-4147-A177-3AD203B41FA5}">
                      <a16:colId xmlns:a16="http://schemas.microsoft.com/office/drawing/2014/main" val="2398219474"/>
                    </a:ext>
                  </a:extLst>
                </a:gridCol>
                <a:gridCol w="791677">
                  <a:extLst>
                    <a:ext uri="{9D8B030D-6E8A-4147-A177-3AD203B41FA5}">
                      <a16:colId xmlns:a16="http://schemas.microsoft.com/office/drawing/2014/main" val="704781349"/>
                    </a:ext>
                  </a:extLst>
                </a:gridCol>
                <a:gridCol w="791677">
                  <a:extLst>
                    <a:ext uri="{9D8B030D-6E8A-4147-A177-3AD203B41FA5}">
                      <a16:colId xmlns:a16="http://schemas.microsoft.com/office/drawing/2014/main" val="364138271"/>
                    </a:ext>
                  </a:extLst>
                </a:gridCol>
                <a:gridCol w="791677">
                  <a:extLst>
                    <a:ext uri="{9D8B030D-6E8A-4147-A177-3AD203B41FA5}">
                      <a16:colId xmlns:a16="http://schemas.microsoft.com/office/drawing/2014/main" val="2994472998"/>
                    </a:ext>
                  </a:extLst>
                </a:gridCol>
                <a:gridCol w="791677">
                  <a:extLst>
                    <a:ext uri="{9D8B030D-6E8A-4147-A177-3AD203B41FA5}">
                      <a16:colId xmlns:a16="http://schemas.microsoft.com/office/drawing/2014/main" val="102797337"/>
                    </a:ext>
                  </a:extLst>
                </a:gridCol>
                <a:gridCol w="791677">
                  <a:extLst>
                    <a:ext uri="{9D8B030D-6E8A-4147-A177-3AD203B41FA5}">
                      <a16:colId xmlns:a16="http://schemas.microsoft.com/office/drawing/2014/main" val="547327595"/>
                    </a:ext>
                  </a:extLst>
                </a:gridCol>
                <a:gridCol w="791677">
                  <a:extLst>
                    <a:ext uri="{9D8B030D-6E8A-4147-A177-3AD203B41FA5}">
                      <a16:colId xmlns:a16="http://schemas.microsoft.com/office/drawing/2014/main" val="1698864271"/>
                    </a:ext>
                  </a:extLst>
                </a:gridCol>
                <a:gridCol w="791677">
                  <a:extLst>
                    <a:ext uri="{9D8B030D-6E8A-4147-A177-3AD203B41FA5}">
                      <a16:colId xmlns:a16="http://schemas.microsoft.com/office/drawing/2014/main" val="2622193611"/>
                    </a:ext>
                  </a:extLst>
                </a:gridCol>
                <a:gridCol w="791677">
                  <a:extLst>
                    <a:ext uri="{9D8B030D-6E8A-4147-A177-3AD203B41FA5}">
                      <a16:colId xmlns:a16="http://schemas.microsoft.com/office/drawing/2014/main" val="1085591919"/>
                    </a:ext>
                  </a:extLst>
                </a:gridCol>
                <a:gridCol w="791677">
                  <a:extLst>
                    <a:ext uri="{9D8B030D-6E8A-4147-A177-3AD203B41FA5}">
                      <a16:colId xmlns:a16="http://schemas.microsoft.com/office/drawing/2014/main" val="2819429438"/>
                    </a:ext>
                  </a:extLst>
                </a:gridCol>
                <a:gridCol w="791677">
                  <a:extLst>
                    <a:ext uri="{9D8B030D-6E8A-4147-A177-3AD203B41FA5}">
                      <a16:colId xmlns:a16="http://schemas.microsoft.com/office/drawing/2014/main" val="1204467115"/>
                    </a:ext>
                  </a:extLst>
                </a:gridCol>
              </a:tblGrid>
              <a:tr h="345558">
                <a:tc>
                  <a:txBody>
                    <a:bodyPr/>
                    <a:lstStyle/>
                    <a:p>
                      <a:pPr algn="ctr"/>
                      <a:r>
                        <a:rPr lang="en-US" sz="800" dirty="0">
                          <a:solidFill>
                            <a:schemeClr val="bg1"/>
                          </a:solidFill>
                        </a:rPr>
                        <a:t>ASC</a:t>
                      </a:r>
                    </a:p>
                  </a:txBody>
                  <a:tcPr anchor="ctr">
                    <a:solidFill>
                      <a:srgbClr val="0F537C"/>
                    </a:solidFill>
                  </a:tcPr>
                </a:tc>
                <a:tc>
                  <a:txBody>
                    <a:bodyPr/>
                    <a:lstStyle/>
                    <a:p>
                      <a:pPr algn="ctr"/>
                      <a:r>
                        <a:rPr lang="en-US" sz="800" dirty="0">
                          <a:solidFill>
                            <a:schemeClr val="bg1"/>
                          </a:solidFill>
                        </a:rPr>
                        <a:t>State</a:t>
                      </a:r>
                    </a:p>
                  </a:txBody>
                  <a:tcPr anchor="ctr">
                    <a:solidFill>
                      <a:srgbClr val="0F537C"/>
                    </a:solidFill>
                  </a:tcPr>
                </a:tc>
                <a:tc>
                  <a:txBody>
                    <a:bodyPr/>
                    <a:lstStyle/>
                    <a:p>
                      <a:pPr algn="ctr"/>
                      <a:r>
                        <a:rPr lang="en-US" sz="800" dirty="0">
                          <a:solidFill>
                            <a:schemeClr val="bg1"/>
                          </a:solidFill>
                        </a:rPr>
                        <a:t>Contract Status</a:t>
                      </a:r>
                    </a:p>
                  </a:txBody>
                  <a:tcPr anchor="ctr">
                    <a:solidFill>
                      <a:srgbClr val="0F537C"/>
                    </a:solidFill>
                  </a:tcPr>
                </a:tc>
                <a:tc>
                  <a:txBody>
                    <a:bodyPr/>
                    <a:lstStyle/>
                    <a:p>
                      <a:pPr algn="ctr"/>
                      <a:r>
                        <a:rPr lang="en-US" sz="800" dirty="0">
                          <a:solidFill>
                            <a:schemeClr val="bg1"/>
                          </a:solidFill>
                        </a:rPr>
                        <a:t>Operational Date</a:t>
                      </a:r>
                      <a:endParaRPr lang="en-US" sz="800" baseline="30000" dirty="0">
                        <a:solidFill>
                          <a:schemeClr val="bg1"/>
                        </a:solidFill>
                      </a:endParaRPr>
                    </a:p>
                  </a:txBody>
                  <a:tcPr anchor="ctr">
                    <a:solidFill>
                      <a:srgbClr val="0F537C"/>
                    </a:solidFill>
                  </a:tcPr>
                </a:tc>
                <a:tc>
                  <a:txBody>
                    <a:bodyPr/>
                    <a:lstStyle/>
                    <a:p>
                      <a:pPr algn="ctr"/>
                      <a:r>
                        <a:rPr lang="en-US" sz="800" dirty="0">
                          <a:solidFill>
                            <a:schemeClr val="bg1"/>
                          </a:solidFill>
                        </a:rPr>
                        <a:t># of Monthly CRNA FTEs</a:t>
                      </a:r>
                      <a:endParaRPr lang="en-US" sz="800" baseline="30000" dirty="0">
                        <a:solidFill>
                          <a:schemeClr val="bg1"/>
                        </a:solidFill>
                      </a:endParaRPr>
                    </a:p>
                  </a:txBody>
                  <a:tcPr anchor="ctr">
                    <a:solidFill>
                      <a:srgbClr val="0F537C"/>
                    </a:solidFill>
                  </a:tcPr>
                </a:tc>
                <a:tc>
                  <a:txBody>
                    <a:bodyPr/>
                    <a:lstStyle/>
                    <a:p>
                      <a:pPr algn="ctr"/>
                      <a:r>
                        <a:rPr lang="en-US" sz="800" dirty="0">
                          <a:solidFill>
                            <a:schemeClr val="bg1"/>
                          </a:solidFill>
                        </a:rPr>
                        <a:t>CRNA Labor Floor</a:t>
                      </a:r>
                    </a:p>
                  </a:txBody>
                  <a:tcPr anchor="ctr">
                    <a:solidFill>
                      <a:srgbClr val="0F537C"/>
                    </a:solidFill>
                  </a:tcPr>
                </a:tc>
                <a:tc>
                  <a:txBody>
                    <a:bodyPr/>
                    <a:lstStyle/>
                    <a:p>
                      <a:pPr algn="ctr"/>
                      <a:r>
                        <a:rPr lang="en-US" sz="800" dirty="0">
                          <a:solidFill>
                            <a:schemeClr val="bg1"/>
                          </a:solidFill>
                        </a:rPr>
                        <a:t># of Monthly MDA FTEs</a:t>
                      </a:r>
                      <a:endParaRPr lang="en-US" sz="800" baseline="30000" dirty="0">
                        <a:solidFill>
                          <a:schemeClr val="bg1"/>
                        </a:solidFill>
                      </a:endParaRPr>
                    </a:p>
                  </a:txBody>
                  <a:tcPr anchor="ctr">
                    <a:solidFill>
                      <a:srgbClr val="0F537C"/>
                    </a:solidFill>
                  </a:tcPr>
                </a:tc>
                <a:tc>
                  <a:txBody>
                    <a:bodyPr/>
                    <a:lstStyle/>
                    <a:p>
                      <a:pPr algn="ctr"/>
                      <a:r>
                        <a:rPr lang="en-US" sz="800" dirty="0">
                          <a:solidFill>
                            <a:schemeClr val="bg1"/>
                          </a:solidFill>
                        </a:rPr>
                        <a:t>MDA Labor Floor</a:t>
                      </a:r>
                    </a:p>
                  </a:txBody>
                  <a:tcPr anchor="ctr">
                    <a:solidFill>
                      <a:srgbClr val="0F537C"/>
                    </a:solidFill>
                  </a:tcPr>
                </a:tc>
                <a:tc>
                  <a:txBody>
                    <a:bodyPr/>
                    <a:lstStyle/>
                    <a:p>
                      <a:pPr algn="ctr"/>
                      <a:r>
                        <a:rPr lang="en-US" sz="800" baseline="0" dirty="0">
                          <a:solidFill>
                            <a:schemeClr val="bg1"/>
                          </a:solidFill>
                        </a:rPr>
                        <a:t>Mgmt.          Fee</a:t>
                      </a:r>
                      <a:endParaRPr lang="en-US" sz="800" baseline="30000" dirty="0">
                        <a:solidFill>
                          <a:schemeClr val="bg1"/>
                        </a:solidFill>
                      </a:endParaRPr>
                    </a:p>
                  </a:txBody>
                  <a:tcPr anchor="ctr">
                    <a:solidFill>
                      <a:srgbClr val="0F537C"/>
                    </a:solidFill>
                  </a:tcPr>
                </a:tc>
                <a:tc>
                  <a:txBody>
                    <a:bodyPr/>
                    <a:lstStyle/>
                    <a:p>
                      <a:pPr algn="ctr"/>
                      <a:r>
                        <a:rPr lang="en-US" sz="800" dirty="0">
                          <a:solidFill>
                            <a:schemeClr val="bg1"/>
                          </a:solidFill>
                        </a:rPr>
                        <a:t>2026 Annual Revenue</a:t>
                      </a:r>
                      <a:endParaRPr lang="en-US" sz="800" baseline="30000" dirty="0">
                        <a:solidFill>
                          <a:schemeClr val="bg1"/>
                        </a:solidFill>
                      </a:endParaRPr>
                    </a:p>
                  </a:txBody>
                  <a:tcPr anchor="ctr">
                    <a:solidFill>
                      <a:srgbClr val="0F537C"/>
                    </a:solidFill>
                  </a:tcPr>
                </a:tc>
                <a:tc>
                  <a:txBody>
                    <a:bodyPr/>
                    <a:lstStyle/>
                    <a:p>
                      <a:pPr algn="ctr"/>
                      <a:r>
                        <a:rPr lang="en-US" sz="800" dirty="0">
                          <a:solidFill>
                            <a:schemeClr val="bg1"/>
                          </a:solidFill>
                        </a:rPr>
                        <a:t>Anticipated Gross Profit</a:t>
                      </a:r>
                      <a:endParaRPr lang="en-US" sz="800" baseline="30000" dirty="0">
                        <a:solidFill>
                          <a:schemeClr val="bg1"/>
                        </a:solidFill>
                      </a:endParaRPr>
                    </a:p>
                  </a:txBody>
                  <a:tcPr anchor="ctr">
                    <a:solidFill>
                      <a:srgbClr val="0F537C"/>
                    </a:solidFill>
                  </a:tcPr>
                </a:tc>
                <a:extLst>
                  <a:ext uri="{0D108BD9-81ED-4DB2-BD59-A6C34878D82A}">
                    <a16:rowId xmlns:a16="http://schemas.microsoft.com/office/drawing/2014/main" val="4117655186"/>
                  </a:ext>
                </a:extLst>
              </a:tr>
              <a:tr h="652289">
                <a:tc>
                  <a:txBody>
                    <a:bodyPr/>
                    <a:lstStyle/>
                    <a:p>
                      <a:pPr algn="ctr"/>
                      <a:endParaRPr lang="en-US" sz="900" b="1" dirty="0"/>
                    </a:p>
                  </a:txBody>
                  <a:tcPr anchor="ctr">
                    <a:solidFill>
                      <a:schemeClr val="bg1">
                        <a:lumMod val="95000"/>
                      </a:schemeClr>
                    </a:solidFill>
                  </a:tcPr>
                </a:tc>
                <a:tc>
                  <a:txBody>
                    <a:bodyPr/>
                    <a:lstStyle/>
                    <a:p>
                      <a:pPr algn="ctr"/>
                      <a:endParaRPr lang="en-US" sz="900" dirty="0"/>
                    </a:p>
                  </a:txBody>
                  <a:tcPr anchor="ctr">
                    <a:solidFill>
                      <a:schemeClr val="bg1">
                        <a:lumMod val="95000"/>
                      </a:schemeClr>
                    </a:solidFill>
                  </a:tcPr>
                </a:tc>
                <a:tc>
                  <a:txBody>
                    <a:bodyPr/>
                    <a:lstStyle/>
                    <a:p>
                      <a:pPr algn="ctr"/>
                      <a:r>
                        <a:rPr lang="en-US" sz="900" kern="1200" dirty="0">
                          <a:solidFill>
                            <a:schemeClr val="tx1"/>
                          </a:solidFill>
                          <a:latin typeface="+mn-lt"/>
                          <a:ea typeface="+mn-ea"/>
                          <a:cs typeface="+mn-cs"/>
                        </a:rPr>
                        <a:t>In Process</a:t>
                      </a:r>
                    </a:p>
                  </a:txBody>
                  <a:tcPr anchor="ctr">
                    <a:solidFill>
                      <a:schemeClr val="bg1">
                        <a:lumMod val="95000"/>
                      </a:schemeClr>
                    </a:solidFill>
                  </a:tcPr>
                </a:tc>
                <a:tc>
                  <a:txBody>
                    <a:bodyPr/>
                    <a:lstStyle/>
                    <a:p>
                      <a:pPr marL="0" algn="ctr" defTabSz="914400" rtl="0" eaLnBrk="1" latinLnBrk="0" hangingPunct="1"/>
                      <a:r>
                        <a:rPr lang="en-US" sz="900" kern="1200" dirty="0">
                          <a:solidFill>
                            <a:schemeClr val="tx1"/>
                          </a:solidFill>
                          <a:latin typeface="+mn-lt"/>
                          <a:ea typeface="+mn-ea"/>
                          <a:cs typeface="+mn-cs"/>
                        </a:rPr>
                        <a:t>Nov-2025</a:t>
                      </a:r>
                    </a:p>
                    <a:p>
                      <a:pPr marL="0" algn="ctr" defTabSz="914400" rtl="0" eaLnBrk="1" latinLnBrk="0" hangingPunct="1"/>
                      <a:r>
                        <a:rPr lang="en-US" sz="700" kern="1200" dirty="0">
                          <a:solidFill>
                            <a:schemeClr val="tx1"/>
                          </a:solidFill>
                          <a:latin typeface="+mn-lt"/>
                          <a:ea typeface="+mn-ea"/>
                          <a:cs typeface="+mn-cs"/>
                        </a:rPr>
                        <a:t>(Anticipated Expansion Timing)</a:t>
                      </a:r>
                    </a:p>
                  </a:txBody>
                  <a:tcPr anchor="ctr">
                    <a:solidFill>
                      <a:schemeClr val="bg1">
                        <a:lumMod val="95000"/>
                      </a:schemeClr>
                    </a:solidFill>
                  </a:tcPr>
                </a:tc>
                <a:tc>
                  <a:txBody>
                    <a:bodyPr/>
                    <a:lstStyle/>
                    <a:p>
                      <a:pPr marL="0" algn="ctr" defTabSz="914400" rtl="0" eaLnBrk="1" latinLnBrk="0" hangingPunct="1"/>
                      <a:r>
                        <a:rPr lang="en-US" sz="900" kern="1200" dirty="0">
                          <a:solidFill>
                            <a:schemeClr val="tx1"/>
                          </a:solidFill>
                          <a:latin typeface="+mn-lt"/>
                          <a:ea typeface="+mn-ea"/>
                          <a:cs typeface="+mn-cs"/>
                        </a:rPr>
                        <a:t>4.6</a:t>
                      </a:r>
                    </a:p>
                  </a:txBody>
                  <a:tcPr anchor="ctr">
                    <a:solidFill>
                      <a:schemeClr val="bg1">
                        <a:lumMod val="95000"/>
                      </a:schemeClr>
                    </a:solidFill>
                  </a:tcPr>
                </a:tc>
                <a:tc>
                  <a:txBody>
                    <a:bodyPr/>
                    <a:lstStyle/>
                    <a:p>
                      <a:pPr marL="0" algn="ctr" defTabSz="914400" rtl="0" eaLnBrk="1" latinLnBrk="0" hangingPunct="1"/>
                      <a:r>
                        <a:rPr lang="en-US" sz="900" kern="1200" dirty="0">
                          <a:solidFill>
                            <a:schemeClr val="tx1"/>
                          </a:solidFill>
                          <a:latin typeface="+mn-lt"/>
                          <a:ea typeface="+mn-ea"/>
                          <a:cs typeface="+mn-cs"/>
                        </a:rPr>
                        <a:t>$1,450</a:t>
                      </a:r>
                    </a:p>
                  </a:txBody>
                  <a:tcPr anchor="ctr">
                    <a:solidFill>
                      <a:schemeClr val="bg1">
                        <a:lumMod val="95000"/>
                      </a:schemeClr>
                    </a:solidFill>
                  </a:tcPr>
                </a:tc>
                <a:tc>
                  <a:txBody>
                    <a:bodyPr/>
                    <a:lstStyle/>
                    <a:p>
                      <a:pPr marL="0" algn="ctr" defTabSz="914400" rtl="0" eaLnBrk="1" latinLnBrk="0" hangingPunct="1"/>
                      <a:r>
                        <a:rPr lang="en-US" sz="900" kern="1200" dirty="0">
                          <a:solidFill>
                            <a:schemeClr val="tx1"/>
                          </a:solidFill>
                          <a:latin typeface="+mn-lt"/>
                          <a:ea typeface="+mn-ea"/>
                          <a:cs typeface="+mn-cs"/>
                        </a:rPr>
                        <a:t>2.1</a:t>
                      </a:r>
                    </a:p>
                  </a:txBody>
                  <a:tcPr anchor="ctr">
                    <a:solidFill>
                      <a:schemeClr val="bg1">
                        <a:lumMod val="95000"/>
                      </a:schemeClr>
                    </a:solidFill>
                  </a:tcPr>
                </a:tc>
                <a:tc>
                  <a:txBody>
                    <a:bodyPr/>
                    <a:lstStyle/>
                    <a:p>
                      <a:pPr marL="0" algn="ctr" defTabSz="914400" rtl="0" eaLnBrk="1" latinLnBrk="0" hangingPunct="1"/>
                      <a:r>
                        <a:rPr lang="en-US" sz="900" kern="1200" dirty="0">
                          <a:solidFill>
                            <a:schemeClr val="tx1"/>
                          </a:solidFill>
                          <a:latin typeface="+mn-lt"/>
                          <a:ea typeface="+mn-ea"/>
                          <a:cs typeface="+mn-cs"/>
                        </a:rPr>
                        <a:t>$2,725</a:t>
                      </a:r>
                    </a:p>
                  </a:txBody>
                  <a:tcPr anchor="ctr">
                    <a:solidFill>
                      <a:schemeClr val="bg1">
                        <a:lumMod val="95000"/>
                      </a:schemeClr>
                    </a:solidFill>
                  </a:tcPr>
                </a:tc>
                <a:tc>
                  <a:txBody>
                    <a:bodyPr/>
                    <a:lstStyle/>
                    <a:p>
                      <a:pPr marL="0" algn="ctr" defTabSz="914400" rtl="0" eaLnBrk="1" latinLnBrk="0" hangingPunct="1"/>
                      <a:r>
                        <a:rPr lang="en-US" sz="900" kern="1200" dirty="0">
                          <a:solidFill>
                            <a:schemeClr val="tx1"/>
                          </a:solidFill>
                          <a:latin typeface="+mn-lt"/>
                          <a:ea typeface="+mn-ea"/>
                          <a:cs typeface="+mn-cs"/>
                        </a:rPr>
                        <a:t>-</a:t>
                      </a:r>
                    </a:p>
                  </a:txBody>
                  <a:tcPr anchor="ctr">
                    <a:solidFill>
                      <a:schemeClr val="bg1">
                        <a:lumMod val="95000"/>
                      </a:schemeClr>
                    </a:solidFill>
                  </a:tcPr>
                </a:tc>
                <a:tc>
                  <a:txBody>
                    <a:bodyPr/>
                    <a:lstStyle/>
                    <a:p>
                      <a:pPr marL="0" algn="ctr" defTabSz="914400" rtl="0" eaLnBrk="1" latinLnBrk="0" hangingPunct="1"/>
                      <a:r>
                        <a:rPr lang="en-US" sz="900" kern="1200" dirty="0">
                          <a:solidFill>
                            <a:schemeClr val="tx1"/>
                          </a:solidFill>
                          <a:latin typeface="+mn-lt"/>
                          <a:ea typeface="+mn-ea"/>
                          <a:cs typeface="+mn-cs"/>
                        </a:rPr>
                        <a:t>$3.0M</a:t>
                      </a:r>
                    </a:p>
                  </a:txBody>
                  <a:tcPr anchor="ctr">
                    <a:solidFill>
                      <a:schemeClr val="bg1">
                        <a:lumMod val="95000"/>
                      </a:schemeClr>
                    </a:solidFill>
                  </a:tcPr>
                </a:tc>
                <a:tc>
                  <a:txBody>
                    <a:bodyPr/>
                    <a:lstStyle/>
                    <a:p>
                      <a:pPr marL="0" algn="ctr" defTabSz="914400" rtl="0" eaLnBrk="1" latinLnBrk="0" hangingPunct="1"/>
                      <a:r>
                        <a:rPr lang="en-US" sz="900" kern="1200" dirty="0">
                          <a:solidFill>
                            <a:schemeClr val="tx1"/>
                          </a:solidFill>
                          <a:latin typeface="+mn-lt"/>
                          <a:ea typeface="+mn-ea"/>
                          <a:cs typeface="+mn-cs"/>
                        </a:rPr>
                        <a:t>$794.2K</a:t>
                      </a:r>
                    </a:p>
                  </a:txBody>
                  <a:tcPr anchor="ctr">
                    <a:solidFill>
                      <a:schemeClr val="bg1">
                        <a:lumMod val="95000"/>
                      </a:schemeClr>
                    </a:solidFill>
                  </a:tcPr>
                </a:tc>
                <a:extLst>
                  <a:ext uri="{0D108BD9-81ED-4DB2-BD59-A6C34878D82A}">
                    <a16:rowId xmlns:a16="http://schemas.microsoft.com/office/drawing/2014/main" val="3459007053"/>
                  </a:ext>
                </a:extLst>
              </a:tr>
              <a:tr h="652289">
                <a:tc>
                  <a:txBody>
                    <a:bodyPr/>
                    <a:lstStyle/>
                    <a:p>
                      <a:pPr algn="ctr"/>
                      <a:endParaRPr lang="en-US" sz="900" b="1" dirty="0"/>
                    </a:p>
                  </a:txBody>
                  <a:tcPr anchor="ctr">
                    <a:noFill/>
                  </a:tcPr>
                </a:tc>
                <a:tc>
                  <a:txBody>
                    <a:bodyPr/>
                    <a:lstStyle/>
                    <a:p>
                      <a:pPr algn="ctr"/>
                      <a:endParaRPr lang="en-US" sz="900" dirty="0"/>
                    </a:p>
                  </a:txBody>
                  <a:tcPr anchor="ctr">
                    <a:noFill/>
                  </a:tcPr>
                </a:tc>
                <a:tc>
                  <a:txBody>
                    <a:bodyPr/>
                    <a:lstStyle/>
                    <a:p>
                      <a:pPr algn="ctr"/>
                      <a:r>
                        <a:rPr lang="en-US" sz="900" kern="1200" dirty="0">
                          <a:solidFill>
                            <a:schemeClr val="tx1"/>
                          </a:solidFill>
                          <a:latin typeface="+mn-lt"/>
                          <a:ea typeface="+mn-ea"/>
                          <a:cs typeface="+mn-cs"/>
                        </a:rPr>
                        <a:t>Executed</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mn-cs"/>
                        </a:rPr>
                        <a:t>Sept-2025</a:t>
                      </a:r>
                    </a:p>
                  </a:txBody>
                  <a:tcPr anchor="ctr">
                    <a:noFill/>
                  </a:tcPr>
                </a:tc>
                <a:tc>
                  <a:txBody>
                    <a:bodyPr/>
                    <a:lstStyle/>
                    <a:p>
                      <a:pPr marL="0" algn="ctr" defTabSz="914400" rtl="0" eaLnBrk="1" latinLnBrk="0" hangingPunct="1"/>
                      <a:r>
                        <a:rPr lang="en-US" sz="900" kern="1200" dirty="0">
                          <a:solidFill>
                            <a:schemeClr val="tx1"/>
                          </a:solidFill>
                          <a:latin typeface="+mn-lt"/>
                          <a:ea typeface="+mn-ea"/>
                          <a:cs typeface="+mn-cs"/>
                        </a:rPr>
                        <a:t>5.0</a:t>
                      </a:r>
                    </a:p>
                  </a:txBody>
                  <a:tcPr anchor="ctr">
                    <a:noFill/>
                  </a:tcPr>
                </a:tc>
                <a:tc>
                  <a:txBody>
                    <a:bodyPr/>
                    <a:lstStyle/>
                    <a:p>
                      <a:pPr marL="0" algn="ctr" defTabSz="914400" rtl="0" eaLnBrk="1" latinLnBrk="0" hangingPunct="1"/>
                      <a:r>
                        <a:rPr lang="en-US" sz="900" kern="1200" dirty="0">
                          <a:solidFill>
                            <a:schemeClr val="tx1"/>
                          </a:solidFill>
                          <a:latin typeface="+mn-lt"/>
                          <a:ea typeface="+mn-ea"/>
                          <a:cs typeface="+mn-cs"/>
                        </a:rPr>
                        <a:t>$1,450</a:t>
                      </a:r>
                    </a:p>
                  </a:txBody>
                  <a:tcPr anchor="ctr">
                    <a:noFill/>
                  </a:tcPr>
                </a:tc>
                <a:tc>
                  <a:txBody>
                    <a:bodyPr/>
                    <a:lstStyle/>
                    <a:p>
                      <a:pPr marL="0" algn="ctr" defTabSz="914400" rtl="0" eaLnBrk="1" latinLnBrk="0" hangingPunct="1"/>
                      <a:r>
                        <a:rPr lang="en-US" sz="900" kern="1200" dirty="0">
                          <a:solidFill>
                            <a:schemeClr val="tx1"/>
                          </a:solidFill>
                          <a:latin typeface="+mn-lt"/>
                          <a:ea typeface="+mn-ea"/>
                          <a:cs typeface="+mn-cs"/>
                        </a:rPr>
                        <a:t>2.0</a:t>
                      </a:r>
                    </a:p>
                  </a:txBody>
                  <a:tcPr anchor="ctr">
                    <a:noFill/>
                  </a:tcPr>
                </a:tc>
                <a:tc>
                  <a:txBody>
                    <a:bodyPr/>
                    <a:lstStyle/>
                    <a:p>
                      <a:pPr marL="0" algn="ctr" defTabSz="914400" rtl="0" eaLnBrk="1" latinLnBrk="0" hangingPunct="1"/>
                      <a:r>
                        <a:rPr lang="en-US" sz="900" kern="1200" dirty="0">
                          <a:solidFill>
                            <a:schemeClr val="tx1"/>
                          </a:solidFill>
                          <a:latin typeface="+mn-lt"/>
                          <a:ea typeface="+mn-ea"/>
                          <a:cs typeface="+mn-cs"/>
                        </a:rPr>
                        <a:t>$2,725</a:t>
                      </a:r>
                    </a:p>
                  </a:txBody>
                  <a:tcPr anchor="ctr">
                    <a:noFill/>
                  </a:tcPr>
                </a:tc>
                <a:tc>
                  <a:txBody>
                    <a:bodyPr/>
                    <a:lstStyle/>
                    <a:p>
                      <a:pPr marL="0" algn="ctr" defTabSz="914400" rtl="0" eaLnBrk="1" latinLnBrk="0" hangingPunct="1"/>
                      <a:r>
                        <a:rPr lang="en-US" sz="900" kern="1200" dirty="0">
                          <a:solidFill>
                            <a:schemeClr val="tx1"/>
                          </a:solidFill>
                          <a:latin typeface="+mn-lt"/>
                          <a:ea typeface="+mn-ea"/>
                          <a:cs typeface="+mn-cs"/>
                        </a:rPr>
                        <a:t>-</a:t>
                      </a:r>
                    </a:p>
                  </a:txBody>
                  <a:tcPr anchor="ctr">
                    <a:noFill/>
                  </a:tcPr>
                </a:tc>
                <a:tc>
                  <a:txBody>
                    <a:bodyPr/>
                    <a:lstStyle/>
                    <a:p>
                      <a:pPr marL="0" algn="ctr" defTabSz="914400" rtl="0" eaLnBrk="1" latinLnBrk="0" hangingPunct="1"/>
                      <a:r>
                        <a:rPr lang="en-US" sz="900" kern="1200" dirty="0">
                          <a:solidFill>
                            <a:schemeClr val="tx1"/>
                          </a:solidFill>
                          <a:latin typeface="+mn-lt"/>
                          <a:ea typeface="+mn-ea"/>
                          <a:cs typeface="+mn-cs"/>
                        </a:rPr>
                        <a:t>$2.8M</a:t>
                      </a:r>
                    </a:p>
                  </a:txBody>
                  <a:tcPr anchor="ctr">
                    <a:noFill/>
                  </a:tcPr>
                </a:tc>
                <a:tc>
                  <a:txBody>
                    <a:bodyPr/>
                    <a:lstStyle/>
                    <a:p>
                      <a:pPr marL="0" algn="ctr" defTabSz="914400" rtl="0" eaLnBrk="1" latinLnBrk="0" hangingPunct="1"/>
                      <a:r>
                        <a:rPr lang="en-US" sz="900" kern="1200" dirty="0">
                          <a:solidFill>
                            <a:schemeClr val="tx1"/>
                          </a:solidFill>
                          <a:latin typeface="+mn-lt"/>
                          <a:ea typeface="+mn-ea"/>
                          <a:cs typeface="+mn-cs"/>
                        </a:rPr>
                        <a:t>$754.0K</a:t>
                      </a:r>
                    </a:p>
                  </a:txBody>
                  <a:tcPr anchor="ctr">
                    <a:noFill/>
                  </a:tcPr>
                </a:tc>
                <a:extLst>
                  <a:ext uri="{0D108BD9-81ED-4DB2-BD59-A6C34878D82A}">
                    <a16:rowId xmlns:a16="http://schemas.microsoft.com/office/drawing/2014/main" val="1941739623"/>
                  </a:ext>
                </a:extLst>
              </a:tr>
              <a:tr h="652289">
                <a:tc>
                  <a:txBody>
                    <a:bodyPr/>
                    <a:lstStyle/>
                    <a:p>
                      <a:pPr algn="ctr"/>
                      <a:endParaRPr lang="en-US" sz="900" b="1" dirty="0"/>
                    </a:p>
                  </a:txBody>
                  <a:tcPr anchor="ctr">
                    <a:solidFill>
                      <a:srgbClr val="F2F2F2"/>
                    </a:solidFill>
                  </a:tcPr>
                </a:tc>
                <a:tc>
                  <a:txBody>
                    <a:bodyPr/>
                    <a:lstStyle/>
                    <a:p>
                      <a:pPr algn="ctr"/>
                      <a:endParaRPr lang="en-US" sz="900" dirty="0"/>
                    </a:p>
                  </a:txBody>
                  <a:tcPr anchor="ctr">
                    <a:solidFill>
                      <a:srgbClr val="F2F2F2"/>
                    </a:solidFill>
                  </a:tcPr>
                </a:tc>
                <a:tc>
                  <a:txBody>
                    <a:bodyPr/>
                    <a:lstStyle/>
                    <a:p>
                      <a:pPr algn="ctr"/>
                      <a:r>
                        <a:rPr lang="en-US" sz="900" kern="1200" dirty="0">
                          <a:solidFill>
                            <a:schemeClr val="tx1"/>
                          </a:solidFill>
                          <a:latin typeface="+mn-lt"/>
                          <a:ea typeface="+mn-ea"/>
                          <a:cs typeface="+mn-cs"/>
                        </a:rPr>
                        <a:t>Executed</a:t>
                      </a:r>
                    </a:p>
                  </a:txBody>
                  <a:tcPr anchor="ctr">
                    <a:solidFill>
                      <a:srgbClr val="F2F2F2"/>
                    </a:solidFill>
                  </a:tcPr>
                </a:tc>
                <a:tc>
                  <a:txBody>
                    <a:bodyPr/>
                    <a:lstStyle/>
                    <a:p>
                      <a:pPr marL="0" algn="ctr" defTabSz="914400" rtl="0" eaLnBrk="1" latinLnBrk="0" hangingPunct="1"/>
                      <a:r>
                        <a:rPr lang="en-US" sz="900" kern="1200" dirty="0">
                          <a:solidFill>
                            <a:schemeClr val="tx1"/>
                          </a:solidFill>
                          <a:latin typeface="+mn-lt"/>
                          <a:ea typeface="+mn-ea"/>
                          <a:cs typeface="+mn-cs"/>
                        </a:rPr>
                        <a:t>Dec-2025</a:t>
                      </a:r>
                    </a:p>
                  </a:txBody>
                  <a:tcPr anchor="ctr">
                    <a:solidFill>
                      <a:srgbClr val="F2F2F2"/>
                    </a:solidFill>
                  </a:tcPr>
                </a:tc>
                <a:tc>
                  <a:txBody>
                    <a:bodyPr/>
                    <a:lstStyle/>
                    <a:p>
                      <a:pPr marL="0" algn="ctr" defTabSz="914400" rtl="0" eaLnBrk="1" latinLnBrk="0" hangingPunct="1"/>
                      <a:r>
                        <a:rPr lang="en-US" sz="900" kern="1200" dirty="0">
                          <a:solidFill>
                            <a:schemeClr val="tx1"/>
                          </a:solidFill>
                          <a:latin typeface="+mn-lt"/>
                          <a:ea typeface="+mn-ea"/>
                          <a:cs typeface="+mn-cs"/>
                        </a:rPr>
                        <a:t>-</a:t>
                      </a:r>
                    </a:p>
                  </a:txBody>
                  <a:tcPr anchor="ctr">
                    <a:solidFill>
                      <a:srgbClr val="F2F2F2"/>
                    </a:solidFill>
                  </a:tcPr>
                </a:tc>
                <a:tc>
                  <a:txBody>
                    <a:bodyPr/>
                    <a:lstStyle/>
                    <a:p>
                      <a:pPr marL="0" algn="ctr" defTabSz="914400" rtl="0" eaLnBrk="1" latinLnBrk="0" hangingPunct="1"/>
                      <a:r>
                        <a:rPr lang="en-US" sz="900" kern="1200" dirty="0">
                          <a:solidFill>
                            <a:schemeClr val="tx1"/>
                          </a:solidFill>
                          <a:latin typeface="+mn-lt"/>
                          <a:ea typeface="+mn-ea"/>
                          <a:cs typeface="+mn-cs"/>
                        </a:rPr>
                        <a:t>-</a:t>
                      </a:r>
                    </a:p>
                  </a:txBody>
                  <a:tcPr anchor="ctr">
                    <a:solidFill>
                      <a:srgbClr val="F2F2F2"/>
                    </a:solidFill>
                  </a:tcPr>
                </a:tc>
                <a:tc>
                  <a:txBody>
                    <a:bodyPr/>
                    <a:lstStyle/>
                    <a:p>
                      <a:pPr marL="0" algn="ctr" defTabSz="914400" rtl="0" eaLnBrk="1" latinLnBrk="0" hangingPunct="1"/>
                      <a:r>
                        <a:rPr lang="en-US" sz="900" kern="1200" dirty="0">
                          <a:solidFill>
                            <a:schemeClr val="tx1"/>
                          </a:solidFill>
                          <a:latin typeface="+mn-lt"/>
                          <a:ea typeface="+mn-ea"/>
                          <a:cs typeface="+mn-cs"/>
                        </a:rPr>
                        <a:t>5.0</a:t>
                      </a:r>
                    </a:p>
                  </a:txBody>
                  <a:tcPr anchor="ctr">
                    <a:solidFill>
                      <a:srgbClr val="F2F2F2"/>
                    </a:solidFill>
                  </a:tcPr>
                </a:tc>
                <a:tc>
                  <a:txBody>
                    <a:bodyPr/>
                    <a:lstStyle/>
                    <a:p>
                      <a:pPr marL="0" algn="ctr" defTabSz="914400" rtl="0" eaLnBrk="1" latinLnBrk="0" hangingPunct="1"/>
                      <a:r>
                        <a:rPr lang="en-US" sz="900" kern="1200" dirty="0">
                          <a:solidFill>
                            <a:schemeClr val="tx1"/>
                          </a:solidFill>
                          <a:latin typeface="+mn-lt"/>
                          <a:ea typeface="+mn-ea"/>
                          <a:cs typeface="+mn-cs"/>
                        </a:rPr>
                        <a:t>$2,906</a:t>
                      </a:r>
                    </a:p>
                  </a:txBody>
                  <a:tcPr anchor="ctr">
                    <a:solidFill>
                      <a:srgbClr val="F2F2F2"/>
                    </a:solidFill>
                  </a:tcPr>
                </a:tc>
                <a:tc>
                  <a:txBody>
                    <a:bodyPr/>
                    <a:lstStyle/>
                    <a:p>
                      <a:pPr marL="0" algn="ctr" defTabSz="914400" rtl="0" eaLnBrk="1" latinLnBrk="0" hangingPunct="1"/>
                      <a:r>
                        <a:rPr lang="en-US" sz="900" kern="1200" noProof="0" dirty="0">
                          <a:solidFill>
                            <a:schemeClr val="tx1"/>
                          </a:solidFill>
                          <a:latin typeface="+mn-lt"/>
                          <a:ea typeface="+mn-ea"/>
                          <a:cs typeface="+mn-cs"/>
                        </a:rPr>
                        <a:t>✓</a:t>
                      </a:r>
                      <a:endParaRPr lang="en-US" sz="900" kern="1200" dirty="0">
                        <a:solidFill>
                          <a:schemeClr val="tx1"/>
                        </a:solidFill>
                        <a:latin typeface="+mn-lt"/>
                        <a:ea typeface="+mn-ea"/>
                        <a:cs typeface="+mn-cs"/>
                      </a:endParaRPr>
                    </a:p>
                  </a:txBody>
                  <a:tcPr anchor="ctr">
                    <a:solidFill>
                      <a:srgbClr val="F2F2F2"/>
                    </a:solidFill>
                  </a:tcPr>
                </a:tc>
                <a:tc>
                  <a:txBody>
                    <a:bodyPr/>
                    <a:lstStyle/>
                    <a:p>
                      <a:pPr marL="0" algn="ctr" defTabSz="914400" rtl="0" eaLnBrk="1" latinLnBrk="0" hangingPunct="1"/>
                      <a:r>
                        <a:rPr lang="en-US" sz="900" kern="1200" dirty="0">
                          <a:solidFill>
                            <a:schemeClr val="tx1"/>
                          </a:solidFill>
                          <a:latin typeface="+mn-lt"/>
                          <a:ea typeface="+mn-ea"/>
                          <a:cs typeface="+mn-cs"/>
                        </a:rPr>
                        <a:t>$4.4M</a:t>
                      </a:r>
                    </a:p>
                  </a:txBody>
                  <a:tcPr anchor="ctr">
                    <a:solidFill>
                      <a:srgbClr val="F2F2F2"/>
                    </a:solidFill>
                  </a:tcPr>
                </a:tc>
                <a:tc>
                  <a:txBody>
                    <a:bodyPr/>
                    <a:lstStyle/>
                    <a:p>
                      <a:pPr marL="0" algn="ctr" defTabSz="914400" rtl="0" eaLnBrk="1" latinLnBrk="0" hangingPunct="1"/>
                      <a:r>
                        <a:rPr lang="en-US" sz="900" kern="1200" dirty="0">
                          <a:solidFill>
                            <a:schemeClr val="tx1"/>
                          </a:solidFill>
                          <a:latin typeface="+mn-lt"/>
                          <a:ea typeface="+mn-ea"/>
                          <a:cs typeface="+mn-cs"/>
                        </a:rPr>
                        <a:t>$1.5M</a:t>
                      </a:r>
                    </a:p>
                  </a:txBody>
                  <a:tcPr anchor="ctr">
                    <a:solidFill>
                      <a:srgbClr val="F2F2F2"/>
                    </a:solidFill>
                  </a:tcPr>
                </a:tc>
                <a:extLst>
                  <a:ext uri="{0D108BD9-81ED-4DB2-BD59-A6C34878D82A}">
                    <a16:rowId xmlns:a16="http://schemas.microsoft.com/office/drawing/2014/main" val="1198096351"/>
                  </a:ext>
                </a:extLst>
              </a:tr>
              <a:tr h="652289">
                <a:tc>
                  <a:txBody>
                    <a:bodyPr/>
                    <a:lstStyle/>
                    <a:p>
                      <a:pPr algn="ctr"/>
                      <a:endParaRPr lang="en-US" sz="900" b="1" dirty="0"/>
                    </a:p>
                  </a:txBody>
                  <a:tcPr anchor="ctr">
                    <a:solidFill>
                      <a:srgbClr val="FFFFFF"/>
                    </a:solidFill>
                  </a:tcPr>
                </a:tc>
                <a:tc>
                  <a:txBody>
                    <a:bodyPr/>
                    <a:lstStyle/>
                    <a:p>
                      <a:pPr algn="ctr"/>
                      <a:endParaRPr lang="en-US" sz="900" dirty="0"/>
                    </a:p>
                  </a:txBody>
                  <a:tcPr anchor="ctr">
                    <a:solidFill>
                      <a:srgbClr val="FFFFFF"/>
                    </a:solidFill>
                  </a:tcPr>
                </a:tc>
                <a:tc>
                  <a:txBody>
                    <a:bodyPr/>
                    <a:lstStyle/>
                    <a:p>
                      <a:pPr algn="ctr"/>
                      <a:r>
                        <a:rPr lang="en-US" sz="900" kern="1200" dirty="0">
                          <a:solidFill>
                            <a:schemeClr val="tx1"/>
                          </a:solidFill>
                          <a:latin typeface="+mn-lt"/>
                          <a:ea typeface="+mn-ea"/>
                          <a:cs typeface="+mn-cs"/>
                        </a:rPr>
                        <a:t>Executed</a:t>
                      </a:r>
                    </a:p>
                  </a:txBody>
                  <a:tcPr anchor="ctr">
                    <a:solidFill>
                      <a:srgbClr val="FFFFFF"/>
                    </a:solidFill>
                  </a:tcPr>
                </a:tc>
                <a:tc>
                  <a:txBody>
                    <a:bodyPr/>
                    <a:lstStyle/>
                    <a:p>
                      <a:pPr marL="0" algn="ctr" defTabSz="914400" rtl="0" eaLnBrk="1" latinLnBrk="0" hangingPunct="1"/>
                      <a:r>
                        <a:rPr lang="en-US" sz="900" kern="1200" dirty="0">
                          <a:solidFill>
                            <a:schemeClr val="tx1"/>
                          </a:solidFill>
                          <a:latin typeface="+mn-lt"/>
                          <a:ea typeface="+mn-ea"/>
                          <a:cs typeface="+mn-cs"/>
                        </a:rPr>
                        <a:t>Aug-2025</a:t>
                      </a:r>
                    </a:p>
                  </a:txBody>
                  <a:tcPr anchor="ctr">
                    <a:solidFill>
                      <a:srgbClr val="FFFFFF"/>
                    </a:solidFill>
                  </a:tcPr>
                </a:tc>
                <a:tc>
                  <a:txBody>
                    <a:bodyPr/>
                    <a:lstStyle/>
                    <a:p>
                      <a:pPr marL="0" algn="ctr" defTabSz="914400" rtl="0" eaLnBrk="1" latinLnBrk="0" hangingPunct="1"/>
                      <a:r>
                        <a:rPr lang="en-US" sz="900" kern="1200" dirty="0">
                          <a:solidFill>
                            <a:schemeClr val="tx1"/>
                          </a:solidFill>
                          <a:latin typeface="+mn-lt"/>
                          <a:ea typeface="+mn-ea"/>
                          <a:cs typeface="+mn-cs"/>
                        </a:rPr>
                        <a:t>0.3</a:t>
                      </a:r>
                    </a:p>
                  </a:txBody>
                  <a:tcPr anchor="ctr">
                    <a:solidFill>
                      <a:srgbClr val="FFFFFF"/>
                    </a:solidFill>
                  </a:tcPr>
                </a:tc>
                <a:tc>
                  <a:txBody>
                    <a:bodyPr/>
                    <a:lstStyle/>
                    <a:p>
                      <a:pPr marL="0" algn="ctr" defTabSz="914400" rtl="0" eaLnBrk="1" latinLnBrk="0" hangingPunct="1"/>
                      <a:r>
                        <a:rPr lang="en-US" sz="900" kern="1200" dirty="0">
                          <a:solidFill>
                            <a:schemeClr val="tx1"/>
                          </a:solidFill>
                          <a:latin typeface="+mn-lt"/>
                          <a:ea typeface="+mn-ea"/>
                          <a:cs typeface="+mn-cs"/>
                        </a:rPr>
                        <a:t>$1,904</a:t>
                      </a:r>
                    </a:p>
                  </a:txBody>
                  <a:tcPr anchor="ctr">
                    <a:solidFill>
                      <a:srgbClr val="FFFFFF"/>
                    </a:solidFill>
                  </a:tcPr>
                </a:tc>
                <a:tc>
                  <a:txBody>
                    <a:bodyPr/>
                    <a:lstStyle/>
                    <a:p>
                      <a:pPr marL="0" algn="ctr" defTabSz="914400" rtl="0" eaLnBrk="1" latinLnBrk="0" hangingPunct="1"/>
                      <a:r>
                        <a:rPr lang="en-US" sz="900" kern="1200" dirty="0">
                          <a:solidFill>
                            <a:schemeClr val="tx1"/>
                          </a:solidFill>
                          <a:latin typeface="+mn-lt"/>
                          <a:ea typeface="+mn-ea"/>
                          <a:cs typeface="+mn-cs"/>
                        </a:rPr>
                        <a:t>1.2</a:t>
                      </a:r>
                    </a:p>
                  </a:txBody>
                  <a:tcPr anchor="ctr">
                    <a:solidFill>
                      <a:srgbClr val="FFFFFF"/>
                    </a:solidFill>
                  </a:tcPr>
                </a:tc>
                <a:tc>
                  <a:txBody>
                    <a:bodyPr/>
                    <a:lstStyle/>
                    <a:p>
                      <a:pPr marL="0" algn="ctr" defTabSz="914400" rtl="0" eaLnBrk="1" latinLnBrk="0" hangingPunct="1"/>
                      <a:r>
                        <a:rPr lang="en-US" sz="900" kern="1200" dirty="0">
                          <a:solidFill>
                            <a:schemeClr val="tx1"/>
                          </a:solidFill>
                          <a:latin typeface="+mn-lt"/>
                          <a:ea typeface="+mn-ea"/>
                          <a:cs typeface="+mn-cs"/>
                        </a:rPr>
                        <a:t>$2,906</a:t>
                      </a:r>
                    </a:p>
                  </a:txBody>
                  <a:tcPr anchor="ctr">
                    <a:solidFill>
                      <a:srgbClr val="FFFFFF"/>
                    </a:solidFill>
                  </a:tcPr>
                </a:tc>
                <a:tc>
                  <a:txBody>
                    <a:bodyPr/>
                    <a:lstStyle/>
                    <a:p>
                      <a:pPr marL="0" algn="ctr" defTabSz="914400" rtl="0" eaLnBrk="1" latinLnBrk="0" hangingPunct="1"/>
                      <a:r>
                        <a:rPr lang="en-US" sz="900" kern="1200" noProof="0" dirty="0">
                          <a:solidFill>
                            <a:schemeClr val="tx1"/>
                          </a:solidFill>
                          <a:latin typeface="+mn-lt"/>
                          <a:ea typeface="+mn-ea"/>
                          <a:cs typeface="+mn-cs"/>
                        </a:rPr>
                        <a:t>✓</a:t>
                      </a:r>
                      <a:endParaRPr lang="en-US" sz="900" kern="1200" dirty="0">
                        <a:solidFill>
                          <a:schemeClr val="tx1"/>
                        </a:solidFill>
                        <a:latin typeface="+mn-lt"/>
                        <a:ea typeface="+mn-ea"/>
                        <a:cs typeface="+mn-cs"/>
                      </a:endParaRPr>
                    </a:p>
                  </a:txBody>
                  <a:tcPr anchor="ctr">
                    <a:solidFill>
                      <a:srgbClr val="FFFFFF"/>
                    </a:solidFill>
                  </a:tcPr>
                </a:tc>
                <a:tc>
                  <a:txBody>
                    <a:bodyPr/>
                    <a:lstStyle/>
                    <a:p>
                      <a:pPr marL="0" algn="ctr" defTabSz="914400" rtl="0" eaLnBrk="1" latinLnBrk="0" hangingPunct="1"/>
                      <a:r>
                        <a:rPr lang="en-US" sz="900" kern="1200" dirty="0">
                          <a:solidFill>
                            <a:schemeClr val="tx1"/>
                          </a:solidFill>
                          <a:latin typeface="+mn-lt"/>
                          <a:ea typeface="+mn-ea"/>
                          <a:cs typeface="+mn-cs"/>
                        </a:rPr>
                        <a:t>$1.2M</a:t>
                      </a:r>
                    </a:p>
                  </a:txBody>
                  <a:tcPr anchor="ctr">
                    <a:solidFill>
                      <a:srgbClr val="FFFFFF"/>
                    </a:solidFill>
                  </a:tcPr>
                </a:tc>
                <a:tc>
                  <a:txBody>
                    <a:bodyPr/>
                    <a:lstStyle/>
                    <a:p>
                      <a:pPr marL="0" algn="ctr" defTabSz="914400" rtl="0" eaLnBrk="1" latinLnBrk="0" hangingPunct="1"/>
                      <a:r>
                        <a:rPr lang="en-US" sz="900" kern="1200" dirty="0">
                          <a:solidFill>
                            <a:schemeClr val="tx1"/>
                          </a:solidFill>
                          <a:latin typeface="+mn-lt"/>
                          <a:ea typeface="+mn-ea"/>
                          <a:cs typeface="+mn-cs"/>
                        </a:rPr>
                        <a:t>$411.8K</a:t>
                      </a:r>
                    </a:p>
                  </a:txBody>
                  <a:tcPr anchor="ctr">
                    <a:solidFill>
                      <a:srgbClr val="FFFFFF"/>
                    </a:solidFill>
                  </a:tcPr>
                </a:tc>
                <a:extLst>
                  <a:ext uri="{0D108BD9-81ED-4DB2-BD59-A6C34878D82A}">
                    <a16:rowId xmlns:a16="http://schemas.microsoft.com/office/drawing/2014/main" val="1559219488"/>
                  </a:ext>
                </a:extLst>
              </a:tr>
              <a:tr h="652289">
                <a:tc>
                  <a:txBody>
                    <a:bodyPr/>
                    <a:lstStyle/>
                    <a:p>
                      <a:pPr algn="ctr"/>
                      <a:endParaRPr lang="en-US" sz="900" b="1" dirty="0"/>
                    </a:p>
                  </a:txBody>
                  <a:tcPr anchor="ctr">
                    <a:solidFill>
                      <a:srgbClr val="F2F2F2"/>
                    </a:solidFill>
                  </a:tcPr>
                </a:tc>
                <a:tc>
                  <a:txBody>
                    <a:bodyPr/>
                    <a:lstStyle/>
                    <a:p>
                      <a:pPr algn="ctr"/>
                      <a:endParaRPr lang="en-US" sz="900" dirty="0"/>
                    </a:p>
                  </a:txBody>
                  <a:tcPr anchor="ctr">
                    <a:solidFill>
                      <a:srgbClr val="F2F2F2"/>
                    </a:solidFill>
                  </a:tcPr>
                </a:tc>
                <a:tc>
                  <a:txBody>
                    <a:bodyPr/>
                    <a:lstStyle/>
                    <a:p>
                      <a:pPr algn="ctr"/>
                      <a:r>
                        <a:rPr lang="en-US" sz="900" kern="1200" dirty="0">
                          <a:solidFill>
                            <a:schemeClr val="tx1"/>
                          </a:solidFill>
                          <a:latin typeface="+mn-lt"/>
                          <a:ea typeface="+mn-ea"/>
                          <a:cs typeface="+mn-cs"/>
                        </a:rPr>
                        <a:t>In Process</a:t>
                      </a:r>
                    </a:p>
                  </a:txBody>
                  <a:tcPr anchor="ctr">
                    <a:solidFill>
                      <a:srgbClr val="F2F2F2"/>
                    </a:solidFill>
                  </a:tcPr>
                </a:tc>
                <a:tc>
                  <a:txBody>
                    <a:bodyPr/>
                    <a:lstStyle/>
                    <a:p>
                      <a:pPr marL="0" algn="ctr" defTabSz="914400" rtl="0" eaLnBrk="1" latinLnBrk="0" hangingPunct="1"/>
                      <a:r>
                        <a:rPr lang="en-US" sz="900" kern="1200" dirty="0">
                          <a:solidFill>
                            <a:schemeClr val="tx1"/>
                          </a:solidFill>
                          <a:latin typeface="+mn-lt"/>
                          <a:ea typeface="+mn-ea"/>
                          <a:cs typeface="+mn-cs"/>
                        </a:rPr>
                        <a:t>Nov-2025</a:t>
                      </a:r>
                    </a:p>
                  </a:txBody>
                  <a:tcPr anchor="ctr">
                    <a:solidFill>
                      <a:srgbClr val="F2F2F2"/>
                    </a:solidFill>
                  </a:tcPr>
                </a:tc>
                <a:tc>
                  <a:txBody>
                    <a:bodyPr/>
                    <a:lstStyle/>
                    <a:p>
                      <a:pPr marL="0" algn="ctr" defTabSz="914400" rtl="0" eaLnBrk="1" latinLnBrk="0" hangingPunct="1"/>
                      <a:r>
                        <a:rPr lang="en-US" sz="900" kern="1200" dirty="0">
                          <a:solidFill>
                            <a:schemeClr val="tx1"/>
                          </a:solidFill>
                          <a:latin typeface="+mn-lt"/>
                          <a:ea typeface="+mn-ea"/>
                          <a:cs typeface="+mn-cs"/>
                        </a:rPr>
                        <a:t>0.3</a:t>
                      </a:r>
                    </a:p>
                  </a:txBody>
                  <a:tcPr anchor="ctr">
                    <a:solidFill>
                      <a:srgbClr val="F2F2F2"/>
                    </a:solidFill>
                  </a:tcPr>
                </a:tc>
                <a:tc>
                  <a:txBody>
                    <a:bodyPr/>
                    <a:lstStyle/>
                    <a:p>
                      <a:pPr marL="0" algn="ctr" defTabSz="914400" rtl="0" eaLnBrk="1" latinLnBrk="0" hangingPunct="1"/>
                      <a:r>
                        <a:rPr lang="en-US" sz="900" kern="1200" dirty="0">
                          <a:solidFill>
                            <a:schemeClr val="tx1"/>
                          </a:solidFill>
                          <a:latin typeface="+mn-lt"/>
                          <a:ea typeface="+mn-ea"/>
                          <a:cs typeface="+mn-cs"/>
                        </a:rPr>
                        <a:t>$2,000</a:t>
                      </a:r>
                    </a:p>
                  </a:txBody>
                  <a:tcPr anchor="ctr">
                    <a:solidFill>
                      <a:srgbClr val="F2F2F2"/>
                    </a:solidFill>
                  </a:tcPr>
                </a:tc>
                <a:tc>
                  <a:txBody>
                    <a:bodyPr/>
                    <a:lstStyle/>
                    <a:p>
                      <a:pPr marL="0" algn="ctr" defTabSz="914400" rtl="0" eaLnBrk="1" latinLnBrk="0" hangingPunct="1"/>
                      <a:r>
                        <a:rPr lang="en-US" sz="900" kern="1200" dirty="0">
                          <a:solidFill>
                            <a:schemeClr val="tx1"/>
                          </a:solidFill>
                          <a:latin typeface="+mn-lt"/>
                          <a:ea typeface="+mn-ea"/>
                          <a:cs typeface="+mn-cs"/>
                        </a:rPr>
                        <a:t>1.0</a:t>
                      </a:r>
                    </a:p>
                  </a:txBody>
                  <a:tcPr anchor="ctr">
                    <a:solidFill>
                      <a:srgbClr val="F2F2F2"/>
                    </a:solidFill>
                  </a:tcPr>
                </a:tc>
                <a:tc>
                  <a:txBody>
                    <a:bodyPr/>
                    <a:lstStyle/>
                    <a:p>
                      <a:pPr marL="0" algn="ctr" defTabSz="914400" rtl="0" eaLnBrk="1" latinLnBrk="0" hangingPunct="1"/>
                      <a:r>
                        <a:rPr lang="en-US" sz="900" kern="1200" dirty="0">
                          <a:solidFill>
                            <a:schemeClr val="tx1"/>
                          </a:solidFill>
                          <a:latin typeface="+mn-lt"/>
                          <a:ea typeface="+mn-ea"/>
                          <a:cs typeface="+mn-cs"/>
                        </a:rPr>
                        <a:t>$3,200</a:t>
                      </a:r>
                    </a:p>
                  </a:txBody>
                  <a:tcPr anchor="ctr">
                    <a:solidFill>
                      <a:srgbClr val="F2F2F2"/>
                    </a:solidFill>
                  </a:tcPr>
                </a:tc>
                <a:tc>
                  <a:txBody>
                    <a:bodyPr/>
                    <a:lstStyle/>
                    <a:p>
                      <a:pPr marL="0" algn="ctr" defTabSz="914400" rtl="0" eaLnBrk="1" latinLnBrk="0" hangingPunct="1"/>
                      <a:r>
                        <a:rPr lang="en-US" sz="900" kern="1200" dirty="0">
                          <a:solidFill>
                            <a:schemeClr val="tx1"/>
                          </a:solidFill>
                          <a:latin typeface="+mn-lt"/>
                          <a:ea typeface="+mn-ea"/>
                          <a:cs typeface="+mn-cs"/>
                        </a:rPr>
                        <a:t>✓</a:t>
                      </a:r>
                    </a:p>
                  </a:txBody>
                  <a:tcPr anchor="ctr">
                    <a:solidFill>
                      <a:srgbClr val="F2F2F2"/>
                    </a:solidFill>
                  </a:tcPr>
                </a:tc>
                <a:tc>
                  <a:txBody>
                    <a:bodyPr/>
                    <a:lstStyle/>
                    <a:p>
                      <a:pPr marL="0" algn="ctr" defTabSz="914400" rtl="0" eaLnBrk="1" latinLnBrk="0" hangingPunct="1"/>
                      <a:r>
                        <a:rPr lang="en-US" sz="900" kern="1200" dirty="0">
                          <a:solidFill>
                            <a:schemeClr val="tx1"/>
                          </a:solidFill>
                          <a:latin typeface="+mn-lt"/>
                          <a:ea typeface="+mn-ea"/>
                          <a:cs typeface="+mn-cs"/>
                        </a:rPr>
                        <a:t>$1.1M</a:t>
                      </a:r>
                    </a:p>
                  </a:txBody>
                  <a:tcPr anchor="ctr">
                    <a:solidFill>
                      <a:srgbClr val="F2F2F2"/>
                    </a:solidFill>
                  </a:tcPr>
                </a:tc>
                <a:tc>
                  <a:txBody>
                    <a:bodyPr/>
                    <a:lstStyle/>
                    <a:p>
                      <a:pPr marL="0" algn="ctr" defTabSz="914400" rtl="0" eaLnBrk="1" latinLnBrk="0" hangingPunct="1"/>
                      <a:r>
                        <a:rPr lang="en-US" sz="900" kern="1200" dirty="0">
                          <a:solidFill>
                            <a:schemeClr val="tx1"/>
                          </a:solidFill>
                          <a:latin typeface="+mn-lt"/>
                          <a:ea typeface="+mn-ea"/>
                          <a:cs typeface="+mn-cs"/>
                        </a:rPr>
                        <a:t>$437.0K</a:t>
                      </a:r>
                    </a:p>
                  </a:txBody>
                  <a:tcPr anchor="ctr">
                    <a:solidFill>
                      <a:srgbClr val="F2F2F2"/>
                    </a:solidFill>
                  </a:tcPr>
                </a:tc>
                <a:extLst>
                  <a:ext uri="{0D108BD9-81ED-4DB2-BD59-A6C34878D82A}">
                    <a16:rowId xmlns:a16="http://schemas.microsoft.com/office/drawing/2014/main" val="3319626329"/>
                  </a:ext>
                </a:extLst>
              </a:tr>
              <a:tr h="652289">
                <a:tc>
                  <a:txBody>
                    <a:bodyPr/>
                    <a:lstStyle/>
                    <a:p>
                      <a:pPr algn="ctr"/>
                      <a:endParaRPr lang="en-US" sz="900" b="1" dirty="0"/>
                    </a:p>
                  </a:txBody>
                  <a:tcPr anchor="ctr">
                    <a:solidFill>
                      <a:schemeClr val="bg1"/>
                    </a:solidFill>
                  </a:tcPr>
                </a:tc>
                <a:tc>
                  <a:txBody>
                    <a:bodyPr/>
                    <a:lstStyle/>
                    <a:p>
                      <a:pPr algn="ctr"/>
                      <a:endParaRPr lang="en-US" sz="900" dirty="0"/>
                    </a:p>
                  </a:txBody>
                  <a:tcPr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Aptos" panose="02110004020202020204"/>
                          <a:ea typeface="+mn-ea"/>
                          <a:cs typeface="+mn-cs"/>
                        </a:rPr>
                        <a:t>In Process</a:t>
                      </a:r>
                      <a:endPar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solidFill>
                      <a:schemeClr val="bg1"/>
                    </a:solidFill>
                  </a:tcPr>
                </a:tc>
                <a:tc>
                  <a:txBody>
                    <a:bodyPr/>
                    <a:lstStyle/>
                    <a:p>
                      <a:pPr marL="0" algn="ctr" defTabSz="914400" rtl="0" eaLnBrk="1" latinLnBrk="0" hangingPunct="1"/>
                      <a:r>
                        <a:rPr lang="en-US" sz="900" kern="1200" dirty="0">
                          <a:solidFill>
                            <a:schemeClr val="tx1"/>
                          </a:solidFill>
                          <a:latin typeface="+mn-lt"/>
                          <a:ea typeface="+mn-ea"/>
                          <a:cs typeface="+mn-cs"/>
                        </a:rPr>
                        <a:t>Jan-2026</a:t>
                      </a:r>
                    </a:p>
                  </a:txBody>
                  <a:tcPr anchor="ctr">
                    <a:solidFill>
                      <a:schemeClr val="bg1"/>
                    </a:solidFill>
                  </a:tcPr>
                </a:tc>
                <a:tc>
                  <a:txBody>
                    <a:bodyPr/>
                    <a:lstStyle/>
                    <a:p>
                      <a:pPr marL="0" algn="ctr" defTabSz="914400" rtl="0" eaLnBrk="1" latinLnBrk="0" hangingPunct="1"/>
                      <a:r>
                        <a:rPr lang="en-US" sz="900" kern="1200" dirty="0">
                          <a:solidFill>
                            <a:schemeClr val="tx1"/>
                          </a:solidFill>
                          <a:latin typeface="+mn-lt"/>
                          <a:ea typeface="+mn-ea"/>
                          <a:cs typeface="+mn-cs"/>
                        </a:rPr>
                        <a:t>0.3</a:t>
                      </a:r>
                    </a:p>
                  </a:txBody>
                  <a:tcPr anchor="ctr">
                    <a:solidFill>
                      <a:schemeClr val="bg1"/>
                    </a:solidFill>
                  </a:tcPr>
                </a:tc>
                <a:tc>
                  <a:txBody>
                    <a:bodyPr/>
                    <a:lstStyle/>
                    <a:p>
                      <a:pPr marL="0" algn="ctr" defTabSz="914400" rtl="0" eaLnBrk="1" latinLnBrk="0" hangingPunct="1"/>
                      <a:r>
                        <a:rPr lang="en-US" sz="900" kern="1200" dirty="0">
                          <a:solidFill>
                            <a:schemeClr val="tx1"/>
                          </a:solidFill>
                          <a:latin typeface="+mn-lt"/>
                          <a:ea typeface="+mn-ea"/>
                          <a:cs typeface="+mn-cs"/>
                        </a:rPr>
                        <a:t>$1,530</a:t>
                      </a:r>
                    </a:p>
                  </a:txBody>
                  <a:tcPr anchor="ctr">
                    <a:solidFill>
                      <a:schemeClr val="bg1"/>
                    </a:solidFill>
                  </a:tcPr>
                </a:tc>
                <a:tc>
                  <a:txBody>
                    <a:bodyPr/>
                    <a:lstStyle/>
                    <a:p>
                      <a:pPr marL="0" algn="ctr" defTabSz="914400" rtl="0" eaLnBrk="1" latinLnBrk="0" hangingPunct="1"/>
                      <a:r>
                        <a:rPr lang="en-US" sz="900" kern="1200" dirty="0">
                          <a:solidFill>
                            <a:schemeClr val="tx1"/>
                          </a:solidFill>
                          <a:latin typeface="+mn-lt"/>
                          <a:ea typeface="+mn-ea"/>
                          <a:cs typeface="+mn-cs"/>
                        </a:rPr>
                        <a:t>0.6</a:t>
                      </a:r>
                    </a:p>
                  </a:txBody>
                  <a:tcPr anchor="ctr">
                    <a:solidFill>
                      <a:schemeClr val="bg1"/>
                    </a:solidFill>
                  </a:tcPr>
                </a:tc>
                <a:tc>
                  <a:txBody>
                    <a:bodyPr/>
                    <a:lstStyle/>
                    <a:p>
                      <a:pPr marL="0" algn="ctr" defTabSz="914400" rtl="0" eaLnBrk="1" latinLnBrk="0" hangingPunct="1"/>
                      <a:r>
                        <a:rPr lang="en-US" sz="900" kern="1200" dirty="0">
                          <a:solidFill>
                            <a:schemeClr val="tx1"/>
                          </a:solidFill>
                          <a:latin typeface="+mn-lt"/>
                          <a:ea typeface="+mn-ea"/>
                          <a:cs typeface="+mn-cs"/>
                        </a:rPr>
                        <a:t>$2,738</a:t>
                      </a:r>
                    </a:p>
                  </a:txBody>
                  <a:tcPr anchor="ctr">
                    <a:solidFill>
                      <a:schemeClr val="bg1"/>
                    </a:solidFill>
                  </a:tcPr>
                </a:tc>
                <a:tc>
                  <a:txBody>
                    <a:bodyPr/>
                    <a:lstStyle/>
                    <a:p>
                      <a:pPr marL="0" algn="ctr" defTabSz="914400" rtl="0" eaLnBrk="1" latinLnBrk="0" hangingPunct="1"/>
                      <a:r>
                        <a:rPr lang="en-US" sz="900" kern="1200" dirty="0">
                          <a:solidFill>
                            <a:schemeClr val="tx1"/>
                          </a:solidFill>
                          <a:latin typeface="+mn-lt"/>
                          <a:ea typeface="+mn-ea"/>
                          <a:cs typeface="+mn-cs"/>
                        </a:rPr>
                        <a:t>-</a:t>
                      </a:r>
                    </a:p>
                  </a:txBody>
                  <a:tcPr anchor="ctr">
                    <a:solidFill>
                      <a:schemeClr val="bg1"/>
                    </a:solidFill>
                  </a:tcPr>
                </a:tc>
                <a:tc>
                  <a:txBody>
                    <a:bodyPr/>
                    <a:lstStyle/>
                    <a:p>
                      <a:pPr marL="0" algn="ctr" defTabSz="914400" rtl="0" eaLnBrk="1" latinLnBrk="0" hangingPunct="1"/>
                      <a:r>
                        <a:rPr lang="en-US" sz="900" kern="1200" dirty="0">
                          <a:solidFill>
                            <a:schemeClr val="tx1"/>
                          </a:solidFill>
                          <a:latin typeface="+mn-lt"/>
                          <a:ea typeface="+mn-ea"/>
                          <a:cs typeface="+mn-cs"/>
                        </a:rPr>
                        <a:t>$348.0K</a:t>
                      </a:r>
                    </a:p>
                  </a:txBody>
                  <a:tcPr anchor="ctr">
                    <a:solidFill>
                      <a:schemeClr val="bg1"/>
                    </a:solidFill>
                  </a:tcPr>
                </a:tc>
                <a:tc>
                  <a:txBody>
                    <a:bodyPr/>
                    <a:lstStyle/>
                    <a:p>
                      <a:pPr marL="0" algn="ctr" defTabSz="914400" rtl="0" eaLnBrk="1" latinLnBrk="0" hangingPunct="1"/>
                      <a:r>
                        <a:rPr lang="en-US" sz="900" kern="1200" dirty="0">
                          <a:solidFill>
                            <a:schemeClr val="tx1"/>
                          </a:solidFill>
                          <a:latin typeface="+mn-lt"/>
                          <a:ea typeface="+mn-ea"/>
                          <a:cs typeface="+mn-cs"/>
                        </a:rPr>
                        <a:t>$88.0K</a:t>
                      </a:r>
                    </a:p>
                  </a:txBody>
                  <a:tcPr anchor="ctr">
                    <a:solidFill>
                      <a:schemeClr val="bg1"/>
                    </a:solidFill>
                  </a:tcPr>
                </a:tc>
                <a:extLst>
                  <a:ext uri="{0D108BD9-81ED-4DB2-BD59-A6C34878D82A}">
                    <a16:rowId xmlns:a16="http://schemas.microsoft.com/office/drawing/2014/main" val="3934272090"/>
                  </a:ext>
                </a:extLst>
              </a:tr>
              <a:tr h="652289">
                <a:tc>
                  <a:txBody>
                    <a:bodyPr/>
                    <a:lstStyle/>
                    <a:p>
                      <a:pPr algn="ctr"/>
                      <a:endParaRPr lang="en-US" sz="900" b="1" dirty="0"/>
                    </a:p>
                  </a:txBody>
                  <a:tcPr anchor="ctr">
                    <a:solidFill>
                      <a:srgbClr val="F2F2F2"/>
                    </a:solidFill>
                  </a:tcPr>
                </a:tc>
                <a:tc>
                  <a:txBody>
                    <a:bodyPr/>
                    <a:lstStyle/>
                    <a:p>
                      <a:pPr algn="ctr"/>
                      <a:endParaRPr lang="en-US" sz="900" dirty="0"/>
                    </a:p>
                  </a:txBody>
                  <a:tcPr anchor="ctr">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ptos" panose="02110004020202020204"/>
                          <a:ea typeface="+mn-ea"/>
                          <a:cs typeface="+mn-cs"/>
                        </a:rPr>
                        <a:t>In Process</a:t>
                      </a:r>
                    </a:p>
                  </a:txBody>
                  <a:tcPr anchor="ctr">
                    <a:solidFill>
                      <a:srgbClr val="F2F2F2"/>
                    </a:solidFill>
                  </a:tcPr>
                </a:tc>
                <a:tc>
                  <a:txBody>
                    <a:bodyPr/>
                    <a:lstStyle/>
                    <a:p>
                      <a:pPr marL="0" algn="ctr" defTabSz="914400" rtl="0" eaLnBrk="1" latinLnBrk="0" hangingPunct="1"/>
                      <a:r>
                        <a:rPr lang="en-US" sz="900" kern="1200" dirty="0">
                          <a:solidFill>
                            <a:schemeClr val="tx1"/>
                          </a:solidFill>
                          <a:latin typeface="+mn-lt"/>
                          <a:ea typeface="+mn-ea"/>
                          <a:cs typeface="+mn-cs"/>
                        </a:rPr>
                        <a:t>Mar-2026</a:t>
                      </a:r>
                    </a:p>
                  </a:txBody>
                  <a:tcPr anchor="ctr">
                    <a:solidFill>
                      <a:srgbClr val="F2F2F2"/>
                    </a:solidFill>
                  </a:tcPr>
                </a:tc>
                <a:tc>
                  <a:txBody>
                    <a:bodyPr/>
                    <a:lstStyle/>
                    <a:p>
                      <a:pPr marL="0" algn="ctr" defTabSz="914400" rtl="0" eaLnBrk="1" latinLnBrk="0" hangingPunct="1"/>
                      <a:r>
                        <a:rPr lang="en-US" sz="900" kern="1200" dirty="0">
                          <a:solidFill>
                            <a:schemeClr val="tx1"/>
                          </a:solidFill>
                          <a:latin typeface="+mn-lt"/>
                          <a:ea typeface="+mn-ea"/>
                          <a:cs typeface="+mn-cs"/>
                        </a:rPr>
                        <a:t>0.3</a:t>
                      </a:r>
                    </a:p>
                  </a:txBody>
                  <a:tcPr anchor="ctr">
                    <a:solidFill>
                      <a:srgbClr val="F2F2F2"/>
                    </a:solidFill>
                  </a:tcPr>
                </a:tc>
                <a:tc>
                  <a:txBody>
                    <a:bodyPr/>
                    <a:lstStyle/>
                    <a:p>
                      <a:pPr marL="0" algn="ctr" defTabSz="914400" rtl="0" eaLnBrk="1" latinLnBrk="0" hangingPunct="1"/>
                      <a:r>
                        <a:rPr lang="en-US" sz="900" kern="1200" dirty="0">
                          <a:solidFill>
                            <a:schemeClr val="tx1"/>
                          </a:solidFill>
                          <a:latin typeface="+mn-lt"/>
                          <a:ea typeface="+mn-ea"/>
                          <a:cs typeface="+mn-cs"/>
                        </a:rPr>
                        <a:t>$1,887</a:t>
                      </a:r>
                    </a:p>
                  </a:txBody>
                  <a:tcPr anchor="ctr">
                    <a:solidFill>
                      <a:srgbClr val="F2F2F2"/>
                    </a:solidFill>
                  </a:tcPr>
                </a:tc>
                <a:tc>
                  <a:txBody>
                    <a:bodyPr/>
                    <a:lstStyle/>
                    <a:p>
                      <a:pPr marL="0" algn="ctr" defTabSz="914400" rtl="0" eaLnBrk="1" latinLnBrk="0" hangingPunct="1"/>
                      <a:r>
                        <a:rPr lang="en-US" sz="900" kern="1200" dirty="0">
                          <a:solidFill>
                            <a:schemeClr val="tx1"/>
                          </a:solidFill>
                          <a:latin typeface="+mn-lt"/>
                          <a:ea typeface="+mn-ea"/>
                          <a:cs typeface="+mn-cs"/>
                        </a:rPr>
                        <a:t>0.3</a:t>
                      </a:r>
                    </a:p>
                  </a:txBody>
                  <a:tcPr anchor="ctr">
                    <a:solidFill>
                      <a:srgbClr val="F2F2F2"/>
                    </a:solidFill>
                  </a:tcPr>
                </a:tc>
                <a:tc>
                  <a:txBody>
                    <a:bodyPr/>
                    <a:lstStyle/>
                    <a:p>
                      <a:pPr marL="0" algn="ctr" defTabSz="914400" rtl="0" eaLnBrk="1" latinLnBrk="0" hangingPunct="1"/>
                      <a:r>
                        <a:rPr lang="en-US" sz="900" kern="1200" dirty="0">
                          <a:solidFill>
                            <a:schemeClr val="tx1"/>
                          </a:solidFill>
                          <a:latin typeface="+mn-lt"/>
                          <a:ea typeface="+mn-ea"/>
                          <a:cs typeface="+mn-cs"/>
                        </a:rPr>
                        <a:t>$2,828</a:t>
                      </a:r>
                    </a:p>
                  </a:txBody>
                  <a:tcPr anchor="ctr">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noProof="0" dirty="0">
                          <a:solidFill>
                            <a:schemeClr val="tx1"/>
                          </a:solidFill>
                          <a:latin typeface="+mn-lt"/>
                          <a:ea typeface="+mn-ea"/>
                          <a:cs typeface="+mn-cs"/>
                        </a:rPr>
                        <a:t>✓</a:t>
                      </a:r>
                      <a:endParaRPr lang="en-US" sz="900" kern="1200" dirty="0">
                        <a:solidFill>
                          <a:schemeClr val="tx1"/>
                        </a:solidFill>
                        <a:latin typeface="+mn-lt"/>
                        <a:ea typeface="+mn-ea"/>
                        <a:cs typeface="+mn-cs"/>
                      </a:endParaRPr>
                    </a:p>
                  </a:txBody>
                  <a:tcPr anchor="ctr">
                    <a:solidFill>
                      <a:srgbClr val="F2F2F2"/>
                    </a:solidFill>
                  </a:tcPr>
                </a:tc>
                <a:tc>
                  <a:txBody>
                    <a:bodyPr/>
                    <a:lstStyle/>
                    <a:p>
                      <a:pPr marL="0" algn="ctr" defTabSz="914400" rtl="0" eaLnBrk="1" latinLnBrk="0" hangingPunct="1"/>
                      <a:r>
                        <a:rPr lang="en-US" sz="900" kern="1200" dirty="0">
                          <a:solidFill>
                            <a:schemeClr val="tx1"/>
                          </a:solidFill>
                          <a:latin typeface="+mn-lt"/>
                          <a:ea typeface="+mn-ea"/>
                          <a:cs typeface="+mn-cs"/>
                        </a:rPr>
                        <a:t>$326.0K</a:t>
                      </a:r>
                    </a:p>
                  </a:txBody>
                  <a:tcPr anchor="ctr">
                    <a:solidFill>
                      <a:srgbClr val="F2F2F2"/>
                    </a:solidFill>
                  </a:tcPr>
                </a:tc>
                <a:tc>
                  <a:txBody>
                    <a:bodyPr/>
                    <a:lstStyle/>
                    <a:p>
                      <a:pPr marL="0" algn="ctr" defTabSz="914400" rtl="0" eaLnBrk="1" latinLnBrk="0" hangingPunct="1"/>
                      <a:r>
                        <a:rPr lang="en-US" sz="900" kern="1200" dirty="0">
                          <a:solidFill>
                            <a:schemeClr val="tx1"/>
                          </a:solidFill>
                          <a:latin typeface="+mn-lt"/>
                          <a:ea typeface="+mn-ea"/>
                          <a:cs typeface="+mn-cs"/>
                        </a:rPr>
                        <a:t>$108.0K</a:t>
                      </a:r>
                    </a:p>
                  </a:txBody>
                  <a:tcPr anchor="ctr">
                    <a:solidFill>
                      <a:srgbClr val="F2F2F2"/>
                    </a:solidFill>
                  </a:tcPr>
                </a:tc>
                <a:extLst>
                  <a:ext uri="{0D108BD9-81ED-4DB2-BD59-A6C34878D82A}">
                    <a16:rowId xmlns:a16="http://schemas.microsoft.com/office/drawing/2014/main" val="3543982273"/>
                  </a:ext>
                </a:extLst>
              </a:tr>
            </a:tbl>
          </a:graphicData>
        </a:graphic>
      </p:graphicFrame>
      <p:pic>
        <p:nvPicPr>
          <p:cNvPr id="28" name="Picture 6" descr="Home - Michigan Institute of Urology">
            <a:extLst>
              <a:ext uri="{FF2B5EF4-FFF2-40B4-BE49-F238E27FC236}">
                <a16:creationId xmlns:a16="http://schemas.microsoft.com/office/drawing/2014/main" id="{1782CB2D-E015-5875-53EB-511F4F5E18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557" y="2843501"/>
            <a:ext cx="679859" cy="127752"/>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American Pain Consortium">
            <a:extLst>
              <a:ext uri="{FF2B5EF4-FFF2-40B4-BE49-F238E27FC236}">
                <a16:creationId xmlns:a16="http://schemas.microsoft.com/office/drawing/2014/main" id="{4E436C88-2ECC-11B2-BAE4-C595E5E978C6}"/>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16527" b="14067"/>
          <a:stretch>
            <a:fillRect/>
          </a:stretch>
        </p:blipFill>
        <p:spPr bwMode="auto">
          <a:xfrm>
            <a:off x="262819" y="4720111"/>
            <a:ext cx="591335" cy="41043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a:extLst>
              <a:ext uri="{FF2B5EF4-FFF2-40B4-BE49-F238E27FC236}">
                <a16:creationId xmlns:a16="http://schemas.microsoft.com/office/drawing/2014/main" id="{66A48F27-F946-D37B-C95E-EC6F654E4116}"/>
              </a:ext>
            </a:extLst>
          </p:cNvPr>
          <p:cNvPicPr>
            <a:picLocks noChangeAspect="1"/>
          </p:cNvPicPr>
          <p:nvPr/>
        </p:nvPicPr>
        <p:blipFill>
          <a:blip r:embed="rId4"/>
          <a:stretch>
            <a:fillRect/>
          </a:stretch>
        </p:blipFill>
        <p:spPr>
          <a:xfrm>
            <a:off x="262818" y="4096715"/>
            <a:ext cx="591336" cy="360138"/>
          </a:xfrm>
          <a:prstGeom prst="rect">
            <a:avLst/>
          </a:prstGeom>
        </p:spPr>
      </p:pic>
      <p:pic>
        <p:nvPicPr>
          <p:cNvPr id="31" name="Picture 14" descr="Generated image">
            <a:extLst>
              <a:ext uri="{FF2B5EF4-FFF2-40B4-BE49-F238E27FC236}">
                <a16:creationId xmlns:a16="http://schemas.microsoft.com/office/drawing/2014/main" id="{0C215C74-7BB2-A5F2-A51C-DBB67EB08E7C}"/>
              </a:ext>
            </a:extLst>
          </p:cNvPr>
          <p:cNvPicPr>
            <a:picLocks noChangeAspect="1" noChangeArrowheads="1"/>
          </p:cNvPicPr>
          <p:nvPr/>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l="7706" t="26819" r="8733" b="28114"/>
          <a:stretch>
            <a:fillRect/>
          </a:stretch>
        </p:blipFill>
        <p:spPr bwMode="auto">
          <a:xfrm>
            <a:off x="284704" y="3377870"/>
            <a:ext cx="547565" cy="442976"/>
          </a:xfrm>
          <a:prstGeom prst="rect">
            <a:avLst/>
          </a:prstGeom>
          <a:noFill/>
          <a:extLst>
            <a:ext uri="{909E8E84-426E-40DD-AFC4-6F175D3DCCD1}">
              <a14:hiddenFill xmlns:a14="http://schemas.microsoft.com/office/drawing/2010/main">
                <a:solidFill>
                  <a:srgbClr val="FFFFFF"/>
                </a:solidFill>
              </a14:hiddenFill>
            </a:ext>
          </a:extLst>
        </p:spPr>
      </p:pic>
      <p:sp>
        <p:nvSpPr>
          <p:cNvPr id="32" name="Freeform 43">
            <a:extLst>
              <a:ext uri="{FF2B5EF4-FFF2-40B4-BE49-F238E27FC236}">
                <a16:creationId xmlns:a16="http://schemas.microsoft.com/office/drawing/2014/main" id="{FC706CEF-D6D1-4F04-8B84-0A256DED449C}"/>
              </a:ext>
            </a:extLst>
          </p:cNvPr>
          <p:cNvSpPr>
            <a:spLocks noChangeAspect="1"/>
          </p:cNvSpPr>
          <p:nvPr/>
        </p:nvSpPr>
        <p:spPr bwMode="auto">
          <a:xfrm rot="580954">
            <a:off x="1265447" y="3473946"/>
            <a:ext cx="158670" cy="250825"/>
          </a:xfrm>
          <a:custGeom>
            <a:avLst/>
            <a:gdLst>
              <a:gd name="T0" fmla="*/ 0 w 180"/>
              <a:gd name="T1" fmla="*/ 21 h 296"/>
              <a:gd name="T2" fmla="*/ 21 w 180"/>
              <a:gd name="T3" fmla="*/ 32 h 296"/>
              <a:gd name="T4" fmla="*/ 41 w 180"/>
              <a:gd name="T5" fmla="*/ 30 h 296"/>
              <a:gd name="T6" fmla="*/ 48 w 180"/>
              <a:gd name="T7" fmla="*/ 24 h 296"/>
              <a:gd name="T8" fmla="*/ 53 w 180"/>
              <a:gd name="T9" fmla="*/ 6 h 296"/>
              <a:gd name="T10" fmla="*/ 140 w 180"/>
              <a:gd name="T11" fmla="*/ 0 h 296"/>
              <a:gd name="T12" fmla="*/ 180 w 180"/>
              <a:gd name="T13" fmla="*/ 209 h 296"/>
              <a:gd name="T14" fmla="*/ 177 w 180"/>
              <a:gd name="T15" fmla="*/ 207 h 296"/>
              <a:gd name="T16" fmla="*/ 147 w 180"/>
              <a:gd name="T17" fmla="*/ 219 h 296"/>
              <a:gd name="T18" fmla="*/ 126 w 180"/>
              <a:gd name="T19" fmla="*/ 275 h 296"/>
              <a:gd name="T20" fmla="*/ 95 w 180"/>
              <a:gd name="T21" fmla="*/ 267 h 296"/>
              <a:gd name="T22" fmla="*/ 59 w 180"/>
              <a:gd name="T23" fmla="*/ 288 h 296"/>
              <a:gd name="T24" fmla="*/ 12 w 180"/>
              <a:gd name="T25" fmla="*/ 296 h 296"/>
              <a:gd name="T26" fmla="*/ 33 w 180"/>
              <a:gd name="T27" fmla="*/ 241 h 296"/>
              <a:gd name="T28" fmla="*/ 24 w 180"/>
              <a:gd name="T29" fmla="*/ 210 h 296"/>
              <a:gd name="T30" fmla="*/ 0 w 180"/>
              <a:gd name="T31" fmla="*/ 21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0"/>
              <a:gd name="T49" fmla="*/ 0 h 296"/>
              <a:gd name="T50" fmla="*/ 180 w 180"/>
              <a:gd name="T51" fmla="*/ 296 h 29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0" h="296">
                <a:moveTo>
                  <a:pt x="0" y="21"/>
                </a:moveTo>
                <a:lnTo>
                  <a:pt x="21" y="32"/>
                </a:lnTo>
                <a:lnTo>
                  <a:pt x="41" y="30"/>
                </a:lnTo>
                <a:lnTo>
                  <a:pt x="48" y="24"/>
                </a:lnTo>
                <a:lnTo>
                  <a:pt x="53" y="6"/>
                </a:lnTo>
                <a:lnTo>
                  <a:pt x="140" y="0"/>
                </a:lnTo>
                <a:lnTo>
                  <a:pt x="180" y="209"/>
                </a:lnTo>
                <a:lnTo>
                  <a:pt x="177" y="207"/>
                </a:lnTo>
                <a:lnTo>
                  <a:pt x="147" y="219"/>
                </a:lnTo>
                <a:lnTo>
                  <a:pt x="126" y="275"/>
                </a:lnTo>
                <a:lnTo>
                  <a:pt x="95" y="267"/>
                </a:lnTo>
                <a:lnTo>
                  <a:pt x="59" y="288"/>
                </a:lnTo>
                <a:lnTo>
                  <a:pt x="12" y="296"/>
                </a:lnTo>
                <a:lnTo>
                  <a:pt x="33" y="241"/>
                </a:lnTo>
                <a:lnTo>
                  <a:pt x="24" y="210"/>
                </a:lnTo>
                <a:lnTo>
                  <a:pt x="0" y="21"/>
                </a:lnTo>
                <a:close/>
              </a:path>
            </a:pathLst>
          </a:custGeom>
          <a:solidFill>
            <a:schemeClr val="bg1">
              <a:lumMod val="50000"/>
            </a:schemeClr>
          </a:solidFill>
          <a:ln w="3175">
            <a:solidFill>
              <a:schemeClr val="bg1"/>
            </a:solidFill>
            <a:prstDash val="solid"/>
            <a:round/>
            <a:headEnd/>
            <a:tailEnd/>
          </a:ln>
        </p:spPr>
        <p:txBody>
          <a:bodyPr/>
          <a:lstStyle>
            <a:defPPr>
              <a:defRPr lang="en-US"/>
            </a:defPPr>
            <a:lvl1pPr algn="l" defTabSz="509412" rtl="0" fontAlgn="base">
              <a:spcBef>
                <a:spcPct val="0"/>
              </a:spcBef>
              <a:spcAft>
                <a:spcPct val="0"/>
              </a:spcAft>
              <a:defRPr kern="1200">
                <a:solidFill>
                  <a:schemeClr val="tx1"/>
                </a:solidFill>
                <a:latin typeface="Arial" charset="0"/>
                <a:ea typeface="ＭＳ Ｐゴシック" charset="-128"/>
                <a:cs typeface="+mn-cs"/>
              </a:defRPr>
            </a:lvl1pPr>
            <a:lvl2pPr marL="509412" algn="l" defTabSz="509412" rtl="0" fontAlgn="base">
              <a:spcBef>
                <a:spcPct val="0"/>
              </a:spcBef>
              <a:spcAft>
                <a:spcPct val="0"/>
              </a:spcAft>
              <a:defRPr kern="1200">
                <a:solidFill>
                  <a:schemeClr val="tx1"/>
                </a:solidFill>
                <a:latin typeface="Arial" charset="0"/>
                <a:ea typeface="ＭＳ Ｐゴシック" charset="-128"/>
                <a:cs typeface="+mn-cs"/>
              </a:defRPr>
            </a:lvl2pPr>
            <a:lvl3pPr marL="1018824" algn="l" defTabSz="509412" rtl="0" fontAlgn="base">
              <a:spcBef>
                <a:spcPct val="0"/>
              </a:spcBef>
              <a:spcAft>
                <a:spcPct val="0"/>
              </a:spcAft>
              <a:defRPr kern="1200">
                <a:solidFill>
                  <a:schemeClr val="tx1"/>
                </a:solidFill>
                <a:latin typeface="Arial" charset="0"/>
                <a:ea typeface="ＭＳ Ｐゴシック" charset="-128"/>
                <a:cs typeface="+mn-cs"/>
              </a:defRPr>
            </a:lvl3pPr>
            <a:lvl4pPr marL="1528237" algn="l" defTabSz="509412" rtl="0" fontAlgn="base">
              <a:spcBef>
                <a:spcPct val="0"/>
              </a:spcBef>
              <a:spcAft>
                <a:spcPct val="0"/>
              </a:spcAft>
              <a:defRPr kern="1200">
                <a:solidFill>
                  <a:schemeClr val="tx1"/>
                </a:solidFill>
                <a:latin typeface="Arial" charset="0"/>
                <a:ea typeface="ＭＳ Ｐゴシック" charset="-128"/>
                <a:cs typeface="+mn-cs"/>
              </a:defRPr>
            </a:lvl4pPr>
            <a:lvl5pPr marL="2037649" algn="l" defTabSz="509412" rtl="0" fontAlgn="base">
              <a:spcBef>
                <a:spcPct val="0"/>
              </a:spcBef>
              <a:spcAft>
                <a:spcPct val="0"/>
              </a:spcAft>
              <a:defRPr kern="1200">
                <a:solidFill>
                  <a:schemeClr val="tx1"/>
                </a:solidFill>
                <a:latin typeface="Arial" charset="0"/>
                <a:ea typeface="ＭＳ Ｐゴシック" charset="-128"/>
                <a:cs typeface="+mn-cs"/>
              </a:defRPr>
            </a:lvl5pPr>
            <a:lvl6pPr marL="2547061" algn="l" defTabSz="1018824" rtl="0" eaLnBrk="1" latinLnBrk="0" hangingPunct="1">
              <a:defRPr kern="1200">
                <a:solidFill>
                  <a:schemeClr val="tx1"/>
                </a:solidFill>
                <a:latin typeface="Arial" charset="0"/>
                <a:ea typeface="ＭＳ Ｐゴシック" charset="-128"/>
                <a:cs typeface="+mn-cs"/>
              </a:defRPr>
            </a:lvl6pPr>
            <a:lvl7pPr marL="3056473" algn="l" defTabSz="1018824" rtl="0" eaLnBrk="1" latinLnBrk="0" hangingPunct="1">
              <a:defRPr kern="1200">
                <a:solidFill>
                  <a:schemeClr val="tx1"/>
                </a:solidFill>
                <a:latin typeface="Arial" charset="0"/>
                <a:ea typeface="ＭＳ Ｐゴシック" charset="-128"/>
                <a:cs typeface="+mn-cs"/>
              </a:defRPr>
            </a:lvl7pPr>
            <a:lvl8pPr marL="3565886" algn="l" defTabSz="1018824" rtl="0" eaLnBrk="1" latinLnBrk="0" hangingPunct="1">
              <a:defRPr kern="1200">
                <a:solidFill>
                  <a:schemeClr val="tx1"/>
                </a:solidFill>
                <a:latin typeface="Arial" charset="0"/>
                <a:ea typeface="ＭＳ Ｐゴシック" charset="-128"/>
                <a:cs typeface="+mn-cs"/>
              </a:defRPr>
            </a:lvl8pPr>
            <a:lvl9pPr marL="4075298" algn="l" defTabSz="1018824" rtl="0" eaLnBrk="1" latinLnBrk="0" hangingPunct="1">
              <a:defRPr kern="1200">
                <a:solidFill>
                  <a:schemeClr val="tx1"/>
                </a:solidFill>
                <a:latin typeface="Arial" charset="0"/>
                <a:ea typeface="ＭＳ Ｐゴシック" charset="-128"/>
                <a:cs typeface="+mn-cs"/>
              </a:defRPr>
            </a:lvl9pPr>
          </a:lstStyle>
          <a:p>
            <a:endParaRPr lang="en-US" dirty="0"/>
          </a:p>
        </p:txBody>
      </p:sp>
      <p:grpSp>
        <p:nvGrpSpPr>
          <p:cNvPr id="33" name="Group 32">
            <a:extLst>
              <a:ext uri="{FF2B5EF4-FFF2-40B4-BE49-F238E27FC236}">
                <a16:creationId xmlns:a16="http://schemas.microsoft.com/office/drawing/2014/main" id="{DF217BA6-A8F7-B57A-92FD-EE0A6E9C3E24}"/>
              </a:ext>
            </a:extLst>
          </p:cNvPr>
          <p:cNvGrpSpPr>
            <a:grpSpLocks noChangeAspect="1"/>
          </p:cNvGrpSpPr>
          <p:nvPr/>
        </p:nvGrpSpPr>
        <p:grpSpPr>
          <a:xfrm rot="250367">
            <a:off x="1198602" y="2219011"/>
            <a:ext cx="292361" cy="260501"/>
            <a:chOff x="6454425" y="4380041"/>
            <a:chExt cx="491775" cy="438184"/>
          </a:xfrm>
          <a:solidFill>
            <a:schemeClr val="bg1">
              <a:lumMod val="50000"/>
            </a:schemeClr>
          </a:solidFill>
        </p:grpSpPr>
        <p:sp>
          <p:nvSpPr>
            <p:cNvPr id="34" name="Freeform 39">
              <a:extLst>
                <a:ext uri="{FF2B5EF4-FFF2-40B4-BE49-F238E27FC236}">
                  <a16:creationId xmlns:a16="http://schemas.microsoft.com/office/drawing/2014/main" id="{53C77036-6F6E-CB9B-1DC8-CE8440EFE5BA}"/>
                </a:ext>
              </a:extLst>
            </p:cNvPr>
            <p:cNvSpPr>
              <a:spLocks/>
            </p:cNvSpPr>
            <p:nvPr/>
          </p:nvSpPr>
          <p:spPr bwMode="auto">
            <a:xfrm>
              <a:off x="6454425" y="4380041"/>
              <a:ext cx="349266" cy="148362"/>
            </a:xfrm>
            <a:custGeom>
              <a:avLst/>
              <a:gdLst>
                <a:gd name="T0" fmla="*/ 0 w 299"/>
                <a:gd name="T1" fmla="*/ 71 h 129"/>
                <a:gd name="T2" fmla="*/ 67 w 299"/>
                <a:gd name="T3" fmla="*/ 0 h 129"/>
                <a:gd name="T4" fmla="*/ 55 w 299"/>
                <a:gd name="T5" fmla="*/ 29 h 129"/>
                <a:gd name="T6" fmla="*/ 64 w 299"/>
                <a:gd name="T7" fmla="*/ 38 h 129"/>
                <a:gd name="T8" fmla="*/ 85 w 299"/>
                <a:gd name="T9" fmla="*/ 26 h 129"/>
                <a:gd name="T10" fmla="*/ 131 w 299"/>
                <a:gd name="T11" fmla="*/ 44 h 129"/>
                <a:gd name="T12" fmla="*/ 151 w 299"/>
                <a:gd name="T13" fmla="*/ 29 h 129"/>
                <a:gd name="T14" fmla="*/ 213 w 299"/>
                <a:gd name="T15" fmla="*/ 21 h 129"/>
                <a:gd name="T16" fmla="*/ 225 w 299"/>
                <a:gd name="T17" fmla="*/ 39 h 129"/>
                <a:gd name="T18" fmla="*/ 249 w 299"/>
                <a:gd name="T19" fmla="*/ 35 h 129"/>
                <a:gd name="T20" fmla="*/ 296 w 299"/>
                <a:gd name="T21" fmla="*/ 54 h 129"/>
                <a:gd name="T22" fmla="*/ 299 w 299"/>
                <a:gd name="T23" fmla="*/ 68 h 129"/>
                <a:gd name="T24" fmla="*/ 248 w 299"/>
                <a:gd name="T25" fmla="*/ 80 h 129"/>
                <a:gd name="T26" fmla="*/ 233 w 299"/>
                <a:gd name="T27" fmla="*/ 71 h 129"/>
                <a:gd name="T28" fmla="*/ 207 w 299"/>
                <a:gd name="T29" fmla="*/ 74 h 129"/>
                <a:gd name="T30" fmla="*/ 177 w 299"/>
                <a:gd name="T31" fmla="*/ 92 h 129"/>
                <a:gd name="T32" fmla="*/ 163 w 299"/>
                <a:gd name="T33" fmla="*/ 93 h 129"/>
                <a:gd name="T34" fmla="*/ 152 w 299"/>
                <a:gd name="T35" fmla="*/ 80 h 129"/>
                <a:gd name="T36" fmla="*/ 135 w 299"/>
                <a:gd name="T37" fmla="*/ 128 h 129"/>
                <a:gd name="T38" fmla="*/ 116 w 299"/>
                <a:gd name="T39" fmla="*/ 129 h 129"/>
                <a:gd name="T40" fmla="*/ 108 w 299"/>
                <a:gd name="T41" fmla="*/ 110 h 129"/>
                <a:gd name="T42" fmla="*/ 68 w 299"/>
                <a:gd name="T43" fmla="*/ 101 h 129"/>
                <a:gd name="T44" fmla="*/ 49 w 299"/>
                <a:gd name="T45" fmla="*/ 87 h 129"/>
                <a:gd name="T46" fmla="*/ 16 w 299"/>
                <a:gd name="T47" fmla="*/ 92 h 129"/>
                <a:gd name="T48" fmla="*/ 0 w 299"/>
                <a:gd name="T49" fmla="*/ 71 h 12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99"/>
                <a:gd name="T76" fmla="*/ 0 h 129"/>
                <a:gd name="T77" fmla="*/ 299 w 299"/>
                <a:gd name="T78" fmla="*/ 129 h 12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99" h="129">
                  <a:moveTo>
                    <a:pt x="0" y="71"/>
                  </a:moveTo>
                  <a:lnTo>
                    <a:pt x="67" y="0"/>
                  </a:lnTo>
                  <a:lnTo>
                    <a:pt x="55" y="29"/>
                  </a:lnTo>
                  <a:lnTo>
                    <a:pt x="64" y="38"/>
                  </a:lnTo>
                  <a:lnTo>
                    <a:pt x="85" y="26"/>
                  </a:lnTo>
                  <a:lnTo>
                    <a:pt x="131" y="44"/>
                  </a:lnTo>
                  <a:lnTo>
                    <a:pt x="151" y="29"/>
                  </a:lnTo>
                  <a:lnTo>
                    <a:pt x="213" y="21"/>
                  </a:lnTo>
                  <a:lnTo>
                    <a:pt x="225" y="39"/>
                  </a:lnTo>
                  <a:lnTo>
                    <a:pt x="249" y="35"/>
                  </a:lnTo>
                  <a:lnTo>
                    <a:pt x="296" y="54"/>
                  </a:lnTo>
                  <a:lnTo>
                    <a:pt x="299" y="68"/>
                  </a:lnTo>
                  <a:lnTo>
                    <a:pt x="248" y="80"/>
                  </a:lnTo>
                  <a:lnTo>
                    <a:pt x="233" y="71"/>
                  </a:lnTo>
                  <a:lnTo>
                    <a:pt x="207" y="74"/>
                  </a:lnTo>
                  <a:lnTo>
                    <a:pt x="177" y="92"/>
                  </a:lnTo>
                  <a:lnTo>
                    <a:pt x="163" y="93"/>
                  </a:lnTo>
                  <a:lnTo>
                    <a:pt x="152" y="80"/>
                  </a:lnTo>
                  <a:lnTo>
                    <a:pt x="135" y="128"/>
                  </a:lnTo>
                  <a:lnTo>
                    <a:pt x="116" y="129"/>
                  </a:lnTo>
                  <a:lnTo>
                    <a:pt x="108" y="110"/>
                  </a:lnTo>
                  <a:lnTo>
                    <a:pt x="68" y="101"/>
                  </a:lnTo>
                  <a:lnTo>
                    <a:pt x="49" y="87"/>
                  </a:lnTo>
                  <a:lnTo>
                    <a:pt x="16" y="92"/>
                  </a:lnTo>
                  <a:lnTo>
                    <a:pt x="0" y="71"/>
                  </a:lnTo>
                  <a:close/>
                </a:path>
              </a:pathLst>
            </a:custGeom>
            <a:grpFill/>
            <a:ln w="3175">
              <a:solidFill>
                <a:schemeClr val="bg1"/>
              </a:solidFill>
              <a:prstDash val="solid"/>
              <a:round/>
              <a:headEnd/>
              <a:tailEnd/>
            </a:ln>
          </p:spPr>
          <p:txBody>
            <a:bodyPr/>
            <a:lstStyle>
              <a:defPPr>
                <a:defRPr lang="en-US"/>
              </a:defPPr>
              <a:lvl1pPr algn="l" defTabSz="509412" rtl="0" fontAlgn="base">
                <a:spcBef>
                  <a:spcPct val="0"/>
                </a:spcBef>
                <a:spcAft>
                  <a:spcPct val="0"/>
                </a:spcAft>
                <a:defRPr kern="1200">
                  <a:solidFill>
                    <a:schemeClr val="tx1"/>
                  </a:solidFill>
                  <a:latin typeface="Arial" charset="0"/>
                  <a:ea typeface="ＭＳ Ｐゴシック" charset="-128"/>
                  <a:cs typeface="+mn-cs"/>
                </a:defRPr>
              </a:lvl1pPr>
              <a:lvl2pPr marL="509412" algn="l" defTabSz="509412" rtl="0" fontAlgn="base">
                <a:spcBef>
                  <a:spcPct val="0"/>
                </a:spcBef>
                <a:spcAft>
                  <a:spcPct val="0"/>
                </a:spcAft>
                <a:defRPr kern="1200">
                  <a:solidFill>
                    <a:schemeClr val="tx1"/>
                  </a:solidFill>
                  <a:latin typeface="Arial" charset="0"/>
                  <a:ea typeface="ＭＳ Ｐゴシック" charset="-128"/>
                  <a:cs typeface="+mn-cs"/>
                </a:defRPr>
              </a:lvl2pPr>
              <a:lvl3pPr marL="1018824" algn="l" defTabSz="509412" rtl="0" fontAlgn="base">
                <a:spcBef>
                  <a:spcPct val="0"/>
                </a:spcBef>
                <a:spcAft>
                  <a:spcPct val="0"/>
                </a:spcAft>
                <a:defRPr kern="1200">
                  <a:solidFill>
                    <a:schemeClr val="tx1"/>
                  </a:solidFill>
                  <a:latin typeface="Arial" charset="0"/>
                  <a:ea typeface="ＭＳ Ｐゴシック" charset="-128"/>
                  <a:cs typeface="+mn-cs"/>
                </a:defRPr>
              </a:lvl3pPr>
              <a:lvl4pPr marL="1528237" algn="l" defTabSz="509412" rtl="0" fontAlgn="base">
                <a:spcBef>
                  <a:spcPct val="0"/>
                </a:spcBef>
                <a:spcAft>
                  <a:spcPct val="0"/>
                </a:spcAft>
                <a:defRPr kern="1200">
                  <a:solidFill>
                    <a:schemeClr val="tx1"/>
                  </a:solidFill>
                  <a:latin typeface="Arial" charset="0"/>
                  <a:ea typeface="ＭＳ Ｐゴシック" charset="-128"/>
                  <a:cs typeface="+mn-cs"/>
                </a:defRPr>
              </a:lvl4pPr>
              <a:lvl5pPr marL="2037649" algn="l" defTabSz="509412" rtl="0" fontAlgn="base">
                <a:spcBef>
                  <a:spcPct val="0"/>
                </a:spcBef>
                <a:spcAft>
                  <a:spcPct val="0"/>
                </a:spcAft>
                <a:defRPr kern="1200">
                  <a:solidFill>
                    <a:schemeClr val="tx1"/>
                  </a:solidFill>
                  <a:latin typeface="Arial" charset="0"/>
                  <a:ea typeface="ＭＳ Ｐゴシック" charset="-128"/>
                  <a:cs typeface="+mn-cs"/>
                </a:defRPr>
              </a:lvl5pPr>
              <a:lvl6pPr marL="2547061" algn="l" defTabSz="1018824" rtl="0" eaLnBrk="1" latinLnBrk="0" hangingPunct="1">
                <a:defRPr kern="1200">
                  <a:solidFill>
                    <a:schemeClr val="tx1"/>
                  </a:solidFill>
                  <a:latin typeface="Arial" charset="0"/>
                  <a:ea typeface="ＭＳ Ｐゴシック" charset="-128"/>
                  <a:cs typeface="+mn-cs"/>
                </a:defRPr>
              </a:lvl6pPr>
              <a:lvl7pPr marL="3056473" algn="l" defTabSz="1018824" rtl="0" eaLnBrk="1" latinLnBrk="0" hangingPunct="1">
                <a:defRPr kern="1200">
                  <a:solidFill>
                    <a:schemeClr val="tx1"/>
                  </a:solidFill>
                  <a:latin typeface="Arial" charset="0"/>
                  <a:ea typeface="ＭＳ Ｐゴシック" charset="-128"/>
                  <a:cs typeface="+mn-cs"/>
                </a:defRPr>
              </a:lvl7pPr>
              <a:lvl8pPr marL="3565886" algn="l" defTabSz="1018824" rtl="0" eaLnBrk="1" latinLnBrk="0" hangingPunct="1">
                <a:defRPr kern="1200">
                  <a:solidFill>
                    <a:schemeClr val="tx1"/>
                  </a:solidFill>
                  <a:latin typeface="Arial" charset="0"/>
                  <a:ea typeface="ＭＳ Ｐゴシック" charset="-128"/>
                  <a:cs typeface="+mn-cs"/>
                </a:defRPr>
              </a:lvl8pPr>
              <a:lvl9pPr marL="4075298" algn="l" defTabSz="1018824" rtl="0" eaLnBrk="1" latinLnBrk="0" hangingPunct="1">
                <a:defRPr kern="1200">
                  <a:solidFill>
                    <a:schemeClr val="tx1"/>
                  </a:solidFill>
                  <a:latin typeface="Arial" charset="0"/>
                  <a:ea typeface="ＭＳ Ｐゴシック" charset="-128"/>
                  <a:cs typeface="+mn-cs"/>
                </a:defRPr>
              </a:lvl9pPr>
            </a:lstStyle>
            <a:p>
              <a:endParaRPr lang="en-US" dirty="0"/>
            </a:p>
          </p:txBody>
        </p:sp>
        <p:sp>
          <p:nvSpPr>
            <p:cNvPr id="35" name="Freeform 40">
              <a:extLst>
                <a:ext uri="{FF2B5EF4-FFF2-40B4-BE49-F238E27FC236}">
                  <a16:creationId xmlns:a16="http://schemas.microsoft.com/office/drawing/2014/main" id="{4466F1D9-806B-E84D-E89D-8216E969E2BE}"/>
                </a:ext>
              </a:extLst>
            </p:cNvPr>
            <p:cNvSpPr>
              <a:spLocks/>
            </p:cNvSpPr>
            <p:nvPr/>
          </p:nvSpPr>
          <p:spPr bwMode="auto">
            <a:xfrm>
              <a:off x="6696224" y="4484699"/>
              <a:ext cx="249976" cy="333526"/>
            </a:xfrm>
            <a:custGeom>
              <a:avLst/>
              <a:gdLst>
                <a:gd name="T0" fmla="*/ 54 w 214"/>
                <a:gd name="T1" fmla="*/ 12 h 290"/>
                <a:gd name="T2" fmla="*/ 62 w 214"/>
                <a:gd name="T3" fmla="*/ 30 h 290"/>
                <a:gd name="T4" fmla="*/ 47 w 214"/>
                <a:gd name="T5" fmla="*/ 41 h 290"/>
                <a:gd name="T6" fmla="*/ 46 w 214"/>
                <a:gd name="T7" fmla="*/ 87 h 290"/>
                <a:gd name="T8" fmla="*/ 38 w 214"/>
                <a:gd name="T9" fmla="*/ 57 h 290"/>
                <a:gd name="T10" fmla="*/ 7 w 214"/>
                <a:gd name="T11" fmla="*/ 86 h 290"/>
                <a:gd name="T12" fmla="*/ 0 w 214"/>
                <a:gd name="T13" fmla="*/ 169 h 290"/>
                <a:gd name="T14" fmla="*/ 20 w 214"/>
                <a:gd name="T15" fmla="*/ 210 h 290"/>
                <a:gd name="T16" fmla="*/ 22 w 214"/>
                <a:gd name="T17" fmla="*/ 231 h 290"/>
                <a:gd name="T18" fmla="*/ 23 w 214"/>
                <a:gd name="T19" fmla="*/ 248 h 290"/>
                <a:gd name="T20" fmla="*/ 22 w 214"/>
                <a:gd name="T21" fmla="*/ 263 h 290"/>
                <a:gd name="T22" fmla="*/ 18 w 214"/>
                <a:gd name="T23" fmla="*/ 290 h 290"/>
                <a:gd name="T24" fmla="*/ 102 w 214"/>
                <a:gd name="T25" fmla="*/ 285 h 290"/>
                <a:gd name="T26" fmla="*/ 213 w 214"/>
                <a:gd name="T27" fmla="*/ 275 h 290"/>
                <a:gd name="T28" fmla="*/ 193 w 214"/>
                <a:gd name="T29" fmla="*/ 269 h 290"/>
                <a:gd name="T30" fmla="*/ 182 w 214"/>
                <a:gd name="T31" fmla="*/ 254 h 290"/>
                <a:gd name="T32" fmla="*/ 199 w 214"/>
                <a:gd name="T33" fmla="*/ 241 h 290"/>
                <a:gd name="T34" fmla="*/ 199 w 214"/>
                <a:gd name="T35" fmla="*/ 225 h 290"/>
                <a:gd name="T36" fmla="*/ 191 w 214"/>
                <a:gd name="T37" fmla="*/ 211 h 290"/>
                <a:gd name="T38" fmla="*/ 199 w 214"/>
                <a:gd name="T39" fmla="*/ 201 h 290"/>
                <a:gd name="T40" fmla="*/ 214 w 214"/>
                <a:gd name="T41" fmla="*/ 202 h 290"/>
                <a:gd name="T42" fmla="*/ 211 w 214"/>
                <a:gd name="T43" fmla="*/ 162 h 290"/>
                <a:gd name="T44" fmla="*/ 207 w 214"/>
                <a:gd name="T45" fmla="*/ 138 h 290"/>
                <a:gd name="T46" fmla="*/ 198 w 214"/>
                <a:gd name="T47" fmla="*/ 123 h 290"/>
                <a:gd name="T48" fmla="*/ 189 w 214"/>
                <a:gd name="T49" fmla="*/ 114 h 290"/>
                <a:gd name="T50" fmla="*/ 175 w 214"/>
                <a:gd name="T51" fmla="*/ 111 h 290"/>
                <a:gd name="T52" fmla="*/ 162 w 214"/>
                <a:gd name="T53" fmla="*/ 111 h 290"/>
                <a:gd name="T54" fmla="*/ 148 w 214"/>
                <a:gd name="T55" fmla="*/ 130 h 290"/>
                <a:gd name="T56" fmla="*/ 139 w 214"/>
                <a:gd name="T57" fmla="*/ 136 h 290"/>
                <a:gd name="T58" fmla="*/ 133 w 214"/>
                <a:gd name="T59" fmla="*/ 138 h 290"/>
                <a:gd name="T60" fmla="*/ 126 w 214"/>
                <a:gd name="T61" fmla="*/ 135 h 290"/>
                <a:gd name="T62" fmla="*/ 124 w 214"/>
                <a:gd name="T63" fmla="*/ 126 h 290"/>
                <a:gd name="T64" fmla="*/ 126 w 214"/>
                <a:gd name="T65" fmla="*/ 120 h 290"/>
                <a:gd name="T66" fmla="*/ 132 w 214"/>
                <a:gd name="T67" fmla="*/ 114 h 290"/>
                <a:gd name="T68" fmla="*/ 138 w 214"/>
                <a:gd name="T69" fmla="*/ 111 h 290"/>
                <a:gd name="T70" fmla="*/ 144 w 214"/>
                <a:gd name="T71" fmla="*/ 110 h 290"/>
                <a:gd name="T72" fmla="*/ 144 w 214"/>
                <a:gd name="T73" fmla="*/ 99 h 290"/>
                <a:gd name="T74" fmla="*/ 160 w 214"/>
                <a:gd name="T75" fmla="*/ 87 h 290"/>
                <a:gd name="T76" fmla="*/ 144 w 214"/>
                <a:gd name="T77" fmla="*/ 49 h 290"/>
                <a:gd name="T78" fmla="*/ 144 w 214"/>
                <a:gd name="T79" fmla="*/ 31 h 290"/>
                <a:gd name="T80" fmla="*/ 117 w 214"/>
                <a:gd name="T81" fmla="*/ 24 h 290"/>
                <a:gd name="T82" fmla="*/ 78 w 214"/>
                <a:gd name="T83" fmla="*/ 0 h 290"/>
                <a:gd name="T84" fmla="*/ 54 w 214"/>
                <a:gd name="T85" fmla="*/ 12 h 29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14"/>
                <a:gd name="T130" fmla="*/ 0 h 290"/>
                <a:gd name="T131" fmla="*/ 214 w 214"/>
                <a:gd name="T132" fmla="*/ 290 h 29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14" h="290">
                  <a:moveTo>
                    <a:pt x="54" y="12"/>
                  </a:moveTo>
                  <a:lnTo>
                    <a:pt x="62" y="30"/>
                  </a:lnTo>
                  <a:lnTo>
                    <a:pt x="47" y="41"/>
                  </a:lnTo>
                  <a:lnTo>
                    <a:pt x="46" y="87"/>
                  </a:lnTo>
                  <a:lnTo>
                    <a:pt x="38" y="57"/>
                  </a:lnTo>
                  <a:lnTo>
                    <a:pt x="7" y="86"/>
                  </a:lnTo>
                  <a:lnTo>
                    <a:pt x="0" y="169"/>
                  </a:lnTo>
                  <a:lnTo>
                    <a:pt x="20" y="210"/>
                  </a:lnTo>
                  <a:lnTo>
                    <a:pt x="22" y="231"/>
                  </a:lnTo>
                  <a:lnTo>
                    <a:pt x="23" y="248"/>
                  </a:lnTo>
                  <a:lnTo>
                    <a:pt x="22" y="263"/>
                  </a:lnTo>
                  <a:lnTo>
                    <a:pt x="18" y="290"/>
                  </a:lnTo>
                  <a:lnTo>
                    <a:pt x="102" y="285"/>
                  </a:lnTo>
                  <a:lnTo>
                    <a:pt x="213" y="275"/>
                  </a:lnTo>
                  <a:lnTo>
                    <a:pt x="193" y="269"/>
                  </a:lnTo>
                  <a:lnTo>
                    <a:pt x="182" y="254"/>
                  </a:lnTo>
                  <a:lnTo>
                    <a:pt x="199" y="241"/>
                  </a:lnTo>
                  <a:lnTo>
                    <a:pt x="199" y="225"/>
                  </a:lnTo>
                  <a:lnTo>
                    <a:pt x="191" y="211"/>
                  </a:lnTo>
                  <a:lnTo>
                    <a:pt x="199" y="201"/>
                  </a:lnTo>
                  <a:lnTo>
                    <a:pt x="214" y="202"/>
                  </a:lnTo>
                  <a:lnTo>
                    <a:pt x="211" y="162"/>
                  </a:lnTo>
                  <a:lnTo>
                    <a:pt x="207" y="138"/>
                  </a:lnTo>
                  <a:lnTo>
                    <a:pt x="198" y="123"/>
                  </a:lnTo>
                  <a:lnTo>
                    <a:pt x="189" y="114"/>
                  </a:lnTo>
                  <a:lnTo>
                    <a:pt x="175" y="111"/>
                  </a:lnTo>
                  <a:lnTo>
                    <a:pt x="162" y="111"/>
                  </a:lnTo>
                  <a:lnTo>
                    <a:pt x="148" y="130"/>
                  </a:lnTo>
                  <a:lnTo>
                    <a:pt x="139" y="136"/>
                  </a:lnTo>
                  <a:lnTo>
                    <a:pt x="133" y="138"/>
                  </a:lnTo>
                  <a:lnTo>
                    <a:pt x="126" y="135"/>
                  </a:lnTo>
                  <a:lnTo>
                    <a:pt x="124" y="126"/>
                  </a:lnTo>
                  <a:lnTo>
                    <a:pt x="126" y="120"/>
                  </a:lnTo>
                  <a:lnTo>
                    <a:pt x="132" y="114"/>
                  </a:lnTo>
                  <a:lnTo>
                    <a:pt x="138" y="111"/>
                  </a:lnTo>
                  <a:lnTo>
                    <a:pt x="144" y="110"/>
                  </a:lnTo>
                  <a:lnTo>
                    <a:pt x="144" y="99"/>
                  </a:lnTo>
                  <a:lnTo>
                    <a:pt x="160" y="87"/>
                  </a:lnTo>
                  <a:lnTo>
                    <a:pt x="144" y="49"/>
                  </a:lnTo>
                  <a:lnTo>
                    <a:pt x="144" y="31"/>
                  </a:lnTo>
                  <a:lnTo>
                    <a:pt x="117" y="24"/>
                  </a:lnTo>
                  <a:lnTo>
                    <a:pt x="78" y="0"/>
                  </a:lnTo>
                  <a:lnTo>
                    <a:pt x="54" y="12"/>
                  </a:lnTo>
                  <a:close/>
                </a:path>
              </a:pathLst>
            </a:custGeom>
            <a:grpFill/>
            <a:ln w="3175">
              <a:solidFill>
                <a:schemeClr val="bg1"/>
              </a:solidFill>
              <a:prstDash val="solid"/>
              <a:round/>
              <a:headEnd/>
              <a:tailEnd/>
            </a:ln>
          </p:spPr>
          <p:txBody>
            <a:bodyPr/>
            <a:lstStyle>
              <a:defPPr>
                <a:defRPr lang="en-US"/>
              </a:defPPr>
              <a:lvl1pPr algn="l" defTabSz="509412" rtl="0" fontAlgn="base">
                <a:spcBef>
                  <a:spcPct val="0"/>
                </a:spcBef>
                <a:spcAft>
                  <a:spcPct val="0"/>
                </a:spcAft>
                <a:defRPr kern="1200">
                  <a:solidFill>
                    <a:schemeClr val="tx1"/>
                  </a:solidFill>
                  <a:latin typeface="Arial" charset="0"/>
                  <a:ea typeface="ＭＳ Ｐゴシック" charset="-128"/>
                  <a:cs typeface="+mn-cs"/>
                </a:defRPr>
              </a:lvl1pPr>
              <a:lvl2pPr marL="509412" algn="l" defTabSz="509412" rtl="0" fontAlgn="base">
                <a:spcBef>
                  <a:spcPct val="0"/>
                </a:spcBef>
                <a:spcAft>
                  <a:spcPct val="0"/>
                </a:spcAft>
                <a:defRPr kern="1200">
                  <a:solidFill>
                    <a:schemeClr val="tx1"/>
                  </a:solidFill>
                  <a:latin typeface="Arial" charset="0"/>
                  <a:ea typeface="ＭＳ Ｐゴシック" charset="-128"/>
                  <a:cs typeface="+mn-cs"/>
                </a:defRPr>
              </a:lvl2pPr>
              <a:lvl3pPr marL="1018824" algn="l" defTabSz="509412" rtl="0" fontAlgn="base">
                <a:spcBef>
                  <a:spcPct val="0"/>
                </a:spcBef>
                <a:spcAft>
                  <a:spcPct val="0"/>
                </a:spcAft>
                <a:defRPr kern="1200">
                  <a:solidFill>
                    <a:schemeClr val="tx1"/>
                  </a:solidFill>
                  <a:latin typeface="Arial" charset="0"/>
                  <a:ea typeface="ＭＳ Ｐゴシック" charset="-128"/>
                  <a:cs typeface="+mn-cs"/>
                </a:defRPr>
              </a:lvl3pPr>
              <a:lvl4pPr marL="1528237" algn="l" defTabSz="509412" rtl="0" fontAlgn="base">
                <a:spcBef>
                  <a:spcPct val="0"/>
                </a:spcBef>
                <a:spcAft>
                  <a:spcPct val="0"/>
                </a:spcAft>
                <a:defRPr kern="1200">
                  <a:solidFill>
                    <a:schemeClr val="tx1"/>
                  </a:solidFill>
                  <a:latin typeface="Arial" charset="0"/>
                  <a:ea typeface="ＭＳ Ｐゴシック" charset="-128"/>
                  <a:cs typeface="+mn-cs"/>
                </a:defRPr>
              </a:lvl4pPr>
              <a:lvl5pPr marL="2037649" algn="l" defTabSz="509412" rtl="0" fontAlgn="base">
                <a:spcBef>
                  <a:spcPct val="0"/>
                </a:spcBef>
                <a:spcAft>
                  <a:spcPct val="0"/>
                </a:spcAft>
                <a:defRPr kern="1200">
                  <a:solidFill>
                    <a:schemeClr val="tx1"/>
                  </a:solidFill>
                  <a:latin typeface="Arial" charset="0"/>
                  <a:ea typeface="ＭＳ Ｐゴシック" charset="-128"/>
                  <a:cs typeface="+mn-cs"/>
                </a:defRPr>
              </a:lvl5pPr>
              <a:lvl6pPr marL="2547061" algn="l" defTabSz="1018824" rtl="0" eaLnBrk="1" latinLnBrk="0" hangingPunct="1">
                <a:defRPr kern="1200">
                  <a:solidFill>
                    <a:schemeClr val="tx1"/>
                  </a:solidFill>
                  <a:latin typeface="Arial" charset="0"/>
                  <a:ea typeface="ＭＳ Ｐゴシック" charset="-128"/>
                  <a:cs typeface="+mn-cs"/>
                </a:defRPr>
              </a:lvl6pPr>
              <a:lvl7pPr marL="3056473" algn="l" defTabSz="1018824" rtl="0" eaLnBrk="1" latinLnBrk="0" hangingPunct="1">
                <a:defRPr kern="1200">
                  <a:solidFill>
                    <a:schemeClr val="tx1"/>
                  </a:solidFill>
                  <a:latin typeface="Arial" charset="0"/>
                  <a:ea typeface="ＭＳ Ｐゴシック" charset="-128"/>
                  <a:cs typeface="+mn-cs"/>
                </a:defRPr>
              </a:lvl7pPr>
              <a:lvl8pPr marL="3565886" algn="l" defTabSz="1018824" rtl="0" eaLnBrk="1" latinLnBrk="0" hangingPunct="1">
                <a:defRPr kern="1200">
                  <a:solidFill>
                    <a:schemeClr val="tx1"/>
                  </a:solidFill>
                  <a:latin typeface="Arial" charset="0"/>
                  <a:ea typeface="ＭＳ Ｐゴシック" charset="-128"/>
                  <a:cs typeface="+mn-cs"/>
                </a:defRPr>
              </a:lvl8pPr>
              <a:lvl9pPr marL="4075298" algn="l" defTabSz="1018824" rtl="0" eaLnBrk="1" latinLnBrk="0" hangingPunct="1">
                <a:defRPr kern="1200">
                  <a:solidFill>
                    <a:schemeClr val="tx1"/>
                  </a:solidFill>
                  <a:latin typeface="Arial" charset="0"/>
                  <a:ea typeface="ＭＳ Ｐゴシック" charset="-128"/>
                  <a:cs typeface="+mn-cs"/>
                </a:defRPr>
              </a:lvl9pPr>
            </a:lstStyle>
            <a:p>
              <a:endParaRPr lang="en-US" dirty="0"/>
            </a:p>
          </p:txBody>
        </p:sp>
      </p:grpSp>
      <p:grpSp>
        <p:nvGrpSpPr>
          <p:cNvPr id="36" name="Group 35">
            <a:extLst>
              <a:ext uri="{FF2B5EF4-FFF2-40B4-BE49-F238E27FC236}">
                <a16:creationId xmlns:a16="http://schemas.microsoft.com/office/drawing/2014/main" id="{CCCD039C-2B60-EC72-75C9-D1CB174DFADB}"/>
              </a:ext>
            </a:extLst>
          </p:cNvPr>
          <p:cNvGrpSpPr>
            <a:grpSpLocks noChangeAspect="1"/>
          </p:cNvGrpSpPr>
          <p:nvPr/>
        </p:nvGrpSpPr>
        <p:grpSpPr>
          <a:xfrm rot="250367">
            <a:off x="1198602" y="2705431"/>
            <a:ext cx="292361" cy="260501"/>
            <a:chOff x="6454425" y="4380041"/>
            <a:chExt cx="491775" cy="438184"/>
          </a:xfrm>
          <a:solidFill>
            <a:schemeClr val="bg1">
              <a:lumMod val="50000"/>
            </a:schemeClr>
          </a:solidFill>
        </p:grpSpPr>
        <p:sp>
          <p:nvSpPr>
            <p:cNvPr id="37" name="Freeform 39">
              <a:extLst>
                <a:ext uri="{FF2B5EF4-FFF2-40B4-BE49-F238E27FC236}">
                  <a16:creationId xmlns:a16="http://schemas.microsoft.com/office/drawing/2014/main" id="{7BF1C70E-7076-2B3D-F7A8-CA0D89394CA6}"/>
                </a:ext>
              </a:extLst>
            </p:cNvPr>
            <p:cNvSpPr>
              <a:spLocks/>
            </p:cNvSpPr>
            <p:nvPr/>
          </p:nvSpPr>
          <p:spPr bwMode="auto">
            <a:xfrm>
              <a:off x="6454425" y="4380041"/>
              <a:ext cx="349266" cy="148362"/>
            </a:xfrm>
            <a:custGeom>
              <a:avLst/>
              <a:gdLst>
                <a:gd name="T0" fmla="*/ 0 w 299"/>
                <a:gd name="T1" fmla="*/ 71 h 129"/>
                <a:gd name="T2" fmla="*/ 67 w 299"/>
                <a:gd name="T3" fmla="*/ 0 h 129"/>
                <a:gd name="T4" fmla="*/ 55 w 299"/>
                <a:gd name="T5" fmla="*/ 29 h 129"/>
                <a:gd name="T6" fmla="*/ 64 w 299"/>
                <a:gd name="T7" fmla="*/ 38 h 129"/>
                <a:gd name="T8" fmla="*/ 85 w 299"/>
                <a:gd name="T9" fmla="*/ 26 h 129"/>
                <a:gd name="T10" fmla="*/ 131 w 299"/>
                <a:gd name="T11" fmla="*/ 44 h 129"/>
                <a:gd name="T12" fmla="*/ 151 w 299"/>
                <a:gd name="T13" fmla="*/ 29 h 129"/>
                <a:gd name="T14" fmla="*/ 213 w 299"/>
                <a:gd name="T15" fmla="*/ 21 h 129"/>
                <a:gd name="T16" fmla="*/ 225 w 299"/>
                <a:gd name="T17" fmla="*/ 39 h 129"/>
                <a:gd name="T18" fmla="*/ 249 w 299"/>
                <a:gd name="T19" fmla="*/ 35 h 129"/>
                <a:gd name="T20" fmla="*/ 296 w 299"/>
                <a:gd name="T21" fmla="*/ 54 h 129"/>
                <a:gd name="T22" fmla="*/ 299 w 299"/>
                <a:gd name="T23" fmla="*/ 68 h 129"/>
                <a:gd name="T24" fmla="*/ 248 w 299"/>
                <a:gd name="T25" fmla="*/ 80 h 129"/>
                <a:gd name="T26" fmla="*/ 233 w 299"/>
                <a:gd name="T27" fmla="*/ 71 h 129"/>
                <a:gd name="T28" fmla="*/ 207 w 299"/>
                <a:gd name="T29" fmla="*/ 74 h 129"/>
                <a:gd name="T30" fmla="*/ 177 w 299"/>
                <a:gd name="T31" fmla="*/ 92 h 129"/>
                <a:gd name="T32" fmla="*/ 163 w 299"/>
                <a:gd name="T33" fmla="*/ 93 h 129"/>
                <a:gd name="T34" fmla="*/ 152 w 299"/>
                <a:gd name="T35" fmla="*/ 80 h 129"/>
                <a:gd name="T36" fmla="*/ 135 w 299"/>
                <a:gd name="T37" fmla="*/ 128 h 129"/>
                <a:gd name="T38" fmla="*/ 116 w 299"/>
                <a:gd name="T39" fmla="*/ 129 h 129"/>
                <a:gd name="T40" fmla="*/ 108 w 299"/>
                <a:gd name="T41" fmla="*/ 110 h 129"/>
                <a:gd name="T42" fmla="*/ 68 w 299"/>
                <a:gd name="T43" fmla="*/ 101 h 129"/>
                <a:gd name="T44" fmla="*/ 49 w 299"/>
                <a:gd name="T45" fmla="*/ 87 h 129"/>
                <a:gd name="T46" fmla="*/ 16 w 299"/>
                <a:gd name="T47" fmla="*/ 92 h 129"/>
                <a:gd name="T48" fmla="*/ 0 w 299"/>
                <a:gd name="T49" fmla="*/ 71 h 12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99"/>
                <a:gd name="T76" fmla="*/ 0 h 129"/>
                <a:gd name="T77" fmla="*/ 299 w 299"/>
                <a:gd name="T78" fmla="*/ 129 h 12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99" h="129">
                  <a:moveTo>
                    <a:pt x="0" y="71"/>
                  </a:moveTo>
                  <a:lnTo>
                    <a:pt x="67" y="0"/>
                  </a:lnTo>
                  <a:lnTo>
                    <a:pt x="55" y="29"/>
                  </a:lnTo>
                  <a:lnTo>
                    <a:pt x="64" y="38"/>
                  </a:lnTo>
                  <a:lnTo>
                    <a:pt x="85" y="26"/>
                  </a:lnTo>
                  <a:lnTo>
                    <a:pt x="131" y="44"/>
                  </a:lnTo>
                  <a:lnTo>
                    <a:pt x="151" y="29"/>
                  </a:lnTo>
                  <a:lnTo>
                    <a:pt x="213" y="21"/>
                  </a:lnTo>
                  <a:lnTo>
                    <a:pt x="225" y="39"/>
                  </a:lnTo>
                  <a:lnTo>
                    <a:pt x="249" y="35"/>
                  </a:lnTo>
                  <a:lnTo>
                    <a:pt x="296" y="54"/>
                  </a:lnTo>
                  <a:lnTo>
                    <a:pt x="299" y="68"/>
                  </a:lnTo>
                  <a:lnTo>
                    <a:pt x="248" y="80"/>
                  </a:lnTo>
                  <a:lnTo>
                    <a:pt x="233" y="71"/>
                  </a:lnTo>
                  <a:lnTo>
                    <a:pt x="207" y="74"/>
                  </a:lnTo>
                  <a:lnTo>
                    <a:pt x="177" y="92"/>
                  </a:lnTo>
                  <a:lnTo>
                    <a:pt x="163" y="93"/>
                  </a:lnTo>
                  <a:lnTo>
                    <a:pt x="152" y="80"/>
                  </a:lnTo>
                  <a:lnTo>
                    <a:pt x="135" y="128"/>
                  </a:lnTo>
                  <a:lnTo>
                    <a:pt x="116" y="129"/>
                  </a:lnTo>
                  <a:lnTo>
                    <a:pt x="108" y="110"/>
                  </a:lnTo>
                  <a:lnTo>
                    <a:pt x="68" y="101"/>
                  </a:lnTo>
                  <a:lnTo>
                    <a:pt x="49" y="87"/>
                  </a:lnTo>
                  <a:lnTo>
                    <a:pt x="16" y="92"/>
                  </a:lnTo>
                  <a:lnTo>
                    <a:pt x="0" y="71"/>
                  </a:lnTo>
                  <a:close/>
                </a:path>
              </a:pathLst>
            </a:custGeom>
            <a:grpFill/>
            <a:ln w="3175">
              <a:solidFill>
                <a:schemeClr val="bg1"/>
              </a:solidFill>
              <a:prstDash val="solid"/>
              <a:round/>
              <a:headEnd/>
              <a:tailEnd/>
            </a:ln>
          </p:spPr>
          <p:txBody>
            <a:bodyPr/>
            <a:lstStyle>
              <a:defPPr>
                <a:defRPr lang="en-US"/>
              </a:defPPr>
              <a:lvl1pPr algn="l" defTabSz="509412" rtl="0" fontAlgn="base">
                <a:spcBef>
                  <a:spcPct val="0"/>
                </a:spcBef>
                <a:spcAft>
                  <a:spcPct val="0"/>
                </a:spcAft>
                <a:defRPr kern="1200">
                  <a:solidFill>
                    <a:schemeClr val="tx1"/>
                  </a:solidFill>
                  <a:latin typeface="Arial" charset="0"/>
                  <a:ea typeface="ＭＳ Ｐゴシック" charset="-128"/>
                  <a:cs typeface="+mn-cs"/>
                </a:defRPr>
              </a:lvl1pPr>
              <a:lvl2pPr marL="509412" algn="l" defTabSz="509412" rtl="0" fontAlgn="base">
                <a:spcBef>
                  <a:spcPct val="0"/>
                </a:spcBef>
                <a:spcAft>
                  <a:spcPct val="0"/>
                </a:spcAft>
                <a:defRPr kern="1200">
                  <a:solidFill>
                    <a:schemeClr val="tx1"/>
                  </a:solidFill>
                  <a:latin typeface="Arial" charset="0"/>
                  <a:ea typeface="ＭＳ Ｐゴシック" charset="-128"/>
                  <a:cs typeface="+mn-cs"/>
                </a:defRPr>
              </a:lvl2pPr>
              <a:lvl3pPr marL="1018824" algn="l" defTabSz="509412" rtl="0" fontAlgn="base">
                <a:spcBef>
                  <a:spcPct val="0"/>
                </a:spcBef>
                <a:spcAft>
                  <a:spcPct val="0"/>
                </a:spcAft>
                <a:defRPr kern="1200">
                  <a:solidFill>
                    <a:schemeClr val="tx1"/>
                  </a:solidFill>
                  <a:latin typeface="Arial" charset="0"/>
                  <a:ea typeface="ＭＳ Ｐゴシック" charset="-128"/>
                  <a:cs typeface="+mn-cs"/>
                </a:defRPr>
              </a:lvl3pPr>
              <a:lvl4pPr marL="1528237" algn="l" defTabSz="509412" rtl="0" fontAlgn="base">
                <a:spcBef>
                  <a:spcPct val="0"/>
                </a:spcBef>
                <a:spcAft>
                  <a:spcPct val="0"/>
                </a:spcAft>
                <a:defRPr kern="1200">
                  <a:solidFill>
                    <a:schemeClr val="tx1"/>
                  </a:solidFill>
                  <a:latin typeface="Arial" charset="0"/>
                  <a:ea typeface="ＭＳ Ｐゴシック" charset="-128"/>
                  <a:cs typeface="+mn-cs"/>
                </a:defRPr>
              </a:lvl4pPr>
              <a:lvl5pPr marL="2037649" algn="l" defTabSz="509412" rtl="0" fontAlgn="base">
                <a:spcBef>
                  <a:spcPct val="0"/>
                </a:spcBef>
                <a:spcAft>
                  <a:spcPct val="0"/>
                </a:spcAft>
                <a:defRPr kern="1200">
                  <a:solidFill>
                    <a:schemeClr val="tx1"/>
                  </a:solidFill>
                  <a:latin typeface="Arial" charset="0"/>
                  <a:ea typeface="ＭＳ Ｐゴシック" charset="-128"/>
                  <a:cs typeface="+mn-cs"/>
                </a:defRPr>
              </a:lvl5pPr>
              <a:lvl6pPr marL="2547061" algn="l" defTabSz="1018824" rtl="0" eaLnBrk="1" latinLnBrk="0" hangingPunct="1">
                <a:defRPr kern="1200">
                  <a:solidFill>
                    <a:schemeClr val="tx1"/>
                  </a:solidFill>
                  <a:latin typeface="Arial" charset="0"/>
                  <a:ea typeface="ＭＳ Ｐゴシック" charset="-128"/>
                  <a:cs typeface="+mn-cs"/>
                </a:defRPr>
              </a:lvl6pPr>
              <a:lvl7pPr marL="3056473" algn="l" defTabSz="1018824" rtl="0" eaLnBrk="1" latinLnBrk="0" hangingPunct="1">
                <a:defRPr kern="1200">
                  <a:solidFill>
                    <a:schemeClr val="tx1"/>
                  </a:solidFill>
                  <a:latin typeface="Arial" charset="0"/>
                  <a:ea typeface="ＭＳ Ｐゴシック" charset="-128"/>
                  <a:cs typeface="+mn-cs"/>
                </a:defRPr>
              </a:lvl7pPr>
              <a:lvl8pPr marL="3565886" algn="l" defTabSz="1018824" rtl="0" eaLnBrk="1" latinLnBrk="0" hangingPunct="1">
                <a:defRPr kern="1200">
                  <a:solidFill>
                    <a:schemeClr val="tx1"/>
                  </a:solidFill>
                  <a:latin typeface="Arial" charset="0"/>
                  <a:ea typeface="ＭＳ Ｐゴシック" charset="-128"/>
                  <a:cs typeface="+mn-cs"/>
                </a:defRPr>
              </a:lvl8pPr>
              <a:lvl9pPr marL="4075298" algn="l" defTabSz="1018824" rtl="0" eaLnBrk="1" latinLnBrk="0" hangingPunct="1">
                <a:defRPr kern="1200">
                  <a:solidFill>
                    <a:schemeClr val="tx1"/>
                  </a:solidFill>
                  <a:latin typeface="Arial" charset="0"/>
                  <a:ea typeface="ＭＳ Ｐゴシック" charset="-128"/>
                  <a:cs typeface="+mn-cs"/>
                </a:defRPr>
              </a:lvl9pPr>
            </a:lstStyle>
            <a:p>
              <a:endParaRPr lang="en-US" dirty="0"/>
            </a:p>
          </p:txBody>
        </p:sp>
        <p:sp>
          <p:nvSpPr>
            <p:cNvPr id="38" name="Freeform 40">
              <a:extLst>
                <a:ext uri="{FF2B5EF4-FFF2-40B4-BE49-F238E27FC236}">
                  <a16:creationId xmlns:a16="http://schemas.microsoft.com/office/drawing/2014/main" id="{EBE10B05-12B1-406F-4E25-650FA60B8C5B}"/>
                </a:ext>
              </a:extLst>
            </p:cNvPr>
            <p:cNvSpPr>
              <a:spLocks/>
            </p:cNvSpPr>
            <p:nvPr/>
          </p:nvSpPr>
          <p:spPr bwMode="auto">
            <a:xfrm>
              <a:off x="6696224" y="4484699"/>
              <a:ext cx="249976" cy="333526"/>
            </a:xfrm>
            <a:custGeom>
              <a:avLst/>
              <a:gdLst>
                <a:gd name="T0" fmla="*/ 54 w 214"/>
                <a:gd name="T1" fmla="*/ 12 h 290"/>
                <a:gd name="T2" fmla="*/ 62 w 214"/>
                <a:gd name="T3" fmla="*/ 30 h 290"/>
                <a:gd name="T4" fmla="*/ 47 w 214"/>
                <a:gd name="T5" fmla="*/ 41 h 290"/>
                <a:gd name="T6" fmla="*/ 46 w 214"/>
                <a:gd name="T7" fmla="*/ 87 h 290"/>
                <a:gd name="T8" fmla="*/ 38 w 214"/>
                <a:gd name="T9" fmla="*/ 57 h 290"/>
                <a:gd name="T10" fmla="*/ 7 w 214"/>
                <a:gd name="T11" fmla="*/ 86 h 290"/>
                <a:gd name="T12" fmla="*/ 0 w 214"/>
                <a:gd name="T13" fmla="*/ 169 h 290"/>
                <a:gd name="T14" fmla="*/ 20 w 214"/>
                <a:gd name="T15" fmla="*/ 210 h 290"/>
                <a:gd name="T16" fmla="*/ 22 w 214"/>
                <a:gd name="T17" fmla="*/ 231 h 290"/>
                <a:gd name="T18" fmla="*/ 23 w 214"/>
                <a:gd name="T19" fmla="*/ 248 h 290"/>
                <a:gd name="T20" fmla="*/ 22 w 214"/>
                <a:gd name="T21" fmla="*/ 263 h 290"/>
                <a:gd name="T22" fmla="*/ 18 w 214"/>
                <a:gd name="T23" fmla="*/ 290 h 290"/>
                <a:gd name="T24" fmla="*/ 102 w 214"/>
                <a:gd name="T25" fmla="*/ 285 h 290"/>
                <a:gd name="T26" fmla="*/ 213 w 214"/>
                <a:gd name="T27" fmla="*/ 275 h 290"/>
                <a:gd name="T28" fmla="*/ 193 w 214"/>
                <a:gd name="T29" fmla="*/ 269 h 290"/>
                <a:gd name="T30" fmla="*/ 182 w 214"/>
                <a:gd name="T31" fmla="*/ 254 h 290"/>
                <a:gd name="T32" fmla="*/ 199 w 214"/>
                <a:gd name="T33" fmla="*/ 241 h 290"/>
                <a:gd name="T34" fmla="*/ 199 w 214"/>
                <a:gd name="T35" fmla="*/ 225 h 290"/>
                <a:gd name="T36" fmla="*/ 191 w 214"/>
                <a:gd name="T37" fmla="*/ 211 h 290"/>
                <a:gd name="T38" fmla="*/ 199 w 214"/>
                <a:gd name="T39" fmla="*/ 201 h 290"/>
                <a:gd name="T40" fmla="*/ 214 w 214"/>
                <a:gd name="T41" fmla="*/ 202 h 290"/>
                <a:gd name="T42" fmla="*/ 211 w 214"/>
                <a:gd name="T43" fmla="*/ 162 h 290"/>
                <a:gd name="T44" fmla="*/ 207 w 214"/>
                <a:gd name="T45" fmla="*/ 138 h 290"/>
                <a:gd name="T46" fmla="*/ 198 w 214"/>
                <a:gd name="T47" fmla="*/ 123 h 290"/>
                <a:gd name="T48" fmla="*/ 189 w 214"/>
                <a:gd name="T49" fmla="*/ 114 h 290"/>
                <a:gd name="T50" fmla="*/ 175 w 214"/>
                <a:gd name="T51" fmla="*/ 111 h 290"/>
                <a:gd name="T52" fmla="*/ 162 w 214"/>
                <a:gd name="T53" fmla="*/ 111 h 290"/>
                <a:gd name="T54" fmla="*/ 148 w 214"/>
                <a:gd name="T55" fmla="*/ 130 h 290"/>
                <a:gd name="T56" fmla="*/ 139 w 214"/>
                <a:gd name="T57" fmla="*/ 136 h 290"/>
                <a:gd name="T58" fmla="*/ 133 w 214"/>
                <a:gd name="T59" fmla="*/ 138 h 290"/>
                <a:gd name="T60" fmla="*/ 126 w 214"/>
                <a:gd name="T61" fmla="*/ 135 h 290"/>
                <a:gd name="T62" fmla="*/ 124 w 214"/>
                <a:gd name="T63" fmla="*/ 126 h 290"/>
                <a:gd name="T64" fmla="*/ 126 w 214"/>
                <a:gd name="T65" fmla="*/ 120 h 290"/>
                <a:gd name="T66" fmla="*/ 132 w 214"/>
                <a:gd name="T67" fmla="*/ 114 h 290"/>
                <a:gd name="T68" fmla="*/ 138 w 214"/>
                <a:gd name="T69" fmla="*/ 111 h 290"/>
                <a:gd name="T70" fmla="*/ 144 w 214"/>
                <a:gd name="T71" fmla="*/ 110 h 290"/>
                <a:gd name="T72" fmla="*/ 144 w 214"/>
                <a:gd name="T73" fmla="*/ 99 h 290"/>
                <a:gd name="T74" fmla="*/ 160 w 214"/>
                <a:gd name="T75" fmla="*/ 87 h 290"/>
                <a:gd name="T76" fmla="*/ 144 w 214"/>
                <a:gd name="T77" fmla="*/ 49 h 290"/>
                <a:gd name="T78" fmla="*/ 144 w 214"/>
                <a:gd name="T79" fmla="*/ 31 h 290"/>
                <a:gd name="T80" fmla="*/ 117 w 214"/>
                <a:gd name="T81" fmla="*/ 24 h 290"/>
                <a:gd name="T82" fmla="*/ 78 w 214"/>
                <a:gd name="T83" fmla="*/ 0 h 290"/>
                <a:gd name="T84" fmla="*/ 54 w 214"/>
                <a:gd name="T85" fmla="*/ 12 h 29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14"/>
                <a:gd name="T130" fmla="*/ 0 h 290"/>
                <a:gd name="T131" fmla="*/ 214 w 214"/>
                <a:gd name="T132" fmla="*/ 290 h 29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14" h="290">
                  <a:moveTo>
                    <a:pt x="54" y="12"/>
                  </a:moveTo>
                  <a:lnTo>
                    <a:pt x="62" y="30"/>
                  </a:lnTo>
                  <a:lnTo>
                    <a:pt x="47" y="41"/>
                  </a:lnTo>
                  <a:lnTo>
                    <a:pt x="46" y="87"/>
                  </a:lnTo>
                  <a:lnTo>
                    <a:pt x="38" y="57"/>
                  </a:lnTo>
                  <a:lnTo>
                    <a:pt x="7" y="86"/>
                  </a:lnTo>
                  <a:lnTo>
                    <a:pt x="0" y="169"/>
                  </a:lnTo>
                  <a:lnTo>
                    <a:pt x="20" y="210"/>
                  </a:lnTo>
                  <a:lnTo>
                    <a:pt x="22" y="231"/>
                  </a:lnTo>
                  <a:lnTo>
                    <a:pt x="23" y="248"/>
                  </a:lnTo>
                  <a:lnTo>
                    <a:pt x="22" y="263"/>
                  </a:lnTo>
                  <a:lnTo>
                    <a:pt x="18" y="290"/>
                  </a:lnTo>
                  <a:lnTo>
                    <a:pt x="102" y="285"/>
                  </a:lnTo>
                  <a:lnTo>
                    <a:pt x="213" y="275"/>
                  </a:lnTo>
                  <a:lnTo>
                    <a:pt x="193" y="269"/>
                  </a:lnTo>
                  <a:lnTo>
                    <a:pt x="182" y="254"/>
                  </a:lnTo>
                  <a:lnTo>
                    <a:pt x="199" y="241"/>
                  </a:lnTo>
                  <a:lnTo>
                    <a:pt x="199" y="225"/>
                  </a:lnTo>
                  <a:lnTo>
                    <a:pt x="191" y="211"/>
                  </a:lnTo>
                  <a:lnTo>
                    <a:pt x="199" y="201"/>
                  </a:lnTo>
                  <a:lnTo>
                    <a:pt x="214" y="202"/>
                  </a:lnTo>
                  <a:lnTo>
                    <a:pt x="211" y="162"/>
                  </a:lnTo>
                  <a:lnTo>
                    <a:pt x="207" y="138"/>
                  </a:lnTo>
                  <a:lnTo>
                    <a:pt x="198" y="123"/>
                  </a:lnTo>
                  <a:lnTo>
                    <a:pt x="189" y="114"/>
                  </a:lnTo>
                  <a:lnTo>
                    <a:pt x="175" y="111"/>
                  </a:lnTo>
                  <a:lnTo>
                    <a:pt x="162" y="111"/>
                  </a:lnTo>
                  <a:lnTo>
                    <a:pt x="148" y="130"/>
                  </a:lnTo>
                  <a:lnTo>
                    <a:pt x="139" y="136"/>
                  </a:lnTo>
                  <a:lnTo>
                    <a:pt x="133" y="138"/>
                  </a:lnTo>
                  <a:lnTo>
                    <a:pt x="126" y="135"/>
                  </a:lnTo>
                  <a:lnTo>
                    <a:pt x="124" y="126"/>
                  </a:lnTo>
                  <a:lnTo>
                    <a:pt x="126" y="120"/>
                  </a:lnTo>
                  <a:lnTo>
                    <a:pt x="132" y="114"/>
                  </a:lnTo>
                  <a:lnTo>
                    <a:pt x="138" y="111"/>
                  </a:lnTo>
                  <a:lnTo>
                    <a:pt x="144" y="110"/>
                  </a:lnTo>
                  <a:lnTo>
                    <a:pt x="144" y="99"/>
                  </a:lnTo>
                  <a:lnTo>
                    <a:pt x="160" y="87"/>
                  </a:lnTo>
                  <a:lnTo>
                    <a:pt x="144" y="49"/>
                  </a:lnTo>
                  <a:lnTo>
                    <a:pt x="144" y="31"/>
                  </a:lnTo>
                  <a:lnTo>
                    <a:pt x="117" y="24"/>
                  </a:lnTo>
                  <a:lnTo>
                    <a:pt x="78" y="0"/>
                  </a:lnTo>
                  <a:lnTo>
                    <a:pt x="54" y="12"/>
                  </a:lnTo>
                  <a:close/>
                </a:path>
              </a:pathLst>
            </a:custGeom>
            <a:grpFill/>
            <a:ln w="3175">
              <a:solidFill>
                <a:schemeClr val="bg1"/>
              </a:solidFill>
              <a:prstDash val="solid"/>
              <a:round/>
              <a:headEnd/>
              <a:tailEnd/>
            </a:ln>
          </p:spPr>
          <p:txBody>
            <a:bodyPr/>
            <a:lstStyle>
              <a:defPPr>
                <a:defRPr lang="en-US"/>
              </a:defPPr>
              <a:lvl1pPr algn="l" defTabSz="509412" rtl="0" fontAlgn="base">
                <a:spcBef>
                  <a:spcPct val="0"/>
                </a:spcBef>
                <a:spcAft>
                  <a:spcPct val="0"/>
                </a:spcAft>
                <a:defRPr kern="1200">
                  <a:solidFill>
                    <a:schemeClr val="tx1"/>
                  </a:solidFill>
                  <a:latin typeface="Arial" charset="0"/>
                  <a:ea typeface="ＭＳ Ｐゴシック" charset="-128"/>
                  <a:cs typeface="+mn-cs"/>
                </a:defRPr>
              </a:lvl1pPr>
              <a:lvl2pPr marL="509412" algn="l" defTabSz="509412" rtl="0" fontAlgn="base">
                <a:spcBef>
                  <a:spcPct val="0"/>
                </a:spcBef>
                <a:spcAft>
                  <a:spcPct val="0"/>
                </a:spcAft>
                <a:defRPr kern="1200">
                  <a:solidFill>
                    <a:schemeClr val="tx1"/>
                  </a:solidFill>
                  <a:latin typeface="Arial" charset="0"/>
                  <a:ea typeface="ＭＳ Ｐゴシック" charset="-128"/>
                  <a:cs typeface="+mn-cs"/>
                </a:defRPr>
              </a:lvl2pPr>
              <a:lvl3pPr marL="1018824" algn="l" defTabSz="509412" rtl="0" fontAlgn="base">
                <a:spcBef>
                  <a:spcPct val="0"/>
                </a:spcBef>
                <a:spcAft>
                  <a:spcPct val="0"/>
                </a:spcAft>
                <a:defRPr kern="1200">
                  <a:solidFill>
                    <a:schemeClr val="tx1"/>
                  </a:solidFill>
                  <a:latin typeface="Arial" charset="0"/>
                  <a:ea typeface="ＭＳ Ｐゴシック" charset="-128"/>
                  <a:cs typeface="+mn-cs"/>
                </a:defRPr>
              </a:lvl3pPr>
              <a:lvl4pPr marL="1528237" algn="l" defTabSz="509412" rtl="0" fontAlgn="base">
                <a:spcBef>
                  <a:spcPct val="0"/>
                </a:spcBef>
                <a:spcAft>
                  <a:spcPct val="0"/>
                </a:spcAft>
                <a:defRPr kern="1200">
                  <a:solidFill>
                    <a:schemeClr val="tx1"/>
                  </a:solidFill>
                  <a:latin typeface="Arial" charset="0"/>
                  <a:ea typeface="ＭＳ Ｐゴシック" charset="-128"/>
                  <a:cs typeface="+mn-cs"/>
                </a:defRPr>
              </a:lvl4pPr>
              <a:lvl5pPr marL="2037649" algn="l" defTabSz="509412" rtl="0" fontAlgn="base">
                <a:spcBef>
                  <a:spcPct val="0"/>
                </a:spcBef>
                <a:spcAft>
                  <a:spcPct val="0"/>
                </a:spcAft>
                <a:defRPr kern="1200">
                  <a:solidFill>
                    <a:schemeClr val="tx1"/>
                  </a:solidFill>
                  <a:latin typeface="Arial" charset="0"/>
                  <a:ea typeface="ＭＳ Ｐゴシック" charset="-128"/>
                  <a:cs typeface="+mn-cs"/>
                </a:defRPr>
              </a:lvl5pPr>
              <a:lvl6pPr marL="2547061" algn="l" defTabSz="1018824" rtl="0" eaLnBrk="1" latinLnBrk="0" hangingPunct="1">
                <a:defRPr kern="1200">
                  <a:solidFill>
                    <a:schemeClr val="tx1"/>
                  </a:solidFill>
                  <a:latin typeface="Arial" charset="0"/>
                  <a:ea typeface="ＭＳ Ｐゴシック" charset="-128"/>
                  <a:cs typeface="+mn-cs"/>
                </a:defRPr>
              </a:lvl6pPr>
              <a:lvl7pPr marL="3056473" algn="l" defTabSz="1018824" rtl="0" eaLnBrk="1" latinLnBrk="0" hangingPunct="1">
                <a:defRPr kern="1200">
                  <a:solidFill>
                    <a:schemeClr val="tx1"/>
                  </a:solidFill>
                  <a:latin typeface="Arial" charset="0"/>
                  <a:ea typeface="ＭＳ Ｐゴシック" charset="-128"/>
                  <a:cs typeface="+mn-cs"/>
                </a:defRPr>
              </a:lvl7pPr>
              <a:lvl8pPr marL="3565886" algn="l" defTabSz="1018824" rtl="0" eaLnBrk="1" latinLnBrk="0" hangingPunct="1">
                <a:defRPr kern="1200">
                  <a:solidFill>
                    <a:schemeClr val="tx1"/>
                  </a:solidFill>
                  <a:latin typeface="Arial" charset="0"/>
                  <a:ea typeface="ＭＳ Ｐゴシック" charset="-128"/>
                  <a:cs typeface="+mn-cs"/>
                </a:defRPr>
              </a:lvl8pPr>
              <a:lvl9pPr marL="4075298" algn="l" defTabSz="1018824" rtl="0" eaLnBrk="1" latinLnBrk="0" hangingPunct="1">
                <a:defRPr kern="1200">
                  <a:solidFill>
                    <a:schemeClr val="tx1"/>
                  </a:solidFill>
                  <a:latin typeface="Arial" charset="0"/>
                  <a:ea typeface="ＭＳ Ｐゴシック" charset="-128"/>
                  <a:cs typeface="+mn-cs"/>
                </a:defRPr>
              </a:lvl9pPr>
            </a:lstStyle>
            <a:p>
              <a:endParaRPr lang="en-US" dirty="0"/>
            </a:p>
          </p:txBody>
        </p:sp>
      </p:grpSp>
      <p:sp>
        <p:nvSpPr>
          <p:cNvPr id="39" name="Freeform 43">
            <a:extLst>
              <a:ext uri="{FF2B5EF4-FFF2-40B4-BE49-F238E27FC236}">
                <a16:creationId xmlns:a16="http://schemas.microsoft.com/office/drawing/2014/main" id="{BDFD567F-076C-16C9-0874-73065E4CFDF4}"/>
              </a:ext>
            </a:extLst>
          </p:cNvPr>
          <p:cNvSpPr>
            <a:spLocks noChangeAspect="1"/>
          </p:cNvSpPr>
          <p:nvPr/>
        </p:nvSpPr>
        <p:spPr bwMode="auto">
          <a:xfrm rot="580954">
            <a:off x="1265447" y="4151372"/>
            <a:ext cx="158670" cy="250825"/>
          </a:xfrm>
          <a:custGeom>
            <a:avLst/>
            <a:gdLst>
              <a:gd name="T0" fmla="*/ 0 w 180"/>
              <a:gd name="T1" fmla="*/ 21 h 296"/>
              <a:gd name="T2" fmla="*/ 21 w 180"/>
              <a:gd name="T3" fmla="*/ 32 h 296"/>
              <a:gd name="T4" fmla="*/ 41 w 180"/>
              <a:gd name="T5" fmla="*/ 30 h 296"/>
              <a:gd name="T6" fmla="*/ 48 w 180"/>
              <a:gd name="T7" fmla="*/ 24 h 296"/>
              <a:gd name="T8" fmla="*/ 53 w 180"/>
              <a:gd name="T9" fmla="*/ 6 h 296"/>
              <a:gd name="T10" fmla="*/ 140 w 180"/>
              <a:gd name="T11" fmla="*/ 0 h 296"/>
              <a:gd name="T12" fmla="*/ 180 w 180"/>
              <a:gd name="T13" fmla="*/ 209 h 296"/>
              <a:gd name="T14" fmla="*/ 177 w 180"/>
              <a:gd name="T15" fmla="*/ 207 h 296"/>
              <a:gd name="T16" fmla="*/ 147 w 180"/>
              <a:gd name="T17" fmla="*/ 219 h 296"/>
              <a:gd name="T18" fmla="*/ 126 w 180"/>
              <a:gd name="T19" fmla="*/ 275 h 296"/>
              <a:gd name="T20" fmla="*/ 95 w 180"/>
              <a:gd name="T21" fmla="*/ 267 h 296"/>
              <a:gd name="T22" fmla="*/ 59 w 180"/>
              <a:gd name="T23" fmla="*/ 288 h 296"/>
              <a:gd name="T24" fmla="*/ 12 w 180"/>
              <a:gd name="T25" fmla="*/ 296 h 296"/>
              <a:gd name="T26" fmla="*/ 33 w 180"/>
              <a:gd name="T27" fmla="*/ 241 h 296"/>
              <a:gd name="T28" fmla="*/ 24 w 180"/>
              <a:gd name="T29" fmla="*/ 210 h 296"/>
              <a:gd name="T30" fmla="*/ 0 w 180"/>
              <a:gd name="T31" fmla="*/ 21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0"/>
              <a:gd name="T49" fmla="*/ 0 h 296"/>
              <a:gd name="T50" fmla="*/ 180 w 180"/>
              <a:gd name="T51" fmla="*/ 296 h 29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0" h="296">
                <a:moveTo>
                  <a:pt x="0" y="21"/>
                </a:moveTo>
                <a:lnTo>
                  <a:pt x="21" y="32"/>
                </a:lnTo>
                <a:lnTo>
                  <a:pt x="41" y="30"/>
                </a:lnTo>
                <a:lnTo>
                  <a:pt x="48" y="24"/>
                </a:lnTo>
                <a:lnTo>
                  <a:pt x="53" y="6"/>
                </a:lnTo>
                <a:lnTo>
                  <a:pt x="140" y="0"/>
                </a:lnTo>
                <a:lnTo>
                  <a:pt x="180" y="209"/>
                </a:lnTo>
                <a:lnTo>
                  <a:pt x="177" y="207"/>
                </a:lnTo>
                <a:lnTo>
                  <a:pt x="147" y="219"/>
                </a:lnTo>
                <a:lnTo>
                  <a:pt x="126" y="275"/>
                </a:lnTo>
                <a:lnTo>
                  <a:pt x="95" y="267"/>
                </a:lnTo>
                <a:lnTo>
                  <a:pt x="59" y="288"/>
                </a:lnTo>
                <a:lnTo>
                  <a:pt x="12" y="296"/>
                </a:lnTo>
                <a:lnTo>
                  <a:pt x="33" y="241"/>
                </a:lnTo>
                <a:lnTo>
                  <a:pt x="24" y="210"/>
                </a:lnTo>
                <a:lnTo>
                  <a:pt x="0" y="21"/>
                </a:lnTo>
                <a:close/>
              </a:path>
            </a:pathLst>
          </a:custGeom>
          <a:solidFill>
            <a:schemeClr val="bg1">
              <a:lumMod val="50000"/>
            </a:schemeClr>
          </a:solidFill>
          <a:ln w="3175">
            <a:solidFill>
              <a:schemeClr val="bg1"/>
            </a:solidFill>
            <a:prstDash val="solid"/>
            <a:round/>
            <a:headEnd/>
            <a:tailEnd/>
          </a:ln>
        </p:spPr>
        <p:txBody>
          <a:bodyPr/>
          <a:lstStyle>
            <a:defPPr>
              <a:defRPr lang="en-US"/>
            </a:defPPr>
            <a:lvl1pPr algn="l" defTabSz="509412" rtl="0" fontAlgn="base">
              <a:spcBef>
                <a:spcPct val="0"/>
              </a:spcBef>
              <a:spcAft>
                <a:spcPct val="0"/>
              </a:spcAft>
              <a:defRPr kern="1200">
                <a:solidFill>
                  <a:schemeClr val="tx1"/>
                </a:solidFill>
                <a:latin typeface="Arial" charset="0"/>
                <a:ea typeface="ＭＳ Ｐゴシック" charset="-128"/>
                <a:cs typeface="+mn-cs"/>
              </a:defRPr>
            </a:lvl1pPr>
            <a:lvl2pPr marL="509412" algn="l" defTabSz="509412" rtl="0" fontAlgn="base">
              <a:spcBef>
                <a:spcPct val="0"/>
              </a:spcBef>
              <a:spcAft>
                <a:spcPct val="0"/>
              </a:spcAft>
              <a:defRPr kern="1200">
                <a:solidFill>
                  <a:schemeClr val="tx1"/>
                </a:solidFill>
                <a:latin typeface="Arial" charset="0"/>
                <a:ea typeface="ＭＳ Ｐゴシック" charset="-128"/>
                <a:cs typeface="+mn-cs"/>
              </a:defRPr>
            </a:lvl2pPr>
            <a:lvl3pPr marL="1018824" algn="l" defTabSz="509412" rtl="0" fontAlgn="base">
              <a:spcBef>
                <a:spcPct val="0"/>
              </a:spcBef>
              <a:spcAft>
                <a:spcPct val="0"/>
              </a:spcAft>
              <a:defRPr kern="1200">
                <a:solidFill>
                  <a:schemeClr val="tx1"/>
                </a:solidFill>
                <a:latin typeface="Arial" charset="0"/>
                <a:ea typeface="ＭＳ Ｐゴシック" charset="-128"/>
                <a:cs typeface="+mn-cs"/>
              </a:defRPr>
            </a:lvl3pPr>
            <a:lvl4pPr marL="1528237" algn="l" defTabSz="509412" rtl="0" fontAlgn="base">
              <a:spcBef>
                <a:spcPct val="0"/>
              </a:spcBef>
              <a:spcAft>
                <a:spcPct val="0"/>
              </a:spcAft>
              <a:defRPr kern="1200">
                <a:solidFill>
                  <a:schemeClr val="tx1"/>
                </a:solidFill>
                <a:latin typeface="Arial" charset="0"/>
                <a:ea typeface="ＭＳ Ｐゴシック" charset="-128"/>
                <a:cs typeface="+mn-cs"/>
              </a:defRPr>
            </a:lvl4pPr>
            <a:lvl5pPr marL="2037649" algn="l" defTabSz="509412" rtl="0" fontAlgn="base">
              <a:spcBef>
                <a:spcPct val="0"/>
              </a:spcBef>
              <a:spcAft>
                <a:spcPct val="0"/>
              </a:spcAft>
              <a:defRPr kern="1200">
                <a:solidFill>
                  <a:schemeClr val="tx1"/>
                </a:solidFill>
                <a:latin typeface="Arial" charset="0"/>
                <a:ea typeface="ＭＳ Ｐゴシック" charset="-128"/>
                <a:cs typeface="+mn-cs"/>
              </a:defRPr>
            </a:lvl5pPr>
            <a:lvl6pPr marL="2547061" algn="l" defTabSz="1018824" rtl="0" eaLnBrk="1" latinLnBrk="0" hangingPunct="1">
              <a:defRPr kern="1200">
                <a:solidFill>
                  <a:schemeClr val="tx1"/>
                </a:solidFill>
                <a:latin typeface="Arial" charset="0"/>
                <a:ea typeface="ＭＳ Ｐゴシック" charset="-128"/>
                <a:cs typeface="+mn-cs"/>
              </a:defRPr>
            </a:lvl6pPr>
            <a:lvl7pPr marL="3056473" algn="l" defTabSz="1018824" rtl="0" eaLnBrk="1" latinLnBrk="0" hangingPunct="1">
              <a:defRPr kern="1200">
                <a:solidFill>
                  <a:schemeClr val="tx1"/>
                </a:solidFill>
                <a:latin typeface="Arial" charset="0"/>
                <a:ea typeface="ＭＳ Ｐゴシック" charset="-128"/>
                <a:cs typeface="+mn-cs"/>
              </a:defRPr>
            </a:lvl7pPr>
            <a:lvl8pPr marL="3565886" algn="l" defTabSz="1018824" rtl="0" eaLnBrk="1" latinLnBrk="0" hangingPunct="1">
              <a:defRPr kern="1200">
                <a:solidFill>
                  <a:schemeClr val="tx1"/>
                </a:solidFill>
                <a:latin typeface="Arial" charset="0"/>
                <a:ea typeface="ＭＳ Ｐゴシック" charset="-128"/>
                <a:cs typeface="+mn-cs"/>
              </a:defRPr>
            </a:lvl8pPr>
            <a:lvl9pPr marL="4075298" algn="l" defTabSz="1018824" rtl="0" eaLnBrk="1" latinLnBrk="0" hangingPunct="1">
              <a:defRPr kern="1200">
                <a:solidFill>
                  <a:schemeClr val="tx1"/>
                </a:solidFill>
                <a:latin typeface="Arial" charset="0"/>
                <a:ea typeface="ＭＳ Ｐゴシック" charset="-128"/>
                <a:cs typeface="+mn-cs"/>
              </a:defRPr>
            </a:lvl9pPr>
          </a:lstStyle>
          <a:p>
            <a:endParaRPr lang="en-US" dirty="0"/>
          </a:p>
        </p:txBody>
      </p:sp>
      <p:sp>
        <p:nvSpPr>
          <p:cNvPr id="40" name="Freeform 43">
            <a:extLst>
              <a:ext uri="{FF2B5EF4-FFF2-40B4-BE49-F238E27FC236}">
                <a16:creationId xmlns:a16="http://schemas.microsoft.com/office/drawing/2014/main" id="{37C65B81-0912-D435-3A2E-3E5722674BFC}"/>
              </a:ext>
            </a:extLst>
          </p:cNvPr>
          <p:cNvSpPr>
            <a:spLocks noChangeAspect="1"/>
          </p:cNvSpPr>
          <p:nvPr/>
        </p:nvSpPr>
        <p:spPr bwMode="auto">
          <a:xfrm rot="580954">
            <a:off x="1265447" y="4608526"/>
            <a:ext cx="158670" cy="250825"/>
          </a:xfrm>
          <a:custGeom>
            <a:avLst/>
            <a:gdLst>
              <a:gd name="T0" fmla="*/ 0 w 180"/>
              <a:gd name="T1" fmla="*/ 21 h 296"/>
              <a:gd name="T2" fmla="*/ 21 w 180"/>
              <a:gd name="T3" fmla="*/ 32 h 296"/>
              <a:gd name="T4" fmla="*/ 41 w 180"/>
              <a:gd name="T5" fmla="*/ 30 h 296"/>
              <a:gd name="T6" fmla="*/ 48 w 180"/>
              <a:gd name="T7" fmla="*/ 24 h 296"/>
              <a:gd name="T8" fmla="*/ 53 w 180"/>
              <a:gd name="T9" fmla="*/ 6 h 296"/>
              <a:gd name="T10" fmla="*/ 140 w 180"/>
              <a:gd name="T11" fmla="*/ 0 h 296"/>
              <a:gd name="T12" fmla="*/ 180 w 180"/>
              <a:gd name="T13" fmla="*/ 209 h 296"/>
              <a:gd name="T14" fmla="*/ 177 w 180"/>
              <a:gd name="T15" fmla="*/ 207 h 296"/>
              <a:gd name="T16" fmla="*/ 147 w 180"/>
              <a:gd name="T17" fmla="*/ 219 h 296"/>
              <a:gd name="T18" fmla="*/ 126 w 180"/>
              <a:gd name="T19" fmla="*/ 275 h 296"/>
              <a:gd name="T20" fmla="*/ 95 w 180"/>
              <a:gd name="T21" fmla="*/ 267 h 296"/>
              <a:gd name="T22" fmla="*/ 59 w 180"/>
              <a:gd name="T23" fmla="*/ 288 h 296"/>
              <a:gd name="T24" fmla="*/ 12 w 180"/>
              <a:gd name="T25" fmla="*/ 296 h 296"/>
              <a:gd name="T26" fmla="*/ 33 w 180"/>
              <a:gd name="T27" fmla="*/ 241 h 296"/>
              <a:gd name="T28" fmla="*/ 24 w 180"/>
              <a:gd name="T29" fmla="*/ 210 h 296"/>
              <a:gd name="T30" fmla="*/ 0 w 180"/>
              <a:gd name="T31" fmla="*/ 21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0"/>
              <a:gd name="T49" fmla="*/ 0 h 296"/>
              <a:gd name="T50" fmla="*/ 180 w 180"/>
              <a:gd name="T51" fmla="*/ 296 h 29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0" h="296">
                <a:moveTo>
                  <a:pt x="0" y="21"/>
                </a:moveTo>
                <a:lnTo>
                  <a:pt x="21" y="32"/>
                </a:lnTo>
                <a:lnTo>
                  <a:pt x="41" y="30"/>
                </a:lnTo>
                <a:lnTo>
                  <a:pt x="48" y="24"/>
                </a:lnTo>
                <a:lnTo>
                  <a:pt x="53" y="6"/>
                </a:lnTo>
                <a:lnTo>
                  <a:pt x="140" y="0"/>
                </a:lnTo>
                <a:lnTo>
                  <a:pt x="180" y="209"/>
                </a:lnTo>
                <a:lnTo>
                  <a:pt x="177" y="207"/>
                </a:lnTo>
                <a:lnTo>
                  <a:pt x="147" y="219"/>
                </a:lnTo>
                <a:lnTo>
                  <a:pt x="126" y="275"/>
                </a:lnTo>
                <a:lnTo>
                  <a:pt x="95" y="267"/>
                </a:lnTo>
                <a:lnTo>
                  <a:pt x="59" y="288"/>
                </a:lnTo>
                <a:lnTo>
                  <a:pt x="12" y="296"/>
                </a:lnTo>
                <a:lnTo>
                  <a:pt x="33" y="241"/>
                </a:lnTo>
                <a:lnTo>
                  <a:pt x="24" y="210"/>
                </a:lnTo>
                <a:lnTo>
                  <a:pt x="0" y="21"/>
                </a:lnTo>
                <a:close/>
              </a:path>
            </a:pathLst>
          </a:custGeom>
          <a:solidFill>
            <a:schemeClr val="bg1">
              <a:lumMod val="50000"/>
            </a:schemeClr>
          </a:solidFill>
          <a:ln w="3175">
            <a:solidFill>
              <a:schemeClr val="bg1"/>
            </a:solidFill>
            <a:prstDash val="solid"/>
            <a:round/>
            <a:headEnd/>
            <a:tailEnd/>
          </a:ln>
        </p:spPr>
        <p:txBody>
          <a:bodyPr/>
          <a:lstStyle>
            <a:defPPr>
              <a:defRPr lang="en-US"/>
            </a:defPPr>
            <a:lvl1pPr algn="l" defTabSz="509412" rtl="0" fontAlgn="base">
              <a:spcBef>
                <a:spcPct val="0"/>
              </a:spcBef>
              <a:spcAft>
                <a:spcPct val="0"/>
              </a:spcAft>
              <a:defRPr kern="1200">
                <a:solidFill>
                  <a:schemeClr val="tx1"/>
                </a:solidFill>
                <a:latin typeface="Arial" charset="0"/>
                <a:ea typeface="ＭＳ Ｐゴシック" charset="-128"/>
                <a:cs typeface="+mn-cs"/>
              </a:defRPr>
            </a:lvl1pPr>
            <a:lvl2pPr marL="509412" algn="l" defTabSz="509412" rtl="0" fontAlgn="base">
              <a:spcBef>
                <a:spcPct val="0"/>
              </a:spcBef>
              <a:spcAft>
                <a:spcPct val="0"/>
              </a:spcAft>
              <a:defRPr kern="1200">
                <a:solidFill>
                  <a:schemeClr val="tx1"/>
                </a:solidFill>
                <a:latin typeface="Arial" charset="0"/>
                <a:ea typeface="ＭＳ Ｐゴシック" charset="-128"/>
                <a:cs typeface="+mn-cs"/>
              </a:defRPr>
            </a:lvl2pPr>
            <a:lvl3pPr marL="1018824" algn="l" defTabSz="509412" rtl="0" fontAlgn="base">
              <a:spcBef>
                <a:spcPct val="0"/>
              </a:spcBef>
              <a:spcAft>
                <a:spcPct val="0"/>
              </a:spcAft>
              <a:defRPr kern="1200">
                <a:solidFill>
                  <a:schemeClr val="tx1"/>
                </a:solidFill>
                <a:latin typeface="Arial" charset="0"/>
                <a:ea typeface="ＭＳ Ｐゴシック" charset="-128"/>
                <a:cs typeface="+mn-cs"/>
              </a:defRPr>
            </a:lvl3pPr>
            <a:lvl4pPr marL="1528237" algn="l" defTabSz="509412" rtl="0" fontAlgn="base">
              <a:spcBef>
                <a:spcPct val="0"/>
              </a:spcBef>
              <a:spcAft>
                <a:spcPct val="0"/>
              </a:spcAft>
              <a:defRPr kern="1200">
                <a:solidFill>
                  <a:schemeClr val="tx1"/>
                </a:solidFill>
                <a:latin typeface="Arial" charset="0"/>
                <a:ea typeface="ＭＳ Ｐゴシック" charset="-128"/>
                <a:cs typeface="+mn-cs"/>
              </a:defRPr>
            </a:lvl4pPr>
            <a:lvl5pPr marL="2037649" algn="l" defTabSz="509412" rtl="0" fontAlgn="base">
              <a:spcBef>
                <a:spcPct val="0"/>
              </a:spcBef>
              <a:spcAft>
                <a:spcPct val="0"/>
              </a:spcAft>
              <a:defRPr kern="1200">
                <a:solidFill>
                  <a:schemeClr val="tx1"/>
                </a:solidFill>
                <a:latin typeface="Arial" charset="0"/>
                <a:ea typeface="ＭＳ Ｐゴシック" charset="-128"/>
                <a:cs typeface="+mn-cs"/>
              </a:defRPr>
            </a:lvl5pPr>
            <a:lvl6pPr marL="2547061" algn="l" defTabSz="1018824" rtl="0" eaLnBrk="1" latinLnBrk="0" hangingPunct="1">
              <a:defRPr kern="1200">
                <a:solidFill>
                  <a:schemeClr val="tx1"/>
                </a:solidFill>
                <a:latin typeface="Arial" charset="0"/>
                <a:ea typeface="ＭＳ Ｐゴシック" charset="-128"/>
                <a:cs typeface="+mn-cs"/>
              </a:defRPr>
            </a:lvl6pPr>
            <a:lvl7pPr marL="3056473" algn="l" defTabSz="1018824" rtl="0" eaLnBrk="1" latinLnBrk="0" hangingPunct="1">
              <a:defRPr kern="1200">
                <a:solidFill>
                  <a:schemeClr val="tx1"/>
                </a:solidFill>
                <a:latin typeface="Arial" charset="0"/>
                <a:ea typeface="ＭＳ Ｐゴシック" charset="-128"/>
                <a:cs typeface="+mn-cs"/>
              </a:defRPr>
            </a:lvl7pPr>
            <a:lvl8pPr marL="3565886" algn="l" defTabSz="1018824" rtl="0" eaLnBrk="1" latinLnBrk="0" hangingPunct="1">
              <a:defRPr kern="1200">
                <a:solidFill>
                  <a:schemeClr val="tx1"/>
                </a:solidFill>
                <a:latin typeface="Arial" charset="0"/>
                <a:ea typeface="ＭＳ Ｐゴシック" charset="-128"/>
                <a:cs typeface="+mn-cs"/>
              </a:defRPr>
            </a:lvl8pPr>
            <a:lvl9pPr marL="4075298" algn="l" defTabSz="1018824" rtl="0" eaLnBrk="1" latinLnBrk="0" hangingPunct="1">
              <a:defRPr kern="1200">
                <a:solidFill>
                  <a:schemeClr val="tx1"/>
                </a:solidFill>
                <a:latin typeface="Arial" charset="0"/>
                <a:ea typeface="ＭＳ Ｐゴシック" charset="-128"/>
                <a:cs typeface="+mn-cs"/>
              </a:defRPr>
            </a:lvl9pPr>
          </a:lstStyle>
          <a:p>
            <a:endParaRPr lang="en-US" dirty="0"/>
          </a:p>
        </p:txBody>
      </p:sp>
      <p:pic>
        <p:nvPicPr>
          <p:cNvPr id="41" name="Picture 40">
            <a:extLst>
              <a:ext uri="{FF2B5EF4-FFF2-40B4-BE49-F238E27FC236}">
                <a16:creationId xmlns:a16="http://schemas.microsoft.com/office/drawing/2014/main" id="{2A236CCE-60F2-306A-7C92-F6202FC1AC0E}"/>
              </a:ext>
            </a:extLst>
          </p:cNvPr>
          <p:cNvPicPr>
            <a:picLocks noChangeAspect="1"/>
          </p:cNvPicPr>
          <p:nvPr/>
        </p:nvPicPr>
        <p:blipFill>
          <a:blip r:embed="rId6"/>
          <a:stretch>
            <a:fillRect/>
          </a:stretch>
        </p:blipFill>
        <p:spPr>
          <a:xfrm>
            <a:off x="240821" y="3054404"/>
            <a:ext cx="635330" cy="91431"/>
          </a:xfrm>
          <a:prstGeom prst="rect">
            <a:avLst/>
          </a:prstGeom>
        </p:spPr>
      </p:pic>
      <p:sp>
        <p:nvSpPr>
          <p:cNvPr id="42" name="TextBox 41">
            <a:extLst>
              <a:ext uri="{FF2B5EF4-FFF2-40B4-BE49-F238E27FC236}">
                <a16:creationId xmlns:a16="http://schemas.microsoft.com/office/drawing/2014/main" id="{B7445E39-0E0D-A633-3AA5-458BA1B6EEAB}"/>
              </a:ext>
            </a:extLst>
          </p:cNvPr>
          <p:cNvSpPr txBox="1"/>
          <p:nvPr/>
        </p:nvSpPr>
        <p:spPr>
          <a:xfrm>
            <a:off x="887582" y="4763413"/>
            <a:ext cx="914400" cy="523220"/>
          </a:xfrm>
          <a:prstGeom prst="rect">
            <a:avLst/>
          </a:prstGeom>
          <a:noFill/>
        </p:spPr>
        <p:txBody>
          <a:bodyPr wrap="square" rtlCol="0">
            <a:spAutoFit/>
          </a:bodyPr>
          <a:lstStyle/>
          <a:p>
            <a:pPr algn="ctr"/>
            <a:r>
              <a:rPr lang="en-US" sz="700" b="1" dirty="0"/>
              <a:t>Indianapolis</a:t>
            </a:r>
          </a:p>
          <a:p>
            <a:pPr algn="ctr"/>
            <a:r>
              <a:rPr lang="en-US" sz="700" b="1" dirty="0"/>
              <a:t>Greenwood</a:t>
            </a:r>
          </a:p>
          <a:p>
            <a:pPr algn="ctr"/>
            <a:r>
              <a:rPr lang="en-US" sz="700" b="1" dirty="0"/>
              <a:t>Lafeyette</a:t>
            </a:r>
          </a:p>
          <a:p>
            <a:pPr algn="ctr"/>
            <a:r>
              <a:rPr lang="en-US" sz="700" b="1" dirty="0"/>
              <a:t>Evansville</a:t>
            </a:r>
          </a:p>
        </p:txBody>
      </p:sp>
      <p:sp>
        <p:nvSpPr>
          <p:cNvPr id="43" name="TextBox 42">
            <a:extLst>
              <a:ext uri="{FF2B5EF4-FFF2-40B4-BE49-F238E27FC236}">
                <a16:creationId xmlns:a16="http://schemas.microsoft.com/office/drawing/2014/main" id="{990D3F3B-54B1-9B23-8D31-D7A7F9BFAC8D}"/>
              </a:ext>
            </a:extLst>
          </p:cNvPr>
          <p:cNvSpPr txBox="1"/>
          <p:nvPr/>
        </p:nvSpPr>
        <p:spPr>
          <a:xfrm>
            <a:off x="887582" y="2997071"/>
            <a:ext cx="914400" cy="323165"/>
          </a:xfrm>
          <a:prstGeom prst="rect">
            <a:avLst/>
          </a:prstGeom>
          <a:noFill/>
        </p:spPr>
        <p:txBody>
          <a:bodyPr wrap="square" rtlCol="0">
            <a:spAutoFit/>
          </a:bodyPr>
          <a:lstStyle/>
          <a:p>
            <a:pPr algn="ctr"/>
            <a:r>
              <a:rPr lang="en-US" sz="750" b="1" dirty="0"/>
              <a:t>Utica</a:t>
            </a:r>
          </a:p>
          <a:p>
            <a:pPr algn="ctr"/>
            <a:r>
              <a:rPr lang="en-US" sz="750" b="1" dirty="0"/>
              <a:t>Troy</a:t>
            </a:r>
          </a:p>
        </p:txBody>
      </p:sp>
      <p:grpSp>
        <p:nvGrpSpPr>
          <p:cNvPr id="44" name="Group 43">
            <a:extLst>
              <a:ext uri="{FF2B5EF4-FFF2-40B4-BE49-F238E27FC236}">
                <a16:creationId xmlns:a16="http://schemas.microsoft.com/office/drawing/2014/main" id="{87441B95-FCCD-CB4C-CDC4-4DAA863C22A3}"/>
              </a:ext>
            </a:extLst>
          </p:cNvPr>
          <p:cNvGrpSpPr/>
          <p:nvPr/>
        </p:nvGrpSpPr>
        <p:grpSpPr>
          <a:xfrm>
            <a:off x="240821" y="2101765"/>
            <a:ext cx="635330" cy="471349"/>
            <a:chOff x="248069" y="1830437"/>
            <a:chExt cx="635330" cy="471349"/>
          </a:xfrm>
        </p:grpSpPr>
        <p:pic>
          <p:nvPicPr>
            <p:cNvPr id="45" name="Picture 4" descr="Novi Surgery Center | LinkedIn">
              <a:extLst>
                <a:ext uri="{FF2B5EF4-FFF2-40B4-BE49-F238E27FC236}">
                  <a16:creationId xmlns:a16="http://schemas.microsoft.com/office/drawing/2014/main" id="{BEDA3F92-5603-C021-0F58-8C1A9F37AF0B}"/>
                </a:ext>
              </a:extLst>
            </p:cNvPr>
            <p:cNvPicPr>
              <a:picLocks noChangeAspect="1" noChangeArrowheads="1"/>
            </p:cNvPicPr>
            <p:nvPr/>
          </p:nvPicPr>
          <p:blipFill rotWithShape="1">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t="21807" b="24726"/>
            <a:stretch>
              <a:fillRect/>
            </a:stretch>
          </p:blipFill>
          <p:spPr bwMode="auto">
            <a:xfrm>
              <a:off x="260061" y="1830437"/>
              <a:ext cx="611347" cy="326867"/>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45">
              <a:extLst>
                <a:ext uri="{FF2B5EF4-FFF2-40B4-BE49-F238E27FC236}">
                  <a16:creationId xmlns:a16="http://schemas.microsoft.com/office/drawing/2014/main" id="{49C7651C-8724-80BC-C9D8-984A0B81E591}"/>
                </a:ext>
              </a:extLst>
            </p:cNvPr>
            <p:cNvPicPr>
              <a:picLocks noChangeAspect="1"/>
            </p:cNvPicPr>
            <p:nvPr/>
          </p:nvPicPr>
          <p:blipFill>
            <a:blip r:embed="rId6"/>
            <a:stretch>
              <a:fillRect/>
            </a:stretch>
          </p:blipFill>
          <p:spPr>
            <a:xfrm>
              <a:off x="248069" y="2210355"/>
              <a:ext cx="635330" cy="91431"/>
            </a:xfrm>
            <a:prstGeom prst="rect">
              <a:avLst/>
            </a:prstGeom>
          </p:spPr>
        </p:pic>
      </p:grpSp>
      <p:pic>
        <p:nvPicPr>
          <p:cNvPr id="1026" name="Picture 2" descr="BHSH System Invests in Atlas Healthcare Partners - Jun. 15, 2022">
            <a:extLst>
              <a:ext uri="{FF2B5EF4-FFF2-40B4-BE49-F238E27FC236}">
                <a16:creationId xmlns:a16="http://schemas.microsoft.com/office/drawing/2014/main" id="{B4758B7A-DD2D-EC0E-8989-EFCC8235B327}"/>
              </a:ext>
            </a:extLst>
          </p:cNvPr>
          <p:cNvPicPr>
            <a:picLocks noChangeAspect="1" noChangeArrowheads="1"/>
          </p:cNvPicPr>
          <p:nvPr/>
        </p:nvPicPr>
        <p:blipFill rotWithShape="1">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4210" t="31475" r="4658" b="29596"/>
          <a:stretch>
            <a:fillRect/>
          </a:stretch>
        </p:blipFill>
        <p:spPr bwMode="auto">
          <a:xfrm>
            <a:off x="203774" y="5339139"/>
            <a:ext cx="709425" cy="17128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Newsroom | Corewell Health">
            <a:extLst>
              <a:ext uri="{FF2B5EF4-FFF2-40B4-BE49-F238E27FC236}">
                <a16:creationId xmlns:a16="http://schemas.microsoft.com/office/drawing/2014/main" id="{7F0CE747-F06F-6492-7C21-0E7D7A8BD75F}"/>
              </a:ext>
            </a:extLst>
          </p:cNvPr>
          <p:cNvPicPr>
            <a:picLocks noChangeAspect="1" noChangeArrowheads="1"/>
          </p:cNvPicPr>
          <p:nvPr/>
        </p:nvPicPr>
        <p:blipFill rotWithShape="1">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l="6000" t="38764" r="6666" b="40238"/>
          <a:stretch>
            <a:fillRect/>
          </a:stretch>
        </p:blipFill>
        <p:spPr bwMode="auto">
          <a:xfrm>
            <a:off x="252454" y="5629221"/>
            <a:ext cx="612064" cy="11446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DE53077-3D61-39C3-5739-C7D613789406}"/>
              </a:ext>
            </a:extLst>
          </p:cNvPr>
          <p:cNvSpPr txBox="1"/>
          <p:nvPr/>
        </p:nvSpPr>
        <p:spPr>
          <a:xfrm>
            <a:off x="142850" y="6047786"/>
            <a:ext cx="831273" cy="369332"/>
          </a:xfrm>
          <a:prstGeom prst="rect">
            <a:avLst/>
          </a:prstGeom>
          <a:noFill/>
        </p:spPr>
        <p:txBody>
          <a:bodyPr wrap="square" rtlCol="0">
            <a:spAutoFit/>
          </a:bodyPr>
          <a:lstStyle/>
          <a:p>
            <a:pPr algn="ctr"/>
            <a:r>
              <a:rPr lang="en-US" sz="900" b="1" dirty="0"/>
              <a:t>Riverview De Novo</a:t>
            </a:r>
            <a:endParaRPr lang="en-US" sz="700" b="1" dirty="0"/>
          </a:p>
        </p:txBody>
      </p:sp>
      <p:grpSp>
        <p:nvGrpSpPr>
          <p:cNvPr id="4" name="Group 3">
            <a:extLst>
              <a:ext uri="{FF2B5EF4-FFF2-40B4-BE49-F238E27FC236}">
                <a16:creationId xmlns:a16="http://schemas.microsoft.com/office/drawing/2014/main" id="{98901FFD-F62A-041A-28A3-883D54B54BE0}"/>
              </a:ext>
            </a:extLst>
          </p:cNvPr>
          <p:cNvGrpSpPr>
            <a:grpSpLocks noChangeAspect="1"/>
          </p:cNvGrpSpPr>
          <p:nvPr/>
        </p:nvGrpSpPr>
        <p:grpSpPr>
          <a:xfrm rot="250367">
            <a:off x="1198602" y="5415861"/>
            <a:ext cx="292361" cy="260501"/>
            <a:chOff x="6454425" y="4380041"/>
            <a:chExt cx="491775" cy="438184"/>
          </a:xfrm>
          <a:solidFill>
            <a:schemeClr val="bg1">
              <a:lumMod val="50000"/>
            </a:schemeClr>
          </a:solidFill>
        </p:grpSpPr>
        <p:sp>
          <p:nvSpPr>
            <p:cNvPr id="5" name="Freeform 39">
              <a:extLst>
                <a:ext uri="{FF2B5EF4-FFF2-40B4-BE49-F238E27FC236}">
                  <a16:creationId xmlns:a16="http://schemas.microsoft.com/office/drawing/2014/main" id="{3E89799E-9C68-0F73-6B37-989AB40B7601}"/>
                </a:ext>
              </a:extLst>
            </p:cNvPr>
            <p:cNvSpPr>
              <a:spLocks/>
            </p:cNvSpPr>
            <p:nvPr/>
          </p:nvSpPr>
          <p:spPr bwMode="auto">
            <a:xfrm>
              <a:off x="6454425" y="4380041"/>
              <a:ext cx="349266" cy="148362"/>
            </a:xfrm>
            <a:custGeom>
              <a:avLst/>
              <a:gdLst>
                <a:gd name="T0" fmla="*/ 0 w 299"/>
                <a:gd name="T1" fmla="*/ 71 h 129"/>
                <a:gd name="T2" fmla="*/ 67 w 299"/>
                <a:gd name="T3" fmla="*/ 0 h 129"/>
                <a:gd name="T4" fmla="*/ 55 w 299"/>
                <a:gd name="T5" fmla="*/ 29 h 129"/>
                <a:gd name="T6" fmla="*/ 64 w 299"/>
                <a:gd name="T7" fmla="*/ 38 h 129"/>
                <a:gd name="T8" fmla="*/ 85 w 299"/>
                <a:gd name="T9" fmla="*/ 26 h 129"/>
                <a:gd name="T10" fmla="*/ 131 w 299"/>
                <a:gd name="T11" fmla="*/ 44 h 129"/>
                <a:gd name="T12" fmla="*/ 151 w 299"/>
                <a:gd name="T13" fmla="*/ 29 h 129"/>
                <a:gd name="T14" fmla="*/ 213 w 299"/>
                <a:gd name="T15" fmla="*/ 21 h 129"/>
                <a:gd name="T16" fmla="*/ 225 w 299"/>
                <a:gd name="T17" fmla="*/ 39 h 129"/>
                <a:gd name="T18" fmla="*/ 249 w 299"/>
                <a:gd name="T19" fmla="*/ 35 h 129"/>
                <a:gd name="T20" fmla="*/ 296 w 299"/>
                <a:gd name="T21" fmla="*/ 54 h 129"/>
                <a:gd name="T22" fmla="*/ 299 w 299"/>
                <a:gd name="T23" fmla="*/ 68 h 129"/>
                <a:gd name="T24" fmla="*/ 248 w 299"/>
                <a:gd name="T25" fmla="*/ 80 h 129"/>
                <a:gd name="T26" fmla="*/ 233 w 299"/>
                <a:gd name="T27" fmla="*/ 71 h 129"/>
                <a:gd name="T28" fmla="*/ 207 w 299"/>
                <a:gd name="T29" fmla="*/ 74 h 129"/>
                <a:gd name="T30" fmla="*/ 177 w 299"/>
                <a:gd name="T31" fmla="*/ 92 h 129"/>
                <a:gd name="T32" fmla="*/ 163 w 299"/>
                <a:gd name="T33" fmla="*/ 93 h 129"/>
                <a:gd name="T34" fmla="*/ 152 w 299"/>
                <a:gd name="T35" fmla="*/ 80 h 129"/>
                <a:gd name="T36" fmla="*/ 135 w 299"/>
                <a:gd name="T37" fmla="*/ 128 h 129"/>
                <a:gd name="T38" fmla="*/ 116 w 299"/>
                <a:gd name="T39" fmla="*/ 129 h 129"/>
                <a:gd name="T40" fmla="*/ 108 w 299"/>
                <a:gd name="T41" fmla="*/ 110 h 129"/>
                <a:gd name="T42" fmla="*/ 68 w 299"/>
                <a:gd name="T43" fmla="*/ 101 h 129"/>
                <a:gd name="T44" fmla="*/ 49 w 299"/>
                <a:gd name="T45" fmla="*/ 87 h 129"/>
                <a:gd name="T46" fmla="*/ 16 w 299"/>
                <a:gd name="T47" fmla="*/ 92 h 129"/>
                <a:gd name="T48" fmla="*/ 0 w 299"/>
                <a:gd name="T49" fmla="*/ 71 h 12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99"/>
                <a:gd name="T76" fmla="*/ 0 h 129"/>
                <a:gd name="T77" fmla="*/ 299 w 299"/>
                <a:gd name="T78" fmla="*/ 129 h 12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99" h="129">
                  <a:moveTo>
                    <a:pt x="0" y="71"/>
                  </a:moveTo>
                  <a:lnTo>
                    <a:pt x="67" y="0"/>
                  </a:lnTo>
                  <a:lnTo>
                    <a:pt x="55" y="29"/>
                  </a:lnTo>
                  <a:lnTo>
                    <a:pt x="64" y="38"/>
                  </a:lnTo>
                  <a:lnTo>
                    <a:pt x="85" y="26"/>
                  </a:lnTo>
                  <a:lnTo>
                    <a:pt x="131" y="44"/>
                  </a:lnTo>
                  <a:lnTo>
                    <a:pt x="151" y="29"/>
                  </a:lnTo>
                  <a:lnTo>
                    <a:pt x="213" y="21"/>
                  </a:lnTo>
                  <a:lnTo>
                    <a:pt x="225" y="39"/>
                  </a:lnTo>
                  <a:lnTo>
                    <a:pt x="249" y="35"/>
                  </a:lnTo>
                  <a:lnTo>
                    <a:pt x="296" y="54"/>
                  </a:lnTo>
                  <a:lnTo>
                    <a:pt x="299" y="68"/>
                  </a:lnTo>
                  <a:lnTo>
                    <a:pt x="248" y="80"/>
                  </a:lnTo>
                  <a:lnTo>
                    <a:pt x="233" y="71"/>
                  </a:lnTo>
                  <a:lnTo>
                    <a:pt x="207" y="74"/>
                  </a:lnTo>
                  <a:lnTo>
                    <a:pt x="177" y="92"/>
                  </a:lnTo>
                  <a:lnTo>
                    <a:pt x="163" y="93"/>
                  </a:lnTo>
                  <a:lnTo>
                    <a:pt x="152" y="80"/>
                  </a:lnTo>
                  <a:lnTo>
                    <a:pt x="135" y="128"/>
                  </a:lnTo>
                  <a:lnTo>
                    <a:pt x="116" y="129"/>
                  </a:lnTo>
                  <a:lnTo>
                    <a:pt x="108" y="110"/>
                  </a:lnTo>
                  <a:lnTo>
                    <a:pt x="68" y="101"/>
                  </a:lnTo>
                  <a:lnTo>
                    <a:pt x="49" y="87"/>
                  </a:lnTo>
                  <a:lnTo>
                    <a:pt x="16" y="92"/>
                  </a:lnTo>
                  <a:lnTo>
                    <a:pt x="0" y="71"/>
                  </a:lnTo>
                  <a:close/>
                </a:path>
              </a:pathLst>
            </a:custGeom>
            <a:grpFill/>
            <a:ln w="3175">
              <a:solidFill>
                <a:schemeClr val="bg1"/>
              </a:solidFill>
              <a:prstDash val="solid"/>
              <a:round/>
              <a:headEnd/>
              <a:tailEnd/>
            </a:ln>
          </p:spPr>
          <p:txBody>
            <a:bodyPr/>
            <a:lstStyle>
              <a:defPPr>
                <a:defRPr lang="en-US"/>
              </a:defPPr>
              <a:lvl1pPr algn="l" defTabSz="509412" rtl="0" fontAlgn="base">
                <a:spcBef>
                  <a:spcPct val="0"/>
                </a:spcBef>
                <a:spcAft>
                  <a:spcPct val="0"/>
                </a:spcAft>
                <a:defRPr kern="1200">
                  <a:solidFill>
                    <a:schemeClr val="tx1"/>
                  </a:solidFill>
                  <a:latin typeface="Arial" charset="0"/>
                  <a:ea typeface="ＭＳ Ｐゴシック" charset="-128"/>
                  <a:cs typeface="+mn-cs"/>
                </a:defRPr>
              </a:lvl1pPr>
              <a:lvl2pPr marL="509412" algn="l" defTabSz="509412" rtl="0" fontAlgn="base">
                <a:spcBef>
                  <a:spcPct val="0"/>
                </a:spcBef>
                <a:spcAft>
                  <a:spcPct val="0"/>
                </a:spcAft>
                <a:defRPr kern="1200">
                  <a:solidFill>
                    <a:schemeClr val="tx1"/>
                  </a:solidFill>
                  <a:latin typeface="Arial" charset="0"/>
                  <a:ea typeface="ＭＳ Ｐゴシック" charset="-128"/>
                  <a:cs typeface="+mn-cs"/>
                </a:defRPr>
              </a:lvl2pPr>
              <a:lvl3pPr marL="1018824" algn="l" defTabSz="509412" rtl="0" fontAlgn="base">
                <a:spcBef>
                  <a:spcPct val="0"/>
                </a:spcBef>
                <a:spcAft>
                  <a:spcPct val="0"/>
                </a:spcAft>
                <a:defRPr kern="1200">
                  <a:solidFill>
                    <a:schemeClr val="tx1"/>
                  </a:solidFill>
                  <a:latin typeface="Arial" charset="0"/>
                  <a:ea typeface="ＭＳ Ｐゴシック" charset="-128"/>
                  <a:cs typeface="+mn-cs"/>
                </a:defRPr>
              </a:lvl3pPr>
              <a:lvl4pPr marL="1528237" algn="l" defTabSz="509412" rtl="0" fontAlgn="base">
                <a:spcBef>
                  <a:spcPct val="0"/>
                </a:spcBef>
                <a:spcAft>
                  <a:spcPct val="0"/>
                </a:spcAft>
                <a:defRPr kern="1200">
                  <a:solidFill>
                    <a:schemeClr val="tx1"/>
                  </a:solidFill>
                  <a:latin typeface="Arial" charset="0"/>
                  <a:ea typeface="ＭＳ Ｐゴシック" charset="-128"/>
                  <a:cs typeface="+mn-cs"/>
                </a:defRPr>
              </a:lvl4pPr>
              <a:lvl5pPr marL="2037649" algn="l" defTabSz="509412" rtl="0" fontAlgn="base">
                <a:spcBef>
                  <a:spcPct val="0"/>
                </a:spcBef>
                <a:spcAft>
                  <a:spcPct val="0"/>
                </a:spcAft>
                <a:defRPr kern="1200">
                  <a:solidFill>
                    <a:schemeClr val="tx1"/>
                  </a:solidFill>
                  <a:latin typeface="Arial" charset="0"/>
                  <a:ea typeface="ＭＳ Ｐゴシック" charset="-128"/>
                  <a:cs typeface="+mn-cs"/>
                </a:defRPr>
              </a:lvl5pPr>
              <a:lvl6pPr marL="2547061" algn="l" defTabSz="1018824" rtl="0" eaLnBrk="1" latinLnBrk="0" hangingPunct="1">
                <a:defRPr kern="1200">
                  <a:solidFill>
                    <a:schemeClr val="tx1"/>
                  </a:solidFill>
                  <a:latin typeface="Arial" charset="0"/>
                  <a:ea typeface="ＭＳ Ｐゴシック" charset="-128"/>
                  <a:cs typeface="+mn-cs"/>
                </a:defRPr>
              </a:lvl6pPr>
              <a:lvl7pPr marL="3056473" algn="l" defTabSz="1018824" rtl="0" eaLnBrk="1" latinLnBrk="0" hangingPunct="1">
                <a:defRPr kern="1200">
                  <a:solidFill>
                    <a:schemeClr val="tx1"/>
                  </a:solidFill>
                  <a:latin typeface="Arial" charset="0"/>
                  <a:ea typeface="ＭＳ Ｐゴシック" charset="-128"/>
                  <a:cs typeface="+mn-cs"/>
                </a:defRPr>
              </a:lvl7pPr>
              <a:lvl8pPr marL="3565886" algn="l" defTabSz="1018824" rtl="0" eaLnBrk="1" latinLnBrk="0" hangingPunct="1">
                <a:defRPr kern="1200">
                  <a:solidFill>
                    <a:schemeClr val="tx1"/>
                  </a:solidFill>
                  <a:latin typeface="Arial" charset="0"/>
                  <a:ea typeface="ＭＳ Ｐゴシック" charset="-128"/>
                  <a:cs typeface="+mn-cs"/>
                </a:defRPr>
              </a:lvl8pPr>
              <a:lvl9pPr marL="4075298" algn="l" defTabSz="1018824" rtl="0" eaLnBrk="1" latinLnBrk="0" hangingPunct="1">
                <a:defRPr kern="1200">
                  <a:solidFill>
                    <a:schemeClr val="tx1"/>
                  </a:solidFill>
                  <a:latin typeface="Arial" charset="0"/>
                  <a:ea typeface="ＭＳ Ｐゴシック" charset="-128"/>
                  <a:cs typeface="+mn-cs"/>
                </a:defRPr>
              </a:lvl9pPr>
            </a:lstStyle>
            <a:p>
              <a:endParaRPr lang="en-US" dirty="0"/>
            </a:p>
          </p:txBody>
        </p:sp>
        <p:sp>
          <p:nvSpPr>
            <p:cNvPr id="6" name="Freeform 40">
              <a:extLst>
                <a:ext uri="{FF2B5EF4-FFF2-40B4-BE49-F238E27FC236}">
                  <a16:creationId xmlns:a16="http://schemas.microsoft.com/office/drawing/2014/main" id="{8A88B8FC-2A9E-5CB9-0D60-809A93ACA0B8}"/>
                </a:ext>
              </a:extLst>
            </p:cNvPr>
            <p:cNvSpPr>
              <a:spLocks/>
            </p:cNvSpPr>
            <p:nvPr/>
          </p:nvSpPr>
          <p:spPr bwMode="auto">
            <a:xfrm>
              <a:off x="6696224" y="4484699"/>
              <a:ext cx="249976" cy="333526"/>
            </a:xfrm>
            <a:custGeom>
              <a:avLst/>
              <a:gdLst>
                <a:gd name="T0" fmla="*/ 54 w 214"/>
                <a:gd name="T1" fmla="*/ 12 h 290"/>
                <a:gd name="T2" fmla="*/ 62 w 214"/>
                <a:gd name="T3" fmla="*/ 30 h 290"/>
                <a:gd name="T4" fmla="*/ 47 w 214"/>
                <a:gd name="T5" fmla="*/ 41 h 290"/>
                <a:gd name="T6" fmla="*/ 46 w 214"/>
                <a:gd name="T7" fmla="*/ 87 h 290"/>
                <a:gd name="T8" fmla="*/ 38 w 214"/>
                <a:gd name="T9" fmla="*/ 57 h 290"/>
                <a:gd name="T10" fmla="*/ 7 w 214"/>
                <a:gd name="T11" fmla="*/ 86 h 290"/>
                <a:gd name="T12" fmla="*/ 0 w 214"/>
                <a:gd name="T13" fmla="*/ 169 h 290"/>
                <a:gd name="T14" fmla="*/ 20 w 214"/>
                <a:gd name="T15" fmla="*/ 210 h 290"/>
                <a:gd name="T16" fmla="*/ 22 w 214"/>
                <a:gd name="T17" fmla="*/ 231 h 290"/>
                <a:gd name="T18" fmla="*/ 23 w 214"/>
                <a:gd name="T19" fmla="*/ 248 h 290"/>
                <a:gd name="T20" fmla="*/ 22 w 214"/>
                <a:gd name="T21" fmla="*/ 263 h 290"/>
                <a:gd name="T22" fmla="*/ 18 w 214"/>
                <a:gd name="T23" fmla="*/ 290 h 290"/>
                <a:gd name="T24" fmla="*/ 102 w 214"/>
                <a:gd name="T25" fmla="*/ 285 h 290"/>
                <a:gd name="T26" fmla="*/ 213 w 214"/>
                <a:gd name="T27" fmla="*/ 275 h 290"/>
                <a:gd name="T28" fmla="*/ 193 w 214"/>
                <a:gd name="T29" fmla="*/ 269 h 290"/>
                <a:gd name="T30" fmla="*/ 182 w 214"/>
                <a:gd name="T31" fmla="*/ 254 h 290"/>
                <a:gd name="T32" fmla="*/ 199 w 214"/>
                <a:gd name="T33" fmla="*/ 241 h 290"/>
                <a:gd name="T34" fmla="*/ 199 w 214"/>
                <a:gd name="T35" fmla="*/ 225 h 290"/>
                <a:gd name="T36" fmla="*/ 191 w 214"/>
                <a:gd name="T37" fmla="*/ 211 h 290"/>
                <a:gd name="T38" fmla="*/ 199 w 214"/>
                <a:gd name="T39" fmla="*/ 201 h 290"/>
                <a:gd name="T40" fmla="*/ 214 w 214"/>
                <a:gd name="T41" fmla="*/ 202 h 290"/>
                <a:gd name="T42" fmla="*/ 211 w 214"/>
                <a:gd name="T43" fmla="*/ 162 h 290"/>
                <a:gd name="T44" fmla="*/ 207 w 214"/>
                <a:gd name="T45" fmla="*/ 138 h 290"/>
                <a:gd name="T46" fmla="*/ 198 w 214"/>
                <a:gd name="T47" fmla="*/ 123 h 290"/>
                <a:gd name="T48" fmla="*/ 189 w 214"/>
                <a:gd name="T49" fmla="*/ 114 h 290"/>
                <a:gd name="T50" fmla="*/ 175 w 214"/>
                <a:gd name="T51" fmla="*/ 111 h 290"/>
                <a:gd name="T52" fmla="*/ 162 w 214"/>
                <a:gd name="T53" fmla="*/ 111 h 290"/>
                <a:gd name="T54" fmla="*/ 148 w 214"/>
                <a:gd name="T55" fmla="*/ 130 h 290"/>
                <a:gd name="T56" fmla="*/ 139 w 214"/>
                <a:gd name="T57" fmla="*/ 136 h 290"/>
                <a:gd name="T58" fmla="*/ 133 w 214"/>
                <a:gd name="T59" fmla="*/ 138 h 290"/>
                <a:gd name="T60" fmla="*/ 126 w 214"/>
                <a:gd name="T61" fmla="*/ 135 h 290"/>
                <a:gd name="T62" fmla="*/ 124 w 214"/>
                <a:gd name="T63" fmla="*/ 126 h 290"/>
                <a:gd name="T64" fmla="*/ 126 w 214"/>
                <a:gd name="T65" fmla="*/ 120 h 290"/>
                <a:gd name="T66" fmla="*/ 132 w 214"/>
                <a:gd name="T67" fmla="*/ 114 h 290"/>
                <a:gd name="T68" fmla="*/ 138 w 214"/>
                <a:gd name="T69" fmla="*/ 111 h 290"/>
                <a:gd name="T70" fmla="*/ 144 w 214"/>
                <a:gd name="T71" fmla="*/ 110 h 290"/>
                <a:gd name="T72" fmla="*/ 144 w 214"/>
                <a:gd name="T73" fmla="*/ 99 h 290"/>
                <a:gd name="T74" fmla="*/ 160 w 214"/>
                <a:gd name="T75" fmla="*/ 87 h 290"/>
                <a:gd name="T76" fmla="*/ 144 w 214"/>
                <a:gd name="T77" fmla="*/ 49 h 290"/>
                <a:gd name="T78" fmla="*/ 144 w 214"/>
                <a:gd name="T79" fmla="*/ 31 h 290"/>
                <a:gd name="T80" fmla="*/ 117 w 214"/>
                <a:gd name="T81" fmla="*/ 24 h 290"/>
                <a:gd name="T82" fmla="*/ 78 w 214"/>
                <a:gd name="T83" fmla="*/ 0 h 290"/>
                <a:gd name="T84" fmla="*/ 54 w 214"/>
                <a:gd name="T85" fmla="*/ 12 h 29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14"/>
                <a:gd name="T130" fmla="*/ 0 h 290"/>
                <a:gd name="T131" fmla="*/ 214 w 214"/>
                <a:gd name="T132" fmla="*/ 290 h 29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14" h="290">
                  <a:moveTo>
                    <a:pt x="54" y="12"/>
                  </a:moveTo>
                  <a:lnTo>
                    <a:pt x="62" y="30"/>
                  </a:lnTo>
                  <a:lnTo>
                    <a:pt x="47" y="41"/>
                  </a:lnTo>
                  <a:lnTo>
                    <a:pt x="46" y="87"/>
                  </a:lnTo>
                  <a:lnTo>
                    <a:pt x="38" y="57"/>
                  </a:lnTo>
                  <a:lnTo>
                    <a:pt x="7" y="86"/>
                  </a:lnTo>
                  <a:lnTo>
                    <a:pt x="0" y="169"/>
                  </a:lnTo>
                  <a:lnTo>
                    <a:pt x="20" y="210"/>
                  </a:lnTo>
                  <a:lnTo>
                    <a:pt x="22" y="231"/>
                  </a:lnTo>
                  <a:lnTo>
                    <a:pt x="23" y="248"/>
                  </a:lnTo>
                  <a:lnTo>
                    <a:pt x="22" y="263"/>
                  </a:lnTo>
                  <a:lnTo>
                    <a:pt x="18" y="290"/>
                  </a:lnTo>
                  <a:lnTo>
                    <a:pt x="102" y="285"/>
                  </a:lnTo>
                  <a:lnTo>
                    <a:pt x="213" y="275"/>
                  </a:lnTo>
                  <a:lnTo>
                    <a:pt x="193" y="269"/>
                  </a:lnTo>
                  <a:lnTo>
                    <a:pt x="182" y="254"/>
                  </a:lnTo>
                  <a:lnTo>
                    <a:pt x="199" y="241"/>
                  </a:lnTo>
                  <a:lnTo>
                    <a:pt x="199" y="225"/>
                  </a:lnTo>
                  <a:lnTo>
                    <a:pt x="191" y="211"/>
                  </a:lnTo>
                  <a:lnTo>
                    <a:pt x="199" y="201"/>
                  </a:lnTo>
                  <a:lnTo>
                    <a:pt x="214" y="202"/>
                  </a:lnTo>
                  <a:lnTo>
                    <a:pt x="211" y="162"/>
                  </a:lnTo>
                  <a:lnTo>
                    <a:pt x="207" y="138"/>
                  </a:lnTo>
                  <a:lnTo>
                    <a:pt x="198" y="123"/>
                  </a:lnTo>
                  <a:lnTo>
                    <a:pt x="189" y="114"/>
                  </a:lnTo>
                  <a:lnTo>
                    <a:pt x="175" y="111"/>
                  </a:lnTo>
                  <a:lnTo>
                    <a:pt x="162" y="111"/>
                  </a:lnTo>
                  <a:lnTo>
                    <a:pt x="148" y="130"/>
                  </a:lnTo>
                  <a:lnTo>
                    <a:pt x="139" y="136"/>
                  </a:lnTo>
                  <a:lnTo>
                    <a:pt x="133" y="138"/>
                  </a:lnTo>
                  <a:lnTo>
                    <a:pt x="126" y="135"/>
                  </a:lnTo>
                  <a:lnTo>
                    <a:pt x="124" y="126"/>
                  </a:lnTo>
                  <a:lnTo>
                    <a:pt x="126" y="120"/>
                  </a:lnTo>
                  <a:lnTo>
                    <a:pt x="132" y="114"/>
                  </a:lnTo>
                  <a:lnTo>
                    <a:pt x="138" y="111"/>
                  </a:lnTo>
                  <a:lnTo>
                    <a:pt x="144" y="110"/>
                  </a:lnTo>
                  <a:lnTo>
                    <a:pt x="144" y="99"/>
                  </a:lnTo>
                  <a:lnTo>
                    <a:pt x="160" y="87"/>
                  </a:lnTo>
                  <a:lnTo>
                    <a:pt x="144" y="49"/>
                  </a:lnTo>
                  <a:lnTo>
                    <a:pt x="144" y="31"/>
                  </a:lnTo>
                  <a:lnTo>
                    <a:pt x="117" y="24"/>
                  </a:lnTo>
                  <a:lnTo>
                    <a:pt x="78" y="0"/>
                  </a:lnTo>
                  <a:lnTo>
                    <a:pt x="54" y="12"/>
                  </a:lnTo>
                  <a:close/>
                </a:path>
              </a:pathLst>
            </a:custGeom>
            <a:grpFill/>
            <a:ln w="3175">
              <a:solidFill>
                <a:schemeClr val="bg1"/>
              </a:solidFill>
              <a:prstDash val="solid"/>
              <a:round/>
              <a:headEnd/>
              <a:tailEnd/>
            </a:ln>
          </p:spPr>
          <p:txBody>
            <a:bodyPr/>
            <a:lstStyle>
              <a:defPPr>
                <a:defRPr lang="en-US"/>
              </a:defPPr>
              <a:lvl1pPr algn="l" defTabSz="509412" rtl="0" fontAlgn="base">
                <a:spcBef>
                  <a:spcPct val="0"/>
                </a:spcBef>
                <a:spcAft>
                  <a:spcPct val="0"/>
                </a:spcAft>
                <a:defRPr kern="1200">
                  <a:solidFill>
                    <a:schemeClr val="tx1"/>
                  </a:solidFill>
                  <a:latin typeface="Arial" charset="0"/>
                  <a:ea typeface="ＭＳ Ｐゴシック" charset="-128"/>
                  <a:cs typeface="+mn-cs"/>
                </a:defRPr>
              </a:lvl1pPr>
              <a:lvl2pPr marL="509412" algn="l" defTabSz="509412" rtl="0" fontAlgn="base">
                <a:spcBef>
                  <a:spcPct val="0"/>
                </a:spcBef>
                <a:spcAft>
                  <a:spcPct val="0"/>
                </a:spcAft>
                <a:defRPr kern="1200">
                  <a:solidFill>
                    <a:schemeClr val="tx1"/>
                  </a:solidFill>
                  <a:latin typeface="Arial" charset="0"/>
                  <a:ea typeface="ＭＳ Ｐゴシック" charset="-128"/>
                  <a:cs typeface="+mn-cs"/>
                </a:defRPr>
              </a:lvl2pPr>
              <a:lvl3pPr marL="1018824" algn="l" defTabSz="509412" rtl="0" fontAlgn="base">
                <a:spcBef>
                  <a:spcPct val="0"/>
                </a:spcBef>
                <a:spcAft>
                  <a:spcPct val="0"/>
                </a:spcAft>
                <a:defRPr kern="1200">
                  <a:solidFill>
                    <a:schemeClr val="tx1"/>
                  </a:solidFill>
                  <a:latin typeface="Arial" charset="0"/>
                  <a:ea typeface="ＭＳ Ｐゴシック" charset="-128"/>
                  <a:cs typeface="+mn-cs"/>
                </a:defRPr>
              </a:lvl3pPr>
              <a:lvl4pPr marL="1528237" algn="l" defTabSz="509412" rtl="0" fontAlgn="base">
                <a:spcBef>
                  <a:spcPct val="0"/>
                </a:spcBef>
                <a:spcAft>
                  <a:spcPct val="0"/>
                </a:spcAft>
                <a:defRPr kern="1200">
                  <a:solidFill>
                    <a:schemeClr val="tx1"/>
                  </a:solidFill>
                  <a:latin typeface="Arial" charset="0"/>
                  <a:ea typeface="ＭＳ Ｐゴシック" charset="-128"/>
                  <a:cs typeface="+mn-cs"/>
                </a:defRPr>
              </a:lvl4pPr>
              <a:lvl5pPr marL="2037649" algn="l" defTabSz="509412" rtl="0" fontAlgn="base">
                <a:spcBef>
                  <a:spcPct val="0"/>
                </a:spcBef>
                <a:spcAft>
                  <a:spcPct val="0"/>
                </a:spcAft>
                <a:defRPr kern="1200">
                  <a:solidFill>
                    <a:schemeClr val="tx1"/>
                  </a:solidFill>
                  <a:latin typeface="Arial" charset="0"/>
                  <a:ea typeface="ＭＳ Ｐゴシック" charset="-128"/>
                  <a:cs typeface="+mn-cs"/>
                </a:defRPr>
              </a:lvl5pPr>
              <a:lvl6pPr marL="2547061" algn="l" defTabSz="1018824" rtl="0" eaLnBrk="1" latinLnBrk="0" hangingPunct="1">
                <a:defRPr kern="1200">
                  <a:solidFill>
                    <a:schemeClr val="tx1"/>
                  </a:solidFill>
                  <a:latin typeface="Arial" charset="0"/>
                  <a:ea typeface="ＭＳ Ｐゴシック" charset="-128"/>
                  <a:cs typeface="+mn-cs"/>
                </a:defRPr>
              </a:lvl6pPr>
              <a:lvl7pPr marL="3056473" algn="l" defTabSz="1018824" rtl="0" eaLnBrk="1" latinLnBrk="0" hangingPunct="1">
                <a:defRPr kern="1200">
                  <a:solidFill>
                    <a:schemeClr val="tx1"/>
                  </a:solidFill>
                  <a:latin typeface="Arial" charset="0"/>
                  <a:ea typeface="ＭＳ Ｐゴシック" charset="-128"/>
                  <a:cs typeface="+mn-cs"/>
                </a:defRPr>
              </a:lvl7pPr>
              <a:lvl8pPr marL="3565886" algn="l" defTabSz="1018824" rtl="0" eaLnBrk="1" latinLnBrk="0" hangingPunct="1">
                <a:defRPr kern="1200">
                  <a:solidFill>
                    <a:schemeClr val="tx1"/>
                  </a:solidFill>
                  <a:latin typeface="Arial" charset="0"/>
                  <a:ea typeface="ＭＳ Ｐゴシック" charset="-128"/>
                  <a:cs typeface="+mn-cs"/>
                </a:defRPr>
              </a:lvl8pPr>
              <a:lvl9pPr marL="4075298" algn="l" defTabSz="1018824" rtl="0" eaLnBrk="1" latinLnBrk="0" hangingPunct="1">
                <a:defRPr kern="1200">
                  <a:solidFill>
                    <a:schemeClr val="tx1"/>
                  </a:solidFill>
                  <a:latin typeface="Arial" charset="0"/>
                  <a:ea typeface="ＭＳ Ｐゴシック" charset="-128"/>
                  <a:cs typeface="+mn-cs"/>
                </a:defRPr>
              </a:lvl9pPr>
            </a:lstStyle>
            <a:p>
              <a:endParaRPr lang="en-US" dirty="0"/>
            </a:p>
          </p:txBody>
        </p:sp>
      </p:grpSp>
      <p:sp>
        <p:nvSpPr>
          <p:cNvPr id="8" name="Freeform 43">
            <a:extLst>
              <a:ext uri="{FF2B5EF4-FFF2-40B4-BE49-F238E27FC236}">
                <a16:creationId xmlns:a16="http://schemas.microsoft.com/office/drawing/2014/main" id="{16E0C41E-446F-6B11-9370-4BE971D4C9ED}"/>
              </a:ext>
            </a:extLst>
          </p:cNvPr>
          <p:cNvSpPr>
            <a:spLocks noChangeAspect="1"/>
          </p:cNvSpPr>
          <p:nvPr/>
        </p:nvSpPr>
        <p:spPr bwMode="auto">
          <a:xfrm rot="580954">
            <a:off x="1265446" y="6107039"/>
            <a:ext cx="158670" cy="250825"/>
          </a:xfrm>
          <a:custGeom>
            <a:avLst/>
            <a:gdLst>
              <a:gd name="T0" fmla="*/ 0 w 180"/>
              <a:gd name="T1" fmla="*/ 21 h 296"/>
              <a:gd name="T2" fmla="*/ 21 w 180"/>
              <a:gd name="T3" fmla="*/ 32 h 296"/>
              <a:gd name="T4" fmla="*/ 41 w 180"/>
              <a:gd name="T5" fmla="*/ 30 h 296"/>
              <a:gd name="T6" fmla="*/ 48 w 180"/>
              <a:gd name="T7" fmla="*/ 24 h 296"/>
              <a:gd name="T8" fmla="*/ 53 w 180"/>
              <a:gd name="T9" fmla="*/ 6 h 296"/>
              <a:gd name="T10" fmla="*/ 140 w 180"/>
              <a:gd name="T11" fmla="*/ 0 h 296"/>
              <a:gd name="T12" fmla="*/ 180 w 180"/>
              <a:gd name="T13" fmla="*/ 209 h 296"/>
              <a:gd name="T14" fmla="*/ 177 w 180"/>
              <a:gd name="T15" fmla="*/ 207 h 296"/>
              <a:gd name="T16" fmla="*/ 147 w 180"/>
              <a:gd name="T17" fmla="*/ 219 h 296"/>
              <a:gd name="T18" fmla="*/ 126 w 180"/>
              <a:gd name="T19" fmla="*/ 275 h 296"/>
              <a:gd name="T20" fmla="*/ 95 w 180"/>
              <a:gd name="T21" fmla="*/ 267 h 296"/>
              <a:gd name="T22" fmla="*/ 59 w 180"/>
              <a:gd name="T23" fmla="*/ 288 h 296"/>
              <a:gd name="T24" fmla="*/ 12 w 180"/>
              <a:gd name="T25" fmla="*/ 296 h 296"/>
              <a:gd name="T26" fmla="*/ 33 w 180"/>
              <a:gd name="T27" fmla="*/ 241 h 296"/>
              <a:gd name="T28" fmla="*/ 24 w 180"/>
              <a:gd name="T29" fmla="*/ 210 h 296"/>
              <a:gd name="T30" fmla="*/ 0 w 180"/>
              <a:gd name="T31" fmla="*/ 21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0"/>
              <a:gd name="T49" fmla="*/ 0 h 296"/>
              <a:gd name="T50" fmla="*/ 180 w 180"/>
              <a:gd name="T51" fmla="*/ 296 h 29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0" h="296">
                <a:moveTo>
                  <a:pt x="0" y="21"/>
                </a:moveTo>
                <a:lnTo>
                  <a:pt x="21" y="32"/>
                </a:lnTo>
                <a:lnTo>
                  <a:pt x="41" y="30"/>
                </a:lnTo>
                <a:lnTo>
                  <a:pt x="48" y="24"/>
                </a:lnTo>
                <a:lnTo>
                  <a:pt x="53" y="6"/>
                </a:lnTo>
                <a:lnTo>
                  <a:pt x="140" y="0"/>
                </a:lnTo>
                <a:lnTo>
                  <a:pt x="180" y="209"/>
                </a:lnTo>
                <a:lnTo>
                  <a:pt x="177" y="207"/>
                </a:lnTo>
                <a:lnTo>
                  <a:pt x="147" y="219"/>
                </a:lnTo>
                <a:lnTo>
                  <a:pt x="126" y="275"/>
                </a:lnTo>
                <a:lnTo>
                  <a:pt x="95" y="267"/>
                </a:lnTo>
                <a:lnTo>
                  <a:pt x="59" y="288"/>
                </a:lnTo>
                <a:lnTo>
                  <a:pt x="12" y="296"/>
                </a:lnTo>
                <a:lnTo>
                  <a:pt x="33" y="241"/>
                </a:lnTo>
                <a:lnTo>
                  <a:pt x="24" y="210"/>
                </a:lnTo>
                <a:lnTo>
                  <a:pt x="0" y="21"/>
                </a:lnTo>
                <a:close/>
              </a:path>
            </a:pathLst>
          </a:custGeom>
          <a:solidFill>
            <a:schemeClr val="bg1">
              <a:lumMod val="50000"/>
            </a:schemeClr>
          </a:solidFill>
          <a:ln w="3175">
            <a:solidFill>
              <a:schemeClr val="bg1"/>
            </a:solidFill>
            <a:prstDash val="solid"/>
            <a:round/>
            <a:headEnd/>
            <a:tailEnd/>
          </a:ln>
        </p:spPr>
        <p:txBody>
          <a:bodyPr/>
          <a:lstStyle>
            <a:defPPr>
              <a:defRPr lang="en-US"/>
            </a:defPPr>
            <a:lvl1pPr algn="l" defTabSz="509412" rtl="0" fontAlgn="base">
              <a:spcBef>
                <a:spcPct val="0"/>
              </a:spcBef>
              <a:spcAft>
                <a:spcPct val="0"/>
              </a:spcAft>
              <a:defRPr kern="1200">
                <a:solidFill>
                  <a:schemeClr val="tx1"/>
                </a:solidFill>
                <a:latin typeface="Arial" charset="0"/>
                <a:ea typeface="ＭＳ Ｐゴシック" charset="-128"/>
                <a:cs typeface="+mn-cs"/>
              </a:defRPr>
            </a:lvl1pPr>
            <a:lvl2pPr marL="509412" algn="l" defTabSz="509412" rtl="0" fontAlgn="base">
              <a:spcBef>
                <a:spcPct val="0"/>
              </a:spcBef>
              <a:spcAft>
                <a:spcPct val="0"/>
              </a:spcAft>
              <a:defRPr kern="1200">
                <a:solidFill>
                  <a:schemeClr val="tx1"/>
                </a:solidFill>
                <a:latin typeface="Arial" charset="0"/>
                <a:ea typeface="ＭＳ Ｐゴシック" charset="-128"/>
                <a:cs typeface="+mn-cs"/>
              </a:defRPr>
            </a:lvl2pPr>
            <a:lvl3pPr marL="1018824" algn="l" defTabSz="509412" rtl="0" fontAlgn="base">
              <a:spcBef>
                <a:spcPct val="0"/>
              </a:spcBef>
              <a:spcAft>
                <a:spcPct val="0"/>
              </a:spcAft>
              <a:defRPr kern="1200">
                <a:solidFill>
                  <a:schemeClr val="tx1"/>
                </a:solidFill>
                <a:latin typeface="Arial" charset="0"/>
                <a:ea typeface="ＭＳ Ｐゴシック" charset="-128"/>
                <a:cs typeface="+mn-cs"/>
              </a:defRPr>
            </a:lvl3pPr>
            <a:lvl4pPr marL="1528237" algn="l" defTabSz="509412" rtl="0" fontAlgn="base">
              <a:spcBef>
                <a:spcPct val="0"/>
              </a:spcBef>
              <a:spcAft>
                <a:spcPct val="0"/>
              </a:spcAft>
              <a:defRPr kern="1200">
                <a:solidFill>
                  <a:schemeClr val="tx1"/>
                </a:solidFill>
                <a:latin typeface="Arial" charset="0"/>
                <a:ea typeface="ＭＳ Ｐゴシック" charset="-128"/>
                <a:cs typeface="+mn-cs"/>
              </a:defRPr>
            </a:lvl4pPr>
            <a:lvl5pPr marL="2037649" algn="l" defTabSz="509412" rtl="0" fontAlgn="base">
              <a:spcBef>
                <a:spcPct val="0"/>
              </a:spcBef>
              <a:spcAft>
                <a:spcPct val="0"/>
              </a:spcAft>
              <a:defRPr kern="1200">
                <a:solidFill>
                  <a:schemeClr val="tx1"/>
                </a:solidFill>
                <a:latin typeface="Arial" charset="0"/>
                <a:ea typeface="ＭＳ Ｐゴシック" charset="-128"/>
                <a:cs typeface="+mn-cs"/>
              </a:defRPr>
            </a:lvl5pPr>
            <a:lvl6pPr marL="2547061" algn="l" defTabSz="1018824" rtl="0" eaLnBrk="1" latinLnBrk="0" hangingPunct="1">
              <a:defRPr kern="1200">
                <a:solidFill>
                  <a:schemeClr val="tx1"/>
                </a:solidFill>
                <a:latin typeface="Arial" charset="0"/>
                <a:ea typeface="ＭＳ Ｐゴシック" charset="-128"/>
                <a:cs typeface="+mn-cs"/>
              </a:defRPr>
            </a:lvl6pPr>
            <a:lvl7pPr marL="3056473" algn="l" defTabSz="1018824" rtl="0" eaLnBrk="1" latinLnBrk="0" hangingPunct="1">
              <a:defRPr kern="1200">
                <a:solidFill>
                  <a:schemeClr val="tx1"/>
                </a:solidFill>
                <a:latin typeface="Arial" charset="0"/>
                <a:ea typeface="ＭＳ Ｐゴシック" charset="-128"/>
                <a:cs typeface="+mn-cs"/>
              </a:defRPr>
            </a:lvl7pPr>
            <a:lvl8pPr marL="3565886" algn="l" defTabSz="1018824" rtl="0" eaLnBrk="1" latinLnBrk="0" hangingPunct="1">
              <a:defRPr kern="1200">
                <a:solidFill>
                  <a:schemeClr val="tx1"/>
                </a:solidFill>
                <a:latin typeface="Arial" charset="0"/>
                <a:ea typeface="ＭＳ Ｐゴシック" charset="-128"/>
                <a:cs typeface="+mn-cs"/>
              </a:defRPr>
            </a:lvl8pPr>
            <a:lvl9pPr marL="4075298" algn="l" defTabSz="1018824" rtl="0" eaLnBrk="1" latinLnBrk="0" hangingPunct="1">
              <a:defRPr kern="1200">
                <a:solidFill>
                  <a:schemeClr val="tx1"/>
                </a:solidFill>
                <a:latin typeface="Arial" charset="0"/>
                <a:ea typeface="ＭＳ Ｐゴシック" charset="-128"/>
                <a:cs typeface="+mn-cs"/>
              </a:defRPr>
            </a:lvl9pPr>
          </a:lstStyle>
          <a:p>
            <a:endParaRPr lang="en-US" dirty="0"/>
          </a:p>
        </p:txBody>
      </p:sp>
    </p:spTree>
    <p:extLst>
      <p:ext uri="{BB962C8B-B14F-4D97-AF65-F5344CB8AC3E}">
        <p14:creationId xmlns:p14="http://schemas.microsoft.com/office/powerpoint/2010/main" val="2819064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5E8CE-4945-4F03-BDF9-1A9CE2141885}"/>
            </a:ext>
          </a:extLst>
        </p:cNvPr>
        <p:cNvGrpSpPr/>
        <p:nvPr/>
      </p:nvGrpSpPr>
      <p:grpSpPr>
        <a:xfrm>
          <a:off x="0" y="0"/>
          <a:ext cx="0" cy="0"/>
          <a:chOff x="0" y="0"/>
          <a:chExt cx="0" cy="0"/>
        </a:xfrm>
      </p:grpSpPr>
      <p:graphicFrame>
        <p:nvGraphicFramePr>
          <p:cNvPr id="26" name="Table 6">
            <a:extLst>
              <a:ext uri="{FF2B5EF4-FFF2-40B4-BE49-F238E27FC236}">
                <a16:creationId xmlns:a16="http://schemas.microsoft.com/office/drawing/2014/main" id="{ED8C1216-0848-3B59-1523-8F9D5FD16E0C}"/>
              </a:ext>
            </a:extLst>
          </p:cNvPr>
          <p:cNvGraphicFramePr>
            <a:graphicFrameLocks noGrp="1"/>
          </p:cNvGraphicFramePr>
          <p:nvPr>
            <p:extLst>
              <p:ext uri="{D42A27DB-BD31-4B8C-83A1-F6EECF244321}">
                <p14:modId xmlns:p14="http://schemas.microsoft.com/office/powerpoint/2010/main" val="4016549038"/>
              </p:ext>
            </p:extLst>
          </p:nvPr>
        </p:nvGraphicFramePr>
        <p:xfrm>
          <a:off x="180180" y="1659974"/>
          <a:ext cx="8783640" cy="3437208"/>
        </p:xfrm>
        <a:graphic>
          <a:graphicData uri="http://schemas.openxmlformats.org/drawingml/2006/table">
            <a:tbl>
              <a:tblPr firstRow="1" bandRow="1">
                <a:tableStyleId>{5C22544A-7EE6-4342-B048-85BDC9FD1C3A}</a:tableStyleId>
              </a:tblPr>
              <a:tblGrid>
                <a:gridCol w="1545268">
                  <a:extLst>
                    <a:ext uri="{9D8B030D-6E8A-4147-A177-3AD203B41FA5}">
                      <a16:colId xmlns:a16="http://schemas.microsoft.com/office/drawing/2014/main" val="2398219474"/>
                    </a:ext>
                  </a:extLst>
                </a:gridCol>
                <a:gridCol w="650642">
                  <a:extLst>
                    <a:ext uri="{9D8B030D-6E8A-4147-A177-3AD203B41FA5}">
                      <a16:colId xmlns:a16="http://schemas.microsoft.com/office/drawing/2014/main" val="704781349"/>
                    </a:ext>
                  </a:extLst>
                </a:gridCol>
                <a:gridCol w="1097955">
                  <a:extLst>
                    <a:ext uri="{9D8B030D-6E8A-4147-A177-3AD203B41FA5}">
                      <a16:colId xmlns:a16="http://schemas.microsoft.com/office/drawing/2014/main" val="102797337"/>
                    </a:ext>
                  </a:extLst>
                </a:gridCol>
                <a:gridCol w="1097955">
                  <a:extLst>
                    <a:ext uri="{9D8B030D-6E8A-4147-A177-3AD203B41FA5}">
                      <a16:colId xmlns:a16="http://schemas.microsoft.com/office/drawing/2014/main" val="547327595"/>
                    </a:ext>
                  </a:extLst>
                </a:gridCol>
                <a:gridCol w="1097955">
                  <a:extLst>
                    <a:ext uri="{9D8B030D-6E8A-4147-A177-3AD203B41FA5}">
                      <a16:colId xmlns:a16="http://schemas.microsoft.com/office/drawing/2014/main" val="1698864271"/>
                    </a:ext>
                  </a:extLst>
                </a:gridCol>
                <a:gridCol w="1097955">
                  <a:extLst>
                    <a:ext uri="{9D8B030D-6E8A-4147-A177-3AD203B41FA5}">
                      <a16:colId xmlns:a16="http://schemas.microsoft.com/office/drawing/2014/main" val="2622193611"/>
                    </a:ext>
                  </a:extLst>
                </a:gridCol>
                <a:gridCol w="1097955">
                  <a:extLst>
                    <a:ext uri="{9D8B030D-6E8A-4147-A177-3AD203B41FA5}">
                      <a16:colId xmlns:a16="http://schemas.microsoft.com/office/drawing/2014/main" val="1085591919"/>
                    </a:ext>
                  </a:extLst>
                </a:gridCol>
                <a:gridCol w="1097955">
                  <a:extLst>
                    <a:ext uri="{9D8B030D-6E8A-4147-A177-3AD203B41FA5}">
                      <a16:colId xmlns:a16="http://schemas.microsoft.com/office/drawing/2014/main" val="2819429438"/>
                    </a:ext>
                  </a:extLst>
                </a:gridCol>
              </a:tblGrid>
              <a:tr h="467550">
                <a:tc>
                  <a:txBody>
                    <a:bodyPr/>
                    <a:lstStyle/>
                    <a:p>
                      <a:pPr algn="ctr"/>
                      <a:r>
                        <a:rPr lang="en-US" sz="900" dirty="0">
                          <a:solidFill>
                            <a:schemeClr val="bg1"/>
                          </a:solidFill>
                        </a:rPr>
                        <a:t>ASC</a:t>
                      </a:r>
                    </a:p>
                  </a:txBody>
                  <a:tcPr anchor="ctr">
                    <a:solidFill>
                      <a:srgbClr val="0F537C"/>
                    </a:solidFill>
                  </a:tcPr>
                </a:tc>
                <a:tc>
                  <a:txBody>
                    <a:bodyPr/>
                    <a:lstStyle/>
                    <a:p>
                      <a:pPr algn="ctr"/>
                      <a:r>
                        <a:rPr lang="en-US" sz="900" dirty="0">
                          <a:solidFill>
                            <a:schemeClr val="bg1"/>
                          </a:solidFill>
                        </a:rPr>
                        <a:t>State</a:t>
                      </a:r>
                    </a:p>
                  </a:txBody>
                  <a:tcPr anchor="ctr">
                    <a:solidFill>
                      <a:srgbClr val="0F537C"/>
                    </a:solidFill>
                  </a:tcPr>
                </a:tc>
                <a:tc>
                  <a:txBody>
                    <a:bodyPr/>
                    <a:lstStyle/>
                    <a:p>
                      <a:pPr algn="ctr"/>
                      <a:r>
                        <a:rPr lang="en-US" sz="900" dirty="0">
                          <a:solidFill>
                            <a:schemeClr val="bg1"/>
                          </a:solidFill>
                        </a:rPr>
                        <a:t># of Monthly CRNA FTEs</a:t>
                      </a:r>
                      <a:endParaRPr lang="en-US" sz="900" baseline="30000" dirty="0">
                        <a:solidFill>
                          <a:schemeClr val="bg1"/>
                        </a:solidFill>
                      </a:endParaRPr>
                    </a:p>
                  </a:txBody>
                  <a:tcPr anchor="ctr">
                    <a:solidFill>
                      <a:srgbClr val="0F537C"/>
                    </a:solidFill>
                  </a:tcPr>
                </a:tc>
                <a:tc>
                  <a:txBody>
                    <a:bodyPr/>
                    <a:lstStyle/>
                    <a:p>
                      <a:pPr algn="ctr"/>
                      <a:r>
                        <a:rPr lang="en-US" sz="900" dirty="0">
                          <a:solidFill>
                            <a:schemeClr val="bg1"/>
                          </a:solidFill>
                        </a:rPr>
                        <a:t>CRNA Labor Floor</a:t>
                      </a:r>
                    </a:p>
                  </a:txBody>
                  <a:tcPr anchor="ctr">
                    <a:solidFill>
                      <a:srgbClr val="0F537C"/>
                    </a:solidFill>
                  </a:tcPr>
                </a:tc>
                <a:tc>
                  <a:txBody>
                    <a:bodyPr/>
                    <a:lstStyle/>
                    <a:p>
                      <a:pPr algn="ctr"/>
                      <a:r>
                        <a:rPr lang="en-US" sz="900" dirty="0">
                          <a:solidFill>
                            <a:schemeClr val="bg1"/>
                          </a:solidFill>
                        </a:rPr>
                        <a:t># of Monthly MDA FTEs</a:t>
                      </a:r>
                      <a:endParaRPr lang="en-US" sz="900" baseline="30000" dirty="0">
                        <a:solidFill>
                          <a:schemeClr val="bg1"/>
                        </a:solidFill>
                      </a:endParaRPr>
                    </a:p>
                  </a:txBody>
                  <a:tcPr anchor="ctr">
                    <a:solidFill>
                      <a:srgbClr val="0F537C"/>
                    </a:solidFill>
                  </a:tcPr>
                </a:tc>
                <a:tc>
                  <a:txBody>
                    <a:bodyPr/>
                    <a:lstStyle/>
                    <a:p>
                      <a:pPr algn="ctr"/>
                      <a:r>
                        <a:rPr lang="en-US" sz="900" dirty="0">
                          <a:solidFill>
                            <a:schemeClr val="bg1"/>
                          </a:solidFill>
                        </a:rPr>
                        <a:t>MDA Labor Floor</a:t>
                      </a:r>
                    </a:p>
                  </a:txBody>
                  <a:tcPr anchor="ctr">
                    <a:solidFill>
                      <a:srgbClr val="0F537C"/>
                    </a:solidFill>
                  </a:tcPr>
                </a:tc>
                <a:tc>
                  <a:txBody>
                    <a:bodyPr/>
                    <a:lstStyle/>
                    <a:p>
                      <a:pPr marL="0" marR="0" lvl="0" indent="0" algn="ctr" defTabSz="685708" rtl="0" eaLnBrk="1" fontAlgn="auto" latinLnBrk="0" hangingPunct="1">
                        <a:lnSpc>
                          <a:spcPct val="100000"/>
                        </a:lnSpc>
                        <a:spcBef>
                          <a:spcPts val="0"/>
                        </a:spcBef>
                        <a:spcAft>
                          <a:spcPts val="0"/>
                        </a:spcAft>
                        <a:buClrTx/>
                        <a:buSzTx/>
                        <a:buFontTx/>
                        <a:buNone/>
                        <a:tabLst/>
                        <a:defRPr/>
                      </a:pPr>
                      <a:r>
                        <a:rPr lang="en-US" sz="900" dirty="0">
                          <a:solidFill>
                            <a:schemeClr val="bg1"/>
                          </a:solidFill>
                        </a:rPr>
                        <a:t>Mgmt. Fee</a:t>
                      </a:r>
                    </a:p>
                  </a:txBody>
                  <a:tcPr anchor="ctr">
                    <a:solidFill>
                      <a:srgbClr val="0F537C"/>
                    </a:solidFill>
                  </a:tcPr>
                </a:tc>
                <a:tc>
                  <a:txBody>
                    <a:bodyPr/>
                    <a:lstStyle/>
                    <a:p>
                      <a:pPr marL="0" marR="0" lvl="0" indent="0" algn="ctr" defTabSz="685708" rtl="0" eaLnBrk="1" fontAlgn="auto" latinLnBrk="0" hangingPunct="1">
                        <a:lnSpc>
                          <a:spcPct val="100000"/>
                        </a:lnSpc>
                        <a:spcBef>
                          <a:spcPts val="0"/>
                        </a:spcBef>
                        <a:spcAft>
                          <a:spcPts val="0"/>
                        </a:spcAft>
                        <a:buClrTx/>
                        <a:buSzTx/>
                        <a:buFontTx/>
                        <a:buNone/>
                        <a:tabLst/>
                        <a:defRPr/>
                      </a:pPr>
                      <a:r>
                        <a:rPr lang="en-US" sz="900" dirty="0">
                          <a:solidFill>
                            <a:schemeClr val="bg1"/>
                          </a:solidFill>
                        </a:rPr>
                        <a:t>Revenue Opportunity</a:t>
                      </a:r>
                    </a:p>
                  </a:txBody>
                  <a:tcPr anchor="ctr">
                    <a:solidFill>
                      <a:srgbClr val="0F537C"/>
                    </a:solidFill>
                  </a:tcPr>
                </a:tc>
                <a:extLst>
                  <a:ext uri="{0D108BD9-81ED-4DB2-BD59-A6C34878D82A}">
                    <a16:rowId xmlns:a16="http://schemas.microsoft.com/office/drawing/2014/main" val="4117655186"/>
                  </a:ext>
                </a:extLst>
              </a:tr>
              <a:tr h="989886">
                <a:tc>
                  <a:txBody>
                    <a:bodyPr/>
                    <a:lstStyle/>
                    <a:p>
                      <a:pPr algn="ctr"/>
                      <a:endParaRPr lang="en-US" sz="900" b="1" dirty="0"/>
                    </a:p>
                  </a:txBody>
                  <a:tcPr anchor="ctr">
                    <a:noFill/>
                  </a:tcPr>
                </a:tc>
                <a:tc>
                  <a:txBody>
                    <a:bodyPr/>
                    <a:lstStyle/>
                    <a:p>
                      <a:pPr algn="ctr"/>
                      <a:endParaRPr lang="en-US" sz="900" dirty="0"/>
                    </a:p>
                  </a:txBody>
                  <a:tcPr anchor="ctr">
                    <a:noFill/>
                  </a:tcPr>
                </a:tc>
                <a:tc>
                  <a:txBody>
                    <a:bodyPr/>
                    <a:lstStyle/>
                    <a:p>
                      <a:pPr marL="0" algn="ctr" defTabSz="914400" rtl="0" eaLnBrk="1" latinLnBrk="0" hangingPunct="1"/>
                      <a:r>
                        <a:rPr lang="en-US" sz="900" kern="1200" dirty="0">
                          <a:solidFill>
                            <a:schemeClr val="tx1"/>
                          </a:solidFill>
                          <a:latin typeface="+mn-lt"/>
                          <a:ea typeface="+mn-ea"/>
                          <a:cs typeface="+mn-cs"/>
                        </a:rPr>
                        <a:t>1.5</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mn-cs"/>
                        </a:rPr>
                        <a:t>$1,450</a:t>
                      </a:r>
                    </a:p>
                  </a:txBody>
                  <a:tcPr anchor="ctr">
                    <a:noFill/>
                  </a:tcPr>
                </a:tc>
                <a:tc>
                  <a:txBody>
                    <a:bodyPr/>
                    <a:lstStyle/>
                    <a:p>
                      <a:pPr marL="0" algn="ctr" defTabSz="914400" rtl="0" eaLnBrk="1" latinLnBrk="0" hangingPunct="1"/>
                      <a:r>
                        <a:rPr lang="en-US" sz="900" kern="1200" dirty="0">
                          <a:solidFill>
                            <a:schemeClr val="tx1"/>
                          </a:solidFill>
                          <a:latin typeface="+mn-lt"/>
                          <a:ea typeface="+mn-ea"/>
                          <a:cs typeface="+mn-cs"/>
                        </a:rPr>
                        <a:t>1</a:t>
                      </a:r>
                    </a:p>
                  </a:txBody>
                  <a:tcPr anchor="ctr">
                    <a:noFill/>
                  </a:tcPr>
                </a:tc>
                <a:tc>
                  <a:txBody>
                    <a:bodyPr/>
                    <a:lstStyle/>
                    <a:p>
                      <a:pPr marL="0" algn="ctr" defTabSz="914400" rtl="0" eaLnBrk="1" latinLnBrk="0" hangingPunct="1"/>
                      <a:r>
                        <a:rPr lang="en-US" sz="900" kern="1200" dirty="0">
                          <a:solidFill>
                            <a:schemeClr val="tx1"/>
                          </a:solidFill>
                          <a:latin typeface="+mn-lt"/>
                          <a:ea typeface="+mn-ea"/>
                          <a:cs typeface="+mn-cs"/>
                        </a:rPr>
                        <a:t>$2,725</a:t>
                      </a:r>
                    </a:p>
                  </a:txBody>
                  <a:tcPr anchor="ctr">
                    <a:noFill/>
                  </a:tcPr>
                </a:tc>
                <a:tc>
                  <a:txBody>
                    <a:bodyPr/>
                    <a:lstStyle/>
                    <a:p>
                      <a:pPr marL="0" algn="ctr" defTabSz="914400" rtl="0" eaLnBrk="1" latinLnBrk="0" hangingPunct="1"/>
                      <a:r>
                        <a:rPr lang="en-US" sz="900" kern="1200" dirty="0">
                          <a:solidFill>
                            <a:schemeClr val="tx1"/>
                          </a:solidFill>
                          <a:latin typeface="+mn-lt"/>
                          <a:ea typeface="+mn-ea"/>
                          <a:cs typeface="+mn-cs"/>
                        </a:rPr>
                        <a:t>-</a:t>
                      </a:r>
                    </a:p>
                  </a:txBody>
                  <a:tcPr anchor="ctr">
                    <a:noFill/>
                  </a:tcPr>
                </a:tc>
                <a:tc>
                  <a:txBody>
                    <a:bodyPr/>
                    <a:lstStyle/>
                    <a:p>
                      <a:pPr marL="0" algn="ctr" defTabSz="914400" rtl="0" eaLnBrk="1" latinLnBrk="0" hangingPunct="1"/>
                      <a:r>
                        <a:rPr lang="en-US" sz="900" kern="1200" dirty="0">
                          <a:solidFill>
                            <a:schemeClr val="tx1"/>
                          </a:solidFill>
                          <a:latin typeface="+mn-lt"/>
                          <a:ea typeface="+mn-ea"/>
                          <a:cs typeface="+mn-cs"/>
                        </a:rPr>
                        <a:t>$1.2M</a:t>
                      </a:r>
                    </a:p>
                  </a:txBody>
                  <a:tcPr anchor="ctr">
                    <a:noFill/>
                  </a:tcPr>
                </a:tc>
                <a:extLst>
                  <a:ext uri="{0D108BD9-81ED-4DB2-BD59-A6C34878D82A}">
                    <a16:rowId xmlns:a16="http://schemas.microsoft.com/office/drawing/2014/main" val="1941739623"/>
                  </a:ext>
                </a:extLst>
              </a:tr>
              <a:tr h="989886">
                <a:tc>
                  <a:txBody>
                    <a:bodyPr/>
                    <a:lstStyle/>
                    <a:p>
                      <a:pPr algn="ctr"/>
                      <a:endParaRPr lang="en-US" sz="900" b="1" dirty="0"/>
                    </a:p>
                  </a:txBody>
                  <a:tcPr anchor="ctr">
                    <a:solidFill>
                      <a:srgbClr val="F2F2F2"/>
                    </a:solidFill>
                  </a:tcPr>
                </a:tc>
                <a:tc>
                  <a:txBody>
                    <a:bodyPr/>
                    <a:lstStyle/>
                    <a:p>
                      <a:pPr algn="ctr"/>
                      <a:endParaRPr lang="en-US" sz="900" dirty="0"/>
                    </a:p>
                  </a:txBody>
                  <a:tcPr anchor="ctr">
                    <a:solidFill>
                      <a:srgbClr val="F2F2F2"/>
                    </a:solidFill>
                  </a:tcPr>
                </a:tc>
                <a:tc>
                  <a:txBody>
                    <a:bodyPr/>
                    <a:lstStyle/>
                    <a:p>
                      <a:pPr marL="0" algn="ctr" defTabSz="914400" rtl="0" eaLnBrk="1" latinLnBrk="0" hangingPunct="1"/>
                      <a:r>
                        <a:rPr lang="en-US" sz="900" kern="1200" dirty="0">
                          <a:solidFill>
                            <a:schemeClr val="tx1"/>
                          </a:solidFill>
                          <a:latin typeface="+mn-lt"/>
                          <a:ea typeface="+mn-ea"/>
                          <a:cs typeface="+mn-cs"/>
                        </a:rPr>
                        <a:t>4</a:t>
                      </a:r>
                    </a:p>
                  </a:txBody>
                  <a:tcPr anchor="ctr">
                    <a:solidFill>
                      <a:srgbClr val="F2F2F2"/>
                    </a:solidFill>
                  </a:tcPr>
                </a:tc>
                <a:tc>
                  <a:txBody>
                    <a:bodyPr/>
                    <a:lstStyle/>
                    <a:p>
                      <a:pPr marL="0" algn="ctr" defTabSz="914400" rtl="0" eaLnBrk="1" latinLnBrk="0" hangingPunct="1"/>
                      <a:r>
                        <a:rPr lang="en-US" sz="900" kern="1200" dirty="0">
                          <a:solidFill>
                            <a:schemeClr val="tx1"/>
                          </a:solidFill>
                          <a:latin typeface="+mn-lt"/>
                          <a:ea typeface="+mn-ea"/>
                          <a:cs typeface="+mn-cs"/>
                        </a:rPr>
                        <a:t>$1,450</a:t>
                      </a:r>
                    </a:p>
                  </a:txBody>
                  <a:tcPr anchor="ctr">
                    <a:solidFill>
                      <a:srgbClr val="F2F2F2"/>
                    </a:solidFill>
                  </a:tcPr>
                </a:tc>
                <a:tc>
                  <a:txBody>
                    <a:bodyPr/>
                    <a:lstStyle/>
                    <a:p>
                      <a:pPr marL="0" algn="ctr" defTabSz="914400" rtl="0" eaLnBrk="1" latinLnBrk="0" hangingPunct="1"/>
                      <a:r>
                        <a:rPr lang="en-US" sz="900" kern="1200" dirty="0">
                          <a:solidFill>
                            <a:schemeClr val="tx1"/>
                          </a:solidFill>
                          <a:latin typeface="+mn-lt"/>
                          <a:ea typeface="+mn-ea"/>
                          <a:cs typeface="+mn-cs"/>
                        </a:rPr>
                        <a:t>1</a:t>
                      </a:r>
                    </a:p>
                  </a:txBody>
                  <a:tcPr anchor="ctr">
                    <a:solidFill>
                      <a:srgbClr val="F2F2F2"/>
                    </a:solidFill>
                  </a:tcPr>
                </a:tc>
                <a:tc>
                  <a:txBody>
                    <a:bodyPr/>
                    <a:lstStyle/>
                    <a:p>
                      <a:pPr marL="0" algn="ctr" defTabSz="914400" rtl="0" eaLnBrk="1" latinLnBrk="0" hangingPunct="1"/>
                      <a:r>
                        <a:rPr lang="en-US" sz="900" kern="1200" dirty="0">
                          <a:solidFill>
                            <a:schemeClr val="tx1"/>
                          </a:solidFill>
                          <a:latin typeface="+mn-lt"/>
                          <a:ea typeface="+mn-ea"/>
                          <a:cs typeface="+mn-cs"/>
                        </a:rPr>
                        <a:t>$2,725</a:t>
                      </a:r>
                    </a:p>
                  </a:txBody>
                  <a:tcPr anchor="ctr">
                    <a:solidFill>
                      <a:srgbClr val="F2F2F2"/>
                    </a:solidFill>
                  </a:tcPr>
                </a:tc>
                <a:tc>
                  <a:txBody>
                    <a:bodyPr/>
                    <a:lstStyle/>
                    <a:p>
                      <a:pPr marL="0" algn="ctr" defTabSz="914400" rtl="0" eaLnBrk="1" latinLnBrk="0" hangingPunct="1"/>
                      <a:r>
                        <a:rPr lang="en-US" sz="900" kern="1200" dirty="0">
                          <a:solidFill>
                            <a:schemeClr val="tx1"/>
                          </a:solidFill>
                          <a:latin typeface="+mn-lt"/>
                          <a:ea typeface="+mn-ea"/>
                          <a:cs typeface="+mn-cs"/>
                        </a:rPr>
                        <a:t>-</a:t>
                      </a:r>
                    </a:p>
                  </a:txBody>
                  <a:tcPr anchor="ctr">
                    <a:solidFill>
                      <a:srgbClr val="F2F2F2"/>
                    </a:solidFill>
                  </a:tcPr>
                </a:tc>
                <a:tc>
                  <a:txBody>
                    <a:bodyPr/>
                    <a:lstStyle/>
                    <a:p>
                      <a:pPr marL="0" algn="ctr" defTabSz="914400" rtl="0" eaLnBrk="1" latinLnBrk="0" hangingPunct="1"/>
                      <a:r>
                        <a:rPr lang="en-US" sz="900" kern="1200" dirty="0">
                          <a:solidFill>
                            <a:schemeClr val="tx1"/>
                          </a:solidFill>
                          <a:latin typeface="+mn-lt"/>
                          <a:ea typeface="+mn-ea"/>
                          <a:cs typeface="+mn-cs"/>
                        </a:rPr>
                        <a:t>$2.1M</a:t>
                      </a:r>
                    </a:p>
                  </a:txBody>
                  <a:tcPr anchor="ctr">
                    <a:solidFill>
                      <a:srgbClr val="F2F2F2"/>
                    </a:solidFill>
                  </a:tcPr>
                </a:tc>
                <a:extLst>
                  <a:ext uri="{0D108BD9-81ED-4DB2-BD59-A6C34878D82A}">
                    <a16:rowId xmlns:a16="http://schemas.microsoft.com/office/drawing/2014/main" val="1198096351"/>
                  </a:ext>
                </a:extLst>
              </a:tr>
              <a:tr h="989886">
                <a:tc>
                  <a:txBody>
                    <a:bodyPr/>
                    <a:lstStyle/>
                    <a:p>
                      <a:pPr algn="ctr"/>
                      <a:endParaRPr lang="en-US" sz="900" b="1" dirty="0"/>
                    </a:p>
                  </a:txBody>
                  <a:tcPr anchor="ctr">
                    <a:solidFill>
                      <a:srgbClr val="FFFFFF"/>
                    </a:solidFill>
                  </a:tcPr>
                </a:tc>
                <a:tc>
                  <a:txBody>
                    <a:bodyPr/>
                    <a:lstStyle/>
                    <a:p>
                      <a:pPr algn="ctr"/>
                      <a:endParaRPr lang="en-US" sz="900" dirty="0"/>
                    </a:p>
                  </a:txBody>
                  <a:tcPr anchor="ctr">
                    <a:solidFill>
                      <a:srgbClr val="FFFFFF"/>
                    </a:solidFill>
                  </a:tcPr>
                </a:tc>
                <a:tc>
                  <a:txBody>
                    <a:bodyPr/>
                    <a:lstStyle/>
                    <a:p>
                      <a:pPr marL="0" algn="ctr" defTabSz="914400" rtl="0" eaLnBrk="1" latinLnBrk="0" hangingPunct="1"/>
                      <a:r>
                        <a:rPr lang="en-US" sz="900" kern="1200" dirty="0">
                          <a:solidFill>
                            <a:schemeClr val="tx1"/>
                          </a:solidFill>
                          <a:latin typeface="+mn-lt"/>
                          <a:ea typeface="+mn-ea"/>
                          <a:cs typeface="+mn-cs"/>
                        </a:rPr>
                        <a:t>4</a:t>
                      </a:r>
                    </a:p>
                  </a:txBody>
                  <a:tcPr anchor="ctr">
                    <a:solidFill>
                      <a:srgbClr val="FFFFFF"/>
                    </a:solidFill>
                  </a:tcPr>
                </a:tc>
                <a:tc>
                  <a:txBody>
                    <a:bodyPr/>
                    <a:lstStyle/>
                    <a:p>
                      <a:pPr marL="0" algn="ctr" defTabSz="914400" rtl="0" eaLnBrk="1" latinLnBrk="0" hangingPunct="1"/>
                      <a:r>
                        <a:rPr lang="en-US" sz="900" kern="1200" dirty="0">
                          <a:solidFill>
                            <a:schemeClr val="tx1"/>
                          </a:solidFill>
                          <a:latin typeface="+mn-lt"/>
                          <a:ea typeface="+mn-ea"/>
                          <a:cs typeface="+mn-cs"/>
                        </a:rPr>
                        <a:t>$1,887</a:t>
                      </a:r>
                    </a:p>
                  </a:txBody>
                  <a:tcPr anchor="ctr">
                    <a:solidFill>
                      <a:srgbClr val="FFFFFF"/>
                    </a:solidFill>
                  </a:tcPr>
                </a:tc>
                <a:tc>
                  <a:txBody>
                    <a:bodyPr/>
                    <a:lstStyle/>
                    <a:p>
                      <a:pPr marL="0" algn="ctr" defTabSz="914400" rtl="0" eaLnBrk="1" latinLnBrk="0" hangingPunct="1"/>
                      <a:r>
                        <a:rPr lang="en-US" sz="900" kern="1200" dirty="0">
                          <a:solidFill>
                            <a:schemeClr val="tx1"/>
                          </a:solidFill>
                          <a:latin typeface="+mn-lt"/>
                          <a:ea typeface="+mn-ea"/>
                          <a:cs typeface="+mn-cs"/>
                        </a:rPr>
                        <a:t>2</a:t>
                      </a:r>
                    </a:p>
                  </a:txBody>
                  <a:tcPr anchor="ctr">
                    <a:solidFill>
                      <a:srgbClr val="FFFFFF"/>
                    </a:solidFill>
                  </a:tcPr>
                </a:tc>
                <a:tc>
                  <a:txBody>
                    <a:bodyPr/>
                    <a:lstStyle/>
                    <a:p>
                      <a:pPr marL="0" algn="ctr" defTabSz="914400" rtl="0" eaLnBrk="1" latinLnBrk="0" hangingPunct="1"/>
                      <a:r>
                        <a:rPr lang="en-US" sz="900" kern="1200" dirty="0">
                          <a:solidFill>
                            <a:schemeClr val="tx1"/>
                          </a:solidFill>
                          <a:latin typeface="+mn-lt"/>
                          <a:ea typeface="+mn-ea"/>
                          <a:cs typeface="+mn-cs"/>
                        </a:rPr>
                        <a:t>$2,828</a:t>
                      </a:r>
                    </a:p>
                  </a:txBody>
                  <a:tcPr anchor="ctr">
                    <a:solidFill>
                      <a:srgbClr val="FFFFFF"/>
                    </a:solidFill>
                  </a:tcPr>
                </a:tc>
                <a:tc>
                  <a:txBody>
                    <a:bodyPr/>
                    <a:lstStyle/>
                    <a:p>
                      <a:pPr marL="0" algn="ctr" defTabSz="914400" rtl="0" eaLnBrk="1" latinLnBrk="0" hangingPunct="1"/>
                      <a:r>
                        <a:rPr lang="en-US" sz="900" kern="1200" noProof="0" dirty="0">
                          <a:solidFill>
                            <a:schemeClr val="tx1"/>
                          </a:solidFill>
                          <a:latin typeface="+mn-lt"/>
                          <a:ea typeface="+mn-ea"/>
                          <a:cs typeface="+mn-cs"/>
                        </a:rPr>
                        <a:t>✓</a:t>
                      </a:r>
                      <a:endParaRPr lang="en-US" sz="900" kern="1200" dirty="0">
                        <a:solidFill>
                          <a:schemeClr val="tx1"/>
                        </a:solidFill>
                        <a:latin typeface="+mn-lt"/>
                        <a:ea typeface="+mn-ea"/>
                        <a:cs typeface="+mn-cs"/>
                      </a:endParaRPr>
                    </a:p>
                  </a:txBody>
                  <a:tcPr anchor="ctr">
                    <a:solidFill>
                      <a:srgbClr val="FFFFFF"/>
                    </a:solidFill>
                  </a:tcPr>
                </a:tc>
                <a:tc>
                  <a:txBody>
                    <a:bodyPr/>
                    <a:lstStyle/>
                    <a:p>
                      <a:pPr marL="0" algn="ctr" defTabSz="914400" rtl="0" eaLnBrk="1" latinLnBrk="0" hangingPunct="1"/>
                      <a:r>
                        <a:rPr lang="en-US" sz="900" kern="1200" dirty="0">
                          <a:solidFill>
                            <a:schemeClr val="tx1"/>
                          </a:solidFill>
                          <a:latin typeface="+mn-lt"/>
                          <a:ea typeface="+mn-ea"/>
                          <a:cs typeface="+mn-cs"/>
                        </a:rPr>
                        <a:t>$3.0M - $3.5M</a:t>
                      </a:r>
                    </a:p>
                  </a:txBody>
                  <a:tcPr anchor="ctr">
                    <a:solidFill>
                      <a:srgbClr val="FFFFFF"/>
                    </a:solidFill>
                  </a:tcPr>
                </a:tc>
                <a:extLst>
                  <a:ext uri="{0D108BD9-81ED-4DB2-BD59-A6C34878D82A}">
                    <a16:rowId xmlns:a16="http://schemas.microsoft.com/office/drawing/2014/main" val="1559219488"/>
                  </a:ext>
                </a:extLst>
              </a:tr>
            </a:tbl>
          </a:graphicData>
        </a:graphic>
      </p:graphicFrame>
      <p:sp>
        <p:nvSpPr>
          <p:cNvPr id="2" name="Title 1">
            <a:extLst>
              <a:ext uri="{FF2B5EF4-FFF2-40B4-BE49-F238E27FC236}">
                <a16:creationId xmlns:a16="http://schemas.microsoft.com/office/drawing/2014/main" id="{F1F6B72E-99CF-A03B-4296-8904483B7B69}"/>
              </a:ext>
            </a:extLst>
          </p:cNvPr>
          <p:cNvSpPr>
            <a:spLocks noGrp="1"/>
          </p:cNvSpPr>
          <p:nvPr>
            <p:ph type="title"/>
          </p:nvPr>
        </p:nvSpPr>
        <p:spPr/>
        <p:txBody>
          <a:bodyPr>
            <a:normAutofit/>
          </a:bodyPr>
          <a:lstStyle/>
          <a:p>
            <a:r>
              <a:rPr lang="en-US" dirty="0"/>
              <a:t>Near-Term Opportunity Pipeline</a:t>
            </a:r>
          </a:p>
        </p:txBody>
      </p:sp>
      <p:sp>
        <p:nvSpPr>
          <p:cNvPr id="9" name="Slide Number Placeholder 8">
            <a:extLst>
              <a:ext uri="{FF2B5EF4-FFF2-40B4-BE49-F238E27FC236}">
                <a16:creationId xmlns:a16="http://schemas.microsoft.com/office/drawing/2014/main" id="{0C5A7382-EC4C-6D3D-FA00-D6A6E0AFBEDF}"/>
              </a:ext>
            </a:extLst>
          </p:cNvPr>
          <p:cNvSpPr>
            <a:spLocks noGrp="1"/>
          </p:cNvSpPr>
          <p:nvPr>
            <p:ph type="sldNum" sz="quarter" idx="12"/>
          </p:nvPr>
        </p:nvSpPr>
        <p:spPr/>
        <p:txBody>
          <a:bodyPr/>
          <a:lstStyle/>
          <a:p>
            <a:fld id="{F8DDDAE5-3BDD-4D78-843B-A22FA78305BB}" type="slidenum">
              <a:rPr lang="en-US" smtClean="0"/>
              <a:t>14</a:t>
            </a:fld>
            <a:endParaRPr lang="en-US" dirty="0"/>
          </a:p>
        </p:txBody>
      </p:sp>
      <p:sp>
        <p:nvSpPr>
          <p:cNvPr id="7" name="TextBox 6">
            <a:extLst>
              <a:ext uri="{FF2B5EF4-FFF2-40B4-BE49-F238E27FC236}">
                <a16:creationId xmlns:a16="http://schemas.microsoft.com/office/drawing/2014/main" id="{D4405FFC-F4A5-AD53-1CD3-75ED99E931C8}"/>
              </a:ext>
            </a:extLst>
          </p:cNvPr>
          <p:cNvSpPr txBox="1"/>
          <p:nvPr/>
        </p:nvSpPr>
        <p:spPr>
          <a:xfrm>
            <a:off x="221941" y="917644"/>
            <a:ext cx="8697771" cy="523220"/>
          </a:xfrm>
          <a:prstGeom prst="rect">
            <a:avLst/>
          </a:prstGeom>
          <a:noFill/>
        </p:spPr>
        <p:txBody>
          <a:bodyPr wrap="square" rtlCol="0">
            <a:spAutoFit/>
          </a:bodyPr>
          <a:lstStyle/>
          <a:p>
            <a:pPr marL="168275" indent="-168275">
              <a:spcBef>
                <a:spcPts val="600"/>
              </a:spcBef>
              <a:spcAft>
                <a:spcPts val="600"/>
              </a:spcAft>
              <a:buFont typeface="Arial" panose="020B0604020202020204" pitchFamily="34" charset="0"/>
              <a:buChar char="•"/>
            </a:pPr>
            <a:r>
              <a:rPr lang="en-US" sz="1400" dirty="0"/>
              <a:t>The Company is in active discussions with several new ASC customers that are expected to convert into signed contracts, adding significant upside to the projections included herein. </a:t>
            </a:r>
          </a:p>
        </p:txBody>
      </p:sp>
      <p:grpSp>
        <p:nvGrpSpPr>
          <p:cNvPr id="8" name="Group 7">
            <a:extLst>
              <a:ext uri="{FF2B5EF4-FFF2-40B4-BE49-F238E27FC236}">
                <a16:creationId xmlns:a16="http://schemas.microsoft.com/office/drawing/2014/main" id="{C1AB5CEF-1C1E-4E98-8DC5-F1CE5E624F49}"/>
              </a:ext>
            </a:extLst>
          </p:cNvPr>
          <p:cNvGrpSpPr>
            <a:grpSpLocks noChangeAspect="1"/>
          </p:cNvGrpSpPr>
          <p:nvPr/>
        </p:nvGrpSpPr>
        <p:grpSpPr>
          <a:xfrm rot="250367">
            <a:off x="1890606" y="2491602"/>
            <a:ext cx="292361" cy="260501"/>
            <a:chOff x="6454425" y="4380041"/>
            <a:chExt cx="491775" cy="438184"/>
          </a:xfrm>
          <a:solidFill>
            <a:schemeClr val="bg1">
              <a:lumMod val="50000"/>
            </a:schemeClr>
          </a:solidFill>
        </p:grpSpPr>
        <p:sp>
          <p:nvSpPr>
            <p:cNvPr id="10" name="Freeform 39">
              <a:extLst>
                <a:ext uri="{FF2B5EF4-FFF2-40B4-BE49-F238E27FC236}">
                  <a16:creationId xmlns:a16="http://schemas.microsoft.com/office/drawing/2014/main" id="{76A2EF06-C4F3-7B54-B27D-C97EE13786DB}"/>
                </a:ext>
              </a:extLst>
            </p:cNvPr>
            <p:cNvSpPr>
              <a:spLocks/>
            </p:cNvSpPr>
            <p:nvPr/>
          </p:nvSpPr>
          <p:spPr bwMode="auto">
            <a:xfrm>
              <a:off x="6454425" y="4380041"/>
              <a:ext cx="349266" cy="148362"/>
            </a:xfrm>
            <a:custGeom>
              <a:avLst/>
              <a:gdLst>
                <a:gd name="T0" fmla="*/ 0 w 299"/>
                <a:gd name="T1" fmla="*/ 71 h 129"/>
                <a:gd name="T2" fmla="*/ 67 w 299"/>
                <a:gd name="T3" fmla="*/ 0 h 129"/>
                <a:gd name="T4" fmla="*/ 55 w 299"/>
                <a:gd name="T5" fmla="*/ 29 h 129"/>
                <a:gd name="T6" fmla="*/ 64 w 299"/>
                <a:gd name="T7" fmla="*/ 38 h 129"/>
                <a:gd name="T8" fmla="*/ 85 w 299"/>
                <a:gd name="T9" fmla="*/ 26 h 129"/>
                <a:gd name="T10" fmla="*/ 131 w 299"/>
                <a:gd name="T11" fmla="*/ 44 h 129"/>
                <a:gd name="T12" fmla="*/ 151 w 299"/>
                <a:gd name="T13" fmla="*/ 29 h 129"/>
                <a:gd name="T14" fmla="*/ 213 w 299"/>
                <a:gd name="T15" fmla="*/ 21 h 129"/>
                <a:gd name="T16" fmla="*/ 225 w 299"/>
                <a:gd name="T17" fmla="*/ 39 h 129"/>
                <a:gd name="T18" fmla="*/ 249 w 299"/>
                <a:gd name="T19" fmla="*/ 35 h 129"/>
                <a:gd name="T20" fmla="*/ 296 w 299"/>
                <a:gd name="T21" fmla="*/ 54 h 129"/>
                <a:gd name="T22" fmla="*/ 299 w 299"/>
                <a:gd name="T23" fmla="*/ 68 h 129"/>
                <a:gd name="T24" fmla="*/ 248 w 299"/>
                <a:gd name="T25" fmla="*/ 80 h 129"/>
                <a:gd name="T26" fmla="*/ 233 w 299"/>
                <a:gd name="T27" fmla="*/ 71 h 129"/>
                <a:gd name="T28" fmla="*/ 207 w 299"/>
                <a:gd name="T29" fmla="*/ 74 h 129"/>
                <a:gd name="T30" fmla="*/ 177 w 299"/>
                <a:gd name="T31" fmla="*/ 92 h 129"/>
                <a:gd name="T32" fmla="*/ 163 w 299"/>
                <a:gd name="T33" fmla="*/ 93 h 129"/>
                <a:gd name="T34" fmla="*/ 152 w 299"/>
                <a:gd name="T35" fmla="*/ 80 h 129"/>
                <a:gd name="T36" fmla="*/ 135 w 299"/>
                <a:gd name="T37" fmla="*/ 128 h 129"/>
                <a:gd name="T38" fmla="*/ 116 w 299"/>
                <a:gd name="T39" fmla="*/ 129 h 129"/>
                <a:gd name="T40" fmla="*/ 108 w 299"/>
                <a:gd name="T41" fmla="*/ 110 h 129"/>
                <a:gd name="T42" fmla="*/ 68 w 299"/>
                <a:gd name="T43" fmla="*/ 101 h 129"/>
                <a:gd name="T44" fmla="*/ 49 w 299"/>
                <a:gd name="T45" fmla="*/ 87 h 129"/>
                <a:gd name="T46" fmla="*/ 16 w 299"/>
                <a:gd name="T47" fmla="*/ 92 h 129"/>
                <a:gd name="T48" fmla="*/ 0 w 299"/>
                <a:gd name="T49" fmla="*/ 71 h 12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99"/>
                <a:gd name="T76" fmla="*/ 0 h 129"/>
                <a:gd name="T77" fmla="*/ 299 w 299"/>
                <a:gd name="T78" fmla="*/ 129 h 12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99" h="129">
                  <a:moveTo>
                    <a:pt x="0" y="71"/>
                  </a:moveTo>
                  <a:lnTo>
                    <a:pt x="67" y="0"/>
                  </a:lnTo>
                  <a:lnTo>
                    <a:pt x="55" y="29"/>
                  </a:lnTo>
                  <a:lnTo>
                    <a:pt x="64" y="38"/>
                  </a:lnTo>
                  <a:lnTo>
                    <a:pt x="85" y="26"/>
                  </a:lnTo>
                  <a:lnTo>
                    <a:pt x="131" y="44"/>
                  </a:lnTo>
                  <a:lnTo>
                    <a:pt x="151" y="29"/>
                  </a:lnTo>
                  <a:lnTo>
                    <a:pt x="213" y="21"/>
                  </a:lnTo>
                  <a:lnTo>
                    <a:pt x="225" y="39"/>
                  </a:lnTo>
                  <a:lnTo>
                    <a:pt x="249" y="35"/>
                  </a:lnTo>
                  <a:lnTo>
                    <a:pt x="296" y="54"/>
                  </a:lnTo>
                  <a:lnTo>
                    <a:pt x="299" y="68"/>
                  </a:lnTo>
                  <a:lnTo>
                    <a:pt x="248" y="80"/>
                  </a:lnTo>
                  <a:lnTo>
                    <a:pt x="233" y="71"/>
                  </a:lnTo>
                  <a:lnTo>
                    <a:pt x="207" y="74"/>
                  </a:lnTo>
                  <a:lnTo>
                    <a:pt x="177" y="92"/>
                  </a:lnTo>
                  <a:lnTo>
                    <a:pt x="163" y="93"/>
                  </a:lnTo>
                  <a:lnTo>
                    <a:pt x="152" y="80"/>
                  </a:lnTo>
                  <a:lnTo>
                    <a:pt x="135" y="128"/>
                  </a:lnTo>
                  <a:lnTo>
                    <a:pt x="116" y="129"/>
                  </a:lnTo>
                  <a:lnTo>
                    <a:pt x="108" y="110"/>
                  </a:lnTo>
                  <a:lnTo>
                    <a:pt x="68" y="101"/>
                  </a:lnTo>
                  <a:lnTo>
                    <a:pt x="49" y="87"/>
                  </a:lnTo>
                  <a:lnTo>
                    <a:pt x="16" y="92"/>
                  </a:lnTo>
                  <a:lnTo>
                    <a:pt x="0" y="71"/>
                  </a:lnTo>
                  <a:close/>
                </a:path>
              </a:pathLst>
            </a:custGeom>
            <a:grpFill/>
            <a:ln w="3175">
              <a:solidFill>
                <a:schemeClr val="bg1"/>
              </a:solidFill>
              <a:prstDash val="solid"/>
              <a:round/>
              <a:headEnd/>
              <a:tailEnd/>
            </a:ln>
          </p:spPr>
          <p:txBody>
            <a:bodyPr/>
            <a:lstStyle>
              <a:defPPr>
                <a:defRPr lang="en-US"/>
              </a:defPPr>
              <a:lvl1pPr algn="l" defTabSz="509412" rtl="0" fontAlgn="base">
                <a:spcBef>
                  <a:spcPct val="0"/>
                </a:spcBef>
                <a:spcAft>
                  <a:spcPct val="0"/>
                </a:spcAft>
                <a:defRPr kern="1200">
                  <a:solidFill>
                    <a:schemeClr val="tx1"/>
                  </a:solidFill>
                  <a:latin typeface="Arial" charset="0"/>
                  <a:ea typeface="ＭＳ Ｐゴシック" charset="-128"/>
                  <a:cs typeface="+mn-cs"/>
                </a:defRPr>
              </a:lvl1pPr>
              <a:lvl2pPr marL="509412" algn="l" defTabSz="509412" rtl="0" fontAlgn="base">
                <a:spcBef>
                  <a:spcPct val="0"/>
                </a:spcBef>
                <a:spcAft>
                  <a:spcPct val="0"/>
                </a:spcAft>
                <a:defRPr kern="1200">
                  <a:solidFill>
                    <a:schemeClr val="tx1"/>
                  </a:solidFill>
                  <a:latin typeface="Arial" charset="0"/>
                  <a:ea typeface="ＭＳ Ｐゴシック" charset="-128"/>
                  <a:cs typeface="+mn-cs"/>
                </a:defRPr>
              </a:lvl2pPr>
              <a:lvl3pPr marL="1018824" algn="l" defTabSz="509412" rtl="0" fontAlgn="base">
                <a:spcBef>
                  <a:spcPct val="0"/>
                </a:spcBef>
                <a:spcAft>
                  <a:spcPct val="0"/>
                </a:spcAft>
                <a:defRPr kern="1200">
                  <a:solidFill>
                    <a:schemeClr val="tx1"/>
                  </a:solidFill>
                  <a:latin typeface="Arial" charset="0"/>
                  <a:ea typeface="ＭＳ Ｐゴシック" charset="-128"/>
                  <a:cs typeface="+mn-cs"/>
                </a:defRPr>
              </a:lvl3pPr>
              <a:lvl4pPr marL="1528237" algn="l" defTabSz="509412" rtl="0" fontAlgn="base">
                <a:spcBef>
                  <a:spcPct val="0"/>
                </a:spcBef>
                <a:spcAft>
                  <a:spcPct val="0"/>
                </a:spcAft>
                <a:defRPr kern="1200">
                  <a:solidFill>
                    <a:schemeClr val="tx1"/>
                  </a:solidFill>
                  <a:latin typeface="Arial" charset="0"/>
                  <a:ea typeface="ＭＳ Ｐゴシック" charset="-128"/>
                  <a:cs typeface="+mn-cs"/>
                </a:defRPr>
              </a:lvl4pPr>
              <a:lvl5pPr marL="2037649" algn="l" defTabSz="509412" rtl="0" fontAlgn="base">
                <a:spcBef>
                  <a:spcPct val="0"/>
                </a:spcBef>
                <a:spcAft>
                  <a:spcPct val="0"/>
                </a:spcAft>
                <a:defRPr kern="1200">
                  <a:solidFill>
                    <a:schemeClr val="tx1"/>
                  </a:solidFill>
                  <a:latin typeface="Arial" charset="0"/>
                  <a:ea typeface="ＭＳ Ｐゴシック" charset="-128"/>
                  <a:cs typeface="+mn-cs"/>
                </a:defRPr>
              </a:lvl5pPr>
              <a:lvl6pPr marL="2547061" algn="l" defTabSz="1018824" rtl="0" eaLnBrk="1" latinLnBrk="0" hangingPunct="1">
                <a:defRPr kern="1200">
                  <a:solidFill>
                    <a:schemeClr val="tx1"/>
                  </a:solidFill>
                  <a:latin typeface="Arial" charset="0"/>
                  <a:ea typeface="ＭＳ Ｐゴシック" charset="-128"/>
                  <a:cs typeface="+mn-cs"/>
                </a:defRPr>
              </a:lvl6pPr>
              <a:lvl7pPr marL="3056473" algn="l" defTabSz="1018824" rtl="0" eaLnBrk="1" latinLnBrk="0" hangingPunct="1">
                <a:defRPr kern="1200">
                  <a:solidFill>
                    <a:schemeClr val="tx1"/>
                  </a:solidFill>
                  <a:latin typeface="Arial" charset="0"/>
                  <a:ea typeface="ＭＳ Ｐゴシック" charset="-128"/>
                  <a:cs typeface="+mn-cs"/>
                </a:defRPr>
              </a:lvl7pPr>
              <a:lvl8pPr marL="3565886" algn="l" defTabSz="1018824" rtl="0" eaLnBrk="1" latinLnBrk="0" hangingPunct="1">
                <a:defRPr kern="1200">
                  <a:solidFill>
                    <a:schemeClr val="tx1"/>
                  </a:solidFill>
                  <a:latin typeface="Arial" charset="0"/>
                  <a:ea typeface="ＭＳ Ｐゴシック" charset="-128"/>
                  <a:cs typeface="+mn-cs"/>
                </a:defRPr>
              </a:lvl8pPr>
              <a:lvl9pPr marL="4075298" algn="l" defTabSz="1018824" rtl="0" eaLnBrk="1" latinLnBrk="0" hangingPunct="1">
                <a:defRPr kern="1200">
                  <a:solidFill>
                    <a:schemeClr val="tx1"/>
                  </a:solidFill>
                  <a:latin typeface="Arial" charset="0"/>
                  <a:ea typeface="ＭＳ Ｐゴシック" charset="-128"/>
                  <a:cs typeface="+mn-cs"/>
                </a:defRPr>
              </a:lvl9pPr>
            </a:lstStyle>
            <a:p>
              <a:endParaRPr lang="en-US" dirty="0"/>
            </a:p>
          </p:txBody>
        </p:sp>
        <p:sp>
          <p:nvSpPr>
            <p:cNvPr id="11" name="Freeform 40">
              <a:extLst>
                <a:ext uri="{FF2B5EF4-FFF2-40B4-BE49-F238E27FC236}">
                  <a16:creationId xmlns:a16="http://schemas.microsoft.com/office/drawing/2014/main" id="{47BDAF51-4FBA-8856-B65C-2A35D0BADC38}"/>
                </a:ext>
              </a:extLst>
            </p:cNvPr>
            <p:cNvSpPr>
              <a:spLocks/>
            </p:cNvSpPr>
            <p:nvPr/>
          </p:nvSpPr>
          <p:spPr bwMode="auto">
            <a:xfrm>
              <a:off x="6696224" y="4484699"/>
              <a:ext cx="249976" cy="333526"/>
            </a:xfrm>
            <a:custGeom>
              <a:avLst/>
              <a:gdLst>
                <a:gd name="T0" fmla="*/ 54 w 214"/>
                <a:gd name="T1" fmla="*/ 12 h 290"/>
                <a:gd name="T2" fmla="*/ 62 w 214"/>
                <a:gd name="T3" fmla="*/ 30 h 290"/>
                <a:gd name="T4" fmla="*/ 47 w 214"/>
                <a:gd name="T5" fmla="*/ 41 h 290"/>
                <a:gd name="T6" fmla="*/ 46 w 214"/>
                <a:gd name="T7" fmla="*/ 87 h 290"/>
                <a:gd name="T8" fmla="*/ 38 w 214"/>
                <a:gd name="T9" fmla="*/ 57 h 290"/>
                <a:gd name="T10" fmla="*/ 7 w 214"/>
                <a:gd name="T11" fmla="*/ 86 h 290"/>
                <a:gd name="T12" fmla="*/ 0 w 214"/>
                <a:gd name="T13" fmla="*/ 169 h 290"/>
                <a:gd name="T14" fmla="*/ 20 w 214"/>
                <a:gd name="T15" fmla="*/ 210 h 290"/>
                <a:gd name="T16" fmla="*/ 22 w 214"/>
                <a:gd name="T17" fmla="*/ 231 h 290"/>
                <a:gd name="T18" fmla="*/ 23 w 214"/>
                <a:gd name="T19" fmla="*/ 248 h 290"/>
                <a:gd name="T20" fmla="*/ 22 w 214"/>
                <a:gd name="T21" fmla="*/ 263 h 290"/>
                <a:gd name="T22" fmla="*/ 18 w 214"/>
                <a:gd name="T23" fmla="*/ 290 h 290"/>
                <a:gd name="T24" fmla="*/ 102 w 214"/>
                <a:gd name="T25" fmla="*/ 285 h 290"/>
                <a:gd name="T26" fmla="*/ 213 w 214"/>
                <a:gd name="T27" fmla="*/ 275 h 290"/>
                <a:gd name="T28" fmla="*/ 193 w 214"/>
                <a:gd name="T29" fmla="*/ 269 h 290"/>
                <a:gd name="T30" fmla="*/ 182 w 214"/>
                <a:gd name="T31" fmla="*/ 254 h 290"/>
                <a:gd name="T32" fmla="*/ 199 w 214"/>
                <a:gd name="T33" fmla="*/ 241 h 290"/>
                <a:gd name="T34" fmla="*/ 199 w 214"/>
                <a:gd name="T35" fmla="*/ 225 h 290"/>
                <a:gd name="T36" fmla="*/ 191 w 214"/>
                <a:gd name="T37" fmla="*/ 211 h 290"/>
                <a:gd name="T38" fmla="*/ 199 w 214"/>
                <a:gd name="T39" fmla="*/ 201 h 290"/>
                <a:gd name="T40" fmla="*/ 214 w 214"/>
                <a:gd name="T41" fmla="*/ 202 h 290"/>
                <a:gd name="T42" fmla="*/ 211 w 214"/>
                <a:gd name="T43" fmla="*/ 162 h 290"/>
                <a:gd name="T44" fmla="*/ 207 w 214"/>
                <a:gd name="T45" fmla="*/ 138 h 290"/>
                <a:gd name="T46" fmla="*/ 198 w 214"/>
                <a:gd name="T47" fmla="*/ 123 h 290"/>
                <a:gd name="T48" fmla="*/ 189 w 214"/>
                <a:gd name="T49" fmla="*/ 114 h 290"/>
                <a:gd name="T50" fmla="*/ 175 w 214"/>
                <a:gd name="T51" fmla="*/ 111 h 290"/>
                <a:gd name="T52" fmla="*/ 162 w 214"/>
                <a:gd name="T53" fmla="*/ 111 h 290"/>
                <a:gd name="T54" fmla="*/ 148 w 214"/>
                <a:gd name="T55" fmla="*/ 130 h 290"/>
                <a:gd name="T56" fmla="*/ 139 w 214"/>
                <a:gd name="T57" fmla="*/ 136 h 290"/>
                <a:gd name="T58" fmla="*/ 133 w 214"/>
                <a:gd name="T59" fmla="*/ 138 h 290"/>
                <a:gd name="T60" fmla="*/ 126 w 214"/>
                <a:gd name="T61" fmla="*/ 135 h 290"/>
                <a:gd name="T62" fmla="*/ 124 w 214"/>
                <a:gd name="T63" fmla="*/ 126 h 290"/>
                <a:gd name="T64" fmla="*/ 126 w 214"/>
                <a:gd name="T65" fmla="*/ 120 h 290"/>
                <a:gd name="T66" fmla="*/ 132 w 214"/>
                <a:gd name="T67" fmla="*/ 114 h 290"/>
                <a:gd name="T68" fmla="*/ 138 w 214"/>
                <a:gd name="T69" fmla="*/ 111 h 290"/>
                <a:gd name="T70" fmla="*/ 144 w 214"/>
                <a:gd name="T71" fmla="*/ 110 h 290"/>
                <a:gd name="T72" fmla="*/ 144 w 214"/>
                <a:gd name="T73" fmla="*/ 99 h 290"/>
                <a:gd name="T74" fmla="*/ 160 w 214"/>
                <a:gd name="T75" fmla="*/ 87 h 290"/>
                <a:gd name="T76" fmla="*/ 144 w 214"/>
                <a:gd name="T77" fmla="*/ 49 h 290"/>
                <a:gd name="T78" fmla="*/ 144 w 214"/>
                <a:gd name="T79" fmla="*/ 31 h 290"/>
                <a:gd name="T80" fmla="*/ 117 w 214"/>
                <a:gd name="T81" fmla="*/ 24 h 290"/>
                <a:gd name="T82" fmla="*/ 78 w 214"/>
                <a:gd name="T83" fmla="*/ 0 h 290"/>
                <a:gd name="T84" fmla="*/ 54 w 214"/>
                <a:gd name="T85" fmla="*/ 12 h 29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14"/>
                <a:gd name="T130" fmla="*/ 0 h 290"/>
                <a:gd name="T131" fmla="*/ 214 w 214"/>
                <a:gd name="T132" fmla="*/ 290 h 29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14" h="290">
                  <a:moveTo>
                    <a:pt x="54" y="12"/>
                  </a:moveTo>
                  <a:lnTo>
                    <a:pt x="62" y="30"/>
                  </a:lnTo>
                  <a:lnTo>
                    <a:pt x="47" y="41"/>
                  </a:lnTo>
                  <a:lnTo>
                    <a:pt x="46" y="87"/>
                  </a:lnTo>
                  <a:lnTo>
                    <a:pt x="38" y="57"/>
                  </a:lnTo>
                  <a:lnTo>
                    <a:pt x="7" y="86"/>
                  </a:lnTo>
                  <a:lnTo>
                    <a:pt x="0" y="169"/>
                  </a:lnTo>
                  <a:lnTo>
                    <a:pt x="20" y="210"/>
                  </a:lnTo>
                  <a:lnTo>
                    <a:pt x="22" y="231"/>
                  </a:lnTo>
                  <a:lnTo>
                    <a:pt x="23" y="248"/>
                  </a:lnTo>
                  <a:lnTo>
                    <a:pt x="22" y="263"/>
                  </a:lnTo>
                  <a:lnTo>
                    <a:pt x="18" y="290"/>
                  </a:lnTo>
                  <a:lnTo>
                    <a:pt x="102" y="285"/>
                  </a:lnTo>
                  <a:lnTo>
                    <a:pt x="213" y="275"/>
                  </a:lnTo>
                  <a:lnTo>
                    <a:pt x="193" y="269"/>
                  </a:lnTo>
                  <a:lnTo>
                    <a:pt x="182" y="254"/>
                  </a:lnTo>
                  <a:lnTo>
                    <a:pt x="199" y="241"/>
                  </a:lnTo>
                  <a:lnTo>
                    <a:pt x="199" y="225"/>
                  </a:lnTo>
                  <a:lnTo>
                    <a:pt x="191" y="211"/>
                  </a:lnTo>
                  <a:lnTo>
                    <a:pt x="199" y="201"/>
                  </a:lnTo>
                  <a:lnTo>
                    <a:pt x="214" y="202"/>
                  </a:lnTo>
                  <a:lnTo>
                    <a:pt x="211" y="162"/>
                  </a:lnTo>
                  <a:lnTo>
                    <a:pt x="207" y="138"/>
                  </a:lnTo>
                  <a:lnTo>
                    <a:pt x="198" y="123"/>
                  </a:lnTo>
                  <a:lnTo>
                    <a:pt x="189" y="114"/>
                  </a:lnTo>
                  <a:lnTo>
                    <a:pt x="175" y="111"/>
                  </a:lnTo>
                  <a:lnTo>
                    <a:pt x="162" y="111"/>
                  </a:lnTo>
                  <a:lnTo>
                    <a:pt x="148" y="130"/>
                  </a:lnTo>
                  <a:lnTo>
                    <a:pt x="139" y="136"/>
                  </a:lnTo>
                  <a:lnTo>
                    <a:pt x="133" y="138"/>
                  </a:lnTo>
                  <a:lnTo>
                    <a:pt x="126" y="135"/>
                  </a:lnTo>
                  <a:lnTo>
                    <a:pt x="124" y="126"/>
                  </a:lnTo>
                  <a:lnTo>
                    <a:pt x="126" y="120"/>
                  </a:lnTo>
                  <a:lnTo>
                    <a:pt x="132" y="114"/>
                  </a:lnTo>
                  <a:lnTo>
                    <a:pt x="138" y="111"/>
                  </a:lnTo>
                  <a:lnTo>
                    <a:pt x="144" y="110"/>
                  </a:lnTo>
                  <a:lnTo>
                    <a:pt x="144" y="99"/>
                  </a:lnTo>
                  <a:lnTo>
                    <a:pt x="160" y="87"/>
                  </a:lnTo>
                  <a:lnTo>
                    <a:pt x="144" y="49"/>
                  </a:lnTo>
                  <a:lnTo>
                    <a:pt x="144" y="31"/>
                  </a:lnTo>
                  <a:lnTo>
                    <a:pt x="117" y="24"/>
                  </a:lnTo>
                  <a:lnTo>
                    <a:pt x="78" y="0"/>
                  </a:lnTo>
                  <a:lnTo>
                    <a:pt x="54" y="12"/>
                  </a:lnTo>
                  <a:close/>
                </a:path>
              </a:pathLst>
            </a:custGeom>
            <a:grpFill/>
            <a:ln w="3175">
              <a:solidFill>
                <a:schemeClr val="bg1"/>
              </a:solidFill>
              <a:prstDash val="solid"/>
              <a:round/>
              <a:headEnd/>
              <a:tailEnd/>
            </a:ln>
          </p:spPr>
          <p:txBody>
            <a:bodyPr/>
            <a:lstStyle>
              <a:defPPr>
                <a:defRPr lang="en-US"/>
              </a:defPPr>
              <a:lvl1pPr algn="l" defTabSz="509412" rtl="0" fontAlgn="base">
                <a:spcBef>
                  <a:spcPct val="0"/>
                </a:spcBef>
                <a:spcAft>
                  <a:spcPct val="0"/>
                </a:spcAft>
                <a:defRPr kern="1200">
                  <a:solidFill>
                    <a:schemeClr val="tx1"/>
                  </a:solidFill>
                  <a:latin typeface="Arial" charset="0"/>
                  <a:ea typeface="ＭＳ Ｐゴシック" charset="-128"/>
                  <a:cs typeface="+mn-cs"/>
                </a:defRPr>
              </a:lvl1pPr>
              <a:lvl2pPr marL="509412" algn="l" defTabSz="509412" rtl="0" fontAlgn="base">
                <a:spcBef>
                  <a:spcPct val="0"/>
                </a:spcBef>
                <a:spcAft>
                  <a:spcPct val="0"/>
                </a:spcAft>
                <a:defRPr kern="1200">
                  <a:solidFill>
                    <a:schemeClr val="tx1"/>
                  </a:solidFill>
                  <a:latin typeface="Arial" charset="0"/>
                  <a:ea typeface="ＭＳ Ｐゴシック" charset="-128"/>
                  <a:cs typeface="+mn-cs"/>
                </a:defRPr>
              </a:lvl2pPr>
              <a:lvl3pPr marL="1018824" algn="l" defTabSz="509412" rtl="0" fontAlgn="base">
                <a:spcBef>
                  <a:spcPct val="0"/>
                </a:spcBef>
                <a:spcAft>
                  <a:spcPct val="0"/>
                </a:spcAft>
                <a:defRPr kern="1200">
                  <a:solidFill>
                    <a:schemeClr val="tx1"/>
                  </a:solidFill>
                  <a:latin typeface="Arial" charset="0"/>
                  <a:ea typeface="ＭＳ Ｐゴシック" charset="-128"/>
                  <a:cs typeface="+mn-cs"/>
                </a:defRPr>
              </a:lvl3pPr>
              <a:lvl4pPr marL="1528237" algn="l" defTabSz="509412" rtl="0" fontAlgn="base">
                <a:spcBef>
                  <a:spcPct val="0"/>
                </a:spcBef>
                <a:spcAft>
                  <a:spcPct val="0"/>
                </a:spcAft>
                <a:defRPr kern="1200">
                  <a:solidFill>
                    <a:schemeClr val="tx1"/>
                  </a:solidFill>
                  <a:latin typeface="Arial" charset="0"/>
                  <a:ea typeface="ＭＳ Ｐゴシック" charset="-128"/>
                  <a:cs typeface="+mn-cs"/>
                </a:defRPr>
              </a:lvl4pPr>
              <a:lvl5pPr marL="2037649" algn="l" defTabSz="509412" rtl="0" fontAlgn="base">
                <a:spcBef>
                  <a:spcPct val="0"/>
                </a:spcBef>
                <a:spcAft>
                  <a:spcPct val="0"/>
                </a:spcAft>
                <a:defRPr kern="1200">
                  <a:solidFill>
                    <a:schemeClr val="tx1"/>
                  </a:solidFill>
                  <a:latin typeface="Arial" charset="0"/>
                  <a:ea typeface="ＭＳ Ｐゴシック" charset="-128"/>
                  <a:cs typeface="+mn-cs"/>
                </a:defRPr>
              </a:lvl5pPr>
              <a:lvl6pPr marL="2547061" algn="l" defTabSz="1018824" rtl="0" eaLnBrk="1" latinLnBrk="0" hangingPunct="1">
                <a:defRPr kern="1200">
                  <a:solidFill>
                    <a:schemeClr val="tx1"/>
                  </a:solidFill>
                  <a:latin typeface="Arial" charset="0"/>
                  <a:ea typeface="ＭＳ Ｐゴシック" charset="-128"/>
                  <a:cs typeface="+mn-cs"/>
                </a:defRPr>
              </a:lvl6pPr>
              <a:lvl7pPr marL="3056473" algn="l" defTabSz="1018824" rtl="0" eaLnBrk="1" latinLnBrk="0" hangingPunct="1">
                <a:defRPr kern="1200">
                  <a:solidFill>
                    <a:schemeClr val="tx1"/>
                  </a:solidFill>
                  <a:latin typeface="Arial" charset="0"/>
                  <a:ea typeface="ＭＳ Ｐゴシック" charset="-128"/>
                  <a:cs typeface="+mn-cs"/>
                </a:defRPr>
              </a:lvl7pPr>
              <a:lvl8pPr marL="3565886" algn="l" defTabSz="1018824" rtl="0" eaLnBrk="1" latinLnBrk="0" hangingPunct="1">
                <a:defRPr kern="1200">
                  <a:solidFill>
                    <a:schemeClr val="tx1"/>
                  </a:solidFill>
                  <a:latin typeface="Arial" charset="0"/>
                  <a:ea typeface="ＭＳ Ｐゴシック" charset="-128"/>
                  <a:cs typeface="+mn-cs"/>
                </a:defRPr>
              </a:lvl8pPr>
              <a:lvl9pPr marL="4075298" algn="l" defTabSz="1018824" rtl="0" eaLnBrk="1" latinLnBrk="0" hangingPunct="1">
                <a:defRPr kern="1200">
                  <a:solidFill>
                    <a:schemeClr val="tx1"/>
                  </a:solidFill>
                  <a:latin typeface="Arial" charset="0"/>
                  <a:ea typeface="ＭＳ Ｐゴシック" charset="-128"/>
                  <a:cs typeface="+mn-cs"/>
                </a:defRPr>
              </a:lvl9pPr>
            </a:lstStyle>
            <a:p>
              <a:endParaRPr lang="en-US" dirty="0"/>
            </a:p>
          </p:txBody>
        </p:sp>
      </p:grpSp>
      <p:sp>
        <p:nvSpPr>
          <p:cNvPr id="12" name="Freeform 43">
            <a:extLst>
              <a:ext uri="{FF2B5EF4-FFF2-40B4-BE49-F238E27FC236}">
                <a16:creationId xmlns:a16="http://schemas.microsoft.com/office/drawing/2014/main" id="{08D1E1E9-6BFB-48F7-29FF-0B08C8C027B8}"/>
              </a:ext>
            </a:extLst>
          </p:cNvPr>
          <p:cNvSpPr>
            <a:spLocks noChangeAspect="1"/>
          </p:cNvSpPr>
          <p:nvPr/>
        </p:nvSpPr>
        <p:spPr bwMode="auto">
          <a:xfrm rot="580954">
            <a:off x="1957451" y="4426045"/>
            <a:ext cx="158670" cy="250825"/>
          </a:xfrm>
          <a:custGeom>
            <a:avLst/>
            <a:gdLst>
              <a:gd name="T0" fmla="*/ 0 w 180"/>
              <a:gd name="T1" fmla="*/ 21 h 296"/>
              <a:gd name="T2" fmla="*/ 21 w 180"/>
              <a:gd name="T3" fmla="*/ 32 h 296"/>
              <a:gd name="T4" fmla="*/ 41 w 180"/>
              <a:gd name="T5" fmla="*/ 30 h 296"/>
              <a:gd name="T6" fmla="*/ 48 w 180"/>
              <a:gd name="T7" fmla="*/ 24 h 296"/>
              <a:gd name="T8" fmla="*/ 53 w 180"/>
              <a:gd name="T9" fmla="*/ 6 h 296"/>
              <a:gd name="T10" fmla="*/ 140 w 180"/>
              <a:gd name="T11" fmla="*/ 0 h 296"/>
              <a:gd name="T12" fmla="*/ 180 w 180"/>
              <a:gd name="T13" fmla="*/ 209 h 296"/>
              <a:gd name="T14" fmla="*/ 177 w 180"/>
              <a:gd name="T15" fmla="*/ 207 h 296"/>
              <a:gd name="T16" fmla="*/ 147 w 180"/>
              <a:gd name="T17" fmla="*/ 219 h 296"/>
              <a:gd name="T18" fmla="*/ 126 w 180"/>
              <a:gd name="T19" fmla="*/ 275 h 296"/>
              <a:gd name="T20" fmla="*/ 95 w 180"/>
              <a:gd name="T21" fmla="*/ 267 h 296"/>
              <a:gd name="T22" fmla="*/ 59 w 180"/>
              <a:gd name="T23" fmla="*/ 288 h 296"/>
              <a:gd name="T24" fmla="*/ 12 w 180"/>
              <a:gd name="T25" fmla="*/ 296 h 296"/>
              <a:gd name="T26" fmla="*/ 33 w 180"/>
              <a:gd name="T27" fmla="*/ 241 h 296"/>
              <a:gd name="T28" fmla="*/ 24 w 180"/>
              <a:gd name="T29" fmla="*/ 210 h 296"/>
              <a:gd name="T30" fmla="*/ 0 w 180"/>
              <a:gd name="T31" fmla="*/ 21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0"/>
              <a:gd name="T49" fmla="*/ 0 h 296"/>
              <a:gd name="T50" fmla="*/ 180 w 180"/>
              <a:gd name="T51" fmla="*/ 296 h 29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0" h="296">
                <a:moveTo>
                  <a:pt x="0" y="21"/>
                </a:moveTo>
                <a:lnTo>
                  <a:pt x="21" y="32"/>
                </a:lnTo>
                <a:lnTo>
                  <a:pt x="41" y="30"/>
                </a:lnTo>
                <a:lnTo>
                  <a:pt x="48" y="24"/>
                </a:lnTo>
                <a:lnTo>
                  <a:pt x="53" y="6"/>
                </a:lnTo>
                <a:lnTo>
                  <a:pt x="140" y="0"/>
                </a:lnTo>
                <a:lnTo>
                  <a:pt x="180" y="209"/>
                </a:lnTo>
                <a:lnTo>
                  <a:pt x="177" y="207"/>
                </a:lnTo>
                <a:lnTo>
                  <a:pt x="147" y="219"/>
                </a:lnTo>
                <a:lnTo>
                  <a:pt x="126" y="275"/>
                </a:lnTo>
                <a:lnTo>
                  <a:pt x="95" y="267"/>
                </a:lnTo>
                <a:lnTo>
                  <a:pt x="59" y="288"/>
                </a:lnTo>
                <a:lnTo>
                  <a:pt x="12" y="296"/>
                </a:lnTo>
                <a:lnTo>
                  <a:pt x="33" y="241"/>
                </a:lnTo>
                <a:lnTo>
                  <a:pt x="24" y="210"/>
                </a:lnTo>
                <a:lnTo>
                  <a:pt x="0" y="21"/>
                </a:lnTo>
                <a:close/>
              </a:path>
            </a:pathLst>
          </a:custGeom>
          <a:solidFill>
            <a:schemeClr val="bg1">
              <a:lumMod val="50000"/>
            </a:schemeClr>
          </a:solidFill>
          <a:ln w="3175">
            <a:solidFill>
              <a:schemeClr val="bg1"/>
            </a:solidFill>
            <a:prstDash val="solid"/>
            <a:round/>
            <a:headEnd/>
            <a:tailEnd/>
          </a:ln>
        </p:spPr>
        <p:txBody>
          <a:bodyPr/>
          <a:lstStyle>
            <a:defPPr>
              <a:defRPr lang="en-US"/>
            </a:defPPr>
            <a:lvl1pPr algn="l" defTabSz="509412" rtl="0" fontAlgn="base">
              <a:spcBef>
                <a:spcPct val="0"/>
              </a:spcBef>
              <a:spcAft>
                <a:spcPct val="0"/>
              </a:spcAft>
              <a:defRPr kern="1200">
                <a:solidFill>
                  <a:schemeClr val="tx1"/>
                </a:solidFill>
                <a:latin typeface="Arial" charset="0"/>
                <a:ea typeface="ＭＳ Ｐゴシック" charset="-128"/>
                <a:cs typeface="+mn-cs"/>
              </a:defRPr>
            </a:lvl1pPr>
            <a:lvl2pPr marL="509412" algn="l" defTabSz="509412" rtl="0" fontAlgn="base">
              <a:spcBef>
                <a:spcPct val="0"/>
              </a:spcBef>
              <a:spcAft>
                <a:spcPct val="0"/>
              </a:spcAft>
              <a:defRPr kern="1200">
                <a:solidFill>
                  <a:schemeClr val="tx1"/>
                </a:solidFill>
                <a:latin typeface="Arial" charset="0"/>
                <a:ea typeface="ＭＳ Ｐゴシック" charset="-128"/>
                <a:cs typeface="+mn-cs"/>
              </a:defRPr>
            </a:lvl2pPr>
            <a:lvl3pPr marL="1018824" algn="l" defTabSz="509412" rtl="0" fontAlgn="base">
              <a:spcBef>
                <a:spcPct val="0"/>
              </a:spcBef>
              <a:spcAft>
                <a:spcPct val="0"/>
              </a:spcAft>
              <a:defRPr kern="1200">
                <a:solidFill>
                  <a:schemeClr val="tx1"/>
                </a:solidFill>
                <a:latin typeface="Arial" charset="0"/>
                <a:ea typeface="ＭＳ Ｐゴシック" charset="-128"/>
                <a:cs typeface="+mn-cs"/>
              </a:defRPr>
            </a:lvl3pPr>
            <a:lvl4pPr marL="1528237" algn="l" defTabSz="509412" rtl="0" fontAlgn="base">
              <a:spcBef>
                <a:spcPct val="0"/>
              </a:spcBef>
              <a:spcAft>
                <a:spcPct val="0"/>
              </a:spcAft>
              <a:defRPr kern="1200">
                <a:solidFill>
                  <a:schemeClr val="tx1"/>
                </a:solidFill>
                <a:latin typeface="Arial" charset="0"/>
                <a:ea typeface="ＭＳ Ｐゴシック" charset="-128"/>
                <a:cs typeface="+mn-cs"/>
              </a:defRPr>
            </a:lvl4pPr>
            <a:lvl5pPr marL="2037649" algn="l" defTabSz="509412" rtl="0" fontAlgn="base">
              <a:spcBef>
                <a:spcPct val="0"/>
              </a:spcBef>
              <a:spcAft>
                <a:spcPct val="0"/>
              </a:spcAft>
              <a:defRPr kern="1200">
                <a:solidFill>
                  <a:schemeClr val="tx1"/>
                </a:solidFill>
                <a:latin typeface="Arial" charset="0"/>
                <a:ea typeface="ＭＳ Ｐゴシック" charset="-128"/>
                <a:cs typeface="+mn-cs"/>
              </a:defRPr>
            </a:lvl5pPr>
            <a:lvl6pPr marL="2547061" algn="l" defTabSz="1018824" rtl="0" eaLnBrk="1" latinLnBrk="0" hangingPunct="1">
              <a:defRPr kern="1200">
                <a:solidFill>
                  <a:schemeClr val="tx1"/>
                </a:solidFill>
                <a:latin typeface="Arial" charset="0"/>
                <a:ea typeface="ＭＳ Ｐゴシック" charset="-128"/>
                <a:cs typeface="+mn-cs"/>
              </a:defRPr>
            </a:lvl6pPr>
            <a:lvl7pPr marL="3056473" algn="l" defTabSz="1018824" rtl="0" eaLnBrk="1" latinLnBrk="0" hangingPunct="1">
              <a:defRPr kern="1200">
                <a:solidFill>
                  <a:schemeClr val="tx1"/>
                </a:solidFill>
                <a:latin typeface="Arial" charset="0"/>
                <a:ea typeface="ＭＳ Ｐゴシック" charset="-128"/>
                <a:cs typeface="+mn-cs"/>
              </a:defRPr>
            </a:lvl7pPr>
            <a:lvl8pPr marL="3565886" algn="l" defTabSz="1018824" rtl="0" eaLnBrk="1" latinLnBrk="0" hangingPunct="1">
              <a:defRPr kern="1200">
                <a:solidFill>
                  <a:schemeClr val="tx1"/>
                </a:solidFill>
                <a:latin typeface="Arial" charset="0"/>
                <a:ea typeface="ＭＳ Ｐゴシック" charset="-128"/>
                <a:cs typeface="+mn-cs"/>
              </a:defRPr>
            </a:lvl8pPr>
            <a:lvl9pPr marL="4075298" algn="l" defTabSz="1018824" rtl="0" eaLnBrk="1" latinLnBrk="0" hangingPunct="1">
              <a:defRPr kern="1200">
                <a:solidFill>
                  <a:schemeClr val="tx1"/>
                </a:solidFill>
                <a:latin typeface="Arial" charset="0"/>
                <a:ea typeface="ＭＳ Ｐゴシック" charset="-128"/>
                <a:cs typeface="+mn-cs"/>
              </a:defRPr>
            </a:lvl9pPr>
          </a:lstStyle>
          <a:p>
            <a:endParaRPr lang="en-US" dirty="0"/>
          </a:p>
        </p:txBody>
      </p:sp>
      <p:pic>
        <p:nvPicPr>
          <p:cNvPr id="15" name="Picture 14">
            <a:extLst>
              <a:ext uri="{FF2B5EF4-FFF2-40B4-BE49-F238E27FC236}">
                <a16:creationId xmlns:a16="http://schemas.microsoft.com/office/drawing/2014/main" id="{CEF663CC-3883-ECA4-CAB6-542125835ABD}"/>
              </a:ext>
            </a:extLst>
          </p:cNvPr>
          <p:cNvPicPr>
            <a:picLocks noChangeAspect="1"/>
          </p:cNvPicPr>
          <p:nvPr/>
        </p:nvPicPr>
        <p:blipFill>
          <a:blip r:embed="rId2"/>
          <a:stretch>
            <a:fillRect/>
          </a:stretch>
        </p:blipFill>
        <p:spPr>
          <a:xfrm>
            <a:off x="267461" y="2449336"/>
            <a:ext cx="1401363" cy="196045"/>
          </a:xfrm>
          <a:prstGeom prst="rect">
            <a:avLst/>
          </a:prstGeom>
        </p:spPr>
      </p:pic>
      <p:sp>
        <p:nvSpPr>
          <p:cNvPr id="16" name="TextBox 15">
            <a:extLst>
              <a:ext uri="{FF2B5EF4-FFF2-40B4-BE49-F238E27FC236}">
                <a16:creationId xmlns:a16="http://schemas.microsoft.com/office/drawing/2014/main" id="{5BD3FDB0-460C-7311-4907-7DC676EF8B72}"/>
              </a:ext>
            </a:extLst>
          </p:cNvPr>
          <p:cNvSpPr txBox="1"/>
          <p:nvPr/>
        </p:nvSpPr>
        <p:spPr>
          <a:xfrm>
            <a:off x="608266" y="2675806"/>
            <a:ext cx="801043" cy="215444"/>
          </a:xfrm>
          <a:prstGeom prst="rect">
            <a:avLst/>
          </a:prstGeom>
          <a:noFill/>
        </p:spPr>
        <p:txBody>
          <a:bodyPr wrap="square" rtlCol="0">
            <a:spAutoFit/>
          </a:bodyPr>
          <a:lstStyle/>
          <a:p>
            <a:r>
              <a:rPr lang="en-US" sz="800" b="1" i="1" dirty="0"/>
              <a:t>Ortho-center</a:t>
            </a:r>
          </a:p>
        </p:txBody>
      </p:sp>
      <p:sp>
        <p:nvSpPr>
          <p:cNvPr id="17" name="TextBox 16">
            <a:extLst>
              <a:ext uri="{FF2B5EF4-FFF2-40B4-BE49-F238E27FC236}">
                <a16:creationId xmlns:a16="http://schemas.microsoft.com/office/drawing/2014/main" id="{E1B88E5F-9970-E635-3D33-31C4E7BC4995}"/>
              </a:ext>
            </a:extLst>
          </p:cNvPr>
          <p:cNvSpPr txBox="1"/>
          <p:nvPr/>
        </p:nvSpPr>
        <p:spPr>
          <a:xfrm>
            <a:off x="838456" y="4289847"/>
            <a:ext cx="801043" cy="523220"/>
          </a:xfrm>
          <a:prstGeom prst="rect">
            <a:avLst/>
          </a:prstGeom>
          <a:noFill/>
        </p:spPr>
        <p:txBody>
          <a:bodyPr wrap="square">
            <a:spAutoFit/>
          </a:bodyPr>
          <a:lstStyle/>
          <a:p>
            <a:pPr algn="ctr"/>
            <a:r>
              <a:rPr lang="en-US" sz="900" b="1" dirty="0"/>
              <a:t>Springmill             Surgery Center</a:t>
            </a:r>
          </a:p>
        </p:txBody>
      </p:sp>
      <p:grpSp>
        <p:nvGrpSpPr>
          <p:cNvPr id="18" name="Group 17">
            <a:extLst>
              <a:ext uri="{FF2B5EF4-FFF2-40B4-BE49-F238E27FC236}">
                <a16:creationId xmlns:a16="http://schemas.microsoft.com/office/drawing/2014/main" id="{23AC4EEB-350A-56E8-E758-073F5179CF04}"/>
              </a:ext>
            </a:extLst>
          </p:cNvPr>
          <p:cNvGrpSpPr/>
          <p:nvPr/>
        </p:nvGrpSpPr>
        <p:grpSpPr>
          <a:xfrm>
            <a:off x="459430" y="3308051"/>
            <a:ext cx="1038145" cy="461664"/>
            <a:chOff x="402741" y="4047173"/>
            <a:chExt cx="679859" cy="302334"/>
          </a:xfrm>
        </p:grpSpPr>
        <p:pic>
          <p:nvPicPr>
            <p:cNvPr id="19" name="Picture 6" descr="Home - Michigan Institute of Urology">
              <a:extLst>
                <a:ext uri="{FF2B5EF4-FFF2-40B4-BE49-F238E27FC236}">
                  <a16:creationId xmlns:a16="http://schemas.microsoft.com/office/drawing/2014/main" id="{7EBD227E-F180-C4CD-4B98-E0D0A97A2B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2741" y="4047173"/>
              <a:ext cx="679859" cy="127752"/>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DD096FC9-CE55-F737-11A4-AD4D56B49721}"/>
                </a:ext>
              </a:extLst>
            </p:cNvPr>
            <p:cNvPicPr>
              <a:picLocks noChangeAspect="1"/>
            </p:cNvPicPr>
            <p:nvPr/>
          </p:nvPicPr>
          <p:blipFill>
            <a:blip r:embed="rId4"/>
            <a:stretch>
              <a:fillRect/>
            </a:stretch>
          </p:blipFill>
          <p:spPr>
            <a:xfrm>
              <a:off x="447270" y="4258076"/>
              <a:ext cx="635330" cy="91431"/>
            </a:xfrm>
            <a:prstGeom prst="rect">
              <a:avLst/>
            </a:prstGeom>
          </p:spPr>
        </p:pic>
      </p:grpSp>
      <p:sp>
        <p:nvSpPr>
          <p:cNvPr id="21" name="TextBox 20">
            <a:extLst>
              <a:ext uri="{FF2B5EF4-FFF2-40B4-BE49-F238E27FC236}">
                <a16:creationId xmlns:a16="http://schemas.microsoft.com/office/drawing/2014/main" id="{976DBCBC-D928-4012-2D7D-1A9F9D353DD7}"/>
              </a:ext>
            </a:extLst>
          </p:cNvPr>
          <p:cNvSpPr txBox="1"/>
          <p:nvPr/>
        </p:nvSpPr>
        <p:spPr>
          <a:xfrm>
            <a:off x="1517124" y="3737127"/>
            <a:ext cx="1039324" cy="323165"/>
          </a:xfrm>
          <a:prstGeom prst="rect">
            <a:avLst/>
          </a:prstGeom>
          <a:noFill/>
        </p:spPr>
        <p:txBody>
          <a:bodyPr wrap="square" rtlCol="0">
            <a:spAutoFit/>
          </a:bodyPr>
          <a:lstStyle/>
          <a:p>
            <a:pPr algn="ctr" defTabSz="914400"/>
            <a:r>
              <a:rPr lang="en-US" sz="750" b="1" dirty="0"/>
              <a:t>Flint</a:t>
            </a:r>
          </a:p>
          <a:p>
            <a:pPr algn="ctr" defTabSz="914400"/>
            <a:r>
              <a:rPr lang="en-US" sz="750" b="1" dirty="0"/>
              <a:t>Grand Rapids</a:t>
            </a:r>
          </a:p>
        </p:txBody>
      </p:sp>
      <p:grpSp>
        <p:nvGrpSpPr>
          <p:cNvPr id="22" name="Group 21">
            <a:extLst>
              <a:ext uri="{FF2B5EF4-FFF2-40B4-BE49-F238E27FC236}">
                <a16:creationId xmlns:a16="http://schemas.microsoft.com/office/drawing/2014/main" id="{E5971B96-247E-7EB6-0100-CA4DB311F383}"/>
              </a:ext>
            </a:extLst>
          </p:cNvPr>
          <p:cNvGrpSpPr>
            <a:grpSpLocks noChangeAspect="1"/>
          </p:cNvGrpSpPr>
          <p:nvPr/>
        </p:nvGrpSpPr>
        <p:grpSpPr>
          <a:xfrm rot="250367">
            <a:off x="1890606" y="3276508"/>
            <a:ext cx="292361" cy="260501"/>
            <a:chOff x="6454425" y="4380041"/>
            <a:chExt cx="491775" cy="438184"/>
          </a:xfrm>
          <a:solidFill>
            <a:schemeClr val="bg1">
              <a:lumMod val="50000"/>
            </a:schemeClr>
          </a:solidFill>
        </p:grpSpPr>
        <p:sp>
          <p:nvSpPr>
            <p:cNvPr id="23" name="Freeform 39">
              <a:extLst>
                <a:ext uri="{FF2B5EF4-FFF2-40B4-BE49-F238E27FC236}">
                  <a16:creationId xmlns:a16="http://schemas.microsoft.com/office/drawing/2014/main" id="{1B03E464-435F-0BEF-885B-19C918C001D5}"/>
                </a:ext>
              </a:extLst>
            </p:cNvPr>
            <p:cNvSpPr>
              <a:spLocks/>
            </p:cNvSpPr>
            <p:nvPr/>
          </p:nvSpPr>
          <p:spPr bwMode="auto">
            <a:xfrm>
              <a:off x="6454425" y="4380041"/>
              <a:ext cx="349266" cy="148362"/>
            </a:xfrm>
            <a:custGeom>
              <a:avLst/>
              <a:gdLst>
                <a:gd name="T0" fmla="*/ 0 w 299"/>
                <a:gd name="T1" fmla="*/ 71 h 129"/>
                <a:gd name="T2" fmla="*/ 67 w 299"/>
                <a:gd name="T3" fmla="*/ 0 h 129"/>
                <a:gd name="T4" fmla="*/ 55 w 299"/>
                <a:gd name="T5" fmla="*/ 29 h 129"/>
                <a:gd name="T6" fmla="*/ 64 w 299"/>
                <a:gd name="T7" fmla="*/ 38 h 129"/>
                <a:gd name="T8" fmla="*/ 85 w 299"/>
                <a:gd name="T9" fmla="*/ 26 h 129"/>
                <a:gd name="T10" fmla="*/ 131 w 299"/>
                <a:gd name="T11" fmla="*/ 44 h 129"/>
                <a:gd name="T12" fmla="*/ 151 w 299"/>
                <a:gd name="T13" fmla="*/ 29 h 129"/>
                <a:gd name="T14" fmla="*/ 213 w 299"/>
                <a:gd name="T15" fmla="*/ 21 h 129"/>
                <a:gd name="T16" fmla="*/ 225 w 299"/>
                <a:gd name="T17" fmla="*/ 39 h 129"/>
                <a:gd name="T18" fmla="*/ 249 w 299"/>
                <a:gd name="T19" fmla="*/ 35 h 129"/>
                <a:gd name="T20" fmla="*/ 296 w 299"/>
                <a:gd name="T21" fmla="*/ 54 h 129"/>
                <a:gd name="T22" fmla="*/ 299 w 299"/>
                <a:gd name="T23" fmla="*/ 68 h 129"/>
                <a:gd name="T24" fmla="*/ 248 w 299"/>
                <a:gd name="T25" fmla="*/ 80 h 129"/>
                <a:gd name="T26" fmla="*/ 233 w 299"/>
                <a:gd name="T27" fmla="*/ 71 h 129"/>
                <a:gd name="T28" fmla="*/ 207 w 299"/>
                <a:gd name="T29" fmla="*/ 74 h 129"/>
                <a:gd name="T30" fmla="*/ 177 w 299"/>
                <a:gd name="T31" fmla="*/ 92 h 129"/>
                <a:gd name="T32" fmla="*/ 163 w 299"/>
                <a:gd name="T33" fmla="*/ 93 h 129"/>
                <a:gd name="T34" fmla="*/ 152 w 299"/>
                <a:gd name="T35" fmla="*/ 80 h 129"/>
                <a:gd name="T36" fmla="*/ 135 w 299"/>
                <a:gd name="T37" fmla="*/ 128 h 129"/>
                <a:gd name="T38" fmla="*/ 116 w 299"/>
                <a:gd name="T39" fmla="*/ 129 h 129"/>
                <a:gd name="T40" fmla="*/ 108 w 299"/>
                <a:gd name="T41" fmla="*/ 110 h 129"/>
                <a:gd name="T42" fmla="*/ 68 w 299"/>
                <a:gd name="T43" fmla="*/ 101 h 129"/>
                <a:gd name="T44" fmla="*/ 49 w 299"/>
                <a:gd name="T45" fmla="*/ 87 h 129"/>
                <a:gd name="T46" fmla="*/ 16 w 299"/>
                <a:gd name="T47" fmla="*/ 92 h 129"/>
                <a:gd name="T48" fmla="*/ 0 w 299"/>
                <a:gd name="T49" fmla="*/ 71 h 12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99"/>
                <a:gd name="T76" fmla="*/ 0 h 129"/>
                <a:gd name="T77" fmla="*/ 299 w 299"/>
                <a:gd name="T78" fmla="*/ 129 h 12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99" h="129">
                  <a:moveTo>
                    <a:pt x="0" y="71"/>
                  </a:moveTo>
                  <a:lnTo>
                    <a:pt x="67" y="0"/>
                  </a:lnTo>
                  <a:lnTo>
                    <a:pt x="55" y="29"/>
                  </a:lnTo>
                  <a:lnTo>
                    <a:pt x="64" y="38"/>
                  </a:lnTo>
                  <a:lnTo>
                    <a:pt x="85" y="26"/>
                  </a:lnTo>
                  <a:lnTo>
                    <a:pt x="131" y="44"/>
                  </a:lnTo>
                  <a:lnTo>
                    <a:pt x="151" y="29"/>
                  </a:lnTo>
                  <a:lnTo>
                    <a:pt x="213" y="21"/>
                  </a:lnTo>
                  <a:lnTo>
                    <a:pt x="225" y="39"/>
                  </a:lnTo>
                  <a:lnTo>
                    <a:pt x="249" y="35"/>
                  </a:lnTo>
                  <a:lnTo>
                    <a:pt x="296" y="54"/>
                  </a:lnTo>
                  <a:lnTo>
                    <a:pt x="299" y="68"/>
                  </a:lnTo>
                  <a:lnTo>
                    <a:pt x="248" y="80"/>
                  </a:lnTo>
                  <a:lnTo>
                    <a:pt x="233" y="71"/>
                  </a:lnTo>
                  <a:lnTo>
                    <a:pt x="207" y="74"/>
                  </a:lnTo>
                  <a:lnTo>
                    <a:pt x="177" y="92"/>
                  </a:lnTo>
                  <a:lnTo>
                    <a:pt x="163" y="93"/>
                  </a:lnTo>
                  <a:lnTo>
                    <a:pt x="152" y="80"/>
                  </a:lnTo>
                  <a:lnTo>
                    <a:pt x="135" y="128"/>
                  </a:lnTo>
                  <a:lnTo>
                    <a:pt x="116" y="129"/>
                  </a:lnTo>
                  <a:lnTo>
                    <a:pt x="108" y="110"/>
                  </a:lnTo>
                  <a:lnTo>
                    <a:pt x="68" y="101"/>
                  </a:lnTo>
                  <a:lnTo>
                    <a:pt x="49" y="87"/>
                  </a:lnTo>
                  <a:lnTo>
                    <a:pt x="16" y="92"/>
                  </a:lnTo>
                  <a:lnTo>
                    <a:pt x="0" y="71"/>
                  </a:lnTo>
                  <a:close/>
                </a:path>
              </a:pathLst>
            </a:custGeom>
            <a:grpFill/>
            <a:ln w="3175">
              <a:solidFill>
                <a:schemeClr val="bg1"/>
              </a:solidFill>
              <a:prstDash val="solid"/>
              <a:round/>
              <a:headEnd/>
              <a:tailEnd/>
            </a:ln>
          </p:spPr>
          <p:txBody>
            <a:bodyPr/>
            <a:lstStyle>
              <a:defPPr>
                <a:defRPr lang="en-US"/>
              </a:defPPr>
              <a:lvl1pPr algn="l" defTabSz="509412" rtl="0" fontAlgn="base">
                <a:spcBef>
                  <a:spcPct val="0"/>
                </a:spcBef>
                <a:spcAft>
                  <a:spcPct val="0"/>
                </a:spcAft>
                <a:defRPr kern="1200">
                  <a:solidFill>
                    <a:schemeClr val="tx1"/>
                  </a:solidFill>
                  <a:latin typeface="Arial" charset="0"/>
                  <a:ea typeface="ＭＳ Ｐゴシック" charset="-128"/>
                  <a:cs typeface="+mn-cs"/>
                </a:defRPr>
              </a:lvl1pPr>
              <a:lvl2pPr marL="509412" algn="l" defTabSz="509412" rtl="0" fontAlgn="base">
                <a:spcBef>
                  <a:spcPct val="0"/>
                </a:spcBef>
                <a:spcAft>
                  <a:spcPct val="0"/>
                </a:spcAft>
                <a:defRPr kern="1200">
                  <a:solidFill>
                    <a:schemeClr val="tx1"/>
                  </a:solidFill>
                  <a:latin typeface="Arial" charset="0"/>
                  <a:ea typeface="ＭＳ Ｐゴシック" charset="-128"/>
                  <a:cs typeface="+mn-cs"/>
                </a:defRPr>
              </a:lvl2pPr>
              <a:lvl3pPr marL="1018824" algn="l" defTabSz="509412" rtl="0" fontAlgn="base">
                <a:spcBef>
                  <a:spcPct val="0"/>
                </a:spcBef>
                <a:spcAft>
                  <a:spcPct val="0"/>
                </a:spcAft>
                <a:defRPr kern="1200">
                  <a:solidFill>
                    <a:schemeClr val="tx1"/>
                  </a:solidFill>
                  <a:latin typeface="Arial" charset="0"/>
                  <a:ea typeface="ＭＳ Ｐゴシック" charset="-128"/>
                  <a:cs typeface="+mn-cs"/>
                </a:defRPr>
              </a:lvl3pPr>
              <a:lvl4pPr marL="1528237" algn="l" defTabSz="509412" rtl="0" fontAlgn="base">
                <a:spcBef>
                  <a:spcPct val="0"/>
                </a:spcBef>
                <a:spcAft>
                  <a:spcPct val="0"/>
                </a:spcAft>
                <a:defRPr kern="1200">
                  <a:solidFill>
                    <a:schemeClr val="tx1"/>
                  </a:solidFill>
                  <a:latin typeface="Arial" charset="0"/>
                  <a:ea typeface="ＭＳ Ｐゴシック" charset="-128"/>
                  <a:cs typeface="+mn-cs"/>
                </a:defRPr>
              </a:lvl4pPr>
              <a:lvl5pPr marL="2037649" algn="l" defTabSz="509412" rtl="0" fontAlgn="base">
                <a:spcBef>
                  <a:spcPct val="0"/>
                </a:spcBef>
                <a:spcAft>
                  <a:spcPct val="0"/>
                </a:spcAft>
                <a:defRPr kern="1200">
                  <a:solidFill>
                    <a:schemeClr val="tx1"/>
                  </a:solidFill>
                  <a:latin typeface="Arial" charset="0"/>
                  <a:ea typeface="ＭＳ Ｐゴシック" charset="-128"/>
                  <a:cs typeface="+mn-cs"/>
                </a:defRPr>
              </a:lvl5pPr>
              <a:lvl6pPr marL="2547061" algn="l" defTabSz="1018824" rtl="0" eaLnBrk="1" latinLnBrk="0" hangingPunct="1">
                <a:defRPr kern="1200">
                  <a:solidFill>
                    <a:schemeClr val="tx1"/>
                  </a:solidFill>
                  <a:latin typeface="Arial" charset="0"/>
                  <a:ea typeface="ＭＳ Ｐゴシック" charset="-128"/>
                  <a:cs typeface="+mn-cs"/>
                </a:defRPr>
              </a:lvl6pPr>
              <a:lvl7pPr marL="3056473" algn="l" defTabSz="1018824" rtl="0" eaLnBrk="1" latinLnBrk="0" hangingPunct="1">
                <a:defRPr kern="1200">
                  <a:solidFill>
                    <a:schemeClr val="tx1"/>
                  </a:solidFill>
                  <a:latin typeface="Arial" charset="0"/>
                  <a:ea typeface="ＭＳ Ｐゴシック" charset="-128"/>
                  <a:cs typeface="+mn-cs"/>
                </a:defRPr>
              </a:lvl7pPr>
              <a:lvl8pPr marL="3565886" algn="l" defTabSz="1018824" rtl="0" eaLnBrk="1" latinLnBrk="0" hangingPunct="1">
                <a:defRPr kern="1200">
                  <a:solidFill>
                    <a:schemeClr val="tx1"/>
                  </a:solidFill>
                  <a:latin typeface="Arial" charset="0"/>
                  <a:ea typeface="ＭＳ Ｐゴシック" charset="-128"/>
                  <a:cs typeface="+mn-cs"/>
                </a:defRPr>
              </a:lvl8pPr>
              <a:lvl9pPr marL="4075298" algn="l" defTabSz="1018824" rtl="0" eaLnBrk="1" latinLnBrk="0" hangingPunct="1">
                <a:defRPr kern="1200">
                  <a:solidFill>
                    <a:schemeClr val="tx1"/>
                  </a:solidFill>
                  <a:latin typeface="Arial" charset="0"/>
                  <a:ea typeface="ＭＳ Ｐゴシック" charset="-128"/>
                  <a:cs typeface="+mn-cs"/>
                </a:defRPr>
              </a:lvl9pPr>
            </a:lstStyle>
            <a:p>
              <a:endParaRPr lang="en-US" dirty="0"/>
            </a:p>
          </p:txBody>
        </p:sp>
        <p:sp>
          <p:nvSpPr>
            <p:cNvPr id="24" name="Freeform 40">
              <a:extLst>
                <a:ext uri="{FF2B5EF4-FFF2-40B4-BE49-F238E27FC236}">
                  <a16:creationId xmlns:a16="http://schemas.microsoft.com/office/drawing/2014/main" id="{85B3C55C-EAB2-5ADF-832B-A8DB7978BF60}"/>
                </a:ext>
              </a:extLst>
            </p:cNvPr>
            <p:cNvSpPr>
              <a:spLocks/>
            </p:cNvSpPr>
            <p:nvPr/>
          </p:nvSpPr>
          <p:spPr bwMode="auto">
            <a:xfrm>
              <a:off x="6696224" y="4484699"/>
              <a:ext cx="249976" cy="333526"/>
            </a:xfrm>
            <a:custGeom>
              <a:avLst/>
              <a:gdLst>
                <a:gd name="T0" fmla="*/ 54 w 214"/>
                <a:gd name="T1" fmla="*/ 12 h 290"/>
                <a:gd name="T2" fmla="*/ 62 w 214"/>
                <a:gd name="T3" fmla="*/ 30 h 290"/>
                <a:gd name="T4" fmla="*/ 47 w 214"/>
                <a:gd name="T5" fmla="*/ 41 h 290"/>
                <a:gd name="T6" fmla="*/ 46 w 214"/>
                <a:gd name="T7" fmla="*/ 87 h 290"/>
                <a:gd name="T8" fmla="*/ 38 w 214"/>
                <a:gd name="T9" fmla="*/ 57 h 290"/>
                <a:gd name="T10" fmla="*/ 7 w 214"/>
                <a:gd name="T11" fmla="*/ 86 h 290"/>
                <a:gd name="T12" fmla="*/ 0 w 214"/>
                <a:gd name="T13" fmla="*/ 169 h 290"/>
                <a:gd name="T14" fmla="*/ 20 w 214"/>
                <a:gd name="T15" fmla="*/ 210 h 290"/>
                <a:gd name="T16" fmla="*/ 22 w 214"/>
                <a:gd name="T17" fmla="*/ 231 h 290"/>
                <a:gd name="T18" fmla="*/ 23 w 214"/>
                <a:gd name="T19" fmla="*/ 248 h 290"/>
                <a:gd name="T20" fmla="*/ 22 w 214"/>
                <a:gd name="T21" fmla="*/ 263 h 290"/>
                <a:gd name="T22" fmla="*/ 18 w 214"/>
                <a:gd name="T23" fmla="*/ 290 h 290"/>
                <a:gd name="T24" fmla="*/ 102 w 214"/>
                <a:gd name="T25" fmla="*/ 285 h 290"/>
                <a:gd name="T26" fmla="*/ 213 w 214"/>
                <a:gd name="T27" fmla="*/ 275 h 290"/>
                <a:gd name="T28" fmla="*/ 193 w 214"/>
                <a:gd name="T29" fmla="*/ 269 h 290"/>
                <a:gd name="T30" fmla="*/ 182 w 214"/>
                <a:gd name="T31" fmla="*/ 254 h 290"/>
                <a:gd name="T32" fmla="*/ 199 w 214"/>
                <a:gd name="T33" fmla="*/ 241 h 290"/>
                <a:gd name="T34" fmla="*/ 199 w 214"/>
                <a:gd name="T35" fmla="*/ 225 h 290"/>
                <a:gd name="T36" fmla="*/ 191 w 214"/>
                <a:gd name="T37" fmla="*/ 211 h 290"/>
                <a:gd name="T38" fmla="*/ 199 w 214"/>
                <a:gd name="T39" fmla="*/ 201 h 290"/>
                <a:gd name="T40" fmla="*/ 214 w 214"/>
                <a:gd name="T41" fmla="*/ 202 h 290"/>
                <a:gd name="T42" fmla="*/ 211 w 214"/>
                <a:gd name="T43" fmla="*/ 162 h 290"/>
                <a:gd name="T44" fmla="*/ 207 w 214"/>
                <a:gd name="T45" fmla="*/ 138 h 290"/>
                <a:gd name="T46" fmla="*/ 198 w 214"/>
                <a:gd name="T47" fmla="*/ 123 h 290"/>
                <a:gd name="T48" fmla="*/ 189 w 214"/>
                <a:gd name="T49" fmla="*/ 114 h 290"/>
                <a:gd name="T50" fmla="*/ 175 w 214"/>
                <a:gd name="T51" fmla="*/ 111 h 290"/>
                <a:gd name="T52" fmla="*/ 162 w 214"/>
                <a:gd name="T53" fmla="*/ 111 h 290"/>
                <a:gd name="T54" fmla="*/ 148 w 214"/>
                <a:gd name="T55" fmla="*/ 130 h 290"/>
                <a:gd name="T56" fmla="*/ 139 w 214"/>
                <a:gd name="T57" fmla="*/ 136 h 290"/>
                <a:gd name="T58" fmla="*/ 133 w 214"/>
                <a:gd name="T59" fmla="*/ 138 h 290"/>
                <a:gd name="T60" fmla="*/ 126 w 214"/>
                <a:gd name="T61" fmla="*/ 135 h 290"/>
                <a:gd name="T62" fmla="*/ 124 w 214"/>
                <a:gd name="T63" fmla="*/ 126 h 290"/>
                <a:gd name="T64" fmla="*/ 126 w 214"/>
                <a:gd name="T65" fmla="*/ 120 h 290"/>
                <a:gd name="T66" fmla="*/ 132 w 214"/>
                <a:gd name="T67" fmla="*/ 114 h 290"/>
                <a:gd name="T68" fmla="*/ 138 w 214"/>
                <a:gd name="T69" fmla="*/ 111 h 290"/>
                <a:gd name="T70" fmla="*/ 144 w 214"/>
                <a:gd name="T71" fmla="*/ 110 h 290"/>
                <a:gd name="T72" fmla="*/ 144 w 214"/>
                <a:gd name="T73" fmla="*/ 99 h 290"/>
                <a:gd name="T74" fmla="*/ 160 w 214"/>
                <a:gd name="T75" fmla="*/ 87 h 290"/>
                <a:gd name="T76" fmla="*/ 144 w 214"/>
                <a:gd name="T77" fmla="*/ 49 h 290"/>
                <a:gd name="T78" fmla="*/ 144 w 214"/>
                <a:gd name="T79" fmla="*/ 31 h 290"/>
                <a:gd name="T80" fmla="*/ 117 w 214"/>
                <a:gd name="T81" fmla="*/ 24 h 290"/>
                <a:gd name="T82" fmla="*/ 78 w 214"/>
                <a:gd name="T83" fmla="*/ 0 h 290"/>
                <a:gd name="T84" fmla="*/ 54 w 214"/>
                <a:gd name="T85" fmla="*/ 12 h 29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14"/>
                <a:gd name="T130" fmla="*/ 0 h 290"/>
                <a:gd name="T131" fmla="*/ 214 w 214"/>
                <a:gd name="T132" fmla="*/ 290 h 29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14" h="290">
                  <a:moveTo>
                    <a:pt x="54" y="12"/>
                  </a:moveTo>
                  <a:lnTo>
                    <a:pt x="62" y="30"/>
                  </a:lnTo>
                  <a:lnTo>
                    <a:pt x="47" y="41"/>
                  </a:lnTo>
                  <a:lnTo>
                    <a:pt x="46" y="87"/>
                  </a:lnTo>
                  <a:lnTo>
                    <a:pt x="38" y="57"/>
                  </a:lnTo>
                  <a:lnTo>
                    <a:pt x="7" y="86"/>
                  </a:lnTo>
                  <a:lnTo>
                    <a:pt x="0" y="169"/>
                  </a:lnTo>
                  <a:lnTo>
                    <a:pt x="20" y="210"/>
                  </a:lnTo>
                  <a:lnTo>
                    <a:pt x="22" y="231"/>
                  </a:lnTo>
                  <a:lnTo>
                    <a:pt x="23" y="248"/>
                  </a:lnTo>
                  <a:lnTo>
                    <a:pt x="22" y="263"/>
                  </a:lnTo>
                  <a:lnTo>
                    <a:pt x="18" y="290"/>
                  </a:lnTo>
                  <a:lnTo>
                    <a:pt x="102" y="285"/>
                  </a:lnTo>
                  <a:lnTo>
                    <a:pt x="213" y="275"/>
                  </a:lnTo>
                  <a:lnTo>
                    <a:pt x="193" y="269"/>
                  </a:lnTo>
                  <a:lnTo>
                    <a:pt x="182" y="254"/>
                  </a:lnTo>
                  <a:lnTo>
                    <a:pt x="199" y="241"/>
                  </a:lnTo>
                  <a:lnTo>
                    <a:pt x="199" y="225"/>
                  </a:lnTo>
                  <a:lnTo>
                    <a:pt x="191" y="211"/>
                  </a:lnTo>
                  <a:lnTo>
                    <a:pt x="199" y="201"/>
                  </a:lnTo>
                  <a:lnTo>
                    <a:pt x="214" y="202"/>
                  </a:lnTo>
                  <a:lnTo>
                    <a:pt x="211" y="162"/>
                  </a:lnTo>
                  <a:lnTo>
                    <a:pt x="207" y="138"/>
                  </a:lnTo>
                  <a:lnTo>
                    <a:pt x="198" y="123"/>
                  </a:lnTo>
                  <a:lnTo>
                    <a:pt x="189" y="114"/>
                  </a:lnTo>
                  <a:lnTo>
                    <a:pt x="175" y="111"/>
                  </a:lnTo>
                  <a:lnTo>
                    <a:pt x="162" y="111"/>
                  </a:lnTo>
                  <a:lnTo>
                    <a:pt x="148" y="130"/>
                  </a:lnTo>
                  <a:lnTo>
                    <a:pt x="139" y="136"/>
                  </a:lnTo>
                  <a:lnTo>
                    <a:pt x="133" y="138"/>
                  </a:lnTo>
                  <a:lnTo>
                    <a:pt x="126" y="135"/>
                  </a:lnTo>
                  <a:lnTo>
                    <a:pt x="124" y="126"/>
                  </a:lnTo>
                  <a:lnTo>
                    <a:pt x="126" y="120"/>
                  </a:lnTo>
                  <a:lnTo>
                    <a:pt x="132" y="114"/>
                  </a:lnTo>
                  <a:lnTo>
                    <a:pt x="138" y="111"/>
                  </a:lnTo>
                  <a:lnTo>
                    <a:pt x="144" y="110"/>
                  </a:lnTo>
                  <a:lnTo>
                    <a:pt x="144" y="99"/>
                  </a:lnTo>
                  <a:lnTo>
                    <a:pt x="160" y="87"/>
                  </a:lnTo>
                  <a:lnTo>
                    <a:pt x="144" y="49"/>
                  </a:lnTo>
                  <a:lnTo>
                    <a:pt x="144" y="31"/>
                  </a:lnTo>
                  <a:lnTo>
                    <a:pt x="117" y="24"/>
                  </a:lnTo>
                  <a:lnTo>
                    <a:pt x="78" y="0"/>
                  </a:lnTo>
                  <a:lnTo>
                    <a:pt x="54" y="12"/>
                  </a:lnTo>
                  <a:close/>
                </a:path>
              </a:pathLst>
            </a:custGeom>
            <a:grpFill/>
            <a:ln w="3175">
              <a:solidFill>
                <a:schemeClr val="bg1"/>
              </a:solidFill>
              <a:prstDash val="solid"/>
              <a:round/>
              <a:headEnd/>
              <a:tailEnd/>
            </a:ln>
          </p:spPr>
          <p:txBody>
            <a:bodyPr/>
            <a:lstStyle>
              <a:defPPr>
                <a:defRPr lang="en-US"/>
              </a:defPPr>
              <a:lvl1pPr algn="l" defTabSz="509412" rtl="0" fontAlgn="base">
                <a:spcBef>
                  <a:spcPct val="0"/>
                </a:spcBef>
                <a:spcAft>
                  <a:spcPct val="0"/>
                </a:spcAft>
                <a:defRPr kern="1200">
                  <a:solidFill>
                    <a:schemeClr val="tx1"/>
                  </a:solidFill>
                  <a:latin typeface="Arial" charset="0"/>
                  <a:ea typeface="ＭＳ Ｐゴシック" charset="-128"/>
                  <a:cs typeface="+mn-cs"/>
                </a:defRPr>
              </a:lvl1pPr>
              <a:lvl2pPr marL="509412" algn="l" defTabSz="509412" rtl="0" fontAlgn="base">
                <a:spcBef>
                  <a:spcPct val="0"/>
                </a:spcBef>
                <a:spcAft>
                  <a:spcPct val="0"/>
                </a:spcAft>
                <a:defRPr kern="1200">
                  <a:solidFill>
                    <a:schemeClr val="tx1"/>
                  </a:solidFill>
                  <a:latin typeface="Arial" charset="0"/>
                  <a:ea typeface="ＭＳ Ｐゴシック" charset="-128"/>
                  <a:cs typeface="+mn-cs"/>
                </a:defRPr>
              </a:lvl2pPr>
              <a:lvl3pPr marL="1018824" algn="l" defTabSz="509412" rtl="0" fontAlgn="base">
                <a:spcBef>
                  <a:spcPct val="0"/>
                </a:spcBef>
                <a:spcAft>
                  <a:spcPct val="0"/>
                </a:spcAft>
                <a:defRPr kern="1200">
                  <a:solidFill>
                    <a:schemeClr val="tx1"/>
                  </a:solidFill>
                  <a:latin typeface="Arial" charset="0"/>
                  <a:ea typeface="ＭＳ Ｐゴシック" charset="-128"/>
                  <a:cs typeface="+mn-cs"/>
                </a:defRPr>
              </a:lvl3pPr>
              <a:lvl4pPr marL="1528237" algn="l" defTabSz="509412" rtl="0" fontAlgn="base">
                <a:spcBef>
                  <a:spcPct val="0"/>
                </a:spcBef>
                <a:spcAft>
                  <a:spcPct val="0"/>
                </a:spcAft>
                <a:defRPr kern="1200">
                  <a:solidFill>
                    <a:schemeClr val="tx1"/>
                  </a:solidFill>
                  <a:latin typeface="Arial" charset="0"/>
                  <a:ea typeface="ＭＳ Ｐゴシック" charset="-128"/>
                  <a:cs typeface="+mn-cs"/>
                </a:defRPr>
              </a:lvl4pPr>
              <a:lvl5pPr marL="2037649" algn="l" defTabSz="509412" rtl="0" fontAlgn="base">
                <a:spcBef>
                  <a:spcPct val="0"/>
                </a:spcBef>
                <a:spcAft>
                  <a:spcPct val="0"/>
                </a:spcAft>
                <a:defRPr kern="1200">
                  <a:solidFill>
                    <a:schemeClr val="tx1"/>
                  </a:solidFill>
                  <a:latin typeface="Arial" charset="0"/>
                  <a:ea typeface="ＭＳ Ｐゴシック" charset="-128"/>
                  <a:cs typeface="+mn-cs"/>
                </a:defRPr>
              </a:lvl5pPr>
              <a:lvl6pPr marL="2547061" algn="l" defTabSz="1018824" rtl="0" eaLnBrk="1" latinLnBrk="0" hangingPunct="1">
                <a:defRPr kern="1200">
                  <a:solidFill>
                    <a:schemeClr val="tx1"/>
                  </a:solidFill>
                  <a:latin typeface="Arial" charset="0"/>
                  <a:ea typeface="ＭＳ Ｐゴシック" charset="-128"/>
                  <a:cs typeface="+mn-cs"/>
                </a:defRPr>
              </a:lvl6pPr>
              <a:lvl7pPr marL="3056473" algn="l" defTabSz="1018824" rtl="0" eaLnBrk="1" latinLnBrk="0" hangingPunct="1">
                <a:defRPr kern="1200">
                  <a:solidFill>
                    <a:schemeClr val="tx1"/>
                  </a:solidFill>
                  <a:latin typeface="Arial" charset="0"/>
                  <a:ea typeface="ＭＳ Ｐゴシック" charset="-128"/>
                  <a:cs typeface="+mn-cs"/>
                </a:defRPr>
              </a:lvl7pPr>
              <a:lvl8pPr marL="3565886" algn="l" defTabSz="1018824" rtl="0" eaLnBrk="1" latinLnBrk="0" hangingPunct="1">
                <a:defRPr kern="1200">
                  <a:solidFill>
                    <a:schemeClr val="tx1"/>
                  </a:solidFill>
                  <a:latin typeface="Arial" charset="0"/>
                  <a:ea typeface="ＭＳ Ｐゴシック" charset="-128"/>
                  <a:cs typeface="+mn-cs"/>
                </a:defRPr>
              </a:lvl8pPr>
              <a:lvl9pPr marL="4075298" algn="l" defTabSz="1018824" rtl="0" eaLnBrk="1" latinLnBrk="0" hangingPunct="1">
                <a:defRPr kern="1200">
                  <a:solidFill>
                    <a:schemeClr val="tx1"/>
                  </a:solidFill>
                  <a:latin typeface="Arial" charset="0"/>
                  <a:ea typeface="ＭＳ Ｐゴシック" charset="-128"/>
                  <a:cs typeface="+mn-cs"/>
                </a:defRPr>
              </a:lvl9pPr>
            </a:lstStyle>
            <a:p>
              <a:endParaRPr lang="en-US" dirty="0"/>
            </a:p>
          </p:txBody>
        </p:sp>
      </p:grpSp>
      <p:pic>
        <p:nvPicPr>
          <p:cNvPr id="25" name="Picture 24">
            <a:extLst>
              <a:ext uri="{FF2B5EF4-FFF2-40B4-BE49-F238E27FC236}">
                <a16:creationId xmlns:a16="http://schemas.microsoft.com/office/drawing/2014/main" id="{CB3534B6-0234-FE2F-4B33-F67CFF452CFD}"/>
              </a:ext>
            </a:extLst>
          </p:cNvPr>
          <p:cNvPicPr>
            <a:picLocks noChangeAspect="1"/>
          </p:cNvPicPr>
          <p:nvPr/>
        </p:nvPicPr>
        <p:blipFill>
          <a:blip r:embed="rId5">
            <a:clrChange>
              <a:clrFrom>
                <a:srgbClr val="FFFFFF"/>
              </a:clrFrom>
              <a:clrTo>
                <a:srgbClr val="FFFFFF">
                  <a:alpha val="0"/>
                </a:srgbClr>
              </a:clrTo>
            </a:clrChange>
          </a:blip>
          <a:srcRect r="48750"/>
          <a:stretch>
            <a:fillRect/>
          </a:stretch>
        </p:blipFill>
        <p:spPr>
          <a:xfrm>
            <a:off x="248012" y="4415953"/>
            <a:ext cx="677761" cy="271009"/>
          </a:xfrm>
          <a:prstGeom prst="rect">
            <a:avLst/>
          </a:prstGeom>
        </p:spPr>
      </p:pic>
    </p:spTree>
    <p:extLst>
      <p:ext uri="{BB962C8B-B14F-4D97-AF65-F5344CB8AC3E}">
        <p14:creationId xmlns:p14="http://schemas.microsoft.com/office/powerpoint/2010/main" val="26524748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8D6A6-B3FF-A60C-0799-3291CFF62B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DF0DE4-4C67-6D50-69F0-B67170435582}"/>
              </a:ext>
            </a:extLst>
          </p:cNvPr>
          <p:cNvSpPr>
            <a:spLocks noGrp="1"/>
          </p:cNvSpPr>
          <p:nvPr>
            <p:ph type="title"/>
          </p:nvPr>
        </p:nvSpPr>
        <p:spPr/>
        <p:txBody>
          <a:bodyPr>
            <a:normAutofit/>
          </a:bodyPr>
          <a:lstStyle/>
          <a:p>
            <a:r>
              <a:rPr lang="en-US" dirty="0"/>
              <a:t>Overview of Contract Types</a:t>
            </a:r>
          </a:p>
        </p:txBody>
      </p:sp>
      <p:sp>
        <p:nvSpPr>
          <p:cNvPr id="9" name="Slide Number Placeholder 8">
            <a:extLst>
              <a:ext uri="{FF2B5EF4-FFF2-40B4-BE49-F238E27FC236}">
                <a16:creationId xmlns:a16="http://schemas.microsoft.com/office/drawing/2014/main" id="{A97AE21D-CE7A-E4BD-5F32-098E6BCDBE60}"/>
              </a:ext>
            </a:extLst>
          </p:cNvPr>
          <p:cNvSpPr>
            <a:spLocks noGrp="1"/>
          </p:cNvSpPr>
          <p:nvPr>
            <p:ph type="sldNum" sz="quarter" idx="12"/>
          </p:nvPr>
        </p:nvSpPr>
        <p:spPr/>
        <p:txBody>
          <a:bodyPr/>
          <a:lstStyle/>
          <a:p>
            <a:fld id="{F8DDDAE5-3BDD-4D78-843B-A22FA78305BB}" type="slidenum">
              <a:rPr lang="en-US" smtClean="0"/>
              <a:t>15</a:t>
            </a:fld>
            <a:endParaRPr lang="en-US" dirty="0"/>
          </a:p>
        </p:txBody>
      </p:sp>
      <p:sp>
        <p:nvSpPr>
          <p:cNvPr id="4" name="Rectangle 3">
            <a:extLst>
              <a:ext uri="{FF2B5EF4-FFF2-40B4-BE49-F238E27FC236}">
                <a16:creationId xmlns:a16="http://schemas.microsoft.com/office/drawing/2014/main" id="{E4A720C7-1527-D466-999D-43338DB5AC2E}"/>
              </a:ext>
            </a:extLst>
          </p:cNvPr>
          <p:cNvSpPr/>
          <p:nvPr/>
        </p:nvSpPr>
        <p:spPr>
          <a:xfrm>
            <a:off x="436880" y="1016000"/>
            <a:ext cx="2722880" cy="1280160"/>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Pure Billing &amp; Collections</a:t>
            </a:r>
          </a:p>
          <a:p>
            <a:pPr algn="ctr"/>
            <a:r>
              <a:rPr lang="en-US" sz="1400" b="1" i="1" dirty="0"/>
              <a:t>1 ASC</a:t>
            </a:r>
          </a:p>
        </p:txBody>
      </p:sp>
      <p:sp>
        <p:nvSpPr>
          <p:cNvPr id="5" name="Rectangle 4">
            <a:extLst>
              <a:ext uri="{FF2B5EF4-FFF2-40B4-BE49-F238E27FC236}">
                <a16:creationId xmlns:a16="http://schemas.microsoft.com/office/drawing/2014/main" id="{7AA35DF8-58A0-EB9A-59E2-95AA7F80C53E}"/>
              </a:ext>
            </a:extLst>
          </p:cNvPr>
          <p:cNvSpPr/>
          <p:nvPr/>
        </p:nvSpPr>
        <p:spPr>
          <a:xfrm>
            <a:off x="436880" y="2482927"/>
            <a:ext cx="2722880" cy="128016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Fee for Service</a:t>
            </a:r>
          </a:p>
          <a:p>
            <a:pPr algn="ctr"/>
            <a:r>
              <a:rPr lang="en-US" sz="1400" b="1" i="1" dirty="0"/>
              <a:t>8 ASCs</a:t>
            </a:r>
          </a:p>
        </p:txBody>
      </p:sp>
      <p:sp>
        <p:nvSpPr>
          <p:cNvPr id="7" name="Rectangle 6">
            <a:extLst>
              <a:ext uri="{FF2B5EF4-FFF2-40B4-BE49-F238E27FC236}">
                <a16:creationId xmlns:a16="http://schemas.microsoft.com/office/drawing/2014/main" id="{0A6B8751-616C-0F2E-452E-64A749EF9AF7}"/>
              </a:ext>
            </a:extLst>
          </p:cNvPr>
          <p:cNvSpPr/>
          <p:nvPr/>
        </p:nvSpPr>
        <p:spPr>
          <a:xfrm>
            <a:off x="436880" y="3949854"/>
            <a:ext cx="2722880" cy="1280160"/>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Billing &amp; Collections + Labor Floor</a:t>
            </a:r>
          </a:p>
          <a:p>
            <a:pPr algn="ctr"/>
            <a:r>
              <a:rPr lang="en-US" sz="1400" b="1" i="1" dirty="0"/>
              <a:t>7 ASCs</a:t>
            </a:r>
          </a:p>
        </p:txBody>
      </p:sp>
      <p:sp>
        <p:nvSpPr>
          <p:cNvPr id="8" name="Rectangle 7">
            <a:extLst>
              <a:ext uri="{FF2B5EF4-FFF2-40B4-BE49-F238E27FC236}">
                <a16:creationId xmlns:a16="http://schemas.microsoft.com/office/drawing/2014/main" id="{6975D144-F966-A142-E6A4-B4B5EA6A2BEC}"/>
              </a:ext>
            </a:extLst>
          </p:cNvPr>
          <p:cNvSpPr/>
          <p:nvPr/>
        </p:nvSpPr>
        <p:spPr>
          <a:xfrm>
            <a:off x="436880" y="5416782"/>
            <a:ext cx="2722880" cy="1280160"/>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True-Up Mechanism + Management Fee</a:t>
            </a:r>
          </a:p>
          <a:p>
            <a:pPr algn="ctr"/>
            <a:r>
              <a:rPr lang="en-US" sz="1400" b="1" i="1" dirty="0"/>
              <a:t>13 ASCs</a:t>
            </a:r>
          </a:p>
        </p:txBody>
      </p:sp>
      <p:sp>
        <p:nvSpPr>
          <p:cNvPr id="10" name="TextBox 9">
            <a:extLst>
              <a:ext uri="{FF2B5EF4-FFF2-40B4-BE49-F238E27FC236}">
                <a16:creationId xmlns:a16="http://schemas.microsoft.com/office/drawing/2014/main" id="{5CC1FD77-EF58-DE75-3F8F-9E8E171BB5F0}"/>
              </a:ext>
            </a:extLst>
          </p:cNvPr>
          <p:cNvSpPr txBox="1"/>
          <p:nvPr/>
        </p:nvSpPr>
        <p:spPr>
          <a:xfrm>
            <a:off x="3312160" y="1016000"/>
            <a:ext cx="5476240" cy="1118255"/>
          </a:xfrm>
          <a:prstGeom prst="rect">
            <a:avLst/>
          </a:prstGeom>
          <a:noFill/>
        </p:spPr>
        <p:txBody>
          <a:bodyPr wrap="square" rtlCol="0">
            <a:spAutoFit/>
          </a:bodyPr>
          <a:lstStyle/>
          <a:p>
            <a:pPr marL="285750" indent="-285750">
              <a:spcBef>
                <a:spcPts val="200"/>
              </a:spcBef>
              <a:spcAft>
                <a:spcPts val="200"/>
              </a:spcAft>
              <a:buFont typeface="Arial" panose="020B0604020202020204" pitchFamily="34" charset="0"/>
              <a:buChar char="•"/>
            </a:pPr>
            <a:r>
              <a:rPr lang="en-US" sz="1200" b="1" dirty="0"/>
              <a:t>14% of 2024 Revenue</a:t>
            </a:r>
          </a:p>
          <a:p>
            <a:pPr marL="285750" indent="-285750">
              <a:spcBef>
                <a:spcPts val="200"/>
              </a:spcBef>
              <a:spcAft>
                <a:spcPts val="200"/>
              </a:spcAft>
              <a:buFont typeface="Arial" panose="020B0604020202020204" pitchFamily="34" charset="0"/>
              <a:buChar char="•"/>
            </a:pPr>
            <a:r>
              <a:rPr lang="en-US" sz="1200" dirty="0"/>
              <a:t>Legacy revenue model. New ASCs will be either fee for service or include a labor floor (or management fee).</a:t>
            </a:r>
          </a:p>
          <a:p>
            <a:pPr marL="285750" indent="-285750">
              <a:spcBef>
                <a:spcPts val="200"/>
              </a:spcBef>
              <a:spcAft>
                <a:spcPts val="200"/>
              </a:spcAft>
              <a:buFont typeface="Arial" panose="020B0604020202020204" pitchFamily="34" charset="0"/>
              <a:buChar char="•"/>
            </a:pPr>
            <a:r>
              <a:rPr lang="en-US" sz="1200" dirty="0"/>
              <a:t>Contracts are 1-3 years in length and are regularly renegotiated to adjust for increases in labor costs. </a:t>
            </a:r>
          </a:p>
        </p:txBody>
      </p:sp>
      <p:sp>
        <p:nvSpPr>
          <p:cNvPr id="12" name="TextBox 11">
            <a:extLst>
              <a:ext uri="{FF2B5EF4-FFF2-40B4-BE49-F238E27FC236}">
                <a16:creationId xmlns:a16="http://schemas.microsoft.com/office/drawing/2014/main" id="{C775FA06-8C8A-9131-1C0D-9CB7E321DB6A}"/>
              </a:ext>
            </a:extLst>
          </p:cNvPr>
          <p:cNvSpPr txBox="1"/>
          <p:nvPr/>
        </p:nvSpPr>
        <p:spPr>
          <a:xfrm>
            <a:off x="3312160" y="2482927"/>
            <a:ext cx="5476240" cy="723275"/>
          </a:xfrm>
          <a:prstGeom prst="rect">
            <a:avLst/>
          </a:prstGeom>
          <a:noFill/>
        </p:spPr>
        <p:txBody>
          <a:bodyPr wrap="square" rtlCol="0">
            <a:spAutoFit/>
          </a:bodyPr>
          <a:lstStyle/>
          <a:p>
            <a:pPr marL="285750" indent="-285750">
              <a:spcBef>
                <a:spcPts val="300"/>
              </a:spcBef>
              <a:spcAft>
                <a:spcPts val="300"/>
              </a:spcAft>
              <a:buFont typeface="Arial" panose="020B0604020202020204" pitchFamily="34" charset="0"/>
              <a:buChar char="•"/>
            </a:pPr>
            <a:r>
              <a:rPr lang="en-US" sz="1200" b="1" dirty="0"/>
              <a:t>22% of 2024 Revenue</a:t>
            </a:r>
          </a:p>
          <a:p>
            <a:pPr marL="285750" indent="-285750">
              <a:spcBef>
                <a:spcPts val="300"/>
              </a:spcBef>
              <a:spcAft>
                <a:spcPts val="300"/>
              </a:spcAft>
              <a:buFont typeface="Arial" panose="020B0604020202020204" pitchFamily="34" charset="0"/>
              <a:buChar char="•"/>
            </a:pPr>
            <a:r>
              <a:rPr lang="en-US" sz="1200" dirty="0"/>
              <a:t>Contracts are 1-3 years in length and are regularly renegotiated to adjust for increases in labor costs. </a:t>
            </a:r>
          </a:p>
        </p:txBody>
      </p:sp>
      <p:sp>
        <p:nvSpPr>
          <p:cNvPr id="13" name="TextBox 12">
            <a:extLst>
              <a:ext uri="{FF2B5EF4-FFF2-40B4-BE49-F238E27FC236}">
                <a16:creationId xmlns:a16="http://schemas.microsoft.com/office/drawing/2014/main" id="{E929B784-C325-4037-644B-0DBF03595644}"/>
              </a:ext>
            </a:extLst>
          </p:cNvPr>
          <p:cNvSpPr txBox="1"/>
          <p:nvPr/>
        </p:nvSpPr>
        <p:spPr>
          <a:xfrm>
            <a:off x="3312160" y="3949854"/>
            <a:ext cx="5476240" cy="723275"/>
          </a:xfrm>
          <a:prstGeom prst="rect">
            <a:avLst/>
          </a:prstGeom>
          <a:noFill/>
        </p:spPr>
        <p:txBody>
          <a:bodyPr wrap="square" rtlCol="0">
            <a:spAutoFit/>
          </a:bodyPr>
          <a:lstStyle/>
          <a:p>
            <a:pPr marL="285750" indent="-285750">
              <a:spcBef>
                <a:spcPts val="300"/>
              </a:spcBef>
              <a:spcAft>
                <a:spcPts val="300"/>
              </a:spcAft>
              <a:buFont typeface="Arial" panose="020B0604020202020204" pitchFamily="34" charset="0"/>
              <a:buChar char="•"/>
            </a:pPr>
            <a:r>
              <a:rPr lang="en-US" sz="1200" b="1" dirty="0"/>
              <a:t>5% of 2024 Revenue</a:t>
            </a:r>
          </a:p>
          <a:p>
            <a:pPr marL="285750" indent="-285750">
              <a:spcBef>
                <a:spcPts val="300"/>
              </a:spcBef>
              <a:spcAft>
                <a:spcPts val="300"/>
              </a:spcAft>
              <a:buFont typeface="Arial" panose="020B0604020202020204" pitchFamily="34" charset="0"/>
              <a:buChar char="•"/>
            </a:pPr>
            <a:r>
              <a:rPr lang="en-US" sz="1200" dirty="0"/>
              <a:t>Contracts are 1-3 years in length and are regularly renegotiated to adjust for increases in labor costs. </a:t>
            </a:r>
          </a:p>
        </p:txBody>
      </p:sp>
      <p:sp>
        <p:nvSpPr>
          <p:cNvPr id="14" name="TextBox 13">
            <a:extLst>
              <a:ext uri="{FF2B5EF4-FFF2-40B4-BE49-F238E27FC236}">
                <a16:creationId xmlns:a16="http://schemas.microsoft.com/office/drawing/2014/main" id="{B02385CE-A6FB-3823-FF6C-02FE1D209A26}"/>
              </a:ext>
            </a:extLst>
          </p:cNvPr>
          <p:cNvSpPr txBox="1"/>
          <p:nvPr/>
        </p:nvSpPr>
        <p:spPr>
          <a:xfrm>
            <a:off x="3312160" y="5416782"/>
            <a:ext cx="5476240" cy="1200329"/>
          </a:xfrm>
          <a:prstGeom prst="rect">
            <a:avLst/>
          </a:prstGeom>
          <a:noFill/>
        </p:spPr>
        <p:txBody>
          <a:bodyPr wrap="square" rtlCol="0">
            <a:spAutoFit/>
          </a:bodyPr>
          <a:lstStyle/>
          <a:p>
            <a:pPr marL="285750" indent="-285750">
              <a:buFont typeface="Arial" panose="020B0604020202020204" pitchFamily="34" charset="0"/>
              <a:buChar char="•"/>
            </a:pPr>
            <a:r>
              <a:rPr lang="en-US" sz="1200" b="1" dirty="0"/>
              <a:t>59% of 2024 Revenue</a:t>
            </a:r>
          </a:p>
          <a:p>
            <a:pPr marL="285750" indent="-285750">
              <a:buFont typeface="Arial" panose="020B0604020202020204" pitchFamily="34" charset="0"/>
              <a:buChar char="•"/>
            </a:pPr>
            <a:r>
              <a:rPr lang="en-US" sz="1200" dirty="0"/>
              <a:t>Contracts are 3-5 years with automatic renewal terms</a:t>
            </a:r>
          </a:p>
          <a:p>
            <a:pPr marL="285750" indent="-285750">
              <a:buFont typeface="Arial" panose="020B0604020202020204" pitchFamily="34" charset="0"/>
              <a:buChar char="•"/>
            </a:pPr>
            <a:r>
              <a:rPr lang="en-US" sz="1200" dirty="0"/>
              <a:t>A monthly true-up process occurs to ensure payment if collections fall short of combined labor cost and management fees.</a:t>
            </a:r>
          </a:p>
          <a:p>
            <a:pPr marL="285750" indent="-285750">
              <a:buFont typeface="Arial" panose="020B0604020202020204" pitchFamily="34" charset="0"/>
              <a:buChar char="•"/>
            </a:pPr>
            <a:r>
              <a:rPr lang="en-US" sz="1200" dirty="0"/>
              <a:t>Labor costs for CRNAs are contractually fixed annually and increase by a minimum of 3% annually. </a:t>
            </a:r>
          </a:p>
        </p:txBody>
      </p:sp>
    </p:spTree>
    <p:extLst>
      <p:ext uri="{BB962C8B-B14F-4D97-AF65-F5344CB8AC3E}">
        <p14:creationId xmlns:p14="http://schemas.microsoft.com/office/powerpoint/2010/main" val="14359155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FAF25-632C-A5E3-FB29-D544B8C75B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09A7C7-28C6-5282-9373-C8BE5F79D6D0}"/>
              </a:ext>
            </a:extLst>
          </p:cNvPr>
          <p:cNvSpPr>
            <a:spLocks noGrp="1"/>
          </p:cNvSpPr>
          <p:nvPr>
            <p:ph type="title"/>
          </p:nvPr>
        </p:nvSpPr>
        <p:spPr/>
        <p:txBody>
          <a:bodyPr>
            <a:normAutofit/>
          </a:bodyPr>
          <a:lstStyle/>
          <a:p>
            <a:r>
              <a:rPr lang="en-US" dirty="0"/>
              <a:t>ASC Contract Overview</a:t>
            </a:r>
          </a:p>
        </p:txBody>
      </p:sp>
      <p:sp>
        <p:nvSpPr>
          <p:cNvPr id="9" name="Slide Number Placeholder 8">
            <a:extLst>
              <a:ext uri="{FF2B5EF4-FFF2-40B4-BE49-F238E27FC236}">
                <a16:creationId xmlns:a16="http://schemas.microsoft.com/office/drawing/2014/main" id="{63679B0C-7A48-1059-4E08-76F24030D866}"/>
              </a:ext>
            </a:extLst>
          </p:cNvPr>
          <p:cNvSpPr>
            <a:spLocks noGrp="1"/>
          </p:cNvSpPr>
          <p:nvPr>
            <p:ph type="sldNum" sz="quarter" idx="12"/>
          </p:nvPr>
        </p:nvSpPr>
        <p:spPr/>
        <p:txBody>
          <a:bodyPr/>
          <a:lstStyle/>
          <a:p>
            <a:fld id="{F8DDDAE5-3BDD-4D78-843B-A22FA78305BB}" type="slidenum">
              <a:rPr lang="en-US" smtClean="0"/>
              <a:t>16</a:t>
            </a:fld>
            <a:endParaRPr lang="en-US" dirty="0"/>
          </a:p>
        </p:txBody>
      </p:sp>
      <p:sp>
        <p:nvSpPr>
          <p:cNvPr id="3" name="TextBox 2">
            <a:extLst>
              <a:ext uri="{FF2B5EF4-FFF2-40B4-BE49-F238E27FC236}">
                <a16:creationId xmlns:a16="http://schemas.microsoft.com/office/drawing/2014/main" id="{32874045-86B4-B2A7-DD00-B4107244E1B5}"/>
              </a:ext>
            </a:extLst>
          </p:cNvPr>
          <p:cNvSpPr txBox="1"/>
          <p:nvPr/>
        </p:nvSpPr>
        <p:spPr>
          <a:xfrm>
            <a:off x="221941" y="924129"/>
            <a:ext cx="8697771" cy="1272143"/>
          </a:xfrm>
          <a:prstGeom prst="rect">
            <a:avLst/>
          </a:prstGeom>
          <a:noFill/>
        </p:spPr>
        <p:txBody>
          <a:bodyPr wrap="square" rtlCol="0">
            <a:spAutoFit/>
          </a:bodyPr>
          <a:lstStyle/>
          <a:p>
            <a:pPr marL="285750" indent="-285750">
              <a:spcBef>
                <a:spcPts val="200"/>
              </a:spcBef>
              <a:spcAft>
                <a:spcPts val="200"/>
              </a:spcAft>
              <a:buFont typeface="Arial" panose="020B0604020202020204" pitchFamily="34" charset="0"/>
              <a:buChar char="•"/>
            </a:pPr>
            <a:r>
              <a:rPr lang="en-US" sz="1400" dirty="0"/>
              <a:t>By the end of 2025, the Company will be actively operating at 29 ASC locations across Michigan and Indiana.</a:t>
            </a:r>
          </a:p>
          <a:p>
            <a:pPr marL="285750" indent="-285750">
              <a:spcBef>
                <a:spcPts val="200"/>
              </a:spcBef>
              <a:spcAft>
                <a:spcPts val="200"/>
              </a:spcAft>
              <a:buFont typeface="Arial" panose="020B0604020202020204" pitchFamily="34" charset="0"/>
              <a:buChar char="•"/>
            </a:pPr>
            <a:r>
              <a:rPr lang="en-US" sz="1400" dirty="0"/>
              <a:t>Contract terms range from 1 – 5 years and typically auto-renew unless cancelled by AAS or the customer. </a:t>
            </a:r>
          </a:p>
          <a:p>
            <a:pPr marL="285750" indent="-285750">
              <a:spcBef>
                <a:spcPts val="200"/>
              </a:spcBef>
              <a:spcAft>
                <a:spcPts val="200"/>
              </a:spcAft>
              <a:buFont typeface="Arial" panose="020B0604020202020204" pitchFamily="34" charset="0"/>
              <a:buChar char="•"/>
            </a:pPr>
            <a:r>
              <a:rPr lang="en-US" sz="1400" dirty="0"/>
              <a:t>The Company has terminated contracts in the past (typically these have been pure billing &amp; collections contracts from the pre-Auto No Fault reform era), </a:t>
            </a:r>
            <a:r>
              <a:rPr lang="en-US" sz="1400" b="1" i="1" dirty="0"/>
              <a:t>but has never lost a contract driven by the ASC.</a:t>
            </a:r>
          </a:p>
        </p:txBody>
      </p:sp>
      <p:pic>
        <p:nvPicPr>
          <p:cNvPr id="5" name="Picture 4">
            <a:extLst>
              <a:ext uri="{FF2B5EF4-FFF2-40B4-BE49-F238E27FC236}">
                <a16:creationId xmlns:a16="http://schemas.microsoft.com/office/drawing/2014/main" id="{CB6FC980-89FA-305C-B46B-C3EBEBB2260B}"/>
              </a:ext>
            </a:extLst>
          </p:cNvPr>
          <p:cNvPicPr>
            <a:picLocks noChangeAspect="1"/>
          </p:cNvPicPr>
          <p:nvPr/>
        </p:nvPicPr>
        <p:blipFill>
          <a:blip r:embed="rId2"/>
          <a:stretch>
            <a:fillRect/>
          </a:stretch>
        </p:blipFill>
        <p:spPr>
          <a:xfrm>
            <a:off x="592551" y="2158171"/>
            <a:ext cx="7958898" cy="4614103"/>
          </a:xfrm>
          <a:prstGeom prst="rect">
            <a:avLst/>
          </a:prstGeom>
          <a:ln w="6350">
            <a:solidFill>
              <a:schemeClr val="tx1"/>
            </a:solidFill>
          </a:ln>
        </p:spPr>
      </p:pic>
    </p:spTree>
    <p:extLst>
      <p:ext uri="{BB962C8B-B14F-4D97-AF65-F5344CB8AC3E}">
        <p14:creationId xmlns:p14="http://schemas.microsoft.com/office/powerpoint/2010/main" val="36214231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3D3CC-CCD5-3CEF-BD30-1A45C1880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88F2E1-47D2-7235-550E-A6A31F27DEC9}"/>
              </a:ext>
            </a:extLst>
          </p:cNvPr>
          <p:cNvSpPr>
            <a:spLocks noGrp="1"/>
          </p:cNvSpPr>
          <p:nvPr>
            <p:ph type="title"/>
          </p:nvPr>
        </p:nvSpPr>
        <p:spPr/>
        <p:txBody>
          <a:bodyPr>
            <a:normAutofit/>
          </a:bodyPr>
          <a:lstStyle/>
          <a:p>
            <a:r>
              <a:rPr lang="en-US" dirty="0"/>
              <a:t>2026 Contracts Up for Renewal</a:t>
            </a:r>
          </a:p>
        </p:txBody>
      </p:sp>
      <p:sp>
        <p:nvSpPr>
          <p:cNvPr id="9" name="Slide Number Placeholder 8">
            <a:extLst>
              <a:ext uri="{FF2B5EF4-FFF2-40B4-BE49-F238E27FC236}">
                <a16:creationId xmlns:a16="http://schemas.microsoft.com/office/drawing/2014/main" id="{C0FECF59-EAE8-A671-5293-D4A6A2750F96}"/>
              </a:ext>
            </a:extLst>
          </p:cNvPr>
          <p:cNvSpPr>
            <a:spLocks noGrp="1"/>
          </p:cNvSpPr>
          <p:nvPr>
            <p:ph type="sldNum" sz="quarter" idx="12"/>
          </p:nvPr>
        </p:nvSpPr>
        <p:spPr/>
        <p:txBody>
          <a:bodyPr/>
          <a:lstStyle/>
          <a:p>
            <a:fld id="{F8DDDAE5-3BDD-4D78-843B-A22FA78305BB}" type="slidenum">
              <a:rPr lang="en-US" smtClean="0"/>
              <a:t>17</a:t>
            </a:fld>
            <a:endParaRPr lang="en-US" dirty="0"/>
          </a:p>
        </p:txBody>
      </p:sp>
      <p:sp>
        <p:nvSpPr>
          <p:cNvPr id="3" name="TextBox 2">
            <a:extLst>
              <a:ext uri="{FF2B5EF4-FFF2-40B4-BE49-F238E27FC236}">
                <a16:creationId xmlns:a16="http://schemas.microsoft.com/office/drawing/2014/main" id="{D8653578-13D3-E1A8-80DD-E6493566FC40}"/>
              </a:ext>
            </a:extLst>
          </p:cNvPr>
          <p:cNvSpPr txBox="1"/>
          <p:nvPr/>
        </p:nvSpPr>
        <p:spPr>
          <a:xfrm>
            <a:off x="221941" y="1066799"/>
            <a:ext cx="8697771" cy="1692771"/>
          </a:xfrm>
          <a:prstGeom prst="rect">
            <a:avLst/>
          </a:prstGeom>
          <a:noFill/>
        </p:spPr>
        <p:txBody>
          <a:bodyPr wrap="square" rtlCol="0">
            <a:spAutoFit/>
          </a:bodyPr>
          <a:lstStyle/>
          <a:p>
            <a:pPr marL="285750" indent="-285750">
              <a:spcBef>
                <a:spcPts val="600"/>
              </a:spcBef>
              <a:spcAft>
                <a:spcPts val="600"/>
              </a:spcAft>
              <a:buFont typeface="Arial" panose="020B0604020202020204" pitchFamily="34" charset="0"/>
              <a:buChar char="•"/>
            </a:pPr>
            <a:r>
              <a:rPr lang="en-US" sz="1400" dirty="0"/>
              <a:t>The Company has seven contracts up for renewal in 2026, representing 24.6% of total 2026 forecasted revenue. </a:t>
            </a:r>
          </a:p>
          <a:p>
            <a:pPr marL="285750" indent="-285750">
              <a:spcBef>
                <a:spcPts val="600"/>
              </a:spcBef>
              <a:spcAft>
                <a:spcPts val="600"/>
              </a:spcAft>
              <a:buFont typeface="Arial" panose="020B0604020202020204" pitchFamily="34" charset="0"/>
              <a:buChar char="•"/>
            </a:pPr>
            <a:r>
              <a:rPr lang="en-US" sz="1400" dirty="0"/>
              <a:t>As noted in the table below, five of the seven contracts up for renewal in 2026 are 1-year recurring contracts, which have all renewed annually since their original signings between March 2020 and May 2024.  </a:t>
            </a:r>
          </a:p>
          <a:p>
            <a:pPr marL="285750" indent="-285750">
              <a:spcBef>
                <a:spcPts val="600"/>
              </a:spcBef>
              <a:spcAft>
                <a:spcPts val="600"/>
              </a:spcAft>
              <a:buFont typeface="Arial" panose="020B0604020202020204" pitchFamily="34" charset="0"/>
              <a:buChar char="•"/>
            </a:pPr>
            <a:r>
              <a:rPr lang="en-US" sz="1400" dirty="0"/>
              <a:t>Of the Company’s 26 signed contracts, only the five noted in the table below have 1-year renewal terms, with all other contracts ranging from two- to five-year terms. </a:t>
            </a:r>
          </a:p>
        </p:txBody>
      </p:sp>
      <p:pic>
        <p:nvPicPr>
          <p:cNvPr id="6" name="Picture 5">
            <a:extLst>
              <a:ext uri="{FF2B5EF4-FFF2-40B4-BE49-F238E27FC236}">
                <a16:creationId xmlns:a16="http://schemas.microsoft.com/office/drawing/2014/main" id="{CDFE5E2A-162F-E6C7-8558-0DD26A2691E4}"/>
              </a:ext>
            </a:extLst>
          </p:cNvPr>
          <p:cNvPicPr>
            <a:picLocks noChangeAspect="1"/>
          </p:cNvPicPr>
          <p:nvPr/>
        </p:nvPicPr>
        <p:blipFill>
          <a:blip r:embed="rId2"/>
          <a:stretch>
            <a:fillRect/>
          </a:stretch>
        </p:blipFill>
        <p:spPr>
          <a:xfrm>
            <a:off x="807085" y="3117023"/>
            <a:ext cx="7529830" cy="2556510"/>
          </a:xfrm>
          <a:prstGeom prst="rect">
            <a:avLst/>
          </a:prstGeom>
          <a:ln w="6350">
            <a:solidFill>
              <a:schemeClr val="tx1"/>
            </a:solidFill>
          </a:ln>
        </p:spPr>
      </p:pic>
    </p:spTree>
    <p:extLst>
      <p:ext uri="{BB962C8B-B14F-4D97-AF65-F5344CB8AC3E}">
        <p14:creationId xmlns:p14="http://schemas.microsoft.com/office/powerpoint/2010/main" val="10393688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E4040-7C21-0C9F-A47F-BF655B36D8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C5DE8C-BE76-7BA9-BD5E-6E4FCE5AE2B3}"/>
              </a:ext>
            </a:extLst>
          </p:cNvPr>
          <p:cNvSpPr>
            <a:spLocks noGrp="1"/>
          </p:cNvSpPr>
          <p:nvPr>
            <p:ph type="title"/>
          </p:nvPr>
        </p:nvSpPr>
        <p:spPr/>
        <p:txBody>
          <a:bodyPr/>
          <a:lstStyle/>
          <a:p>
            <a:r>
              <a:rPr lang="en-US" dirty="0"/>
              <a:t>Valuation Summary and Model Outputs</a:t>
            </a:r>
          </a:p>
        </p:txBody>
      </p:sp>
      <p:sp>
        <p:nvSpPr>
          <p:cNvPr id="3" name="TextBox 2">
            <a:extLst>
              <a:ext uri="{FF2B5EF4-FFF2-40B4-BE49-F238E27FC236}">
                <a16:creationId xmlns:a16="http://schemas.microsoft.com/office/drawing/2014/main" id="{4A23744E-A012-87A7-3A54-1981E303C7C9}"/>
              </a:ext>
            </a:extLst>
          </p:cNvPr>
          <p:cNvSpPr txBox="1"/>
          <p:nvPr/>
        </p:nvSpPr>
        <p:spPr>
          <a:xfrm>
            <a:off x="221942" y="4687503"/>
            <a:ext cx="1558731" cy="1862048"/>
          </a:xfrm>
          <a:prstGeom prst="rect">
            <a:avLst/>
          </a:prstGeom>
          <a:noFill/>
        </p:spPr>
        <p:txBody>
          <a:bodyPr wrap="square" rtlCol="0">
            <a:spAutoFit/>
          </a:bodyPr>
          <a:lstStyle/>
          <a:p>
            <a:r>
              <a:rPr lang="en-US" sz="11500" dirty="0"/>
              <a:t>III</a:t>
            </a:r>
          </a:p>
        </p:txBody>
      </p:sp>
      <p:pic>
        <p:nvPicPr>
          <p:cNvPr id="4" name="Picture 3">
            <a:extLst>
              <a:ext uri="{FF2B5EF4-FFF2-40B4-BE49-F238E27FC236}">
                <a16:creationId xmlns:a16="http://schemas.microsoft.com/office/drawing/2014/main" id="{C303BF46-6528-59A4-0437-E9A096FFDF7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7243624" y="4908636"/>
            <a:ext cx="1703194" cy="1517130"/>
          </a:xfrm>
          <a:prstGeom prst="rect">
            <a:avLst/>
          </a:prstGeom>
        </p:spPr>
      </p:pic>
    </p:spTree>
    <p:extLst>
      <p:ext uri="{BB962C8B-B14F-4D97-AF65-F5344CB8AC3E}">
        <p14:creationId xmlns:p14="http://schemas.microsoft.com/office/powerpoint/2010/main" val="8422678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DE62E-6419-BF9F-A096-75C898FA51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E48E97-D913-C792-8D77-B71EE1222E99}"/>
              </a:ext>
            </a:extLst>
          </p:cNvPr>
          <p:cNvSpPr>
            <a:spLocks noGrp="1"/>
          </p:cNvSpPr>
          <p:nvPr>
            <p:ph type="title"/>
          </p:nvPr>
        </p:nvSpPr>
        <p:spPr/>
        <p:txBody>
          <a:bodyPr>
            <a:normAutofit/>
          </a:bodyPr>
          <a:lstStyle/>
          <a:p>
            <a:r>
              <a:rPr lang="en-US" noProof="0" dirty="0"/>
              <a:t>Proposed Transaction Sources &amp; Uses</a:t>
            </a:r>
          </a:p>
        </p:txBody>
      </p:sp>
      <p:sp>
        <p:nvSpPr>
          <p:cNvPr id="3" name="TextBox 2">
            <a:extLst>
              <a:ext uri="{FF2B5EF4-FFF2-40B4-BE49-F238E27FC236}">
                <a16:creationId xmlns:a16="http://schemas.microsoft.com/office/drawing/2014/main" id="{14F9774A-C5B5-2053-E0D4-6084753140BC}"/>
              </a:ext>
            </a:extLst>
          </p:cNvPr>
          <p:cNvSpPr txBox="1"/>
          <p:nvPr/>
        </p:nvSpPr>
        <p:spPr>
          <a:xfrm>
            <a:off x="221941" y="1066799"/>
            <a:ext cx="8697771" cy="2831544"/>
          </a:xfrm>
          <a:prstGeom prst="rect">
            <a:avLst/>
          </a:prstGeom>
          <a:noFill/>
        </p:spPr>
        <p:txBody>
          <a:bodyPr wrap="square" rtlCol="0">
            <a:spAutoFit/>
          </a:bodyPr>
          <a:lstStyle/>
          <a:p>
            <a:pPr marL="285750" indent="-285750">
              <a:spcBef>
                <a:spcPts val="600"/>
              </a:spcBef>
              <a:spcAft>
                <a:spcPts val="600"/>
              </a:spcAft>
              <a:buFont typeface="Arial" panose="020B0604020202020204" pitchFamily="34" charset="0"/>
              <a:buChar char="•"/>
            </a:pPr>
            <a:r>
              <a:rPr lang="en-US" sz="1400" dirty="0"/>
              <a:t>Northern Shore signed a Letter of Intent on June 2, 2025, to acquire the Company. Our valuation for the Company is $34.0 million, or 7.9x July 2025 TTM adjusted EBITDA of $4.3 million.</a:t>
            </a:r>
          </a:p>
          <a:p>
            <a:pPr marL="742950" lvl="1" indent="-285750">
              <a:buFont typeface="Aptos" panose="020B0004020202020204" pitchFamily="34" charset="0"/>
              <a:buChar char="─"/>
            </a:pPr>
            <a:r>
              <a:rPr lang="en-US" sz="1400" u="sng" dirty="0"/>
              <a:t>Cash at Close:</a:t>
            </a:r>
            <a:r>
              <a:rPr lang="en-US" sz="1400" dirty="0"/>
              <a:t> $34.0 million</a:t>
            </a:r>
          </a:p>
          <a:p>
            <a:pPr marL="742950" lvl="1" indent="-285750">
              <a:buFont typeface="Aptos" panose="020B0004020202020204" pitchFamily="34" charset="0"/>
              <a:buChar char="─"/>
            </a:pPr>
            <a:r>
              <a:rPr lang="en-US" sz="1400" u="sng" dirty="0"/>
              <a:t>Earnout:</a:t>
            </a:r>
            <a:r>
              <a:rPr lang="en-US" sz="1400" dirty="0"/>
              <a:t> $4.5 million, based on 2026 Gross Profit of $9.5 million and 2027 Gross Profit of $11.5 million</a:t>
            </a:r>
            <a:endParaRPr lang="en-US" sz="1400" u="sng" dirty="0"/>
          </a:p>
          <a:p>
            <a:pPr marL="742950" lvl="1" indent="-285750">
              <a:buFont typeface="Aptos" panose="020B0004020202020204" pitchFamily="34" charset="0"/>
              <a:buChar char="─"/>
            </a:pPr>
            <a:r>
              <a:rPr lang="en-US" sz="1400" u="sng" dirty="0"/>
              <a:t>Seller Rollover Equity:</a:t>
            </a:r>
            <a:r>
              <a:rPr lang="en-US" sz="1400" dirty="0"/>
              <a:t> $8.0 million</a:t>
            </a:r>
          </a:p>
          <a:p>
            <a:pPr marL="742950" lvl="1" indent="-285750">
              <a:buFont typeface="Aptos" panose="020B0004020202020204" pitchFamily="34" charset="0"/>
              <a:buChar char="─"/>
            </a:pPr>
            <a:r>
              <a:rPr lang="en-US" sz="1400" u="sng" dirty="0"/>
              <a:t>Leverage:</a:t>
            </a:r>
            <a:r>
              <a:rPr lang="en-US" sz="1400" dirty="0"/>
              <a:t> 3.8x = $16.3 million Term Loan from Five Points Capital</a:t>
            </a:r>
          </a:p>
          <a:p>
            <a:pPr marL="742950" lvl="1" indent="-285750">
              <a:buFont typeface="Aptos" panose="020B0004020202020204" pitchFamily="34" charset="0"/>
              <a:buChar char="─"/>
            </a:pPr>
            <a:r>
              <a:rPr lang="en-US" sz="1400" u="sng" dirty="0"/>
              <a:t>Northern Shore Equity requirement:</a:t>
            </a:r>
            <a:r>
              <a:rPr lang="en-US" sz="1400" dirty="0"/>
              <a:t> $15.0 million</a:t>
            </a:r>
          </a:p>
          <a:p>
            <a:pPr marL="742950" lvl="1" indent="-285750">
              <a:buFont typeface="Aptos" panose="020B0004020202020204" pitchFamily="34" charset="0"/>
              <a:buChar char="─"/>
            </a:pPr>
            <a:r>
              <a:rPr lang="en-US" sz="1400" u="sng" dirty="0"/>
              <a:t>Lender Coinvest</a:t>
            </a:r>
            <a:r>
              <a:rPr lang="en-US" sz="1400" dirty="0"/>
              <a:t>: $1.5 million paying full carry</a:t>
            </a:r>
          </a:p>
          <a:p>
            <a:pPr marL="285750" indent="-285750">
              <a:spcBef>
                <a:spcPts val="600"/>
              </a:spcBef>
              <a:spcAft>
                <a:spcPts val="600"/>
              </a:spcAft>
              <a:buFont typeface="Arial" panose="020B0604020202020204" pitchFamily="34" charset="0"/>
              <a:buChar char="•"/>
            </a:pPr>
            <a:r>
              <a:rPr lang="en-US" sz="1400" dirty="0"/>
              <a:t>In conjunction with closing, we would directly fund an additional $5.0 million to the balance sheet to support future organic growth, particularly the launch of new ASC contracts, and certain investments in SG&amp;A, including the hiring of a CFO. </a:t>
            </a:r>
          </a:p>
        </p:txBody>
      </p:sp>
      <p:sp>
        <p:nvSpPr>
          <p:cNvPr id="4" name="Slide Number Placeholder 8">
            <a:extLst>
              <a:ext uri="{FF2B5EF4-FFF2-40B4-BE49-F238E27FC236}">
                <a16:creationId xmlns:a16="http://schemas.microsoft.com/office/drawing/2014/main" id="{30A94E35-9FB1-79C3-8F39-F1491FAF2089}"/>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19</a:t>
            </a:fld>
            <a:endParaRPr lang="en-US" dirty="0"/>
          </a:p>
        </p:txBody>
      </p:sp>
      <p:pic>
        <p:nvPicPr>
          <p:cNvPr id="5" name="Picture 4">
            <a:extLst>
              <a:ext uri="{FF2B5EF4-FFF2-40B4-BE49-F238E27FC236}">
                <a16:creationId xmlns:a16="http://schemas.microsoft.com/office/drawing/2014/main" id="{7927FB76-A3AF-F921-C5CE-106C54D69D2B}"/>
              </a:ext>
            </a:extLst>
          </p:cNvPr>
          <p:cNvPicPr>
            <a:picLocks noChangeAspect="1"/>
          </p:cNvPicPr>
          <p:nvPr/>
        </p:nvPicPr>
        <p:blipFill>
          <a:blip r:embed="rId2"/>
          <a:stretch>
            <a:fillRect/>
          </a:stretch>
        </p:blipFill>
        <p:spPr>
          <a:xfrm>
            <a:off x="182880" y="4060700"/>
            <a:ext cx="8778240" cy="1928740"/>
          </a:xfrm>
          <a:prstGeom prst="rect">
            <a:avLst/>
          </a:prstGeom>
        </p:spPr>
      </p:pic>
    </p:spTree>
    <p:extLst>
      <p:ext uri="{BB962C8B-B14F-4D97-AF65-F5344CB8AC3E}">
        <p14:creationId xmlns:p14="http://schemas.microsoft.com/office/powerpoint/2010/main" val="42039951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735C6-5C5B-390B-26C1-066BA59422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2C4F16-E1E6-2AEA-A321-0A0488EE743B}"/>
              </a:ext>
            </a:extLst>
          </p:cNvPr>
          <p:cNvSpPr>
            <a:spLocks noGrp="1"/>
          </p:cNvSpPr>
          <p:nvPr>
            <p:ph type="title"/>
          </p:nvPr>
        </p:nvSpPr>
        <p:spPr/>
        <p:txBody>
          <a:bodyPr>
            <a:normAutofit/>
          </a:bodyPr>
          <a:lstStyle/>
          <a:p>
            <a:r>
              <a:rPr lang="en-US" noProof="0" dirty="0"/>
              <a:t>Base Case – Summary P&amp;L</a:t>
            </a:r>
          </a:p>
        </p:txBody>
      </p:sp>
      <p:sp>
        <p:nvSpPr>
          <p:cNvPr id="6" name="Rectangle: Diagonal Corners Snipped 5">
            <a:extLst>
              <a:ext uri="{FF2B5EF4-FFF2-40B4-BE49-F238E27FC236}">
                <a16:creationId xmlns:a16="http://schemas.microsoft.com/office/drawing/2014/main" id="{10E400F1-4D39-3AFD-3CD7-51B89CBFEF44}"/>
              </a:ext>
            </a:extLst>
          </p:cNvPr>
          <p:cNvSpPr/>
          <p:nvPr/>
        </p:nvSpPr>
        <p:spPr>
          <a:xfrm>
            <a:off x="200296" y="927422"/>
            <a:ext cx="8743408"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Corporate Overhead Build </a:t>
            </a:r>
            <a:r>
              <a:rPr lang="en-US" sz="1400" b="1" i="1" dirty="0">
                <a:solidFill>
                  <a:schemeClr val="bg1"/>
                </a:solidFill>
              </a:rPr>
              <a:t>($ in Actuals)</a:t>
            </a:r>
            <a:endParaRPr lang="en-US" sz="1400" b="1" dirty="0">
              <a:solidFill>
                <a:schemeClr val="bg1"/>
              </a:solidFill>
            </a:endParaRPr>
          </a:p>
        </p:txBody>
      </p:sp>
      <p:sp>
        <p:nvSpPr>
          <p:cNvPr id="16" name="Slide Number Placeholder 8">
            <a:extLst>
              <a:ext uri="{FF2B5EF4-FFF2-40B4-BE49-F238E27FC236}">
                <a16:creationId xmlns:a16="http://schemas.microsoft.com/office/drawing/2014/main" id="{73698F47-34B8-2972-C4B7-D239AD810A32}"/>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20</a:t>
            </a:fld>
            <a:endParaRPr lang="en-US" dirty="0"/>
          </a:p>
        </p:txBody>
      </p:sp>
      <p:pic>
        <p:nvPicPr>
          <p:cNvPr id="7" name="Picture 6">
            <a:extLst>
              <a:ext uri="{FF2B5EF4-FFF2-40B4-BE49-F238E27FC236}">
                <a16:creationId xmlns:a16="http://schemas.microsoft.com/office/drawing/2014/main" id="{B25D9E8D-B0E0-8029-E012-BF99F9134A72}"/>
              </a:ext>
            </a:extLst>
          </p:cNvPr>
          <p:cNvPicPr>
            <a:picLocks noChangeAspect="1"/>
          </p:cNvPicPr>
          <p:nvPr/>
        </p:nvPicPr>
        <p:blipFill>
          <a:blip r:embed="rId2"/>
          <a:stretch>
            <a:fillRect/>
          </a:stretch>
        </p:blipFill>
        <p:spPr>
          <a:xfrm>
            <a:off x="484632" y="1291567"/>
            <a:ext cx="8174736" cy="5375733"/>
          </a:xfrm>
          <a:prstGeom prst="rect">
            <a:avLst/>
          </a:prstGeom>
          <a:ln w="6350">
            <a:solidFill>
              <a:schemeClr val="tx1"/>
            </a:solidFill>
          </a:ln>
        </p:spPr>
      </p:pic>
    </p:spTree>
    <p:extLst>
      <p:ext uri="{BB962C8B-B14F-4D97-AF65-F5344CB8AC3E}">
        <p14:creationId xmlns:p14="http://schemas.microsoft.com/office/powerpoint/2010/main" val="38432839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8B813-EF24-647A-C37A-083CD08854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09A289-3069-F84B-F990-C47A8F17C450}"/>
              </a:ext>
            </a:extLst>
          </p:cNvPr>
          <p:cNvSpPr>
            <a:spLocks noGrp="1"/>
          </p:cNvSpPr>
          <p:nvPr>
            <p:ph type="title"/>
          </p:nvPr>
        </p:nvSpPr>
        <p:spPr/>
        <p:txBody>
          <a:bodyPr>
            <a:normAutofit/>
          </a:bodyPr>
          <a:lstStyle/>
          <a:p>
            <a:r>
              <a:rPr lang="en-US" noProof="0" dirty="0"/>
              <a:t>Base Case</a:t>
            </a:r>
            <a:r>
              <a:rPr lang="en-US" dirty="0"/>
              <a:t> </a:t>
            </a:r>
            <a:r>
              <a:rPr lang="en-US" noProof="0" dirty="0"/>
              <a:t>– Existing Contract Revenue (1/2)</a:t>
            </a:r>
          </a:p>
        </p:txBody>
      </p:sp>
      <p:sp>
        <p:nvSpPr>
          <p:cNvPr id="8" name="TextBox 7">
            <a:extLst>
              <a:ext uri="{FF2B5EF4-FFF2-40B4-BE49-F238E27FC236}">
                <a16:creationId xmlns:a16="http://schemas.microsoft.com/office/drawing/2014/main" id="{E2F8D7F6-3AA6-3F13-3667-E713D374DFF1}"/>
              </a:ext>
            </a:extLst>
          </p:cNvPr>
          <p:cNvSpPr txBox="1"/>
          <p:nvPr/>
        </p:nvSpPr>
        <p:spPr>
          <a:xfrm>
            <a:off x="176307" y="5579756"/>
            <a:ext cx="8791388" cy="1072088"/>
          </a:xfrm>
          <a:prstGeom prst="rect">
            <a:avLst/>
          </a:prstGeom>
          <a:noFill/>
        </p:spPr>
        <p:txBody>
          <a:bodyPr wrap="square" rtlCol="0">
            <a:spAutoFit/>
          </a:bodyPr>
          <a:lstStyle/>
          <a:p>
            <a:pPr>
              <a:spcBef>
                <a:spcPts val="400"/>
              </a:spcBef>
            </a:pPr>
            <a:r>
              <a:rPr lang="en-US" sz="1200" b="1" u="sng" dirty="0"/>
              <a:t>Build Detail and Key Assumptions:</a:t>
            </a:r>
            <a:r>
              <a:rPr lang="en-US" sz="1200" dirty="0"/>
              <a:t> </a:t>
            </a:r>
          </a:p>
          <a:p>
            <a:pPr marL="91440" indent="-91440">
              <a:spcBef>
                <a:spcPts val="200"/>
              </a:spcBef>
              <a:buFont typeface="Arial" panose="020B0604020202020204" pitchFamily="34" charset="0"/>
              <a:buChar char="•"/>
            </a:pPr>
            <a:r>
              <a:rPr lang="en-US" sz="900" dirty="0"/>
              <a:t>Revenue forecasted by ASC in accordance with each contract type</a:t>
            </a:r>
          </a:p>
          <a:p>
            <a:pPr marL="548640" lvl="1" indent="-91440">
              <a:spcBef>
                <a:spcPts val="200"/>
              </a:spcBef>
              <a:buFont typeface="Arial" panose="020B0604020202020204" pitchFamily="34" charset="0"/>
              <a:buChar char="•"/>
            </a:pPr>
            <a:r>
              <a:rPr lang="en-US" sz="900" dirty="0"/>
              <a:t>3 – 3.5% wage inflation and reimbursement escalators if included in each ASC contract</a:t>
            </a:r>
          </a:p>
          <a:p>
            <a:pPr marL="91440" indent="-91440">
              <a:spcBef>
                <a:spcPts val="200"/>
              </a:spcBef>
              <a:buFont typeface="Arial" panose="020B0604020202020204" pitchFamily="34" charset="0"/>
              <a:buChar char="•"/>
            </a:pPr>
            <a:r>
              <a:rPr lang="en-US" sz="900" dirty="0"/>
              <a:t>All 3 Solaris contracts are assumed to expire upon renewal date for conservatism</a:t>
            </a:r>
          </a:p>
          <a:p>
            <a:pPr marL="548640" lvl="1" indent="-91440">
              <a:spcBef>
                <a:spcPts val="200"/>
              </a:spcBef>
              <a:buFont typeface="Arial" panose="020B0604020202020204" pitchFamily="34" charset="0"/>
              <a:buChar char="•"/>
            </a:pPr>
            <a:r>
              <a:rPr lang="en-US" sz="900" dirty="0"/>
              <a:t>In addition to Solaris churn, the underwriting case contemplates 1 annual churned contract beginning in mid-year 2026 at an average annual contract value of $1.4M for a total of 8 churned contracts</a:t>
            </a:r>
          </a:p>
        </p:txBody>
      </p:sp>
      <p:cxnSp>
        <p:nvCxnSpPr>
          <p:cNvPr id="12" name="Straight Connector 11">
            <a:extLst>
              <a:ext uri="{FF2B5EF4-FFF2-40B4-BE49-F238E27FC236}">
                <a16:creationId xmlns:a16="http://schemas.microsoft.com/office/drawing/2014/main" id="{AA9081CE-184D-D69D-0DB5-30CF0F7084E3}"/>
              </a:ext>
            </a:extLst>
          </p:cNvPr>
          <p:cNvCxnSpPr>
            <a:cxnSpLocks/>
          </p:cNvCxnSpPr>
          <p:nvPr/>
        </p:nvCxnSpPr>
        <p:spPr>
          <a:xfrm>
            <a:off x="-1794611" y="938996"/>
            <a:ext cx="1217215" cy="0"/>
          </a:xfrm>
          <a:prstGeom prst="line">
            <a:avLst/>
          </a:prstGeom>
        </p:spPr>
        <p:style>
          <a:lnRef idx="2">
            <a:schemeClr val="accent1"/>
          </a:lnRef>
          <a:fillRef idx="0">
            <a:schemeClr val="accent1"/>
          </a:fillRef>
          <a:effectRef idx="1">
            <a:schemeClr val="accent1"/>
          </a:effectRef>
          <a:fontRef idx="minor">
            <a:schemeClr val="tx1"/>
          </a:fontRef>
        </p:style>
      </p:cxnSp>
      <p:sp>
        <p:nvSpPr>
          <p:cNvPr id="19" name="Slide Number Placeholder 8">
            <a:extLst>
              <a:ext uri="{FF2B5EF4-FFF2-40B4-BE49-F238E27FC236}">
                <a16:creationId xmlns:a16="http://schemas.microsoft.com/office/drawing/2014/main" id="{179E99E3-E8C0-542F-5C12-4D4306FCB11E}"/>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21</a:t>
            </a:fld>
            <a:endParaRPr lang="en-US" dirty="0"/>
          </a:p>
        </p:txBody>
      </p:sp>
      <p:sp>
        <p:nvSpPr>
          <p:cNvPr id="4" name="Rectangle: Diagonal Corners Snipped 3">
            <a:extLst>
              <a:ext uri="{FF2B5EF4-FFF2-40B4-BE49-F238E27FC236}">
                <a16:creationId xmlns:a16="http://schemas.microsoft.com/office/drawing/2014/main" id="{D93B5474-8081-2EF3-B6C0-4919234D6564}"/>
              </a:ext>
            </a:extLst>
          </p:cNvPr>
          <p:cNvSpPr/>
          <p:nvPr/>
        </p:nvSpPr>
        <p:spPr>
          <a:xfrm>
            <a:off x="176304" y="938996"/>
            <a:ext cx="5157216"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Existing ASC Revenue Build </a:t>
            </a:r>
            <a:r>
              <a:rPr lang="en-US" sz="1400" b="1" i="1" dirty="0">
                <a:solidFill>
                  <a:schemeClr val="bg1"/>
                </a:solidFill>
              </a:rPr>
              <a:t>($ in Actuals)</a:t>
            </a:r>
            <a:r>
              <a:rPr lang="en-US" sz="1400" b="1" dirty="0">
                <a:solidFill>
                  <a:schemeClr val="bg1"/>
                </a:solidFill>
              </a:rPr>
              <a:t> </a:t>
            </a:r>
          </a:p>
        </p:txBody>
      </p:sp>
      <p:sp>
        <p:nvSpPr>
          <p:cNvPr id="7" name="Rectangle: Diagonal Corners Snipped 6">
            <a:extLst>
              <a:ext uri="{FF2B5EF4-FFF2-40B4-BE49-F238E27FC236}">
                <a16:creationId xmlns:a16="http://schemas.microsoft.com/office/drawing/2014/main" id="{FE584F91-BF00-145F-36C0-6459E77F6042}"/>
              </a:ext>
            </a:extLst>
          </p:cNvPr>
          <p:cNvSpPr/>
          <p:nvPr/>
        </p:nvSpPr>
        <p:spPr>
          <a:xfrm>
            <a:off x="5527040" y="938996"/>
            <a:ext cx="3440655"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Base Case Returns </a:t>
            </a:r>
            <a:r>
              <a:rPr lang="en-US" sz="1400" b="1" i="1" dirty="0">
                <a:solidFill>
                  <a:schemeClr val="bg1"/>
                </a:solidFill>
              </a:rPr>
              <a:t>($ in Actuals)</a:t>
            </a:r>
            <a:endParaRPr lang="en-US" sz="1400" b="1" dirty="0">
              <a:solidFill>
                <a:schemeClr val="bg1"/>
              </a:solidFill>
            </a:endParaRPr>
          </a:p>
        </p:txBody>
      </p:sp>
      <p:pic>
        <p:nvPicPr>
          <p:cNvPr id="10" name="Picture 9">
            <a:extLst>
              <a:ext uri="{FF2B5EF4-FFF2-40B4-BE49-F238E27FC236}">
                <a16:creationId xmlns:a16="http://schemas.microsoft.com/office/drawing/2014/main" id="{2C68B762-7801-14BD-4982-F144104ED208}"/>
              </a:ext>
            </a:extLst>
          </p:cNvPr>
          <p:cNvPicPr>
            <a:picLocks noChangeAspect="1"/>
          </p:cNvPicPr>
          <p:nvPr/>
        </p:nvPicPr>
        <p:blipFill>
          <a:blip r:embed="rId2"/>
          <a:stretch>
            <a:fillRect/>
          </a:stretch>
        </p:blipFill>
        <p:spPr>
          <a:xfrm>
            <a:off x="176304" y="1325258"/>
            <a:ext cx="5157216" cy="4213183"/>
          </a:xfrm>
          <a:prstGeom prst="rect">
            <a:avLst/>
          </a:prstGeom>
          <a:ln w="6350">
            <a:solidFill>
              <a:schemeClr val="tx1"/>
            </a:solidFill>
          </a:ln>
        </p:spPr>
      </p:pic>
      <p:pic>
        <p:nvPicPr>
          <p:cNvPr id="11" name="Picture 10">
            <a:extLst>
              <a:ext uri="{FF2B5EF4-FFF2-40B4-BE49-F238E27FC236}">
                <a16:creationId xmlns:a16="http://schemas.microsoft.com/office/drawing/2014/main" id="{98F8E014-92CB-7B33-6F6C-7AE706D31B46}"/>
              </a:ext>
            </a:extLst>
          </p:cNvPr>
          <p:cNvPicPr>
            <a:picLocks noChangeAspect="1"/>
          </p:cNvPicPr>
          <p:nvPr/>
        </p:nvPicPr>
        <p:blipFill>
          <a:blip r:embed="rId3"/>
          <a:stretch>
            <a:fillRect/>
          </a:stretch>
        </p:blipFill>
        <p:spPr>
          <a:xfrm>
            <a:off x="5529551" y="1325258"/>
            <a:ext cx="3438144" cy="2590008"/>
          </a:xfrm>
          <a:prstGeom prst="rect">
            <a:avLst/>
          </a:prstGeom>
          <a:ln w="6350">
            <a:solidFill>
              <a:schemeClr val="tx1"/>
            </a:solidFill>
          </a:ln>
        </p:spPr>
      </p:pic>
    </p:spTree>
    <p:extLst>
      <p:ext uri="{BB962C8B-B14F-4D97-AF65-F5344CB8AC3E}">
        <p14:creationId xmlns:p14="http://schemas.microsoft.com/office/powerpoint/2010/main" val="4725107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9B3D0-1815-D9F6-73A5-923902D63E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BF93C0-51E5-35C9-6301-04BB3B747AD0}"/>
              </a:ext>
            </a:extLst>
          </p:cNvPr>
          <p:cNvSpPr>
            <a:spLocks noGrp="1"/>
          </p:cNvSpPr>
          <p:nvPr>
            <p:ph type="title"/>
          </p:nvPr>
        </p:nvSpPr>
        <p:spPr/>
        <p:txBody>
          <a:bodyPr>
            <a:normAutofit/>
          </a:bodyPr>
          <a:lstStyle/>
          <a:p>
            <a:r>
              <a:rPr lang="en-US" noProof="0" dirty="0"/>
              <a:t>Base Case – New Contract Revenue (2/2)</a:t>
            </a:r>
          </a:p>
        </p:txBody>
      </p:sp>
      <p:sp>
        <p:nvSpPr>
          <p:cNvPr id="8" name="TextBox 7">
            <a:extLst>
              <a:ext uri="{FF2B5EF4-FFF2-40B4-BE49-F238E27FC236}">
                <a16:creationId xmlns:a16="http://schemas.microsoft.com/office/drawing/2014/main" id="{69F5A7CD-4C2A-D241-E039-2E2371BA5427}"/>
              </a:ext>
            </a:extLst>
          </p:cNvPr>
          <p:cNvSpPr txBox="1"/>
          <p:nvPr/>
        </p:nvSpPr>
        <p:spPr>
          <a:xfrm>
            <a:off x="176307" y="852287"/>
            <a:ext cx="8791388" cy="779701"/>
          </a:xfrm>
          <a:prstGeom prst="rect">
            <a:avLst/>
          </a:prstGeom>
          <a:noFill/>
        </p:spPr>
        <p:txBody>
          <a:bodyPr wrap="square" rtlCol="0">
            <a:spAutoFit/>
          </a:bodyPr>
          <a:lstStyle/>
          <a:p>
            <a:pPr>
              <a:spcBef>
                <a:spcPts val="400"/>
              </a:spcBef>
              <a:spcAft>
                <a:spcPts val="400"/>
              </a:spcAft>
            </a:pPr>
            <a:r>
              <a:rPr lang="en-US" sz="1600" b="1" u="sng" dirty="0"/>
              <a:t>Key Assumptions:</a:t>
            </a:r>
            <a:r>
              <a:rPr lang="en-US" sz="1100" dirty="0"/>
              <a:t> </a:t>
            </a:r>
          </a:p>
          <a:p>
            <a:pPr marL="91440" indent="-91440">
              <a:spcBef>
                <a:spcPts val="400"/>
              </a:spcBef>
              <a:spcAft>
                <a:spcPts val="400"/>
              </a:spcAft>
              <a:buFont typeface="Arial" panose="020B0604020202020204" pitchFamily="34" charset="0"/>
              <a:buChar char="•"/>
            </a:pPr>
            <a:r>
              <a:rPr lang="en-US" sz="1100" dirty="0"/>
              <a:t>Base Case New Contract build assumes 16 new Billings &amp; Collections + Labor Floor contracts and 8 new True Up + Management Fee for Indiana  contracts added from 2026 – 2030. Contracts details are based on averages of existing contracts.</a:t>
            </a:r>
          </a:p>
        </p:txBody>
      </p:sp>
      <p:sp>
        <p:nvSpPr>
          <p:cNvPr id="23" name="TextBox 22">
            <a:extLst>
              <a:ext uri="{FF2B5EF4-FFF2-40B4-BE49-F238E27FC236}">
                <a16:creationId xmlns:a16="http://schemas.microsoft.com/office/drawing/2014/main" id="{B13DC0F5-E618-1B1F-4AB9-F4FA56E07884}"/>
              </a:ext>
            </a:extLst>
          </p:cNvPr>
          <p:cNvSpPr txBox="1"/>
          <p:nvPr/>
        </p:nvSpPr>
        <p:spPr>
          <a:xfrm>
            <a:off x="4445130" y="2078616"/>
            <a:ext cx="4261224" cy="3488134"/>
          </a:xfrm>
          <a:prstGeom prst="rect">
            <a:avLst/>
          </a:prstGeom>
          <a:noFill/>
        </p:spPr>
        <p:txBody>
          <a:bodyPr wrap="square" rtlCol="0">
            <a:spAutoFit/>
          </a:bodyPr>
          <a:lstStyle/>
          <a:p>
            <a:pPr marL="91440" indent="-91440">
              <a:spcBef>
                <a:spcPts val="400"/>
              </a:spcBef>
              <a:spcAft>
                <a:spcPts val="300"/>
              </a:spcAft>
              <a:buFont typeface="Arial" panose="020B0604020202020204" pitchFamily="34" charset="0"/>
              <a:buChar char="•"/>
            </a:pPr>
            <a:r>
              <a:rPr lang="en-US" sz="900" dirty="0"/>
              <a:t>Model assumes 2 CRNAs and 1 MDA are staffed consistently from 2026–2030, working 15 days per month, or 180 days annually</a:t>
            </a:r>
          </a:p>
          <a:p>
            <a:pPr marL="91440" indent="-91440">
              <a:spcBef>
                <a:spcPts val="400"/>
              </a:spcBef>
              <a:spcAft>
                <a:spcPts val="300"/>
              </a:spcAft>
              <a:buFont typeface="Arial" panose="020B0604020202020204" pitchFamily="34" charset="0"/>
              <a:buChar char="•"/>
            </a:pPr>
            <a:r>
              <a:rPr lang="en-US" sz="900" dirty="0"/>
              <a:t>Indiana and new geography contracts are all assumed to be True Up + Management Fee as that is standard practice in the state</a:t>
            </a:r>
          </a:p>
          <a:p>
            <a:pPr marL="91440" indent="-91440">
              <a:spcBef>
                <a:spcPts val="400"/>
              </a:spcBef>
              <a:spcAft>
                <a:spcPts val="300"/>
              </a:spcAft>
              <a:buFont typeface="Arial" panose="020B0604020202020204" pitchFamily="34" charset="0"/>
              <a:buChar char="•"/>
            </a:pPr>
            <a:r>
              <a:rPr lang="en-US" sz="900" dirty="0"/>
              <a:t>Billing rates (reimbursements) and Wage Assumptions:</a:t>
            </a:r>
          </a:p>
          <a:p>
            <a:pPr marL="274320" lvl="1" indent="-91440">
              <a:spcBef>
                <a:spcPts val="400"/>
              </a:spcBef>
              <a:spcAft>
                <a:spcPts val="300"/>
              </a:spcAft>
              <a:buFont typeface="Arial" panose="020B0604020202020204" pitchFamily="34" charset="0"/>
              <a:buChar char="•"/>
            </a:pPr>
            <a:r>
              <a:rPr lang="en-US" sz="900" dirty="0"/>
              <a:t>Michigan</a:t>
            </a:r>
          </a:p>
          <a:p>
            <a:pPr marL="731520" lvl="2" indent="-91440">
              <a:spcBef>
                <a:spcPts val="400"/>
              </a:spcBef>
              <a:spcAft>
                <a:spcPts val="300"/>
              </a:spcAft>
              <a:buFont typeface="Arial" panose="020B0604020202020204" pitchFamily="34" charset="0"/>
              <a:buChar char="•"/>
            </a:pPr>
            <a:r>
              <a:rPr lang="en-US" sz="900" dirty="0"/>
              <a:t>Billing Rates: CRNAs at ~$1,603/day, and MDAs at $2,660/day, increasing 3% p.a.</a:t>
            </a:r>
          </a:p>
          <a:p>
            <a:pPr marL="731520" lvl="2" indent="-91440">
              <a:spcBef>
                <a:spcPts val="400"/>
              </a:spcBef>
              <a:spcAft>
                <a:spcPts val="300"/>
              </a:spcAft>
              <a:buFont typeface="Arial" panose="020B0604020202020204" pitchFamily="34" charset="0"/>
              <a:buChar char="•"/>
            </a:pPr>
            <a:r>
              <a:rPr lang="en-US" sz="900" dirty="0"/>
              <a:t>Wages: CRNAs at ~$1,126/day, and MDAs at $2,095/day, increasing 3% p.a.</a:t>
            </a:r>
          </a:p>
          <a:p>
            <a:pPr marL="274320" lvl="1" indent="-91440">
              <a:spcBef>
                <a:spcPts val="400"/>
              </a:spcBef>
              <a:spcAft>
                <a:spcPts val="300"/>
              </a:spcAft>
              <a:buFont typeface="Arial" panose="020B0604020202020204" pitchFamily="34" charset="0"/>
              <a:buChar char="•"/>
            </a:pPr>
            <a:r>
              <a:rPr lang="en-US" sz="900" dirty="0"/>
              <a:t>Indiana and New Geographies</a:t>
            </a:r>
          </a:p>
          <a:p>
            <a:pPr marL="731520" lvl="2" indent="-91440">
              <a:spcBef>
                <a:spcPts val="400"/>
              </a:spcBef>
              <a:spcAft>
                <a:spcPts val="300"/>
              </a:spcAft>
              <a:buFont typeface="Arial" panose="020B0604020202020204" pitchFamily="34" charset="0"/>
              <a:buChar char="•"/>
            </a:pPr>
            <a:r>
              <a:rPr lang="en-US" sz="900" dirty="0"/>
              <a:t>Billing Rates: CRNAs at ~$1,988/day, and MDAs at $3,021/day, increasing 3% p.a.</a:t>
            </a:r>
          </a:p>
          <a:p>
            <a:pPr marL="731520" lvl="2" indent="-91440">
              <a:spcBef>
                <a:spcPts val="400"/>
              </a:spcBef>
              <a:spcAft>
                <a:spcPts val="300"/>
              </a:spcAft>
              <a:buFont typeface="Arial" panose="020B0604020202020204" pitchFamily="34" charset="0"/>
              <a:buChar char="•"/>
            </a:pPr>
            <a:r>
              <a:rPr lang="en-US" sz="900" dirty="0"/>
              <a:t>Wages: CRNAs at ~$1,576/day, and MDAs at $2,249/day, increasing 3% p.a. </a:t>
            </a:r>
          </a:p>
          <a:p>
            <a:pPr marL="91440" indent="-91440">
              <a:spcBef>
                <a:spcPts val="400"/>
              </a:spcBef>
              <a:spcAft>
                <a:spcPts val="300"/>
              </a:spcAft>
              <a:buFont typeface="Arial" panose="020B0604020202020204" pitchFamily="34" charset="0"/>
              <a:buChar char="•"/>
            </a:pPr>
            <a:r>
              <a:rPr lang="en-US" sz="900" dirty="0"/>
              <a:t>Similar to the build for existing contracts, starting in 2029 new contracts are assumed to churn at a rate of 1 per year using average contract revenue / margin</a:t>
            </a:r>
            <a:endParaRPr lang="en-US" sz="1100" b="1" u="sng" dirty="0"/>
          </a:p>
          <a:p>
            <a:pPr>
              <a:spcBef>
                <a:spcPts val="200"/>
              </a:spcBef>
              <a:spcAft>
                <a:spcPts val="200"/>
              </a:spcAft>
            </a:pPr>
            <a:endParaRPr lang="en-US" sz="1100" b="1" u="sng" dirty="0"/>
          </a:p>
        </p:txBody>
      </p:sp>
      <p:sp>
        <p:nvSpPr>
          <p:cNvPr id="6" name="Rectangle: Diagonal Corners Snipped 5">
            <a:extLst>
              <a:ext uri="{FF2B5EF4-FFF2-40B4-BE49-F238E27FC236}">
                <a16:creationId xmlns:a16="http://schemas.microsoft.com/office/drawing/2014/main" id="{7BA1C6FB-BE14-D9C4-3F41-8FFB87CEACDA}"/>
              </a:ext>
            </a:extLst>
          </p:cNvPr>
          <p:cNvSpPr/>
          <p:nvPr/>
        </p:nvSpPr>
        <p:spPr>
          <a:xfrm>
            <a:off x="176305" y="1658439"/>
            <a:ext cx="4045289"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New Contract Summary P&amp;L </a:t>
            </a:r>
            <a:r>
              <a:rPr lang="en-US" sz="1400" b="1" i="1" dirty="0">
                <a:solidFill>
                  <a:schemeClr val="bg1"/>
                </a:solidFill>
              </a:rPr>
              <a:t>($ in Actuals)</a:t>
            </a:r>
            <a:endParaRPr lang="en-US" sz="1400" b="1" dirty="0">
              <a:solidFill>
                <a:schemeClr val="bg1"/>
              </a:solidFill>
            </a:endParaRPr>
          </a:p>
        </p:txBody>
      </p:sp>
      <p:sp>
        <p:nvSpPr>
          <p:cNvPr id="7" name="Rectangle: Diagonal Corners Snipped 6">
            <a:extLst>
              <a:ext uri="{FF2B5EF4-FFF2-40B4-BE49-F238E27FC236}">
                <a16:creationId xmlns:a16="http://schemas.microsoft.com/office/drawing/2014/main" id="{DB193966-94FB-B08A-57A6-CB45C8219E8B}"/>
              </a:ext>
            </a:extLst>
          </p:cNvPr>
          <p:cNvSpPr/>
          <p:nvPr/>
        </p:nvSpPr>
        <p:spPr>
          <a:xfrm>
            <a:off x="176305" y="5537655"/>
            <a:ext cx="4045289"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New Contracts per Year</a:t>
            </a:r>
          </a:p>
        </p:txBody>
      </p:sp>
      <p:sp>
        <p:nvSpPr>
          <p:cNvPr id="11" name="TextBox 10">
            <a:extLst>
              <a:ext uri="{FF2B5EF4-FFF2-40B4-BE49-F238E27FC236}">
                <a16:creationId xmlns:a16="http://schemas.microsoft.com/office/drawing/2014/main" id="{B640154F-0664-A639-0FFF-6D7A11438A0E}"/>
              </a:ext>
            </a:extLst>
          </p:cNvPr>
          <p:cNvSpPr txBox="1"/>
          <p:nvPr/>
        </p:nvSpPr>
        <p:spPr>
          <a:xfrm>
            <a:off x="4445130" y="5915183"/>
            <a:ext cx="4327678" cy="836126"/>
          </a:xfrm>
          <a:prstGeom prst="rect">
            <a:avLst/>
          </a:prstGeom>
          <a:noFill/>
        </p:spPr>
        <p:txBody>
          <a:bodyPr wrap="square" rtlCol="0">
            <a:spAutoFit/>
          </a:bodyPr>
          <a:lstStyle/>
          <a:p>
            <a:pPr marL="91440" indent="-91440">
              <a:spcBef>
                <a:spcPts val="100"/>
              </a:spcBef>
              <a:spcAft>
                <a:spcPts val="100"/>
              </a:spcAft>
              <a:buFont typeface="Arial" panose="020B0604020202020204" pitchFamily="34" charset="0"/>
              <a:buChar char="•"/>
            </a:pPr>
            <a:r>
              <a:rPr lang="en-US" sz="900" dirty="0"/>
              <a:t>Model assumes only 8 new contracts (1 – 2 per year) added in each of Michigan and Indiana from 2026-2030</a:t>
            </a:r>
          </a:p>
          <a:p>
            <a:pPr marL="548640" lvl="1" indent="-91440">
              <a:spcBef>
                <a:spcPts val="100"/>
              </a:spcBef>
              <a:spcAft>
                <a:spcPts val="100"/>
              </a:spcAft>
              <a:buFont typeface="Arial" panose="020B0604020202020204" pitchFamily="34" charset="0"/>
              <a:buChar char="•"/>
            </a:pPr>
            <a:r>
              <a:rPr lang="en-US" sz="900" dirty="0"/>
              <a:t>AAS has added an average of 3.5 new contracts per year in Michigan since 2020, and 3.3 per year in Indiana since the expansion in 2023</a:t>
            </a:r>
          </a:p>
          <a:p>
            <a:pPr marL="91440" indent="-91440">
              <a:spcBef>
                <a:spcPts val="100"/>
              </a:spcBef>
              <a:spcAft>
                <a:spcPts val="100"/>
              </a:spcAft>
              <a:buFont typeface="Arial" panose="020B0604020202020204" pitchFamily="34" charset="0"/>
              <a:buChar char="•"/>
            </a:pPr>
            <a:r>
              <a:rPr lang="en-US" sz="900" dirty="0"/>
              <a:t>Assumed expansion to 1 new market in 2027 with 1 – 2 new contracts per year</a:t>
            </a:r>
          </a:p>
        </p:txBody>
      </p:sp>
      <p:sp>
        <p:nvSpPr>
          <p:cNvPr id="12" name="Rectangle: Diagonal Corners Snipped 11">
            <a:extLst>
              <a:ext uri="{FF2B5EF4-FFF2-40B4-BE49-F238E27FC236}">
                <a16:creationId xmlns:a16="http://schemas.microsoft.com/office/drawing/2014/main" id="{B30ED06F-DC71-E017-F4FF-C522BA3F0A58}"/>
              </a:ext>
            </a:extLst>
          </p:cNvPr>
          <p:cNvSpPr/>
          <p:nvPr/>
        </p:nvSpPr>
        <p:spPr>
          <a:xfrm>
            <a:off x="4445130" y="1658439"/>
            <a:ext cx="4261223"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Billing &amp; Collections Contract Assumptions</a:t>
            </a:r>
          </a:p>
        </p:txBody>
      </p:sp>
      <p:sp>
        <p:nvSpPr>
          <p:cNvPr id="13" name="Rectangle: Diagonal Corners Snipped 12">
            <a:extLst>
              <a:ext uri="{FF2B5EF4-FFF2-40B4-BE49-F238E27FC236}">
                <a16:creationId xmlns:a16="http://schemas.microsoft.com/office/drawing/2014/main" id="{CBDB98CD-7412-F6B2-E7F8-27EDC4C86B95}"/>
              </a:ext>
            </a:extLst>
          </p:cNvPr>
          <p:cNvSpPr/>
          <p:nvPr/>
        </p:nvSpPr>
        <p:spPr>
          <a:xfrm>
            <a:off x="4445130" y="5537655"/>
            <a:ext cx="4261223"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New Contract Growth Assumptions</a:t>
            </a:r>
          </a:p>
        </p:txBody>
      </p:sp>
      <p:sp>
        <p:nvSpPr>
          <p:cNvPr id="16" name="Slide Number Placeholder 8">
            <a:extLst>
              <a:ext uri="{FF2B5EF4-FFF2-40B4-BE49-F238E27FC236}">
                <a16:creationId xmlns:a16="http://schemas.microsoft.com/office/drawing/2014/main" id="{9B1942EA-0B51-346A-A7FC-E0D61CE74945}"/>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22</a:t>
            </a:fld>
            <a:endParaRPr lang="en-US" dirty="0"/>
          </a:p>
        </p:txBody>
      </p:sp>
      <p:pic>
        <p:nvPicPr>
          <p:cNvPr id="10" name="Picture 9">
            <a:extLst>
              <a:ext uri="{FF2B5EF4-FFF2-40B4-BE49-F238E27FC236}">
                <a16:creationId xmlns:a16="http://schemas.microsoft.com/office/drawing/2014/main" id="{912904F6-CC2E-86F4-5A27-22607A6279ED}"/>
              </a:ext>
            </a:extLst>
          </p:cNvPr>
          <p:cNvPicPr>
            <a:picLocks noChangeAspect="1"/>
          </p:cNvPicPr>
          <p:nvPr/>
        </p:nvPicPr>
        <p:blipFill>
          <a:blip r:embed="rId2"/>
          <a:stretch>
            <a:fillRect/>
          </a:stretch>
        </p:blipFill>
        <p:spPr>
          <a:xfrm>
            <a:off x="179946" y="5915183"/>
            <a:ext cx="4041648" cy="712449"/>
          </a:xfrm>
          <a:prstGeom prst="rect">
            <a:avLst/>
          </a:prstGeom>
          <a:ln w="6350">
            <a:solidFill>
              <a:schemeClr val="tx1"/>
            </a:solidFill>
          </a:ln>
        </p:spPr>
      </p:pic>
      <p:pic>
        <p:nvPicPr>
          <p:cNvPr id="14" name="Picture 13">
            <a:extLst>
              <a:ext uri="{FF2B5EF4-FFF2-40B4-BE49-F238E27FC236}">
                <a16:creationId xmlns:a16="http://schemas.microsoft.com/office/drawing/2014/main" id="{1E0E495D-75F7-0D5A-D977-B7910FDF06AA}"/>
              </a:ext>
            </a:extLst>
          </p:cNvPr>
          <p:cNvPicPr>
            <a:picLocks noChangeAspect="1"/>
          </p:cNvPicPr>
          <p:nvPr/>
        </p:nvPicPr>
        <p:blipFill>
          <a:blip r:embed="rId3"/>
          <a:stretch>
            <a:fillRect/>
          </a:stretch>
        </p:blipFill>
        <p:spPr>
          <a:xfrm>
            <a:off x="179946" y="2078616"/>
            <a:ext cx="4041648" cy="3422417"/>
          </a:xfrm>
          <a:prstGeom prst="rect">
            <a:avLst/>
          </a:prstGeom>
          <a:ln w="6350">
            <a:solidFill>
              <a:schemeClr val="tx1"/>
            </a:solidFill>
          </a:ln>
        </p:spPr>
      </p:pic>
    </p:spTree>
    <p:extLst>
      <p:ext uri="{BB962C8B-B14F-4D97-AF65-F5344CB8AC3E}">
        <p14:creationId xmlns:p14="http://schemas.microsoft.com/office/powerpoint/2010/main" val="31972931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2D3E9-94D0-0846-D579-7069DC4935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E9310B-3280-844E-ACCE-7667E6C122B2}"/>
              </a:ext>
            </a:extLst>
          </p:cNvPr>
          <p:cNvSpPr>
            <a:spLocks noGrp="1"/>
          </p:cNvSpPr>
          <p:nvPr>
            <p:ph type="title"/>
          </p:nvPr>
        </p:nvSpPr>
        <p:spPr/>
        <p:txBody>
          <a:bodyPr>
            <a:normAutofit/>
          </a:bodyPr>
          <a:lstStyle/>
          <a:p>
            <a:r>
              <a:rPr lang="en-US" noProof="0" dirty="0"/>
              <a:t>Base Case – Corporate Overhead Build</a:t>
            </a:r>
          </a:p>
        </p:txBody>
      </p:sp>
      <p:sp>
        <p:nvSpPr>
          <p:cNvPr id="23" name="TextBox 22">
            <a:extLst>
              <a:ext uri="{FF2B5EF4-FFF2-40B4-BE49-F238E27FC236}">
                <a16:creationId xmlns:a16="http://schemas.microsoft.com/office/drawing/2014/main" id="{A818CBC9-D669-1DF3-5604-76ABEA308E2A}"/>
              </a:ext>
            </a:extLst>
          </p:cNvPr>
          <p:cNvSpPr txBox="1"/>
          <p:nvPr/>
        </p:nvSpPr>
        <p:spPr>
          <a:xfrm>
            <a:off x="221942" y="5880801"/>
            <a:ext cx="8743408" cy="769441"/>
          </a:xfrm>
          <a:prstGeom prst="rect">
            <a:avLst/>
          </a:prstGeom>
          <a:noFill/>
        </p:spPr>
        <p:txBody>
          <a:bodyPr wrap="square" rtlCol="0">
            <a:spAutoFit/>
          </a:bodyPr>
          <a:lstStyle/>
          <a:p>
            <a:pPr marL="91440" indent="-91440">
              <a:buFont typeface="Arial" panose="020B0604020202020204" pitchFamily="34" charset="0"/>
              <a:buChar char="•"/>
            </a:pPr>
            <a:r>
              <a:rPr lang="en-US" sz="1100" dirty="0"/>
              <a:t>New CFO expected to start December 1, 2026</a:t>
            </a:r>
          </a:p>
          <a:p>
            <a:pPr marL="91440" indent="-91440">
              <a:buFont typeface="Arial" panose="020B0604020202020204" pitchFamily="34" charset="0"/>
              <a:buChar char="•"/>
            </a:pPr>
            <a:r>
              <a:rPr lang="en-US" sz="1100" dirty="0"/>
              <a:t>Opex is further burdened in 2026 – 2028 by several additional hires outlined above</a:t>
            </a:r>
          </a:p>
          <a:p>
            <a:pPr marL="91440" indent="-91440">
              <a:buFont typeface="Arial" panose="020B0604020202020204" pitchFamily="34" charset="0"/>
              <a:buChar char="•"/>
            </a:pPr>
            <a:r>
              <a:rPr lang="en-US" sz="1100" dirty="0"/>
              <a:t>$868K of additional G&amp;A costs for infrastructure (i.e. EMR), further hires (i.e., Chief Growth Officer), and other infrastructure / hires</a:t>
            </a:r>
          </a:p>
          <a:p>
            <a:pPr marL="91440" indent="-91440">
              <a:buFont typeface="Arial" panose="020B0604020202020204" pitchFamily="34" charset="0"/>
              <a:buChar char="•"/>
            </a:pPr>
            <a:r>
              <a:rPr lang="en-US" sz="1100" dirty="0"/>
              <a:t>The model also assumes CEO and COO salaries rise to $275K and $225K + 50% bonus + 15% burden starting in 2026, from $200K &amp; $150K</a:t>
            </a:r>
          </a:p>
        </p:txBody>
      </p:sp>
      <p:sp>
        <p:nvSpPr>
          <p:cNvPr id="6" name="Rectangle: Diagonal Corners Snipped 5">
            <a:extLst>
              <a:ext uri="{FF2B5EF4-FFF2-40B4-BE49-F238E27FC236}">
                <a16:creationId xmlns:a16="http://schemas.microsoft.com/office/drawing/2014/main" id="{F9090CC4-7083-7D5F-FD17-E9B1E48F8C72}"/>
              </a:ext>
            </a:extLst>
          </p:cNvPr>
          <p:cNvSpPr/>
          <p:nvPr/>
        </p:nvSpPr>
        <p:spPr>
          <a:xfrm>
            <a:off x="200296" y="927422"/>
            <a:ext cx="8743408"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Corporate Overhead Build </a:t>
            </a:r>
            <a:r>
              <a:rPr lang="en-US" sz="1400" b="1" i="1" dirty="0">
                <a:solidFill>
                  <a:schemeClr val="bg1"/>
                </a:solidFill>
              </a:rPr>
              <a:t>($ in Actuals)</a:t>
            </a:r>
            <a:endParaRPr lang="en-US" sz="1400" b="1" dirty="0">
              <a:solidFill>
                <a:schemeClr val="bg1"/>
              </a:solidFill>
            </a:endParaRPr>
          </a:p>
        </p:txBody>
      </p:sp>
      <p:sp>
        <p:nvSpPr>
          <p:cNvPr id="16" name="Slide Number Placeholder 8">
            <a:extLst>
              <a:ext uri="{FF2B5EF4-FFF2-40B4-BE49-F238E27FC236}">
                <a16:creationId xmlns:a16="http://schemas.microsoft.com/office/drawing/2014/main" id="{DF8020CA-F807-7E4F-2A28-41A49DC65B45}"/>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23</a:t>
            </a:fld>
            <a:endParaRPr lang="en-US" dirty="0"/>
          </a:p>
        </p:txBody>
      </p:sp>
      <p:sp>
        <p:nvSpPr>
          <p:cNvPr id="5" name="Rectangle: Diagonal Corners Snipped 4">
            <a:extLst>
              <a:ext uri="{FF2B5EF4-FFF2-40B4-BE49-F238E27FC236}">
                <a16:creationId xmlns:a16="http://schemas.microsoft.com/office/drawing/2014/main" id="{4EC43AF1-B3BD-9515-2AAC-080DD4FF4079}"/>
              </a:ext>
            </a:extLst>
          </p:cNvPr>
          <p:cNvSpPr/>
          <p:nvPr/>
        </p:nvSpPr>
        <p:spPr>
          <a:xfrm>
            <a:off x="221942" y="5541313"/>
            <a:ext cx="8743408"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Key Assumptions</a:t>
            </a:r>
          </a:p>
        </p:txBody>
      </p:sp>
      <p:pic>
        <p:nvPicPr>
          <p:cNvPr id="3" name="Picture 2">
            <a:extLst>
              <a:ext uri="{FF2B5EF4-FFF2-40B4-BE49-F238E27FC236}">
                <a16:creationId xmlns:a16="http://schemas.microsoft.com/office/drawing/2014/main" id="{DEB04BB8-A4F6-FB65-7F46-991CEEDFDA4E}"/>
              </a:ext>
            </a:extLst>
          </p:cNvPr>
          <p:cNvPicPr>
            <a:picLocks noChangeAspect="1"/>
          </p:cNvPicPr>
          <p:nvPr/>
        </p:nvPicPr>
        <p:blipFill>
          <a:blip r:embed="rId2"/>
          <a:stretch>
            <a:fillRect/>
          </a:stretch>
        </p:blipFill>
        <p:spPr>
          <a:xfrm>
            <a:off x="1559052" y="1297943"/>
            <a:ext cx="6025896" cy="4135261"/>
          </a:xfrm>
          <a:prstGeom prst="rect">
            <a:avLst/>
          </a:prstGeom>
          <a:ln w="6350">
            <a:solidFill>
              <a:schemeClr val="tx1"/>
            </a:solidFill>
          </a:ln>
        </p:spPr>
      </p:pic>
    </p:spTree>
    <p:extLst>
      <p:ext uri="{BB962C8B-B14F-4D97-AF65-F5344CB8AC3E}">
        <p14:creationId xmlns:p14="http://schemas.microsoft.com/office/powerpoint/2010/main" val="10335105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6514B-8F8E-6BEF-ABFD-D780E6C69F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63B7DC-0C1F-828E-9627-0D24C17E5DD4}"/>
              </a:ext>
            </a:extLst>
          </p:cNvPr>
          <p:cNvSpPr>
            <a:spLocks noGrp="1"/>
          </p:cNvSpPr>
          <p:nvPr>
            <p:ph type="title"/>
          </p:nvPr>
        </p:nvSpPr>
        <p:spPr/>
        <p:txBody>
          <a:bodyPr>
            <a:normAutofit/>
          </a:bodyPr>
          <a:lstStyle/>
          <a:p>
            <a:r>
              <a:rPr lang="en-US" noProof="0" dirty="0"/>
              <a:t>Northern Shore Expected Case</a:t>
            </a:r>
          </a:p>
        </p:txBody>
      </p:sp>
      <p:sp>
        <p:nvSpPr>
          <p:cNvPr id="8" name="TextBox 7">
            <a:extLst>
              <a:ext uri="{FF2B5EF4-FFF2-40B4-BE49-F238E27FC236}">
                <a16:creationId xmlns:a16="http://schemas.microsoft.com/office/drawing/2014/main" id="{FFA178AF-20E7-F39C-3D6B-BB053F92A650}"/>
              </a:ext>
            </a:extLst>
          </p:cNvPr>
          <p:cNvSpPr txBox="1"/>
          <p:nvPr/>
        </p:nvSpPr>
        <p:spPr>
          <a:xfrm>
            <a:off x="176307" y="1318631"/>
            <a:ext cx="8791388" cy="1225977"/>
          </a:xfrm>
          <a:prstGeom prst="rect">
            <a:avLst/>
          </a:prstGeom>
          <a:noFill/>
        </p:spPr>
        <p:txBody>
          <a:bodyPr wrap="square" rtlCol="0">
            <a:spAutoFit/>
          </a:bodyPr>
          <a:lstStyle/>
          <a:p>
            <a:pPr>
              <a:spcBef>
                <a:spcPts val="200"/>
              </a:spcBef>
              <a:spcAft>
                <a:spcPts val="200"/>
              </a:spcAft>
            </a:pPr>
            <a:r>
              <a:rPr lang="en-US" sz="1200" b="1" u="sng" dirty="0"/>
              <a:t>Key Assumptions:</a:t>
            </a:r>
            <a:r>
              <a:rPr lang="en-US" sz="1200" dirty="0"/>
              <a:t> </a:t>
            </a:r>
          </a:p>
          <a:p>
            <a:pPr marL="91440" indent="-91440">
              <a:spcBef>
                <a:spcPts val="200"/>
              </a:spcBef>
              <a:spcAft>
                <a:spcPts val="200"/>
              </a:spcAft>
              <a:buFont typeface="Arial" panose="020B0604020202020204" pitchFamily="34" charset="0"/>
              <a:buChar char="•"/>
            </a:pPr>
            <a:r>
              <a:rPr lang="en-US" sz="900" dirty="0"/>
              <a:t>Existing contract build and churn assumptions are all in-line with base case.</a:t>
            </a:r>
          </a:p>
          <a:p>
            <a:pPr marL="91440" indent="-91440">
              <a:spcBef>
                <a:spcPts val="200"/>
              </a:spcBef>
              <a:spcAft>
                <a:spcPts val="200"/>
              </a:spcAft>
              <a:buFont typeface="Arial" panose="020B0604020202020204" pitchFamily="34" charset="0"/>
              <a:buChar char="•"/>
            </a:pPr>
            <a:r>
              <a:rPr lang="en-US" sz="900" dirty="0"/>
              <a:t>NSC Expected Case reflects expansion into 4 new markets, in addition to moderately more aggressive new contract growth assumptions, including:</a:t>
            </a:r>
          </a:p>
          <a:p>
            <a:pPr marL="548640" lvl="1" indent="-91440">
              <a:spcBef>
                <a:spcPts val="200"/>
              </a:spcBef>
              <a:spcAft>
                <a:spcPts val="200"/>
              </a:spcAft>
              <a:buFont typeface="Arial" panose="020B0604020202020204" pitchFamily="34" charset="0"/>
              <a:buChar char="•"/>
            </a:pPr>
            <a:r>
              <a:rPr lang="en-US" sz="900" dirty="0"/>
              <a:t>10 new contracts in both Michigan and Indiana (2 per year)</a:t>
            </a:r>
          </a:p>
          <a:p>
            <a:pPr marL="548640" lvl="1" indent="-91440">
              <a:spcBef>
                <a:spcPts val="200"/>
              </a:spcBef>
              <a:spcAft>
                <a:spcPts val="200"/>
              </a:spcAft>
              <a:buFont typeface="Arial" panose="020B0604020202020204" pitchFamily="34" charset="0"/>
              <a:buChar char="•"/>
            </a:pPr>
            <a:r>
              <a:rPr lang="en-US" sz="900" dirty="0"/>
              <a:t>3 new contracts per year for each new geography</a:t>
            </a:r>
          </a:p>
          <a:p>
            <a:pPr marL="91440" indent="-91440">
              <a:spcBef>
                <a:spcPts val="200"/>
              </a:spcBef>
              <a:spcAft>
                <a:spcPts val="200"/>
              </a:spcAft>
              <a:buFont typeface="Arial" panose="020B0604020202020204" pitchFamily="34" charset="0"/>
              <a:buChar char="•"/>
            </a:pPr>
            <a:r>
              <a:rPr lang="en-US" sz="900" dirty="0"/>
              <a:t>$300K of incremental OpEx over Base Case is assumed to support additional growth</a:t>
            </a:r>
          </a:p>
        </p:txBody>
      </p:sp>
      <p:sp>
        <p:nvSpPr>
          <p:cNvPr id="3" name="Rectangle: Rounded Corners 2">
            <a:extLst>
              <a:ext uri="{FF2B5EF4-FFF2-40B4-BE49-F238E27FC236}">
                <a16:creationId xmlns:a16="http://schemas.microsoft.com/office/drawing/2014/main" id="{2E42EB20-1913-4FB6-A079-E3D8D6B55D3A}"/>
              </a:ext>
            </a:extLst>
          </p:cNvPr>
          <p:cNvSpPr/>
          <p:nvPr/>
        </p:nvSpPr>
        <p:spPr>
          <a:xfrm>
            <a:off x="185271" y="962421"/>
            <a:ext cx="8791388" cy="347877"/>
          </a:xfrm>
          <a:prstGeom prst="roundRect">
            <a:avLst/>
          </a:prstGeom>
          <a:solidFill>
            <a:srgbClr val="E0EBF6"/>
          </a:solidFill>
          <a:ln w="28575">
            <a:solidFill>
              <a:srgbClr val="143F6A"/>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Northern Shore Case – with our support, we believe AAS can scale to $20M of EBITDA</a:t>
            </a:r>
          </a:p>
        </p:txBody>
      </p:sp>
      <p:sp>
        <p:nvSpPr>
          <p:cNvPr id="4" name="Slide Number Placeholder 8">
            <a:extLst>
              <a:ext uri="{FF2B5EF4-FFF2-40B4-BE49-F238E27FC236}">
                <a16:creationId xmlns:a16="http://schemas.microsoft.com/office/drawing/2014/main" id="{9F6430C0-813E-A13A-FDC6-8A7407EBE2B2}"/>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24</a:t>
            </a:fld>
            <a:endParaRPr lang="en-US" dirty="0"/>
          </a:p>
        </p:txBody>
      </p:sp>
      <p:sp>
        <p:nvSpPr>
          <p:cNvPr id="14" name="Rectangle: Diagonal Corners Snipped 13">
            <a:extLst>
              <a:ext uri="{FF2B5EF4-FFF2-40B4-BE49-F238E27FC236}">
                <a16:creationId xmlns:a16="http://schemas.microsoft.com/office/drawing/2014/main" id="{69B889CF-8238-E4DE-DB82-BDB34880964D}"/>
              </a:ext>
            </a:extLst>
          </p:cNvPr>
          <p:cNvSpPr/>
          <p:nvPr/>
        </p:nvSpPr>
        <p:spPr>
          <a:xfrm>
            <a:off x="3550920" y="2574846"/>
            <a:ext cx="5410200"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New Contract Growth</a:t>
            </a:r>
          </a:p>
        </p:txBody>
      </p:sp>
      <p:pic>
        <p:nvPicPr>
          <p:cNvPr id="12" name="Picture 11">
            <a:extLst>
              <a:ext uri="{FF2B5EF4-FFF2-40B4-BE49-F238E27FC236}">
                <a16:creationId xmlns:a16="http://schemas.microsoft.com/office/drawing/2014/main" id="{7A669115-ED68-B1FC-1C69-E448E76E2B48}"/>
              </a:ext>
            </a:extLst>
          </p:cNvPr>
          <p:cNvPicPr>
            <a:picLocks noChangeAspect="1"/>
          </p:cNvPicPr>
          <p:nvPr/>
        </p:nvPicPr>
        <p:blipFill>
          <a:blip r:embed="rId2"/>
          <a:stretch>
            <a:fillRect/>
          </a:stretch>
        </p:blipFill>
        <p:spPr>
          <a:xfrm>
            <a:off x="182880" y="4888172"/>
            <a:ext cx="8778240" cy="1676845"/>
          </a:xfrm>
          <a:prstGeom prst="rect">
            <a:avLst/>
          </a:prstGeom>
          <a:ln w="6350">
            <a:solidFill>
              <a:schemeClr val="tx1"/>
            </a:solidFill>
          </a:ln>
        </p:spPr>
      </p:pic>
      <p:pic>
        <p:nvPicPr>
          <p:cNvPr id="13" name="Picture 12">
            <a:extLst>
              <a:ext uri="{FF2B5EF4-FFF2-40B4-BE49-F238E27FC236}">
                <a16:creationId xmlns:a16="http://schemas.microsoft.com/office/drawing/2014/main" id="{3F9CBA88-25AC-81A0-4E4A-3988819A9E1E}"/>
              </a:ext>
            </a:extLst>
          </p:cNvPr>
          <p:cNvPicPr>
            <a:picLocks noChangeAspect="1"/>
          </p:cNvPicPr>
          <p:nvPr/>
        </p:nvPicPr>
        <p:blipFill>
          <a:blip r:embed="rId3"/>
          <a:stretch>
            <a:fillRect/>
          </a:stretch>
        </p:blipFill>
        <p:spPr>
          <a:xfrm>
            <a:off x="3547872" y="2926186"/>
            <a:ext cx="5413248" cy="1846034"/>
          </a:xfrm>
          <a:prstGeom prst="rect">
            <a:avLst/>
          </a:prstGeom>
          <a:ln w="6350">
            <a:solidFill>
              <a:schemeClr val="tx1"/>
            </a:solidFill>
          </a:ln>
        </p:spPr>
      </p:pic>
      <p:pic>
        <p:nvPicPr>
          <p:cNvPr id="15" name="Picture 14">
            <a:extLst>
              <a:ext uri="{FF2B5EF4-FFF2-40B4-BE49-F238E27FC236}">
                <a16:creationId xmlns:a16="http://schemas.microsoft.com/office/drawing/2014/main" id="{D627A91B-9AED-DB8F-8334-575103F8D8B3}"/>
              </a:ext>
            </a:extLst>
          </p:cNvPr>
          <p:cNvPicPr>
            <a:picLocks noChangeAspect="1"/>
          </p:cNvPicPr>
          <p:nvPr/>
        </p:nvPicPr>
        <p:blipFill>
          <a:blip r:embed="rId4"/>
          <a:stretch>
            <a:fillRect/>
          </a:stretch>
        </p:blipFill>
        <p:spPr>
          <a:xfrm>
            <a:off x="182880" y="2574846"/>
            <a:ext cx="2916936" cy="2197374"/>
          </a:xfrm>
          <a:prstGeom prst="rect">
            <a:avLst/>
          </a:prstGeom>
          <a:ln w="6350">
            <a:solidFill>
              <a:schemeClr val="tx1"/>
            </a:solidFill>
          </a:ln>
        </p:spPr>
      </p:pic>
    </p:spTree>
    <p:extLst>
      <p:ext uri="{BB962C8B-B14F-4D97-AF65-F5344CB8AC3E}">
        <p14:creationId xmlns:p14="http://schemas.microsoft.com/office/powerpoint/2010/main" val="12083487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E5B0F-C305-A92C-15E2-7E19E4C691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CBCE3-2988-5633-79A1-3568996DAD58}"/>
              </a:ext>
            </a:extLst>
          </p:cNvPr>
          <p:cNvSpPr>
            <a:spLocks noGrp="1"/>
          </p:cNvSpPr>
          <p:nvPr>
            <p:ph type="title"/>
          </p:nvPr>
        </p:nvSpPr>
        <p:spPr/>
        <p:txBody>
          <a:bodyPr>
            <a:normAutofit/>
          </a:bodyPr>
          <a:lstStyle/>
          <a:p>
            <a:r>
              <a:rPr lang="en-US" noProof="0" dirty="0"/>
              <a:t>Downside Case</a:t>
            </a:r>
          </a:p>
        </p:txBody>
      </p:sp>
      <p:sp>
        <p:nvSpPr>
          <p:cNvPr id="8" name="TextBox 7">
            <a:extLst>
              <a:ext uri="{FF2B5EF4-FFF2-40B4-BE49-F238E27FC236}">
                <a16:creationId xmlns:a16="http://schemas.microsoft.com/office/drawing/2014/main" id="{E9F43C55-31BF-4120-B15C-1745FB6A98E9}"/>
              </a:ext>
            </a:extLst>
          </p:cNvPr>
          <p:cNvSpPr txBox="1"/>
          <p:nvPr/>
        </p:nvSpPr>
        <p:spPr>
          <a:xfrm>
            <a:off x="176307" y="1318631"/>
            <a:ext cx="8791388" cy="795089"/>
          </a:xfrm>
          <a:prstGeom prst="rect">
            <a:avLst/>
          </a:prstGeom>
          <a:noFill/>
        </p:spPr>
        <p:txBody>
          <a:bodyPr wrap="square" rtlCol="0">
            <a:spAutoFit/>
          </a:bodyPr>
          <a:lstStyle/>
          <a:p>
            <a:pPr>
              <a:spcBef>
                <a:spcPts val="200"/>
              </a:spcBef>
              <a:spcAft>
                <a:spcPts val="200"/>
              </a:spcAft>
            </a:pPr>
            <a:r>
              <a:rPr lang="en-US" sz="1200" b="1" u="sng" dirty="0"/>
              <a:t>Key Assumptions:</a:t>
            </a:r>
            <a:r>
              <a:rPr lang="en-US" sz="1200" dirty="0"/>
              <a:t> </a:t>
            </a:r>
          </a:p>
          <a:p>
            <a:pPr marL="91440" indent="-91440">
              <a:spcBef>
                <a:spcPts val="200"/>
              </a:spcBef>
              <a:spcAft>
                <a:spcPts val="200"/>
              </a:spcAft>
              <a:buFont typeface="Arial" panose="020B0604020202020204" pitchFamily="34" charset="0"/>
              <a:buChar char="•"/>
            </a:pPr>
            <a:r>
              <a:rPr lang="en-US" sz="900" dirty="0"/>
              <a:t>Existing and new contracts build is in-line with base case, except no new geography expansion is assumed</a:t>
            </a:r>
          </a:p>
          <a:p>
            <a:pPr marL="91440" indent="-91440">
              <a:spcBef>
                <a:spcPts val="200"/>
              </a:spcBef>
              <a:spcAft>
                <a:spcPts val="200"/>
              </a:spcAft>
              <a:buFont typeface="Arial" panose="020B0604020202020204" pitchFamily="34" charset="0"/>
              <a:buChar char="•"/>
            </a:pPr>
            <a:r>
              <a:rPr lang="en-US" sz="900" dirty="0"/>
              <a:t>3 IU contracts are expected to transition to SCA ownership in 2026; all 4 remaining IU Health contracts are assumed to terminate at renewal in addition to all 3 Solaris contracts, and 3 additional average contract churns for total of 13 assumed churned contracts</a:t>
            </a:r>
          </a:p>
        </p:txBody>
      </p:sp>
      <p:sp>
        <p:nvSpPr>
          <p:cNvPr id="3" name="Rectangle: Rounded Corners 2">
            <a:extLst>
              <a:ext uri="{FF2B5EF4-FFF2-40B4-BE49-F238E27FC236}">
                <a16:creationId xmlns:a16="http://schemas.microsoft.com/office/drawing/2014/main" id="{C9D785BE-D1A2-D63F-D586-A35DDEB29A4B}"/>
              </a:ext>
            </a:extLst>
          </p:cNvPr>
          <p:cNvSpPr/>
          <p:nvPr/>
        </p:nvSpPr>
        <p:spPr>
          <a:xfrm>
            <a:off x="185271" y="962421"/>
            <a:ext cx="8791388" cy="347877"/>
          </a:xfrm>
          <a:prstGeom prst="roundRect">
            <a:avLst/>
          </a:prstGeom>
          <a:solidFill>
            <a:srgbClr val="E0EBF6"/>
          </a:solidFill>
          <a:ln w="28575">
            <a:solidFill>
              <a:srgbClr val="143F6A"/>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Downside Case – IU Health contracts terminate upon renewal</a:t>
            </a:r>
          </a:p>
        </p:txBody>
      </p:sp>
      <p:sp>
        <p:nvSpPr>
          <p:cNvPr id="4" name="Slide Number Placeholder 8">
            <a:extLst>
              <a:ext uri="{FF2B5EF4-FFF2-40B4-BE49-F238E27FC236}">
                <a16:creationId xmlns:a16="http://schemas.microsoft.com/office/drawing/2014/main" id="{82360987-50B4-C1C2-A66A-756F28C164F2}"/>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25</a:t>
            </a:fld>
            <a:endParaRPr lang="en-US" dirty="0"/>
          </a:p>
        </p:txBody>
      </p:sp>
      <p:sp>
        <p:nvSpPr>
          <p:cNvPr id="7" name="Rectangle: Diagonal Corners Snipped 6">
            <a:extLst>
              <a:ext uri="{FF2B5EF4-FFF2-40B4-BE49-F238E27FC236}">
                <a16:creationId xmlns:a16="http://schemas.microsoft.com/office/drawing/2014/main" id="{EA233880-E650-674B-8C41-A4BE3F91DD1D}"/>
              </a:ext>
            </a:extLst>
          </p:cNvPr>
          <p:cNvSpPr/>
          <p:nvPr/>
        </p:nvSpPr>
        <p:spPr>
          <a:xfrm>
            <a:off x="3550920" y="2573807"/>
            <a:ext cx="5410200"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New Contract Growth</a:t>
            </a:r>
          </a:p>
        </p:txBody>
      </p:sp>
      <p:pic>
        <p:nvPicPr>
          <p:cNvPr id="18" name="Picture 17">
            <a:extLst>
              <a:ext uri="{FF2B5EF4-FFF2-40B4-BE49-F238E27FC236}">
                <a16:creationId xmlns:a16="http://schemas.microsoft.com/office/drawing/2014/main" id="{DF2E1818-4CB8-A1C2-DB64-3696802CFC2A}"/>
              </a:ext>
            </a:extLst>
          </p:cNvPr>
          <p:cNvPicPr>
            <a:picLocks noChangeAspect="1"/>
          </p:cNvPicPr>
          <p:nvPr/>
        </p:nvPicPr>
        <p:blipFill>
          <a:blip r:embed="rId2"/>
          <a:stretch>
            <a:fillRect/>
          </a:stretch>
        </p:blipFill>
        <p:spPr>
          <a:xfrm>
            <a:off x="3547872" y="2925147"/>
            <a:ext cx="5413248" cy="1846034"/>
          </a:xfrm>
          <a:prstGeom prst="rect">
            <a:avLst/>
          </a:prstGeom>
          <a:ln w="6350">
            <a:solidFill>
              <a:schemeClr val="tx1"/>
            </a:solidFill>
          </a:ln>
        </p:spPr>
      </p:pic>
      <p:pic>
        <p:nvPicPr>
          <p:cNvPr id="9" name="Picture 8">
            <a:extLst>
              <a:ext uri="{FF2B5EF4-FFF2-40B4-BE49-F238E27FC236}">
                <a16:creationId xmlns:a16="http://schemas.microsoft.com/office/drawing/2014/main" id="{DA2231CD-8A1F-E97E-DFFE-3E1BF28CD252}"/>
              </a:ext>
            </a:extLst>
          </p:cNvPr>
          <p:cNvPicPr>
            <a:picLocks noChangeAspect="1"/>
          </p:cNvPicPr>
          <p:nvPr/>
        </p:nvPicPr>
        <p:blipFill>
          <a:blip r:embed="rId3"/>
          <a:stretch>
            <a:fillRect/>
          </a:stretch>
        </p:blipFill>
        <p:spPr>
          <a:xfrm>
            <a:off x="182880" y="2573807"/>
            <a:ext cx="2916936" cy="2197374"/>
          </a:xfrm>
          <a:prstGeom prst="rect">
            <a:avLst/>
          </a:prstGeom>
          <a:ln w="6350">
            <a:solidFill>
              <a:schemeClr val="tx1"/>
            </a:solidFill>
          </a:ln>
        </p:spPr>
      </p:pic>
      <p:pic>
        <p:nvPicPr>
          <p:cNvPr id="10" name="Picture 9">
            <a:extLst>
              <a:ext uri="{FF2B5EF4-FFF2-40B4-BE49-F238E27FC236}">
                <a16:creationId xmlns:a16="http://schemas.microsoft.com/office/drawing/2014/main" id="{B90CD511-CFEB-F07B-2C6C-2E84D3DF57EA}"/>
              </a:ext>
            </a:extLst>
          </p:cNvPr>
          <p:cNvPicPr>
            <a:picLocks noChangeAspect="1"/>
          </p:cNvPicPr>
          <p:nvPr/>
        </p:nvPicPr>
        <p:blipFill>
          <a:blip r:embed="rId4"/>
          <a:stretch>
            <a:fillRect/>
          </a:stretch>
        </p:blipFill>
        <p:spPr>
          <a:xfrm>
            <a:off x="182880" y="4888172"/>
            <a:ext cx="8778240" cy="1676845"/>
          </a:xfrm>
          <a:prstGeom prst="rect">
            <a:avLst/>
          </a:prstGeom>
          <a:ln w="6350">
            <a:solidFill>
              <a:schemeClr val="tx1"/>
            </a:solidFill>
          </a:ln>
        </p:spPr>
      </p:pic>
    </p:spTree>
    <p:extLst>
      <p:ext uri="{BB962C8B-B14F-4D97-AF65-F5344CB8AC3E}">
        <p14:creationId xmlns:p14="http://schemas.microsoft.com/office/powerpoint/2010/main" val="42435319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4BBBE-E562-8EC0-D4D7-AC7569F3AC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D5AE77-E31C-A5D5-4912-10A2246C47D8}"/>
              </a:ext>
            </a:extLst>
          </p:cNvPr>
          <p:cNvSpPr>
            <a:spLocks noGrp="1"/>
          </p:cNvSpPr>
          <p:nvPr>
            <p:ph type="title"/>
          </p:nvPr>
        </p:nvSpPr>
        <p:spPr/>
        <p:txBody>
          <a:bodyPr>
            <a:normAutofit/>
          </a:bodyPr>
          <a:lstStyle/>
          <a:p>
            <a:r>
              <a:rPr lang="en-US" dirty="0"/>
              <a:t>AAS Earnout Targets</a:t>
            </a:r>
          </a:p>
        </p:txBody>
      </p:sp>
      <p:sp>
        <p:nvSpPr>
          <p:cNvPr id="9" name="Slide Number Placeholder 8">
            <a:extLst>
              <a:ext uri="{FF2B5EF4-FFF2-40B4-BE49-F238E27FC236}">
                <a16:creationId xmlns:a16="http://schemas.microsoft.com/office/drawing/2014/main" id="{4B08957C-1BBE-BF1F-AECB-A8B399437177}"/>
              </a:ext>
            </a:extLst>
          </p:cNvPr>
          <p:cNvSpPr>
            <a:spLocks noGrp="1"/>
          </p:cNvSpPr>
          <p:nvPr>
            <p:ph type="sldNum" sz="quarter" idx="12"/>
          </p:nvPr>
        </p:nvSpPr>
        <p:spPr/>
        <p:txBody>
          <a:bodyPr/>
          <a:lstStyle/>
          <a:p>
            <a:fld id="{F8DDDAE5-3BDD-4D78-843B-A22FA78305BB}" type="slidenum">
              <a:rPr lang="en-US" smtClean="0"/>
              <a:t>26</a:t>
            </a:fld>
            <a:endParaRPr lang="en-US" dirty="0"/>
          </a:p>
        </p:txBody>
      </p:sp>
      <p:sp>
        <p:nvSpPr>
          <p:cNvPr id="5" name="Rectangle: Diagonal Corners Snipped 4">
            <a:extLst>
              <a:ext uri="{FF2B5EF4-FFF2-40B4-BE49-F238E27FC236}">
                <a16:creationId xmlns:a16="http://schemas.microsoft.com/office/drawing/2014/main" id="{C796FA9D-43FF-D96B-5A2A-CD76033D4E51}"/>
              </a:ext>
            </a:extLst>
          </p:cNvPr>
          <p:cNvSpPr/>
          <p:nvPr/>
        </p:nvSpPr>
        <p:spPr>
          <a:xfrm>
            <a:off x="3016537" y="927422"/>
            <a:ext cx="5951157"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Earnout Scenarios </a:t>
            </a:r>
            <a:r>
              <a:rPr lang="en-US" sz="1400" b="1" i="1" dirty="0">
                <a:solidFill>
                  <a:schemeClr val="bg1"/>
                </a:solidFill>
              </a:rPr>
              <a:t>($ in 000s)</a:t>
            </a:r>
          </a:p>
        </p:txBody>
      </p:sp>
      <p:sp>
        <p:nvSpPr>
          <p:cNvPr id="10" name="Rectangle: Diagonal Corners Snipped 9">
            <a:extLst>
              <a:ext uri="{FF2B5EF4-FFF2-40B4-BE49-F238E27FC236}">
                <a16:creationId xmlns:a16="http://schemas.microsoft.com/office/drawing/2014/main" id="{A16EF416-5326-B697-65EF-5AAFFFB39C77}"/>
              </a:ext>
            </a:extLst>
          </p:cNvPr>
          <p:cNvSpPr/>
          <p:nvPr/>
        </p:nvSpPr>
        <p:spPr>
          <a:xfrm>
            <a:off x="176306" y="927422"/>
            <a:ext cx="2711750"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Earnout Details</a:t>
            </a:r>
          </a:p>
        </p:txBody>
      </p:sp>
      <p:sp>
        <p:nvSpPr>
          <p:cNvPr id="14" name="TextBox 13">
            <a:extLst>
              <a:ext uri="{FF2B5EF4-FFF2-40B4-BE49-F238E27FC236}">
                <a16:creationId xmlns:a16="http://schemas.microsoft.com/office/drawing/2014/main" id="{F88EAA07-443E-34F8-93AA-CC38F4CCB892}"/>
              </a:ext>
            </a:extLst>
          </p:cNvPr>
          <p:cNvSpPr txBox="1"/>
          <p:nvPr/>
        </p:nvSpPr>
        <p:spPr>
          <a:xfrm>
            <a:off x="176305" y="1324736"/>
            <a:ext cx="2711751" cy="5247590"/>
          </a:xfrm>
          <a:prstGeom prst="rect">
            <a:avLst/>
          </a:prstGeom>
          <a:noFill/>
        </p:spPr>
        <p:txBody>
          <a:bodyPr wrap="square" rtlCol="0">
            <a:spAutoFit/>
          </a:bodyPr>
          <a:lstStyle/>
          <a:p>
            <a:pPr>
              <a:spcBef>
                <a:spcPts val="400"/>
              </a:spcBef>
              <a:spcAft>
                <a:spcPts val="500"/>
              </a:spcAft>
            </a:pPr>
            <a:r>
              <a:rPr lang="en-US" sz="1100" b="1" dirty="0"/>
              <a:t>Earnout Timeline</a:t>
            </a:r>
          </a:p>
          <a:p>
            <a:pPr marL="171450" indent="-171450">
              <a:spcBef>
                <a:spcPts val="400"/>
              </a:spcBef>
              <a:spcAft>
                <a:spcPts val="500"/>
              </a:spcAft>
              <a:buFont typeface="Arial" panose="020B0604020202020204" pitchFamily="34" charset="0"/>
              <a:buChar char="•"/>
            </a:pPr>
            <a:r>
              <a:rPr lang="en-US" sz="1100" b="1" dirty="0"/>
              <a:t>Earnout #1:</a:t>
            </a:r>
            <a:r>
              <a:rPr lang="en-US" sz="1100" dirty="0"/>
              <a:t> The earnout for meeting Gross Profit targets for 12/31/26 is $2.5 million. Payments will be made in 4 equal quarterly installments of $625,000 commencing on April 1, 2027 </a:t>
            </a:r>
          </a:p>
          <a:p>
            <a:pPr marL="171450" indent="-171450">
              <a:spcBef>
                <a:spcPts val="400"/>
              </a:spcBef>
              <a:spcAft>
                <a:spcPts val="500"/>
              </a:spcAft>
              <a:buFont typeface="Arial" panose="020B0604020202020204" pitchFamily="34" charset="0"/>
              <a:buChar char="•"/>
            </a:pPr>
            <a:r>
              <a:rPr lang="en-US" sz="1100" b="1" dirty="0"/>
              <a:t>Earnout #2: </a:t>
            </a:r>
            <a:r>
              <a:rPr lang="en-US" sz="1100" dirty="0"/>
              <a:t>The earnout for meeting Gross Profit targets for 12/31/27 is $2.0 million. Payments will be made in 4 equal quarterly installments of $500,000 commencing on April 1, 2028</a:t>
            </a:r>
          </a:p>
          <a:p>
            <a:pPr>
              <a:spcBef>
                <a:spcPts val="400"/>
              </a:spcBef>
              <a:spcAft>
                <a:spcPts val="500"/>
              </a:spcAft>
            </a:pPr>
            <a:r>
              <a:rPr lang="en-US" sz="1100" b="1" dirty="0"/>
              <a:t>Proposed Gross Profit Targets and Mechanics</a:t>
            </a:r>
          </a:p>
          <a:p>
            <a:pPr marL="171450" indent="-171450">
              <a:spcBef>
                <a:spcPts val="400"/>
              </a:spcBef>
              <a:spcAft>
                <a:spcPts val="500"/>
              </a:spcAft>
              <a:buFont typeface="Arial" panose="020B0604020202020204" pitchFamily="34" charset="0"/>
              <a:buChar char="•"/>
            </a:pPr>
            <a:r>
              <a:rPr lang="en-US" sz="1100" b="1" dirty="0"/>
              <a:t>Mechanics:</a:t>
            </a:r>
            <a:r>
              <a:rPr lang="en-US" sz="1100" dirty="0"/>
              <a:t> Once 85% of the target is achieved, sellers begin earning at a 25% floor of that year’s target earnout, which scales pro-rata to 100% of the target</a:t>
            </a:r>
            <a:endParaRPr lang="en-US" sz="1100" b="1" dirty="0"/>
          </a:p>
          <a:p>
            <a:pPr marL="171450" indent="-171450">
              <a:spcBef>
                <a:spcPts val="400"/>
              </a:spcBef>
              <a:spcAft>
                <a:spcPts val="500"/>
              </a:spcAft>
              <a:buFont typeface="Arial" panose="020B0604020202020204" pitchFamily="34" charset="0"/>
              <a:buChar char="•"/>
            </a:pPr>
            <a:r>
              <a:rPr lang="en-US" sz="1100" b="1" dirty="0"/>
              <a:t>Earnout #1:</a:t>
            </a:r>
            <a:r>
              <a:rPr lang="en-US" sz="1100" dirty="0"/>
              <a:t> $9.5M; reflects minimal growth over sell-side projected Gross Profit of $9.1M which assumes no new contracts over what has already been awarded</a:t>
            </a:r>
          </a:p>
          <a:p>
            <a:pPr marL="171450" indent="-171450">
              <a:spcBef>
                <a:spcPts val="400"/>
              </a:spcBef>
              <a:spcAft>
                <a:spcPts val="500"/>
              </a:spcAft>
              <a:buFont typeface="Arial" panose="020B0604020202020204" pitchFamily="34" charset="0"/>
              <a:buChar char="•"/>
            </a:pPr>
            <a:r>
              <a:rPr lang="en-US" sz="1100" b="1" dirty="0"/>
              <a:t>Earnout #2:</a:t>
            </a:r>
            <a:r>
              <a:rPr lang="en-US" sz="1100" dirty="0"/>
              <a:t> $11.5M; reflects $2M growth (21% YoY) in Gross Profit over 2026 target</a:t>
            </a:r>
          </a:p>
        </p:txBody>
      </p:sp>
      <p:sp>
        <p:nvSpPr>
          <p:cNvPr id="15" name="TextBox 14">
            <a:extLst>
              <a:ext uri="{FF2B5EF4-FFF2-40B4-BE49-F238E27FC236}">
                <a16:creationId xmlns:a16="http://schemas.microsoft.com/office/drawing/2014/main" id="{BC7F2588-3629-CA38-3A59-5008D8DC6233}"/>
              </a:ext>
            </a:extLst>
          </p:cNvPr>
          <p:cNvSpPr txBox="1"/>
          <p:nvPr/>
        </p:nvSpPr>
        <p:spPr>
          <a:xfrm>
            <a:off x="103879" y="6413937"/>
            <a:ext cx="8743408" cy="353943"/>
          </a:xfrm>
          <a:prstGeom prst="rect">
            <a:avLst/>
          </a:prstGeom>
          <a:noFill/>
        </p:spPr>
        <p:txBody>
          <a:bodyPr wrap="square" rtlCol="0">
            <a:spAutoFit/>
          </a:bodyPr>
          <a:lstStyle/>
          <a:p>
            <a:pPr>
              <a:spcBef>
                <a:spcPts val="300"/>
              </a:spcBef>
              <a:spcAft>
                <a:spcPts val="400"/>
              </a:spcAft>
            </a:pPr>
            <a:r>
              <a:rPr lang="en-US" sz="850" i="1" dirty="0"/>
              <a:t>Note: per the LOI, if the 2026 earnout is not fully earned but the cumulative Gross Profit for 2026 and 2027 meets or exceeds the combined target thresholds, the full earnout of $4.5 million shall become payable. </a:t>
            </a:r>
          </a:p>
        </p:txBody>
      </p:sp>
      <p:pic>
        <p:nvPicPr>
          <p:cNvPr id="3" name="Picture 2">
            <a:extLst>
              <a:ext uri="{FF2B5EF4-FFF2-40B4-BE49-F238E27FC236}">
                <a16:creationId xmlns:a16="http://schemas.microsoft.com/office/drawing/2014/main" id="{022A1658-88EE-554C-7F8C-D8085F494129}"/>
              </a:ext>
            </a:extLst>
          </p:cNvPr>
          <p:cNvPicPr>
            <a:picLocks noChangeAspect="1"/>
          </p:cNvPicPr>
          <p:nvPr/>
        </p:nvPicPr>
        <p:blipFill>
          <a:blip r:embed="rId2"/>
          <a:stretch>
            <a:fillRect/>
          </a:stretch>
        </p:blipFill>
        <p:spPr>
          <a:xfrm>
            <a:off x="3285530" y="1294584"/>
            <a:ext cx="5411585" cy="5074705"/>
          </a:xfrm>
          <a:prstGeom prst="rect">
            <a:avLst/>
          </a:prstGeom>
          <a:ln w="6350">
            <a:solidFill>
              <a:schemeClr val="tx1"/>
            </a:solidFill>
          </a:ln>
        </p:spPr>
      </p:pic>
    </p:spTree>
    <p:extLst>
      <p:ext uri="{BB962C8B-B14F-4D97-AF65-F5344CB8AC3E}">
        <p14:creationId xmlns:p14="http://schemas.microsoft.com/office/powerpoint/2010/main" val="11860664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7AB33-265D-04E2-DB69-4682D594FB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3DD3AD-2A8D-6046-65FB-1EFF27F0A929}"/>
              </a:ext>
            </a:extLst>
          </p:cNvPr>
          <p:cNvSpPr>
            <a:spLocks noGrp="1"/>
          </p:cNvSpPr>
          <p:nvPr>
            <p:ph type="title"/>
          </p:nvPr>
        </p:nvSpPr>
        <p:spPr/>
        <p:txBody>
          <a:bodyPr>
            <a:normAutofit/>
          </a:bodyPr>
          <a:lstStyle/>
          <a:p>
            <a:r>
              <a:rPr lang="en-US" dirty="0"/>
              <a:t>Precedent M&amp;A Transactions</a:t>
            </a:r>
          </a:p>
        </p:txBody>
      </p:sp>
      <p:sp>
        <p:nvSpPr>
          <p:cNvPr id="3" name="TextBox 2">
            <a:extLst>
              <a:ext uri="{FF2B5EF4-FFF2-40B4-BE49-F238E27FC236}">
                <a16:creationId xmlns:a16="http://schemas.microsoft.com/office/drawing/2014/main" id="{AD510846-2FA5-0DDF-FC23-2AF8357202D1}"/>
              </a:ext>
            </a:extLst>
          </p:cNvPr>
          <p:cNvSpPr txBox="1"/>
          <p:nvPr/>
        </p:nvSpPr>
        <p:spPr>
          <a:xfrm>
            <a:off x="-8180" y="6586525"/>
            <a:ext cx="5138445" cy="215444"/>
          </a:xfrm>
          <a:prstGeom prst="rect">
            <a:avLst/>
          </a:prstGeom>
          <a:noFill/>
        </p:spPr>
        <p:txBody>
          <a:bodyPr wrap="square" rtlCol="0">
            <a:spAutoFit/>
          </a:bodyPr>
          <a:lstStyle/>
          <a:p>
            <a:r>
              <a:rPr lang="en-US" sz="800" dirty="0"/>
              <a:t>Source: KeyBanc Capital Markets; Northern Shore Relationships</a:t>
            </a:r>
          </a:p>
        </p:txBody>
      </p:sp>
      <p:sp>
        <p:nvSpPr>
          <p:cNvPr id="6" name="Rectangle: Diagonal Corners Snipped 5">
            <a:extLst>
              <a:ext uri="{FF2B5EF4-FFF2-40B4-BE49-F238E27FC236}">
                <a16:creationId xmlns:a16="http://schemas.microsoft.com/office/drawing/2014/main" id="{2920F503-8777-C57B-02E2-BAFA3CE5CB00}"/>
              </a:ext>
            </a:extLst>
          </p:cNvPr>
          <p:cNvSpPr/>
          <p:nvPr/>
        </p:nvSpPr>
        <p:spPr>
          <a:xfrm>
            <a:off x="182880" y="927422"/>
            <a:ext cx="8778240"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Select Precedent Transactions</a:t>
            </a:r>
            <a:endParaRPr lang="en-US" sz="1400" b="1" baseline="30000" dirty="0">
              <a:solidFill>
                <a:schemeClr val="bg1"/>
              </a:solidFill>
            </a:endParaRPr>
          </a:p>
        </p:txBody>
      </p:sp>
      <p:pic>
        <p:nvPicPr>
          <p:cNvPr id="5" name="Picture 4">
            <a:extLst>
              <a:ext uri="{FF2B5EF4-FFF2-40B4-BE49-F238E27FC236}">
                <a16:creationId xmlns:a16="http://schemas.microsoft.com/office/drawing/2014/main" id="{D9B0F76D-0BE2-77F6-EB47-3DDAE50EBA64}"/>
              </a:ext>
            </a:extLst>
          </p:cNvPr>
          <p:cNvPicPr>
            <a:picLocks noChangeAspect="1"/>
          </p:cNvPicPr>
          <p:nvPr/>
        </p:nvPicPr>
        <p:blipFill>
          <a:blip r:embed="rId2"/>
          <a:stretch>
            <a:fillRect/>
          </a:stretch>
        </p:blipFill>
        <p:spPr>
          <a:xfrm>
            <a:off x="617294" y="1311908"/>
            <a:ext cx="7907065" cy="4234184"/>
          </a:xfrm>
          <a:prstGeom prst="rect">
            <a:avLst/>
          </a:prstGeom>
        </p:spPr>
      </p:pic>
      <p:sp>
        <p:nvSpPr>
          <p:cNvPr id="8" name="Rectangle 7">
            <a:extLst>
              <a:ext uri="{FF2B5EF4-FFF2-40B4-BE49-F238E27FC236}">
                <a16:creationId xmlns:a16="http://schemas.microsoft.com/office/drawing/2014/main" id="{4BF54E3C-C2B6-5982-2744-B68B054A6448}"/>
              </a:ext>
            </a:extLst>
          </p:cNvPr>
          <p:cNvSpPr/>
          <p:nvPr/>
        </p:nvSpPr>
        <p:spPr>
          <a:xfrm>
            <a:off x="593473" y="5280400"/>
            <a:ext cx="7907065" cy="285170"/>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97169DF-BA32-96A2-6DC2-3254C65A6FDE}"/>
              </a:ext>
            </a:extLst>
          </p:cNvPr>
          <p:cNvSpPr/>
          <p:nvPr/>
        </p:nvSpPr>
        <p:spPr>
          <a:xfrm>
            <a:off x="593473" y="4783122"/>
            <a:ext cx="7907065" cy="285170"/>
          </a:xfrm>
          <a:prstGeom prst="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a:extLst>
              <a:ext uri="{FF2B5EF4-FFF2-40B4-BE49-F238E27FC236}">
                <a16:creationId xmlns:a16="http://schemas.microsoft.com/office/drawing/2014/main" id="{F13CCA43-A982-B778-9956-A64A59DEC10F}"/>
              </a:ext>
            </a:extLst>
          </p:cNvPr>
          <p:cNvSpPr>
            <a:spLocks noGrp="1"/>
          </p:cNvSpPr>
          <p:nvPr>
            <p:ph type="sldNum" sz="quarter" idx="12"/>
          </p:nvPr>
        </p:nvSpPr>
        <p:spPr/>
        <p:txBody>
          <a:bodyPr/>
          <a:lstStyle/>
          <a:p>
            <a:fld id="{F8DDDAE5-3BDD-4D78-843B-A22FA78305BB}" type="slidenum">
              <a:rPr lang="en-US" smtClean="0"/>
              <a:t>27</a:t>
            </a:fld>
            <a:endParaRPr lang="en-US" dirty="0"/>
          </a:p>
        </p:txBody>
      </p:sp>
      <p:sp>
        <p:nvSpPr>
          <p:cNvPr id="9" name="TextBox 8">
            <a:extLst>
              <a:ext uri="{FF2B5EF4-FFF2-40B4-BE49-F238E27FC236}">
                <a16:creationId xmlns:a16="http://schemas.microsoft.com/office/drawing/2014/main" id="{2855C903-DB45-EF62-D94C-E25E5397C434}"/>
              </a:ext>
            </a:extLst>
          </p:cNvPr>
          <p:cNvSpPr txBox="1"/>
          <p:nvPr/>
        </p:nvSpPr>
        <p:spPr>
          <a:xfrm>
            <a:off x="176307" y="5703574"/>
            <a:ext cx="8791388" cy="771346"/>
          </a:xfrm>
          <a:prstGeom prst="snip2DiagRect">
            <a:avLst/>
          </a:prstGeom>
          <a:solidFill>
            <a:srgbClr val="143F6A"/>
          </a:solidFill>
        </p:spPr>
        <p:txBody>
          <a:bodyPr wrap="square" rtlCol="0">
            <a:spAutoFit/>
          </a:bodyPr>
          <a:lstStyle/>
          <a:p>
            <a:pPr algn="ctr">
              <a:spcBef>
                <a:spcPts val="200"/>
              </a:spcBef>
              <a:spcAft>
                <a:spcPts val="200"/>
              </a:spcAft>
            </a:pPr>
            <a:r>
              <a:rPr lang="en-US" sz="1200" b="1" dirty="0">
                <a:solidFill>
                  <a:schemeClr val="bg1"/>
                </a:solidFill>
              </a:rPr>
              <a:t>While not directly anesthesia, physician practice management transactions consistently trade for mid-teens multiples. At exit, AAS will be positioned to command similar multiples as a scaled provider operating in a supply-constrained market with premium pricing power and downside protection</a:t>
            </a:r>
          </a:p>
        </p:txBody>
      </p:sp>
    </p:spTree>
    <p:extLst>
      <p:ext uri="{BB962C8B-B14F-4D97-AF65-F5344CB8AC3E}">
        <p14:creationId xmlns:p14="http://schemas.microsoft.com/office/powerpoint/2010/main" val="39404792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2749A-2530-925D-AF4B-F5BDC63DD3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E45649-B6FF-7A3C-2B6C-E53D178AB756}"/>
              </a:ext>
            </a:extLst>
          </p:cNvPr>
          <p:cNvSpPr>
            <a:spLocks noGrp="1"/>
          </p:cNvSpPr>
          <p:nvPr>
            <p:ph type="title"/>
          </p:nvPr>
        </p:nvSpPr>
        <p:spPr/>
        <p:txBody>
          <a:bodyPr/>
          <a:lstStyle/>
          <a:p>
            <a:r>
              <a:rPr lang="en-US" dirty="0"/>
              <a:t>Key Risks &amp; Mitigants</a:t>
            </a:r>
          </a:p>
        </p:txBody>
      </p:sp>
      <p:sp>
        <p:nvSpPr>
          <p:cNvPr id="3" name="TextBox 2">
            <a:extLst>
              <a:ext uri="{FF2B5EF4-FFF2-40B4-BE49-F238E27FC236}">
                <a16:creationId xmlns:a16="http://schemas.microsoft.com/office/drawing/2014/main" id="{DB687C9F-31C9-23B6-3E5A-5B176346AEF7}"/>
              </a:ext>
            </a:extLst>
          </p:cNvPr>
          <p:cNvSpPr txBox="1"/>
          <p:nvPr/>
        </p:nvSpPr>
        <p:spPr>
          <a:xfrm>
            <a:off x="221942" y="4687503"/>
            <a:ext cx="1558731" cy="1862048"/>
          </a:xfrm>
          <a:prstGeom prst="rect">
            <a:avLst/>
          </a:prstGeom>
          <a:noFill/>
        </p:spPr>
        <p:txBody>
          <a:bodyPr wrap="square" rtlCol="0">
            <a:spAutoFit/>
          </a:bodyPr>
          <a:lstStyle/>
          <a:p>
            <a:r>
              <a:rPr lang="en-US" sz="11500" dirty="0"/>
              <a:t>IV</a:t>
            </a:r>
          </a:p>
        </p:txBody>
      </p:sp>
      <p:pic>
        <p:nvPicPr>
          <p:cNvPr id="4" name="Picture 3">
            <a:extLst>
              <a:ext uri="{FF2B5EF4-FFF2-40B4-BE49-F238E27FC236}">
                <a16:creationId xmlns:a16="http://schemas.microsoft.com/office/drawing/2014/main" id="{63769939-3F25-F4B8-A88B-FCA9B697C3D0}"/>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7243624" y="4908636"/>
            <a:ext cx="1703194" cy="1517130"/>
          </a:xfrm>
          <a:prstGeom prst="rect">
            <a:avLst/>
          </a:prstGeom>
        </p:spPr>
      </p:pic>
    </p:spTree>
    <p:extLst>
      <p:ext uri="{BB962C8B-B14F-4D97-AF65-F5344CB8AC3E}">
        <p14:creationId xmlns:p14="http://schemas.microsoft.com/office/powerpoint/2010/main" val="20507949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6D219-FD20-7B52-F174-B2CFA09BD1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1CB241-15CB-FBDE-3A65-E0C45AD34BE5}"/>
              </a:ext>
            </a:extLst>
          </p:cNvPr>
          <p:cNvSpPr>
            <a:spLocks noGrp="1"/>
          </p:cNvSpPr>
          <p:nvPr>
            <p:ph type="title"/>
          </p:nvPr>
        </p:nvSpPr>
        <p:spPr/>
        <p:txBody>
          <a:bodyPr>
            <a:normAutofit/>
          </a:bodyPr>
          <a:lstStyle/>
          <a:p>
            <a:r>
              <a:rPr lang="en-US" noProof="0" dirty="0"/>
              <a:t>Risks and Mitigants</a:t>
            </a:r>
          </a:p>
        </p:txBody>
      </p:sp>
      <p:graphicFrame>
        <p:nvGraphicFramePr>
          <p:cNvPr id="3" name="Table 2">
            <a:extLst>
              <a:ext uri="{FF2B5EF4-FFF2-40B4-BE49-F238E27FC236}">
                <a16:creationId xmlns:a16="http://schemas.microsoft.com/office/drawing/2014/main" id="{6A35B3DC-300C-DFC1-750D-0861495DEAA4}"/>
              </a:ext>
            </a:extLst>
          </p:cNvPr>
          <p:cNvGraphicFramePr>
            <a:graphicFrameLocks noGrp="1"/>
          </p:cNvGraphicFramePr>
          <p:nvPr>
            <p:extLst>
              <p:ext uri="{D42A27DB-BD31-4B8C-83A1-F6EECF244321}">
                <p14:modId xmlns:p14="http://schemas.microsoft.com/office/powerpoint/2010/main" val="1364368876"/>
              </p:ext>
            </p:extLst>
          </p:nvPr>
        </p:nvGraphicFramePr>
        <p:xfrm>
          <a:off x="154004" y="939000"/>
          <a:ext cx="8813691" cy="5303520"/>
        </p:xfrm>
        <a:graphic>
          <a:graphicData uri="http://schemas.openxmlformats.org/drawingml/2006/table">
            <a:tbl>
              <a:tblPr firstRow="1" bandRow="1">
                <a:tableStyleId>{5C22544A-7EE6-4342-B048-85BDC9FD1C3A}</a:tableStyleId>
              </a:tblPr>
              <a:tblGrid>
                <a:gridCol w="1141396">
                  <a:extLst>
                    <a:ext uri="{9D8B030D-6E8A-4147-A177-3AD203B41FA5}">
                      <a16:colId xmlns:a16="http://schemas.microsoft.com/office/drawing/2014/main" val="2013788962"/>
                    </a:ext>
                  </a:extLst>
                </a:gridCol>
                <a:gridCol w="1683190">
                  <a:extLst>
                    <a:ext uri="{9D8B030D-6E8A-4147-A177-3AD203B41FA5}">
                      <a16:colId xmlns:a16="http://schemas.microsoft.com/office/drawing/2014/main" val="1274824742"/>
                    </a:ext>
                  </a:extLst>
                </a:gridCol>
                <a:gridCol w="5989105">
                  <a:extLst>
                    <a:ext uri="{9D8B030D-6E8A-4147-A177-3AD203B41FA5}">
                      <a16:colId xmlns:a16="http://schemas.microsoft.com/office/drawing/2014/main" val="1630946336"/>
                    </a:ext>
                  </a:extLst>
                </a:gridCol>
              </a:tblGrid>
              <a:tr h="223426">
                <a:tc>
                  <a:txBody>
                    <a:bodyPr/>
                    <a:lstStyle/>
                    <a:p>
                      <a:pPr algn="ctr"/>
                      <a:r>
                        <a:rPr lang="en-US" sz="1200" dirty="0">
                          <a:solidFill>
                            <a:schemeClr val="bg1"/>
                          </a:solidFill>
                        </a:rPr>
                        <a:t>Risk</a:t>
                      </a:r>
                    </a:p>
                  </a:txBody>
                  <a:tcPr anchor="ctr">
                    <a:solidFill>
                      <a:schemeClr val="accent1">
                        <a:lumMod val="50000"/>
                      </a:schemeClr>
                    </a:solidFill>
                  </a:tcPr>
                </a:tc>
                <a:tc>
                  <a:txBody>
                    <a:bodyPr/>
                    <a:lstStyle/>
                    <a:p>
                      <a:pPr algn="ctr"/>
                      <a:r>
                        <a:rPr lang="en-US" sz="1200" dirty="0">
                          <a:solidFill>
                            <a:schemeClr val="bg1"/>
                          </a:solidFill>
                        </a:rPr>
                        <a:t>Description</a:t>
                      </a:r>
                    </a:p>
                  </a:txBody>
                  <a:tcPr anchor="ctr">
                    <a:solidFill>
                      <a:schemeClr val="accent1">
                        <a:lumMod val="50000"/>
                      </a:schemeClr>
                    </a:solidFill>
                  </a:tcPr>
                </a:tc>
                <a:tc>
                  <a:txBody>
                    <a:bodyPr/>
                    <a:lstStyle/>
                    <a:p>
                      <a:pPr algn="ctr"/>
                      <a:r>
                        <a:rPr lang="en-US" sz="1200" dirty="0">
                          <a:solidFill>
                            <a:schemeClr val="bg1"/>
                          </a:solidFill>
                        </a:rPr>
                        <a:t>Mitigants</a:t>
                      </a:r>
                    </a:p>
                  </a:txBody>
                  <a:tcPr anchor="ctr">
                    <a:solidFill>
                      <a:schemeClr val="accent1">
                        <a:lumMod val="50000"/>
                      </a:schemeClr>
                    </a:solidFill>
                  </a:tcPr>
                </a:tc>
                <a:extLst>
                  <a:ext uri="{0D108BD9-81ED-4DB2-BD59-A6C34878D82A}">
                    <a16:rowId xmlns:a16="http://schemas.microsoft.com/office/drawing/2014/main" val="2007875439"/>
                  </a:ext>
                </a:extLst>
              </a:tr>
              <a:tr h="744752">
                <a:tc>
                  <a:txBody>
                    <a:bodyPr/>
                    <a:lstStyle/>
                    <a:p>
                      <a:pPr algn="l"/>
                      <a:r>
                        <a:rPr lang="en-US" sz="1000" b="1" dirty="0">
                          <a:solidFill>
                            <a:schemeClr val="tx1"/>
                          </a:solidFill>
                        </a:rPr>
                        <a:t>Contract Concentration</a:t>
                      </a:r>
                    </a:p>
                  </a:txBody>
                  <a:tcPr anchor="c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dirty="0">
                          <a:solidFill>
                            <a:schemeClr val="tx1"/>
                          </a:solidFill>
                        </a:rPr>
                        <a:t>Majority of Indiana revenues tied to IU Health, with 7 ASCs under contract.</a:t>
                      </a:r>
                    </a:p>
                  </a:txBody>
                  <a:tcPr anchor="ctr">
                    <a:solidFill>
                      <a:schemeClr val="bg1">
                        <a:lumMod val="85000"/>
                      </a:schemeClr>
                    </a:solidFill>
                  </a:tcPr>
                </a:tc>
                <a:tc>
                  <a:txBody>
                    <a:bodyPr/>
                    <a:lstStyle/>
                    <a:p>
                      <a:pPr marL="171450" indent="-171450" algn="l">
                        <a:buFont typeface="Wingdings" panose="05000000000000000000" pitchFamily="2" charset="2"/>
                        <a:buChar char="§"/>
                      </a:pPr>
                      <a:r>
                        <a:rPr lang="en-US" sz="900" dirty="0">
                          <a:solidFill>
                            <a:schemeClr val="tx1"/>
                          </a:solidFill>
                        </a:rPr>
                        <a:t>Significant pipeline of new ASC opportunities outside of IU health will significantly reduce concentration under NSC’s ownership period.</a:t>
                      </a:r>
                    </a:p>
                    <a:p>
                      <a:pPr marL="171450" indent="-171450" algn="l">
                        <a:buFont typeface="Wingdings" panose="05000000000000000000" pitchFamily="2" charset="2"/>
                        <a:buChar char="§"/>
                      </a:pPr>
                      <a:r>
                        <a:rPr lang="en-US" sz="900" dirty="0">
                          <a:solidFill>
                            <a:schemeClr val="tx1"/>
                          </a:solidFill>
                        </a:rPr>
                        <a:t>All IU Health contracts have 3–5-year evergreen terms with guaranteed labor payments and monthly true-ups.</a:t>
                      </a:r>
                    </a:p>
                    <a:p>
                      <a:pPr marL="171450" indent="-171450" algn="l">
                        <a:buFont typeface="Wingdings" panose="05000000000000000000" pitchFamily="2" charset="2"/>
                        <a:buChar char="§"/>
                      </a:pPr>
                      <a:r>
                        <a:rPr lang="en-US" sz="900" dirty="0">
                          <a:solidFill>
                            <a:schemeClr val="tx1"/>
                          </a:solidFill>
                        </a:rPr>
                        <a:t>IU and SCA have a JV across the 7 center portfolio, with SCA looking to acquire 3 of them outright by 2026.</a:t>
                      </a:r>
                    </a:p>
                    <a:p>
                      <a:pPr marL="171450" indent="-171450" algn="l">
                        <a:buFont typeface="Wingdings" panose="05000000000000000000" pitchFamily="2" charset="2"/>
                        <a:buChar char="§"/>
                      </a:pPr>
                      <a:r>
                        <a:rPr lang="en-US" sz="900" dirty="0">
                          <a:solidFill>
                            <a:schemeClr val="tx1"/>
                          </a:solidFill>
                        </a:rPr>
                        <a:t>IU Health is a strategic partner that proactively sought out AAS, and management continues to deepen that relationship; additionally, all contracts are separate and tied to each individual ASC.</a:t>
                      </a:r>
                    </a:p>
                  </a:txBody>
                  <a:tcPr anchor="ctr">
                    <a:solidFill>
                      <a:schemeClr val="bg1">
                        <a:lumMod val="85000"/>
                      </a:schemeClr>
                    </a:solidFill>
                  </a:tcPr>
                </a:tc>
                <a:extLst>
                  <a:ext uri="{0D108BD9-81ED-4DB2-BD59-A6C34878D82A}">
                    <a16:rowId xmlns:a16="http://schemas.microsoft.com/office/drawing/2014/main" val="2169564543"/>
                  </a:ext>
                </a:extLst>
              </a:tr>
              <a:tr h="744752">
                <a:tc>
                  <a:txBody>
                    <a:bodyPr/>
                    <a:lstStyle/>
                    <a:p>
                      <a:pPr algn="l"/>
                      <a:r>
                        <a:rPr lang="en-US" sz="1000" b="1" dirty="0">
                          <a:solidFill>
                            <a:schemeClr val="tx1"/>
                          </a:solidFill>
                        </a:rPr>
                        <a:t>Scalability &amp; Growth Execution</a:t>
                      </a:r>
                    </a:p>
                  </a:txBody>
                  <a:tcPr anchor="c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dirty="0">
                          <a:solidFill>
                            <a:schemeClr val="tx1"/>
                          </a:solidFill>
                        </a:rPr>
                        <a:t>Growth incumbent upon winning and retaining new contracts, in both existing and new markets.</a:t>
                      </a:r>
                    </a:p>
                  </a:txBody>
                  <a:tcPr anchor="ctr">
                    <a:solidFill>
                      <a:schemeClr val="bg1">
                        <a:lumMod val="95000"/>
                      </a:schemeClr>
                    </a:solidFill>
                  </a:tcPr>
                </a:tc>
                <a:tc>
                  <a:txBody>
                    <a:bodyPr/>
                    <a:lstStyle/>
                    <a:p>
                      <a:pPr marL="171450" indent="-171450" algn="l">
                        <a:buFont typeface="Wingdings" panose="05000000000000000000" pitchFamily="2" charset="2"/>
                        <a:buChar char="§"/>
                      </a:pPr>
                      <a:r>
                        <a:rPr lang="en-US" sz="900" dirty="0">
                          <a:solidFill>
                            <a:schemeClr val="tx1"/>
                          </a:solidFill>
                        </a:rPr>
                        <a:t>The Company has successfully demonstrated an ability to land-and-expand in a new market; NSC will pour fuel on fire to expand at an accelerated pace while keeping an eye towards profitability and execution excellence.</a:t>
                      </a:r>
                    </a:p>
                    <a:p>
                      <a:pPr marL="171450" indent="-171450" algn="l">
                        <a:buFont typeface="Wingdings" panose="05000000000000000000" pitchFamily="2" charset="2"/>
                        <a:buChar char="§"/>
                      </a:pPr>
                      <a:r>
                        <a:rPr lang="en-US" sz="900" dirty="0">
                          <a:solidFill>
                            <a:schemeClr val="tx1"/>
                          </a:solidFill>
                        </a:rPr>
                        <a:t>Management has demonstrated ability to win RFPs (e.g., IU Health, BNJ) and is actively pursuing pipeline of ASC opportunities.</a:t>
                      </a:r>
                    </a:p>
                    <a:p>
                      <a:pPr marL="171450" indent="-171450" algn="l">
                        <a:buFont typeface="Wingdings" panose="05000000000000000000" pitchFamily="2" charset="2"/>
                        <a:buChar char="§"/>
                      </a:pPr>
                      <a:r>
                        <a:rPr lang="en-US" sz="900" dirty="0">
                          <a:solidFill>
                            <a:schemeClr val="tx1"/>
                          </a:solidFill>
                        </a:rPr>
                        <a:t>Strong reputation, long-term partner retention (has never lost a customer involuntarily), and flexible staffing model support scalable growth.</a:t>
                      </a:r>
                    </a:p>
                  </a:txBody>
                  <a:tcPr anchor="ctr">
                    <a:solidFill>
                      <a:schemeClr val="bg1">
                        <a:lumMod val="95000"/>
                      </a:schemeClr>
                    </a:solidFill>
                  </a:tcPr>
                </a:tc>
                <a:extLst>
                  <a:ext uri="{0D108BD9-81ED-4DB2-BD59-A6C34878D82A}">
                    <a16:rowId xmlns:a16="http://schemas.microsoft.com/office/drawing/2014/main" val="3484326436"/>
                  </a:ext>
                </a:extLst>
              </a:tr>
              <a:tr h="521326">
                <a:tc>
                  <a:txBody>
                    <a:bodyPr/>
                    <a:lstStyle/>
                    <a:p>
                      <a:pPr algn="l"/>
                      <a:r>
                        <a:rPr lang="en-US" sz="1000" b="1" i="0" dirty="0">
                          <a:solidFill>
                            <a:schemeClr val="tx1"/>
                          </a:solidFill>
                        </a:rPr>
                        <a:t>Poor Billing Performance</a:t>
                      </a:r>
                    </a:p>
                  </a:txBody>
                  <a:tcPr anchor="c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dirty="0">
                          <a:solidFill>
                            <a:schemeClr val="tx1"/>
                          </a:solidFill>
                        </a:rPr>
                        <a:t>To the extent AAS under collects and over relies on ASC subsidies, AAS jeopardizes contract health</a:t>
                      </a:r>
                    </a:p>
                  </a:txBody>
                  <a:tcPr anchor="ctr">
                    <a:solidFill>
                      <a:schemeClr val="bg1">
                        <a:lumMod val="85000"/>
                      </a:schemeClr>
                    </a:solidFill>
                  </a:tcPr>
                </a:tc>
                <a:tc>
                  <a:txBody>
                    <a:bodyPr/>
                    <a:lstStyle/>
                    <a:p>
                      <a:pPr marL="171450" indent="-171450" algn="l">
                        <a:buFont typeface="Wingdings" panose="05000000000000000000" pitchFamily="2" charset="2"/>
                        <a:buChar char="§"/>
                      </a:pPr>
                      <a:r>
                        <a:rPr lang="en-US" sz="900" dirty="0">
                          <a:solidFill>
                            <a:schemeClr val="tx1"/>
                          </a:solidFill>
                        </a:rPr>
                        <a:t>AAS is in the process of switching to VBRCM from Physicians Choice, which will give significantly more insight into billing performance, allowing for real-time visibility with individual claim-level detail</a:t>
                      </a:r>
                    </a:p>
                    <a:p>
                      <a:pPr marL="171450" indent="-171450" algn="l">
                        <a:buFont typeface="Wingdings" panose="05000000000000000000" pitchFamily="2" charset="2"/>
                        <a:buChar char="§"/>
                      </a:pPr>
                      <a:r>
                        <a:rPr lang="en-US" sz="900" dirty="0">
                          <a:solidFill>
                            <a:schemeClr val="tx1"/>
                          </a:solidFill>
                        </a:rPr>
                        <a:t>While still possible, the risk of churn seems lower for contracts where AAS is in compliance of the contract than the risk of contract renegotiation at lower floor / true-up levels</a:t>
                      </a:r>
                    </a:p>
                  </a:txBody>
                  <a:tcPr anchor="ctr">
                    <a:solidFill>
                      <a:schemeClr val="bg1">
                        <a:lumMod val="85000"/>
                      </a:schemeClr>
                    </a:solidFill>
                  </a:tcPr>
                </a:tc>
                <a:extLst>
                  <a:ext uri="{0D108BD9-81ED-4DB2-BD59-A6C34878D82A}">
                    <a16:rowId xmlns:a16="http://schemas.microsoft.com/office/drawing/2014/main" val="3204160614"/>
                  </a:ext>
                </a:extLst>
              </a:tr>
              <a:tr h="521326">
                <a:tc>
                  <a:txBody>
                    <a:bodyPr/>
                    <a:lstStyle/>
                    <a:p>
                      <a:pPr algn="l"/>
                      <a:r>
                        <a:rPr lang="en-US" sz="1000" b="1" i="0" dirty="0">
                          <a:solidFill>
                            <a:schemeClr val="tx1"/>
                          </a:solidFill>
                        </a:rPr>
                        <a:t>Solaris Churn</a:t>
                      </a:r>
                    </a:p>
                  </a:txBody>
                  <a:tcPr anchor="c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dirty="0">
                          <a:solidFill>
                            <a:schemeClr val="tx1"/>
                          </a:solidFill>
                        </a:rPr>
                        <a:t>The acquisition of Solaris by Cardinal Health may result in anesthesia in-sourcing</a:t>
                      </a:r>
                    </a:p>
                  </a:txBody>
                  <a:tcPr anchor="ctr">
                    <a:solidFill>
                      <a:schemeClr val="bg1">
                        <a:lumMod val="95000"/>
                      </a:schemeClr>
                    </a:solidFill>
                  </a:tcPr>
                </a:tc>
                <a:tc>
                  <a:txBody>
                    <a:bodyPr/>
                    <a:lstStyle/>
                    <a:p>
                      <a:pPr marL="171450" indent="-171450" algn="l">
                        <a:buFont typeface="Wingdings" panose="05000000000000000000" pitchFamily="2" charset="2"/>
                        <a:buChar char="§"/>
                      </a:pPr>
                      <a:r>
                        <a:rPr lang="en-US" sz="900" dirty="0">
                          <a:solidFill>
                            <a:schemeClr val="tx1"/>
                          </a:solidFill>
                        </a:rPr>
                        <a:t>We are currently underwriting to all 3 Solaris-owned centers churning upon contract renewal</a:t>
                      </a:r>
                    </a:p>
                    <a:p>
                      <a:pPr marL="171450" indent="-171450" algn="l">
                        <a:buFont typeface="Wingdings" panose="05000000000000000000" pitchFamily="2" charset="2"/>
                        <a:buChar char="§"/>
                      </a:pPr>
                      <a:r>
                        <a:rPr lang="en-US" sz="900" dirty="0">
                          <a:solidFill>
                            <a:schemeClr val="tx1"/>
                          </a:solidFill>
                        </a:rPr>
                        <a:t>None of the Solaris-owned contracts are set to renew until 2028 – it is very possible that management turnover or strategy pivots could result in Solaris retaining AAS at some-to-all of the 3 centers, or delaying churn beyond our hold period</a:t>
                      </a:r>
                    </a:p>
                  </a:txBody>
                  <a:tcPr anchor="ctr">
                    <a:solidFill>
                      <a:schemeClr val="bg1">
                        <a:lumMod val="95000"/>
                      </a:schemeClr>
                    </a:solidFill>
                  </a:tcPr>
                </a:tc>
                <a:extLst>
                  <a:ext uri="{0D108BD9-81ED-4DB2-BD59-A6C34878D82A}">
                    <a16:rowId xmlns:a16="http://schemas.microsoft.com/office/drawing/2014/main" val="2044724904"/>
                  </a:ext>
                </a:extLst>
              </a:tr>
              <a:tr h="521326">
                <a:tc>
                  <a:txBody>
                    <a:bodyPr/>
                    <a:lstStyle/>
                    <a:p>
                      <a:pPr algn="l"/>
                      <a:r>
                        <a:rPr lang="en-US" sz="1000" b="1" i="0" dirty="0">
                          <a:solidFill>
                            <a:schemeClr val="tx1"/>
                          </a:solidFill>
                        </a:rPr>
                        <a:t>Lean Operating Infrastructure</a:t>
                      </a:r>
                    </a:p>
                  </a:txBody>
                  <a:tcPr anchor="c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dirty="0">
                          <a:solidFill>
                            <a:schemeClr val="tx1"/>
                          </a:solidFill>
                        </a:rPr>
                        <a:t>Back office of five remote employees with infrastructure investment required to support sustainable growth.</a:t>
                      </a:r>
                    </a:p>
                  </a:txBody>
                  <a:tcPr anchor="ctr">
                    <a:solidFill>
                      <a:schemeClr val="bg1">
                        <a:lumMod val="85000"/>
                      </a:schemeClr>
                    </a:solidFill>
                  </a:tcPr>
                </a:tc>
                <a:tc>
                  <a:txBody>
                    <a:bodyPr/>
                    <a:lstStyle/>
                    <a:p>
                      <a:pPr marL="171450" indent="-171450" algn="l">
                        <a:buFont typeface="Wingdings" panose="05000000000000000000" pitchFamily="2" charset="2"/>
                        <a:buChar char="§"/>
                      </a:pPr>
                      <a:r>
                        <a:rPr lang="en-US" sz="900" dirty="0">
                          <a:solidFill>
                            <a:schemeClr val="tx1"/>
                          </a:solidFill>
                        </a:rPr>
                        <a:t>NSC forecast includes cost for a CFO, market-rate CEO and COO, recruiting and marketing expense, rent, HR personnel and additional back-office support for scheduling, along with general OpEx burden for additional executive and back-office resources. </a:t>
                      </a:r>
                    </a:p>
                    <a:p>
                      <a:pPr marL="171450" indent="-171450" algn="l">
                        <a:buFont typeface="Wingdings" panose="05000000000000000000" pitchFamily="2" charset="2"/>
                        <a:buChar char="§"/>
                      </a:pPr>
                      <a:r>
                        <a:rPr lang="en-US" sz="900" dirty="0">
                          <a:solidFill>
                            <a:schemeClr val="tx1"/>
                          </a:solidFill>
                        </a:rPr>
                        <a:t>Actively working with third-party providers to overhaul internal policies (i.e., compliance handbooks).</a:t>
                      </a:r>
                    </a:p>
                  </a:txBody>
                  <a:tcPr anchor="ctr">
                    <a:solidFill>
                      <a:schemeClr val="bg1">
                        <a:lumMod val="85000"/>
                      </a:schemeClr>
                    </a:solidFill>
                  </a:tcPr>
                </a:tc>
                <a:extLst>
                  <a:ext uri="{0D108BD9-81ED-4DB2-BD59-A6C34878D82A}">
                    <a16:rowId xmlns:a16="http://schemas.microsoft.com/office/drawing/2014/main" val="3834766256"/>
                  </a:ext>
                </a:extLst>
              </a:tr>
              <a:tr h="420010">
                <a:tc>
                  <a:txBody>
                    <a:bodyPr/>
                    <a:lstStyle/>
                    <a:p>
                      <a:pPr algn="l"/>
                      <a:r>
                        <a:rPr lang="en-US" sz="1000" b="1" dirty="0">
                          <a:solidFill>
                            <a:schemeClr val="tx1"/>
                          </a:solidFill>
                        </a:rPr>
                        <a:t>Revenue Cycle Management</a:t>
                      </a:r>
                    </a:p>
                  </a:txBody>
                  <a:tcPr anchor="c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dirty="0">
                          <a:solidFill>
                            <a:schemeClr val="tx1"/>
                          </a:solidFill>
                        </a:rPr>
                        <a:t>Low collection performance could lead to ASCs switching anesthesia partners</a:t>
                      </a:r>
                    </a:p>
                  </a:txBody>
                  <a:tcPr anchor="ctr">
                    <a:solidFill>
                      <a:schemeClr val="bg1">
                        <a:lumMod val="95000"/>
                      </a:schemeClr>
                    </a:solidFill>
                  </a:tcPr>
                </a:tc>
                <a:tc>
                  <a:txBody>
                    <a:bodyPr/>
                    <a:lstStyle/>
                    <a:p>
                      <a:pPr marL="171450" indent="-171450" algn="l">
                        <a:buFont typeface="Wingdings" panose="05000000000000000000" pitchFamily="2" charset="2"/>
                        <a:buChar char="§"/>
                      </a:pPr>
                      <a:r>
                        <a:rPr lang="en-US" sz="900" dirty="0">
                          <a:solidFill>
                            <a:schemeClr val="tx1"/>
                          </a:solidFill>
                        </a:rPr>
                        <a:t>C</a:t>
                      </a:r>
                      <a:r>
                        <a:rPr lang="en-US" sz="900" dirty="0"/>
                        <a:t>onducting a billing and coding audit to assess existing RCM performance and ensure best practices are implemented.</a:t>
                      </a:r>
                    </a:p>
                    <a:p>
                      <a:pPr marL="171450" indent="-171450" algn="l">
                        <a:buFont typeface="Wingdings" panose="05000000000000000000" pitchFamily="2" charset="2"/>
                        <a:buChar char="§"/>
                      </a:pPr>
                      <a:r>
                        <a:rPr lang="en-US" sz="900" dirty="0">
                          <a:solidFill>
                            <a:schemeClr val="tx1"/>
                          </a:solidFill>
                        </a:rPr>
                        <a:t>E</a:t>
                      </a:r>
                      <a:r>
                        <a:rPr lang="en-US" sz="900" dirty="0"/>
                        <a:t>valuating both switching RCM providers and the option to bring RCM in-house, with the goal of maximizing collections, strengthening oversight, and maintaining ASC partner satisfaction.</a:t>
                      </a:r>
                      <a:endParaRPr lang="en-US" sz="900" dirty="0">
                        <a:solidFill>
                          <a:schemeClr val="tx1"/>
                        </a:solidFill>
                      </a:endParaRPr>
                    </a:p>
                  </a:txBody>
                  <a:tcPr anchor="ctr">
                    <a:solidFill>
                      <a:schemeClr val="bg1">
                        <a:lumMod val="95000"/>
                      </a:schemeClr>
                    </a:solidFill>
                  </a:tcPr>
                </a:tc>
                <a:extLst>
                  <a:ext uri="{0D108BD9-81ED-4DB2-BD59-A6C34878D82A}">
                    <a16:rowId xmlns:a16="http://schemas.microsoft.com/office/drawing/2014/main" val="142911177"/>
                  </a:ext>
                </a:extLst>
              </a:tr>
              <a:tr h="521326">
                <a:tc>
                  <a:txBody>
                    <a:bodyPr/>
                    <a:lstStyle/>
                    <a:p>
                      <a:pPr algn="l"/>
                      <a:r>
                        <a:rPr lang="en-US" sz="1000" b="1" dirty="0">
                          <a:solidFill>
                            <a:schemeClr val="tx1"/>
                          </a:solidFill>
                        </a:rPr>
                        <a:t>Labor Recruiting &amp; Retention</a:t>
                      </a:r>
                    </a:p>
                  </a:txBody>
                  <a:tcPr anchor="c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dirty="0">
                          <a:solidFill>
                            <a:schemeClr val="tx1"/>
                          </a:solidFill>
                        </a:rPr>
                        <a:t>Recruiting despite the current provider shortage is critical to achieve scale. </a:t>
                      </a:r>
                    </a:p>
                  </a:txBody>
                  <a:tcPr anchor="ctr">
                    <a:solidFill>
                      <a:schemeClr val="bg1">
                        <a:lumMod val="85000"/>
                      </a:schemeClr>
                    </a:solidFill>
                  </a:tcPr>
                </a:tc>
                <a:tc>
                  <a:txBody>
                    <a:bodyPr/>
                    <a:lstStyle/>
                    <a:p>
                      <a:pPr marL="171450" indent="-171450" algn="l">
                        <a:buFont typeface="Wingdings" panose="05000000000000000000" pitchFamily="2" charset="2"/>
                        <a:buChar char="§"/>
                      </a:pPr>
                      <a:r>
                        <a:rPr lang="en-US" sz="900" dirty="0">
                          <a:solidFill>
                            <a:schemeClr val="tx1"/>
                          </a:solidFill>
                        </a:rPr>
                        <a:t>AAS has built strong relationships with CRNA programs, regularly recruits at universities, and offers flexible contractor arrangements with attractive compensation.</a:t>
                      </a:r>
                    </a:p>
                    <a:p>
                      <a:pPr marL="171450" indent="-171450" algn="l">
                        <a:buFont typeface="Wingdings" panose="05000000000000000000" pitchFamily="2" charset="2"/>
                        <a:buChar char="§"/>
                      </a:pPr>
                      <a:r>
                        <a:rPr lang="en-US" sz="900" dirty="0">
                          <a:solidFill>
                            <a:schemeClr val="tx1"/>
                          </a:solidFill>
                        </a:rPr>
                        <a:t>Historical track record of scaling rapidly to meet demand (e.g., IU ramp-up from 2022-2024)</a:t>
                      </a:r>
                    </a:p>
                    <a:p>
                      <a:pPr marL="171450" indent="-171450" algn="l">
                        <a:buFont typeface="Wingdings" panose="05000000000000000000" pitchFamily="2" charset="2"/>
                        <a:buChar char="§"/>
                      </a:pPr>
                      <a:r>
                        <a:rPr lang="en-US" sz="900" dirty="0">
                          <a:solidFill>
                            <a:schemeClr val="tx1"/>
                          </a:solidFill>
                        </a:rPr>
                        <a:t>Ambulatory/outpatient model offers competitive advantage in recruiting (e.g., better work-life balance, etc.).</a:t>
                      </a:r>
                    </a:p>
                  </a:txBody>
                  <a:tcPr anchor="ctr">
                    <a:solidFill>
                      <a:schemeClr val="bg1">
                        <a:lumMod val="85000"/>
                      </a:schemeClr>
                    </a:solidFill>
                  </a:tcPr>
                </a:tc>
                <a:extLst>
                  <a:ext uri="{0D108BD9-81ED-4DB2-BD59-A6C34878D82A}">
                    <a16:rowId xmlns:a16="http://schemas.microsoft.com/office/drawing/2014/main" val="3206683044"/>
                  </a:ext>
                </a:extLst>
              </a:tr>
            </a:tbl>
          </a:graphicData>
        </a:graphic>
      </p:graphicFrame>
      <p:sp>
        <p:nvSpPr>
          <p:cNvPr id="4" name="Slide Number Placeholder 3">
            <a:extLst>
              <a:ext uri="{FF2B5EF4-FFF2-40B4-BE49-F238E27FC236}">
                <a16:creationId xmlns:a16="http://schemas.microsoft.com/office/drawing/2014/main" id="{92BC1ED4-F486-4BCD-EFB0-A10D9B26EBAC}"/>
              </a:ext>
            </a:extLst>
          </p:cNvPr>
          <p:cNvSpPr txBox="1">
            <a:spLocks/>
          </p:cNvSpPr>
          <p:nvPr/>
        </p:nvSpPr>
        <p:spPr>
          <a:xfrm>
            <a:off x="7470009" y="6471765"/>
            <a:ext cx="1497685" cy="365125"/>
          </a:xfrm>
          <a:prstGeom prst="rect">
            <a:avLst/>
          </a:prstGeom>
        </p:spPr>
        <p:txBody>
          <a:bodyPr vert="horz" lIns="91440" tIns="45720" rIns="91440" bIns="45720" rtlCol="0" anchor="ctr"/>
          <a:lstStyle>
            <a:defPPr>
              <a:defRPr lang="en-US"/>
            </a:defPPr>
            <a:lvl1pPr marL="0" algn="r" defTabSz="457200" rtl="0" eaLnBrk="1" latinLnBrk="0" hangingPunct="1">
              <a:defRPr sz="10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8DDDAE5-3BDD-4D78-843B-A22FA78305BB}" type="slidenum">
              <a:rPr lang="en-US" smtClean="0"/>
              <a:pPr/>
              <a:t>29</a:t>
            </a:fld>
            <a:endParaRPr lang="en-US" dirty="0"/>
          </a:p>
        </p:txBody>
      </p:sp>
    </p:spTree>
    <p:extLst>
      <p:ext uri="{BB962C8B-B14F-4D97-AF65-F5344CB8AC3E}">
        <p14:creationId xmlns:p14="http://schemas.microsoft.com/office/powerpoint/2010/main" val="37893182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73814-EA9D-FD7D-A292-2D6F2E1C7E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D053EB-E56D-9D91-898E-AABA0E7F4B52}"/>
              </a:ext>
            </a:extLst>
          </p:cNvPr>
          <p:cNvSpPr>
            <a:spLocks noGrp="1"/>
          </p:cNvSpPr>
          <p:nvPr>
            <p:ph type="title"/>
          </p:nvPr>
        </p:nvSpPr>
        <p:spPr/>
        <p:txBody>
          <a:bodyPr>
            <a:normAutofit/>
          </a:bodyPr>
          <a:lstStyle/>
          <a:p>
            <a:r>
              <a:rPr lang="en-US" noProof="0" dirty="0"/>
              <a:t>Risks and Mitigants</a:t>
            </a:r>
          </a:p>
        </p:txBody>
      </p:sp>
      <p:graphicFrame>
        <p:nvGraphicFramePr>
          <p:cNvPr id="3" name="Table 2">
            <a:extLst>
              <a:ext uri="{FF2B5EF4-FFF2-40B4-BE49-F238E27FC236}">
                <a16:creationId xmlns:a16="http://schemas.microsoft.com/office/drawing/2014/main" id="{8712C66F-3B13-D13B-0151-C1D00AF0C360}"/>
              </a:ext>
            </a:extLst>
          </p:cNvPr>
          <p:cNvGraphicFramePr>
            <a:graphicFrameLocks noGrp="1"/>
          </p:cNvGraphicFramePr>
          <p:nvPr>
            <p:extLst>
              <p:ext uri="{D42A27DB-BD31-4B8C-83A1-F6EECF244321}">
                <p14:modId xmlns:p14="http://schemas.microsoft.com/office/powerpoint/2010/main" val="1076738219"/>
              </p:ext>
            </p:extLst>
          </p:nvPr>
        </p:nvGraphicFramePr>
        <p:xfrm>
          <a:off x="154004" y="939000"/>
          <a:ext cx="8813691" cy="2606040"/>
        </p:xfrm>
        <a:graphic>
          <a:graphicData uri="http://schemas.openxmlformats.org/drawingml/2006/table">
            <a:tbl>
              <a:tblPr firstRow="1" bandRow="1">
                <a:tableStyleId>{5C22544A-7EE6-4342-B048-85BDC9FD1C3A}</a:tableStyleId>
              </a:tblPr>
              <a:tblGrid>
                <a:gridCol w="1141396">
                  <a:extLst>
                    <a:ext uri="{9D8B030D-6E8A-4147-A177-3AD203B41FA5}">
                      <a16:colId xmlns:a16="http://schemas.microsoft.com/office/drawing/2014/main" val="2013788962"/>
                    </a:ext>
                  </a:extLst>
                </a:gridCol>
                <a:gridCol w="1683190">
                  <a:extLst>
                    <a:ext uri="{9D8B030D-6E8A-4147-A177-3AD203B41FA5}">
                      <a16:colId xmlns:a16="http://schemas.microsoft.com/office/drawing/2014/main" val="1274824742"/>
                    </a:ext>
                  </a:extLst>
                </a:gridCol>
                <a:gridCol w="5989105">
                  <a:extLst>
                    <a:ext uri="{9D8B030D-6E8A-4147-A177-3AD203B41FA5}">
                      <a16:colId xmlns:a16="http://schemas.microsoft.com/office/drawing/2014/main" val="1630946336"/>
                    </a:ext>
                  </a:extLst>
                </a:gridCol>
              </a:tblGrid>
              <a:tr h="223426">
                <a:tc>
                  <a:txBody>
                    <a:bodyPr/>
                    <a:lstStyle/>
                    <a:p>
                      <a:pPr algn="ctr"/>
                      <a:r>
                        <a:rPr lang="en-US" sz="1200" dirty="0">
                          <a:solidFill>
                            <a:schemeClr val="bg1"/>
                          </a:solidFill>
                        </a:rPr>
                        <a:t>Risk</a:t>
                      </a:r>
                    </a:p>
                  </a:txBody>
                  <a:tcPr anchor="ctr">
                    <a:solidFill>
                      <a:schemeClr val="accent1">
                        <a:lumMod val="50000"/>
                      </a:schemeClr>
                    </a:solidFill>
                  </a:tcPr>
                </a:tc>
                <a:tc>
                  <a:txBody>
                    <a:bodyPr/>
                    <a:lstStyle/>
                    <a:p>
                      <a:pPr algn="ctr"/>
                      <a:r>
                        <a:rPr lang="en-US" sz="1200" dirty="0">
                          <a:solidFill>
                            <a:schemeClr val="bg1"/>
                          </a:solidFill>
                        </a:rPr>
                        <a:t>Description</a:t>
                      </a:r>
                    </a:p>
                  </a:txBody>
                  <a:tcPr anchor="ctr">
                    <a:solidFill>
                      <a:schemeClr val="accent1">
                        <a:lumMod val="50000"/>
                      </a:schemeClr>
                    </a:solidFill>
                  </a:tcPr>
                </a:tc>
                <a:tc>
                  <a:txBody>
                    <a:bodyPr/>
                    <a:lstStyle/>
                    <a:p>
                      <a:pPr algn="ctr"/>
                      <a:r>
                        <a:rPr lang="en-US" sz="1200" dirty="0">
                          <a:solidFill>
                            <a:schemeClr val="bg1"/>
                          </a:solidFill>
                        </a:rPr>
                        <a:t>Mitigants</a:t>
                      </a:r>
                    </a:p>
                  </a:txBody>
                  <a:tcPr anchor="ctr">
                    <a:solidFill>
                      <a:schemeClr val="accent1">
                        <a:lumMod val="50000"/>
                      </a:schemeClr>
                    </a:solidFill>
                  </a:tcPr>
                </a:tc>
                <a:extLst>
                  <a:ext uri="{0D108BD9-81ED-4DB2-BD59-A6C34878D82A}">
                    <a16:rowId xmlns:a16="http://schemas.microsoft.com/office/drawing/2014/main" val="2007875439"/>
                  </a:ext>
                </a:extLst>
              </a:tr>
              <a:tr h="633039">
                <a:tc>
                  <a:txBody>
                    <a:bodyPr/>
                    <a:lstStyle/>
                    <a:p>
                      <a:pPr algn="l"/>
                      <a:r>
                        <a:rPr lang="en-US" sz="1000" b="1" dirty="0">
                          <a:solidFill>
                            <a:schemeClr val="tx1"/>
                          </a:solidFill>
                        </a:rPr>
                        <a:t>Reimbursement Risk</a:t>
                      </a:r>
                    </a:p>
                  </a:txBody>
                  <a:tcPr anchor="c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dirty="0"/>
                        <a:t>Changes in reimbursement or ASC regulations could negatively impact collections.</a:t>
                      </a:r>
                      <a:endParaRPr lang="en-US" sz="900" i="1" dirty="0">
                        <a:solidFill>
                          <a:schemeClr val="tx1"/>
                        </a:solidFill>
                      </a:endParaRPr>
                    </a:p>
                  </a:txBody>
                  <a:tcPr anchor="ctr">
                    <a:solidFill>
                      <a:schemeClr val="bg1">
                        <a:lumMod val="95000"/>
                      </a:schemeClr>
                    </a:solidFill>
                  </a:tcPr>
                </a:tc>
                <a:tc>
                  <a:txBody>
                    <a:bodyPr/>
                    <a:lstStyle/>
                    <a:p>
                      <a:pPr marL="171450" indent="-171450" algn="l">
                        <a:buFont typeface="Wingdings" panose="05000000000000000000" pitchFamily="2" charset="2"/>
                        <a:buChar char="§"/>
                      </a:pPr>
                      <a:r>
                        <a:rPr lang="en-US" sz="900" dirty="0">
                          <a:solidFill>
                            <a:schemeClr val="tx1"/>
                          </a:solidFill>
                        </a:rPr>
                        <a:t>Indiana revenue is insulated from reimbursement risk via floor-plus-true-up contracts.</a:t>
                      </a:r>
                    </a:p>
                    <a:p>
                      <a:pPr marL="171450" indent="-171450" algn="l">
                        <a:buFont typeface="Wingdings" panose="05000000000000000000" pitchFamily="2" charset="2"/>
                        <a:buChar char="§"/>
                      </a:pPr>
                      <a:r>
                        <a:rPr lang="en-US" sz="900" dirty="0">
                          <a:solidFill>
                            <a:schemeClr val="tx1"/>
                          </a:solidFill>
                        </a:rPr>
                        <a:t>In Michigan, over 50% of revenue is fee-for-day (not tied to collections).</a:t>
                      </a:r>
                    </a:p>
                    <a:p>
                      <a:pPr marL="171450" indent="-171450" algn="l">
                        <a:buFont typeface="Wingdings" panose="05000000000000000000" pitchFamily="2" charset="2"/>
                        <a:buChar char="§"/>
                      </a:pPr>
                      <a:r>
                        <a:rPr lang="en-US" sz="900" dirty="0">
                          <a:solidFill>
                            <a:schemeClr val="tx1"/>
                          </a:solidFill>
                        </a:rPr>
                        <a:t>Commercial payors represent over 80% of revenue subject to reimbursement risk, heavily weighted towards BCBS.</a:t>
                      </a:r>
                    </a:p>
                    <a:p>
                      <a:pPr marL="171450" indent="-171450" algn="l">
                        <a:buFont typeface="Wingdings" panose="05000000000000000000" pitchFamily="2" charset="2"/>
                        <a:buChar char="§"/>
                      </a:pPr>
                      <a:r>
                        <a:rPr lang="en-US" sz="900" dirty="0">
                          <a:solidFill>
                            <a:schemeClr val="tx1"/>
                          </a:solidFill>
                        </a:rPr>
                        <a:t>Underwriting model only projects hitting the labor floor – no assumed upside from improved RCM.</a:t>
                      </a:r>
                    </a:p>
                  </a:txBody>
                  <a:tcPr anchor="ctr">
                    <a:solidFill>
                      <a:schemeClr val="bg1">
                        <a:lumMod val="95000"/>
                      </a:schemeClr>
                    </a:solidFill>
                  </a:tcPr>
                </a:tc>
                <a:extLst>
                  <a:ext uri="{0D108BD9-81ED-4DB2-BD59-A6C34878D82A}">
                    <a16:rowId xmlns:a16="http://schemas.microsoft.com/office/drawing/2014/main" val="137754373"/>
                  </a:ext>
                </a:extLst>
              </a:tr>
              <a:tr h="409614">
                <a:tc>
                  <a:txBody>
                    <a:bodyPr/>
                    <a:lstStyle/>
                    <a:p>
                      <a:pPr algn="l"/>
                      <a:r>
                        <a:rPr lang="en-US" sz="1000" b="1" dirty="0">
                          <a:solidFill>
                            <a:schemeClr val="tx1"/>
                          </a:solidFill>
                        </a:rPr>
                        <a:t>Key Person Risk</a:t>
                      </a:r>
                    </a:p>
                  </a:txBody>
                  <a:tcPr anchor="c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dirty="0">
                          <a:solidFill>
                            <a:schemeClr val="tx1"/>
                          </a:solidFill>
                        </a:rPr>
                        <a:t>Chris Youst and Mark Nold are critical to the Company’s success.</a:t>
                      </a:r>
                    </a:p>
                  </a:txBody>
                  <a:tcPr anchor="ctr">
                    <a:solidFill>
                      <a:schemeClr val="bg1">
                        <a:lumMod val="85000"/>
                      </a:schemeClr>
                    </a:solidFill>
                  </a:tcPr>
                </a:tc>
                <a:tc>
                  <a:txBody>
                    <a:bodyPr/>
                    <a:lstStyle/>
                    <a:p>
                      <a:pPr marL="171450" indent="-171450" algn="l">
                        <a:buFont typeface="Wingdings" panose="05000000000000000000" pitchFamily="2" charset="2"/>
                        <a:buChar char="§"/>
                      </a:pPr>
                      <a:r>
                        <a:rPr lang="en-US" sz="900" dirty="0">
                          <a:solidFill>
                            <a:schemeClr val="tx1"/>
                          </a:solidFill>
                        </a:rPr>
                        <a:t>Chris and Mark will retain meaningful equity post-close through their collective $8M rollover investment. </a:t>
                      </a:r>
                    </a:p>
                    <a:p>
                      <a:pPr marL="171450" indent="-171450" algn="l">
                        <a:buFont typeface="Wingdings" panose="05000000000000000000" pitchFamily="2" charset="2"/>
                        <a:buChar char="§"/>
                      </a:pPr>
                      <a:r>
                        <a:rPr lang="en-US" sz="900" dirty="0">
                          <a:solidFill>
                            <a:schemeClr val="tx1"/>
                          </a:solidFill>
                        </a:rPr>
                        <a:t>We have entered into employment contracts with both Chris and Mark – both executives have a 2-year non-compete clause in their contracts</a:t>
                      </a:r>
                    </a:p>
                  </a:txBody>
                  <a:tcPr anchor="ctr">
                    <a:solidFill>
                      <a:schemeClr val="bg1">
                        <a:lumMod val="85000"/>
                      </a:schemeClr>
                    </a:solidFill>
                  </a:tcPr>
                </a:tc>
                <a:extLst>
                  <a:ext uri="{0D108BD9-81ED-4DB2-BD59-A6C34878D82A}">
                    <a16:rowId xmlns:a16="http://schemas.microsoft.com/office/drawing/2014/main" val="1019702023"/>
                  </a:ext>
                </a:extLst>
              </a:tr>
              <a:tr h="446851">
                <a:tc>
                  <a:txBody>
                    <a:bodyPr/>
                    <a:lstStyle/>
                    <a:p>
                      <a:pPr algn="l"/>
                      <a:r>
                        <a:rPr lang="en-US" sz="1000" b="1" dirty="0">
                          <a:solidFill>
                            <a:schemeClr val="tx1"/>
                          </a:solidFill>
                        </a:rPr>
                        <a:t>Contractor Model &amp; General Compliance</a:t>
                      </a:r>
                    </a:p>
                  </a:txBody>
                  <a:tcPr anchor="c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dirty="0">
                          <a:solidFill>
                            <a:schemeClr val="tx1"/>
                          </a:solidFill>
                        </a:rPr>
                        <a:t>Use of 1099 contractors can create regulatory or reclassification risks.</a:t>
                      </a:r>
                    </a:p>
                  </a:txBody>
                  <a:tcPr anchor="ctr">
                    <a:solidFill>
                      <a:schemeClr val="bg1">
                        <a:lumMod val="95000"/>
                      </a:schemeClr>
                    </a:solidFill>
                  </a:tcPr>
                </a:tc>
                <a:tc>
                  <a:txBody>
                    <a:bodyPr/>
                    <a:lstStyle/>
                    <a:p>
                      <a:pPr marL="171450" indent="-171450" algn="l">
                        <a:buFont typeface="Wingdings" panose="05000000000000000000" pitchFamily="2" charset="2"/>
                        <a:buChar char="§"/>
                      </a:pPr>
                      <a:r>
                        <a:rPr lang="en-US" sz="900" dirty="0">
                          <a:solidFill>
                            <a:schemeClr val="tx1"/>
                          </a:solidFill>
                        </a:rPr>
                        <a:t>The Company has converted all full-time and regular part-time staff to W2 employees prior to closing, at no incremental cost to the business</a:t>
                      </a:r>
                      <a:endParaRPr lang="en-US" sz="900" b="1" dirty="0">
                        <a:solidFill>
                          <a:schemeClr val="tx1"/>
                        </a:solidFill>
                      </a:endParaRPr>
                    </a:p>
                    <a:p>
                      <a:pPr marL="171450" indent="-171450" algn="l">
                        <a:buFont typeface="Wingdings" panose="05000000000000000000" pitchFamily="2" charset="2"/>
                        <a:buChar char="§"/>
                      </a:pPr>
                      <a:r>
                        <a:rPr lang="en-US" sz="900" b="0" dirty="0">
                          <a:solidFill>
                            <a:schemeClr val="tx1"/>
                          </a:solidFill>
                        </a:rPr>
                        <a:t>AAS has engaged Health Law Partners to create a formal compliance program for the Company</a:t>
                      </a:r>
                    </a:p>
                  </a:txBody>
                  <a:tcPr anchor="ctr">
                    <a:solidFill>
                      <a:schemeClr val="bg1">
                        <a:lumMod val="95000"/>
                      </a:schemeClr>
                    </a:solidFill>
                  </a:tcPr>
                </a:tc>
                <a:extLst>
                  <a:ext uri="{0D108BD9-81ED-4DB2-BD59-A6C34878D82A}">
                    <a16:rowId xmlns:a16="http://schemas.microsoft.com/office/drawing/2014/main" val="2434029548"/>
                  </a:ext>
                </a:extLst>
              </a:tr>
              <a:tr h="446851">
                <a:tc>
                  <a:txBody>
                    <a:bodyPr/>
                    <a:lstStyle/>
                    <a:p>
                      <a:pPr algn="l"/>
                      <a:r>
                        <a:rPr lang="en-US" sz="1000" b="1" dirty="0">
                          <a:solidFill>
                            <a:schemeClr val="tx1"/>
                          </a:solidFill>
                        </a:rPr>
                        <a:t>Lawsuits from Provider Negligence</a:t>
                      </a:r>
                    </a:p>
                  </a:txBody>
                  <a:tcPr anchor="ct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dirty="0">
                          <a:solidFill>
                            <a:schemeClr val="tx1"/>
                          </a:solidFill>
                        </a:rPr>
                        <a:t>AAS was named in a recent lawsuit due to a 1099 provider’s mis-administration of anesthesia</a:t>
                      </a:r>
                    </a:p>
                  </a:txBody>
                  <a:tcPr anchor="ctr">
                    <a:solidFill>
                      <a:schemeClr val="bg1">
                        <a:lumMod val="85000"/>
                      </a:schemeClr>
                    </a:solidFill>
                  </a:tcPr>
                </a:tc>
                <a:tc>
                  <a:txBody>
                    <a:bodyPr/>
                    <a:lstStyle/>
                    <a:p>
                      <a:pPr marL="171450" indent="-171450" algn="l">
                        <a:buFont typeface="Wingdings" panose="05000000000000000000" pitchFamily="2" charset="2"/>
                        <a:buChar char="§"/>
                      </a:pPr>
                      <a:r>
                        <a:rPr lang="en-US" sz="900" dirty="0">
                          <a:solidFill>
                            <a:schemeClr val="tx1"/>
                          </a:solidFill>
                        </a:rPr>
                        <a:t>We have received a specific indemnity for the recent lawsuit and the Company is likely not to be named in future proceedings regardless</a:t>
                      </a:r>
                    </a:p>
                    <a:p>
                      <a:pPr marL="171450" indent="-171450" algn="l">
                        <a:buFont typeface="Wingdings" panose="05000000000000000000" pitchFamily="2" charset="2"/>
                        <a:buChar char="§"/>
                      </a:pPr>
                      <a:r>
                        <a:rPr lang="en-US" sz="900" dirty="0">
                          <a:solidFill>
                            <a:schemeClr val="tx1"/>
                          </a:solidFill>
                        </a:rPr>
                        <a:t>Historically, the risk has been nearly negligible as AAS has had one only one claim since their policy began in 2010  - a $45K payout in January 2019</a:t>
                      </a:r>
                    </a:p>
                  </a:txBody>
                  <a:tcPr anchor="ctr">
                    <a:solidFill>
                      <a:schemeClr val="bg1">
                        <a:lumMod val="85000"/>
                      </a:schemeClr>
                    </a:solidFill>
                  </a:tcPr>
                </a:tc>
                <a:extLst>
                  <a:ext uri="{0D108BD9-81ED-4DB2-BD59-A6C34878D82A}">
                    <a16:rowId xmlns:a16="http://schemas.microsoft.com/office/drawing/2014/main" val="329862642"/>
                  </a:ext>
                </a:extLst>
              </a:tr>
            </a:tbl>
          </a:graphicData>
        </a:graphic>
      </p:graphicFrame>
      <p:sp>
        <p:nvSpPr>
          <p:cNvPr id="4" name="Slide Number Placeholder 3">
            <a:extLst>
              <a:ext uri="{FF2B5EF4-FFF2-40B4-BE49-F238E27FC236}">
                <a16:creationId xmlns:a16="http://schemas.microsoft.com/office/drawing/2014/main" id="{7E5F607C-DC27-5E2D-E040-62BF183A6E44}"/>
              </a:ext>
            </a:extLst>
          </p:cNvPr>
          <p:cNvSpPr txBox="1">
            <a:spLocks/>
          </p:cNvSpPr>
          <p:nvPr/>
        </p:nvSpPr>
        <p:spPr>
          <a:xfrm>
            <a:off x="7470009" y="6471765"/>
            <a:ext cx="1497685" cy="365125"/>
          </a:xfrm>
          <a:prstGeom prst="rect">
            <a:avLst/>
          </a:prstGeom>
        </p:spPr>
        <p:txBody>
          <a:bodyPr vert="horz" lIns="91440" tIns="45720" rIns="91440" bIns="45720" rtlCol="0" anchor="ctr"/>
          <a:lstStyle>
            <a:defPPr>
              <a:defRPr lang="en-US"/>
            </a:defPPr>
            <a:lvl1pPr marL="0" algn="r" defTabSz="457200" rtl="0" eaLnBrk="1" latinLnBrk="0" hangingPunct="1">
              <a:defRPr sz="10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8DDDAE5-3BDD-4D78-843B-A22FA78305BB}" type="slidenum">
              <a:rPr lang="en-US" smtClean="0"/>
              <a:pPr/>
              <a:t>30</a:t>
            </a:fld>
            <a:endParaRPr lang="en-US" dirty="0"/>
          </a:p>
        </p:txBody>
      </p:sp>
    </p:spTree>
    <p:extLst>
      <p:ext uri="{BB962C8B-B14F-4D97-AF65-F5344CB8AC3E}">
        <p14:creationId xmlns:p14="http://schemas.microsoft.com/office/powerpoint/2010/main" val="36513641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1AE1C-DFA6-E815-78A8-8C5A6618F9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87F0D9-2822-4320-F71A-76715916F794}"/>
              </a:ext>
            </a:extLst>
          </p:cNvPr>
          <p:cNvSpPr>
            <a:spLocks noGrp="1"/>
          </p:cNvSpPr>
          <p:nvPr>
            <p:ph type="title"/>
          </p:nvPr>
        </p:nvSpPr>
        <p:spPr/>
        <p:txBody>
          <a:bodyPr/>
          <a:lstStyle/>
          <a:p>
            <a:r>
              <a:rPr lang="en-US" dirty="0"/>
              <a:t>Sector Overview – Anesthesia and ASCs </a:t>
            </a:r>
          </a:p>
        </p:txBody>
      </p:sp>
      <p:sp>
        <p:nvSpPr>
          <p:cNvPr id="3" name="TextBox 2">
            <a:extLst>
              <a:ext uri="{FF2B5EF4-FFF2-40B4-BE49-F238E27FC236}">
                <a16:creationId xmlns:a16="http://schemas.microsoft.com/office/drawing/2014/main" id="{AA28F3AB-F1A6-6EF8-0649-60F7CECADF74}"/>
              </a:ext>
            </a:extLst>
          </p:cNvPr>
          <p:cNvSpPr txBox="1"/>
          <p:nvPr/>
        </p:nvSpPr>
        <p:spPr>
          <a:xfrm>
            <a:off x="221942" y="4687503"/>
            <a:ext cx="1558731" cy="1862048"/>
          </a:xfrm>
          <a:prstGeom prst="rect">
            <a:avLst/>
          </a:prstGeom>
          <a:noFill/>
        </p:spPr>
        <p:txBody>
          <a:bodyPr wrap="square" rtlCol="0">
            <a:spAutoFit/>
          </a:bodyPr>
          <a:lstStyle/>
          <a:p>
            <a:r>
              <a:rPr lang="en-US" sz="11500" dirty="0"/>
              <a:t>V</a:t>
            </a:r>
          </a:p>
        </p:txBody>
      </p:sp>
      <p:pic>
        <p:nvPicPr>
          <p:cNvPr id="4" name="Picture 3">
            <a:extLst>
              <a:ext uri="{FF2B5EF4-FFF2-40B4-BE49-F238E27FC236}">
                <a16:creationId xmlns:a16="http://schemas.microsoft.com/office/drawing/2014/main" id="{77820843-D2AB-6330-AA7C-B370FB897EEA}"/>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7243624" y="4908636"/>
            <a:ext cx="1703194" cy="1517130"/>
          </a:xfrm>
          <a:prstGeom prst="rect">
            <a:avLst/>
          </a:prstGeom>
        </p:spPr>
      </p:pic>
    </p:spTree>
    <p:extLst>
      <p:ext uri="{BB962C8B-B14F-4D97-AF65-F5344CB8AC3E}">
        <p14:creationId xmlns:p14="http://schemas.microsoft.com/office/powerpoint/2010/main" val="28293696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37CF2-88CD-65F9-5486-0E95C018C155}"/>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90F07371-6D2D-380B-9877-542DDCD29AA7}"/>
              </a:ext>
            </a:extLst>
          </p:cNvPr>
          <p:cNvPicPr>
            <a:picLocks noChangeAspect="1"/>
          </p:cNvPicPr>
          <p:nvPr/>
        </p:nvPicPr>
        <p:blipFill>
          <a:blip r:embed="rId2"/>
          <a:stretch>
            <a:fillRect/>
          </a:stretch>
        </p:blipFill>
        <p:spPr>
          <a:xfrm>
            <a:off x="4793493" y="1377349"/>
            <a:ext cx="4212701" cy="1926503"/>
          </a:xfrm>
          <a:prstGeom prst="rect">
            <a:avLst/>
          </a:prstGeom>
        </p:spPr>
      </p:pic>
      <p:sp>
        <p:nvSpPr>
          <p:cNvPr id="2" name="Title 1">
            <a:extLst>
              <a:ext uri="{FF2B5EF4-FFF2-40B4-BE49-F238E27FC236}">
                <a16:creationId xmlns:a16="http://schemas.microsoft.com/office/drawing/2014/main" id="{01D53C23-4872-0202-969D-97473CBCE03E}"/>
              </a:ext>
            </a:extLst>
          </p:cNvPr>
          <p:cNvSpPr>
            <a:spLocks noGrp="1"/>
          </p:cNvSpPr>
          <p:nvPr>
            <p:ph type="title"/>
          </p:nvPr>
        </p:nvSpPr>
        <p:spPr/>
        <p:txBody>
          <a:bodyPr>
            <a:normAutofit/>
          </a:bodyPr>
          <a:lstStyle/>
          <a:p>
            <a:r>
              <a:rPr lang="en-US" dirty="0"/>
              <a:t>Anesthesia Market Overview</a:t>
            </a:r>
          </a:p>
        </p:txBody>
      </p:sp>
      <p:sp>
        <p:nvSpPr>
          <p:cNvPr id="6" name="TextBox 5">
            <a:extLst>
              <a:ext uri="{FF2B5EF4-FFF2-40B4-BE49-F238E27FC236}">
                <a16:creationId xmlns:a16="http://schemas.microsoft.com/office/drawing/2014/main" id="{9AB6EBD4-38BF-592A-B548-A432B64BF537}"/>
              </a:ext>
            </a:extLst>
          </p:cNvPr>
          <p:cNvSpPr txBox="1"/>
          <p:nvPr/>
        </p:nvSpPr>
        <p:spPr>
          <a:xfrm>
            <a:off x="-8180" y="6586525"/>
            <a:ext cx="4261223" cy="215444"/>
          </a:xfrm>
          <a:prstGeom prst="rect">
            <a:avLst/>
          </a:prstGeom>
          <a:noFill/>
        </p:spPr>
        <p:txBody>
          <a:bodyPr wrap="square" rtlCol="0">
            <a:spAutoFit/>
          </a:bodyPr>
          <a:lstStyle/>
          <a:p>
            <a:r>
              <a:rPr lang="en-US" sz="800" dirty="0"/>
              <a:t>Sources: Signify Research, Rivanna Medical; IBIS World</a:t>
            </a:r>
          </a:p>
        </p:txBody>
      </p:sp>
      <p:sp>
        <p:nvSpPr>
          <p:cNvPr id="17" name="Rectangle: Diagonal Corners Snipped 16">
            <a:extLst>
              <a:ext uri="{FF2B5EF4-FFF2-40B4-BE49-F238E27FC236}">
                <a16:creationId xmlns:a16="http://schemas.microsoft.com/office/drawing/2014/main" id="{AAC9C832-74E5-5256-D40D-A2911CD46A83}"/>
              </a:ext>
            </a:extLst>
          </p:cNvPr>
          <p:cNvSpPr/>
          <p:nvPr/>
        </p:nvSpPr>
        <p:spPr>
          <a:xfrm>
            <a:off x="176305" y="927422"/>
            <a:ext cx="4261223"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Anesthesia Services Market Overview</a:t>
            </a:r>
            <a:endParaRPr lang="en-US" sz="1400" b="1" baseline="30000" dirty="0">
              <a:solidFill>
                <a:schemeClr val="bg1"/>
              </a:solidFill>
            </a:endParaRPr>
          </a:p>
        </p:txBody>
      </p:sp>
      <p:sp>
        <p:nvSpPr>
          <p:cNvPr id="21" name="TextBox 20">
            <a:extLst>
              <a:ext uri="{FF2B5EF4-FFF2-40B4-BE49-F238E27FC236}">
                <a16:creationId xmlns:a16="http://schemas.microsoft.com/office/drawing/2014/main" id="{8650CE4A-C6F4-F6FC-512E-EA659B15962C}"/>
              </a:ext>
            </a:extLst>
          </p:cNvPr>
          <p:cNvSpPr txBox="1"/>
          <p:nvPr/>
        </p:nvSpPr>
        <p:spPr>
          <a:xfrm>
            <a:off x="176305" y="1254239"/>
            <a:ext cx="4261223" cy="1938992"/>
          </a:xfrm>
          <a:prstGeom prst="rect">
            <a:avLst/>
          </a:prstGeom>
          <a:noFill/>
        </p:spPr>
        <p:txBody>
          <a:bodyPr wrap="square" rtlCol="0">
            <a:spAutoFit/>
          </a:bodyPr>
          <a:lstStyle/>
          <a:p>
            <a:pPr marL="171450" indent="-171450" algn="just">
              <a:spcBef>
                <a:spcPts val="200"/>
              </a:spcBef>
              <a:spcAft>
                <a:spcPts val="200"/>
              </a:spcAft>
              <a:buFont typeface="Arial" panose="020B0604020202020204" pitchFamily="34" charset="0"/>
              <a:buChar char="•"/>
            </a:pPr>
            <a:r>
              <a:rPr lang="en-US" sz="1000" dirty="0"/>
              <a:t>The U.S. Anesthesia Services market was valued at $27.4 billion as of 2024, and is expected to grow at a 7.9% CAGR through 2031. </a:t>
            </a:r>
          </a:p>
          <a:p>
            <a:pPr marL="171450" indent="-171450" algn="just">
              <a:spcBef>
                <a:spcPts val="200"/>
              </a:spcBef>
              <a:spcAft>
                <a:spcPts val="200"/>
              </a:spcAft>
              <a:buFont typeface="Arial" panose="020B0604020202020204" pitchFamily="34" charset="0"/>
              <a:buChar char="•"/>
            </a:pPr>
            <a:r>
              <a:rPr lang="en-US" sz="1000" dirty="0"/>
              <a:t>The market is poised for steady growth, underpinned by demographic trends, technological innovation, and the general shift to outpatient care. </a:t>
            </a:r>
          </a:p>
          <a:p>
            <a:pPr marL="171450" indent="-171450" algn="just">
              <a:spcBef>
                <a:spcPts val="200"/>
              </a:spcBef>
              <a:spcAft>
                <a:spcPts val="200"/>
              </a:spcAft>
              <a:buFont typeface="Arial" panose="020B0604020202020204" pitchFamily="34" charset="0"/>
              <a:buChar char="•"/>
            </a:pPr>
            <a:r>
              <a:rPr lang="en-US" sz="1000" dirty="0"/>
              <a:t>While the market faces challenges such as workforce shortages and cost pressures, advancements in drugs, devices, and digital technologies are expected to drive improvements in safety, efficiency, and patient outcomes. </a:t>
            </a:r>
          </a:p>
          <a:p>
            <a:pPr marL="171450" indent="-171450" algn="just">
              <a:spcBef>
                <a:spcPts val="200"/>
              </a:spcBef>
              <a:spcAft>
                <a:spcPts val="200"/>
              </a:spcAft>
              <a:buFont typeface="Arial" panose="020B0604020202020204" pitchFamily="34" charset="0"/>
              <a:buChar char="•"/>
            </a:pPr>
            <a:r>
              <a:rPr lang="en-US" sz="1000" dirty="0"/>
              <a:t>Hospitals remain the dominant end-users, but ASCs are rapidly gaining market share due to the shift towards outpatient care.  </a:t>
            </a:r>
          </a:p>
        </p:txBody>
      </p:sp>
      <p:sp>
        <p:nvSpPr>
          <p:cNvPr id="24" name="Rectangle: Diagonal Corners Snipped 23">
            <a:extLst>
              <a:ext uri="{FF2B5EF4-FFF2-40B4-BE49-F238E27FC236}">
                <a16:creationId xmlns:a16="http://schemas.microsoft.com/office/drawing/2014/main" id="{7CE5A0A8-0EB4-CE96-E2EE-6BCA47F8868E}"/>
              </a:ext>
            </a:extLst>
          </p:cNvPr>
          <p:cNvSpPr/>
          <p:nvPr/>
        </p:nvSpPr>
        <p:spPr>
          <a:xfrm>
            <a:off x="176305" y="3545495"/>
            <a:ext cx="4261223"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Market Trends</a:t>
            </a:r>
            <a:endParaRPr lang="en-US" sz="1400" b="1" baseline="30000" dirty="0">
              <a:solidFill>
                <a:schemeClr val="bg1"/>
              </a:solidFill>
            </a:endParaRPr>
          </a:p>
        </p:txBody>
      </p:sp>
      <p:sp>
        <p:nvSpPr>
          <p:cNvPr id="26" name="Rectangle: Diagonal Corners Snipped 25">
            <a:extLst>
              <a:ext uri="{FF2B5EF4-FFF2-40B4-BE49-F238E27FC236}">
                <a16:creationId xmlns:a16="http://schemas.microsoft.com/office/drawing/2014/main" id="{CFE3DCF4-53BC-26D3-16FB-5E7D78ED41CA}"/>
              </a:ext>
            </a:extLst>
          </p:cNvPr>
          <p:cNvSpPr/>
          <p:nvPr/>
        </p:nvSpPr>
        <p:spPr>
          <a:xfrm>
            <a:off x="4706472" y="927422"/>
            <a:ext cx="4261223"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U.S. Anesthesia Services Market Size Outlook</a:t>
            </a:r>
            <a:endParaRPr lang="en-US" sz="1400" b="1" baseline="30000" dirty="0">
              <a:solidFill>
                <a:schemeClr val="bg1"/>
              </a:solidFill>
            </a:endParaRPr>
          </a:p>
        </p:txBody>
      </p:sp>
      <p:sp>
        <p:nvSpPr>
          <p:cNvPr id="27" name="Rectangle: Diagonal Corners Snipped 26">
            <a:extLst>
              <a:ext uri="{FF2B5EF4-FFF2-40B4-BE49-F238E27FC236}">
                <a16:creationId xmlns:a16="http://schemas.microsoft.com/office/drawing/2014/main" id="{59F05D41-E4FD-5546-D77A-30186A45DD20}"/>
              </a:ext>
            </a:extLst>
          </p:cNvPr>
          <p:cNvSpPr/>
          <p:nvPr/>
        </p:nvSpPr>
        <p:spPr>
          <a:xfrm>
            <a:off x="4706472" y="3545495"/>
            <a:ext cx="4261223"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Recent Scientific Developments</a:t>
            </a:r>
            <a:endParaRPr lang="en-US" sz="1400" b="1" baseline="30000" dirty="0">
              <a:solidFill>
                <a:schemeClr val="bg1"/>
              </a:solidFill>
            </a:endParaRPr>
          </a:p>
        </p:txBody>
      </p:sp>
      <p:sp>
        <p:nvSpPr>
          <p:cNvPr id="3" name="TextBox 2">
            <a:extLst>
              <a:ext uri="{FF2B5EF4-FFF2-40B4-BE49-F238E27FC236}">
                <a16:creationId xmlns:a16="http://schemas.microsoft.com/office/drawing/2014/main" id="{1197C9E0-E761-C139-5F4B-7E2ADAA82734}"/>
              </a:ext>
            </a:extLst>
          </p:cNvPr>
          <p:cNvSpPr txBox="1"/>
          <p:nvPr/>
        </p:nvSpPr>
        <p:spPr>
          <a:xfrm>
            <a:off x="4706471" y="3862811"/>
            <a:ext cx="4261223" cy="2246769"/>
          </a:xfrm>
          <a:prstGeom prst="rect">
            <a:avLst/>
          </a:prstGeom>
          <a:noFill/>
        </p:spPr>
        <p:txBody>
          <a:bodyPr wrap="square" rtlCol="0">
            <a:spAutoFit/>
          </a:bodyPr>
          <a:lstStyle/>
          <a:p>
            <a:pPr marL="171450" indent="-171450" algn="just">
              <a:spcBef>
                <a:spcPts val="600"/>
              </a:spcBef>
              <a:spcAft>
                <a:spcPts val="600"/>
              </a:spcAft>
              <a:buFont typeface="Arial" panose="020B0604020202020204" pitchFamily="34" charset="0"/>
              <a:buChar char="•"/>
            </a:pPr>
            <a:r>
              <a:rPr lang="en-US" sz="1000" dirty="0"/>
              <a:t>In September 2024, Eugia Steriles, a subsidiary of Aurobindo Pharma, received approval for Lidocaine Hydrochloride injection, used as an anesthetic on the body to help reduce discomfort and pain caused by invasive procedures.</a:t>
            </a:r>
          </a:p>
          <a:p>
            <a:pPr marL="171450" indent="-171450" algn="just">
              <a:spcBef>
                <a:spcPts val="600"/>
              </a:spcBef>
              <a:spcAft>
                <a:spcPts val="600"/>
              </a:spcAft>
              <a:buFont typeface="Arial" panose="020B0604020202020204" pitchFamily="34" charset="0"/>
              <a:buChar char="•"/>
            </a:pPr>
            <a:r>
              <a:rPr lang="en-US" sz="1000" dirty="0"/>
              <a:t>In August 2024, Amneal Pharmaceutivals announced FDA approval for its Propofol Injectable Emulsion in three single-dose vial concentrations and it is widely used in hospitals for inducing and maintaining anesthesia and sedation.</a:t>
            </a:r>
          </a:p>
          <a:p>
            <a:pPr marL="171450" indent="-171450" algn="just">
              <a:spcBef>
                <a:spcPts val="600"/>
              </a:spcBef>
              <a:spcAft>
                <a:spcPts val="600"/>
              </a:spcAft>
              <a:buFont typeface="Arial" panose="020B0604020202020204" pitchFamily="34" charset="0"/>
              <a:buChar char="•"/>
            </a:pPr>
            <a:r>
              <a:rPr lang="en-US" sz="1000" dirty="0"/>
              <a:t>In February 2024, Hikma Pharmaceuticals launched Fentanyl Citrate Injection. This medication is designed for short-duration analgesia during anesthesia, premedication, induction, maintenance, and immediate postoperative recovery. </a:t>
            </a:r>
          </a:p>
        </p:txBody>
      </p:sp>
      <p:cxnSp>
        <p:nvCxnSpPr>
          <p:cNvPr id="5" name="Straight Arrow Connector 4">
            <a:extLst>
              <a:ext uri="{FF2B5EF4-FFF2-40B4-BE49-F238E27FC236}">
                <a16:creationId xmlns:a16="http://schemas.microsoft.com/office/drawing/2014/main" id="{8F190538-1312-78EA-180A-05BB0284B3ED}"/>
              </a:ext>
            </a:extLst>
          </p:cNvPr>
          <p:cNvCxnSpPr>
            <a:cxnSpLocks/>
          </p:cNvCxnSpPr>
          <p:nvPr/>
        </p:nvCxnSpPr>
        <p:spPr>
          <a:xfrm flipV="1">
            <a:off x="5034012" y="1477286"/>
            <a:ext cx="3542097" cy="508705"/>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CBFA9453-BA99-2622-330F-7CA1DFA12F9C}"/>
              </a:ext>
            </a:extLst>
          </p:cNvPr>
          <p:cNvSpPr txBox="1"/>
          <p:nvPr/>
        </p:nvSpPr>
        <p:spPr>
          <a:xfrm rot="21099766">
            <a:off x="6132738" y="1543035"/>
            <a:ext cx="922581" cy="215445"/>
          </a:xfrm>
          <a:prstGeom prst="rect">
            <a:avLst/>
          </a:prstGeom>
          <a:noFill/>
        </p:spPr>
        <p:txBody>
          <a:bodyPr wrap="square" rtlCol="0">
            <a:spAutoFit/>
          </a:bodyPr>
          <a:lstStyle/>
          <a:p>
            <a:pPr algn="ctr"/>
            <a:r>
              <a:rPr lang="en-US" sz="800" b="1" dirty="0"/>
              <a:t>7.9% CAGR</a:t>
            </a:r>
          </a:p>
        </p:txBody>
      </p:sp>
      <p:sp>
        <p:nvSpPr>
          <p:cNvPr id="8" name="TextBox 7">
            <a:extLst>
              <a:ext uri="{FF2B5EF4-FFF2-40B4-BE49-F238E27FC236}">
                <a16:creationId xmlns:a16="http://schemas.microsoft.com/office/drawing/2014/main" id="{48878FB3-7DF4-4F4A-529E-DD153FFE9482}"/>
              </a:ext>
            </a:extLst>
          </p:cNvPr>
          <p:cNvSpPr txBox="1"/>
          <p:nvPr/>
        </p:nvSpPr>
        <p:spPr>
          <a:xfrm>
            <a:off x="4968479" y="1403717"/>
            <a:ext cx="922581" cy="215445"/>
          </a:xfrm>
          <a:prstGeom prst="rect">
            <a:avLst/>
          </a:prstGeom>
          <a:noFill/>
        </p:spPr>
        <p:txBody>
          <a:bodyPr wrap="square" rtlCol="0">
            <a:spAutoFit/>
          </a:bodyPr>
          <a:lstStyle/>
          <a:p>
            <a:pPr algn="ctr"/>
            <a:r>
              <a:rPr lang="en-US" sz="800" i="1" dirty="0"/>
              <a:t>($ in billions)</a:t>
            </a:r>
          </a:p>
        </p:txBody>
      </p:sp>
      <p:sp>
        <p:nvSpPr>
          <p:cNvPr id="9" name="TextBox 8">
            <a:extLst>
              <a:ext uri="{FF2B5EF4-FFF2-40B4-BE49-F238E27FC236}">
                <a16:creationId xmlns:a16="http://schemas.microsoft.com/office/drawing/2014/main" id="{9576E672-5BFB-D5E0-DF50-BADE52A40049}"/>
              </a:ext>
            </a:extLst>
          </p:cNvPr>
          <p:cNvSpPr txBox="1"/>
          <p:nvPr/>
        </p:nvSpPr>
        <p:spPr>
          <a:xfrm>
            <a:off x="176304" y="3862811"/>
            <a:ext cx="4261223" cy="2605842"/>
          </a:xfrm>
          <a:prstGeom prst="rect">
            <a:avLst/>
          </a:prstGeom>
          <a:noFill/>
        </p:spPr>
        <p:txBody>
          <a:bodyPr wrap="square" rtlCol="0">
            <a:spAutoFit/>
          </a:bodyPr>
          <a:lstStyle/>
          <a:p>
            <a:pPr marL="171450" indent="-171450" algn="just">
              <a:spcBef>
                <a:spcPts val="200"/>
              </a:spcBef>
              <a:spcAft>
                <a:spcPts val="200"/>
              </a:spcAft>
              <a:buFont typeface="Arial" panose="020B0604020202020204" pitchFamily="34" charset="0"/>
              <a:buChar char="•"/>
            </a:pPr>
            <a:r>
              <a:rPr lang="en-US" sz="1000" dirty="0"/>
              <a:t>Integrating connectivity and data analytics into anesthesia devices enables real-time monitoring of patient vitals and automated adjustments to anesthesia delivery, improving safety and optimizing resource use in clinical settings. </a:t>
            </a:r>
          </a:p>
          <a:p>
            <a:pPr marL="171450" indent="-171450" algn="just">
              <a:spcBef>
                <a:spcPts val="200"/>
              </a:spcBef>
              <a:spcAft>
                <a:spcPts val="200"/>
              </a:spcAft>
              <a:buFont typeface="Arial" panose="020B0604020202020204" pitchFamily="34" charset="0"/>
              <a:buChar char="•"/>
            </a:pPr>
            <a:r>
              <a:rPr lang="en-US" sz="1000" dirty="0"/>
              <a:t>Neuraxial anesthesia stands at the intersection of tradition and transformation.</a:t>
            </a:r>
          </a:p>
          <a:p>
            <a:pPr marL="171450" indent="-171450" algn="just">
              <a:spcBef>
                <a:spcPts val="200"/>
              </a:spcBef>
              <a:spcAft>
                <a:spcPts val="200"/>
              </a:spcAft>
              <a:buFont typeface="Arial" panose="020B0604020202020204" pitchFamily="34" charset="0"/>
              <a:buChar char="•"/>
            </a:pPr>
            <a:r>
              <a:rPr lang="en-US" sz="1000" dirty="0"/>
              <a:t>Practitioners are adopting advanced imaging techniques like ultrasounds and exploring the potential of artificial intelligence, while facing practical concerns like medication shortages and the need for standardization.</a:t>
            </a:r>
          </a:p>
          <a:p>
            <a:pPr marL="171450" indent="-171450" algn="just">
              <a:spcBef>
                <a:spcPts val="200"/>
              </a:spcBef>
              <a:spcAft>
                <a:spcPts val="200"/>
              </a:spcAft>
              <a:buFont typeface="Arial" panose="020B0604020202020204" pitchFamily="34" charset="0"/>
              <a:buChar char="•"/>
            </a:pPr>
            <a:r>
              <a:rPr lang="en-US" sz="1000" dirty="0"/>
              <a:t>The integration of AI into anesthesia workflows is a testament to how technology can support clinicians in making informed decisions quickly and accurately. </a:t>
            </a:r>
          </a:p>
          <a:p>
            <a:pPr marL="171450" indent="-171450" algn="just">
              <a:spcBef>
                <a:spcPts val="200"/>
              </a:spcBef>
              <a:spcAft>
                <a:spcPts val="200"/>
              </a:spcAft>
              <a:buFont typeface="Arial" panose="020B0604020202020204" pitchFamily="34" charset="0"/>
              <a:buChar char="•"/>
            </a:pPr>
            <a:r>
              <a:rPr lang="en-US" sz="1000" dirty="0"/>
              <a:t>XR technologies, including virtual and augmented reality, are remapping anesthesiology training by providing immersive simulations.</a:t>
            </a:r>
          </a:p>
        </p:txBody>
      </p:sp>
      <p:sp>
        <p:nvSpPr>
          <p:cNvPr id="4" name="Slide Number Placeholder 3">
            <a:extLst>
              <a:ext uri="{FF2B5EF4-FFF2-40B4-BE49-F238E27FC236}">
                <a16:creationId xmlns:a16="http://schemas.microsoft.com/office/drawing/2014/main" id="{49A1E616-7795-F1A5-F990-E5C3E807D7A6}"/>
              </a:ext>
            </a:extLst>
          </p:cNvPr>
          <p:cNvSpPr>
            <a:spLocks noGrp="1"/>
          </p:cNvSpPr>
          <p:nvPr>
            <p:ph type="sldNum" sz="quarter" idx="12"/>
          </p:nvPr>
        </p:nvSpPr>
        <p:spPr/>
        <p:txBody>
          <a:bodyPr/>
          <a:lstStyle/>
          <a:p>
            <a:fld id="{F8DDDAE5-3BDD-4D78-843B-A22FA78305BB}" type="slidenum">
              <a:rPr lang="en-US" smtClean="0"/>
              <a:t>32</a:t>
            </a:fld>
            <a:endParaRPr lang="en-US" dirty="0"/>
          </a:p>
        </p:txBody>
      </p:sp>
    </p:spTree>
    <p:extLst>
      <p:ext uri="{BB962C8B-B14F-4D97-AF65-F5344CB8AC3E}">
        <p14:creationId xmlns:p14="http://schemas.microsoft.com/office/powerpoint/2010/main" val="1905021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F0E2B-E098-5E27-E22A-98DC436665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2C64CE-C841-94C6-4D82-87219761C3DC}"/>
              </a:ext>
            </a:extLst>
          </p:cNvPr>
          <p:cNvSpPr>
            <a:spLocks noGrp="1"/>
          </p:cNvSpPr>
          <p:nvPr>
            <p:ph type="title"/>
          </p:nvPr>
        </p:nvSpPr>
        <p:spPr/>
        <p:txBody>
          <a:bodyPr>
            <a:normAutofit/>
          </a:bodyPr>
          <a:lstStyle/>
          <a:p>
            <a:r>
              <a:rPr lang="en-US" dirty="0"/>
              <a:t>Anesthesia Market Overview (cont’d)</a:t>
            </a:r>
          </a:p>
        </p:txBody>
      </p:sp>
      <p:sp>
        <p:nvSpPr>
          <p:cNvPr id="10" name="TextBox 9">
            <a:extLst>
              <a:ext uri="{FF2B5EF4-FFF2-40B4-BE49-F238E27FC236}">
                <a16:creationId xmlns:a16="http://schemas.microsoft.com/office/drawing/2014/main" id="{D6C4D231-BC33-E77D-8F93-376402A185E2}"/>
              </a:ext>
            </a:extLst>
          </p:cNvPr>
          <p:cNvSpPr txBox="1"/>
          <p:nvPr/>
        </p:nvSpPr>
        <p:spPr>
          <a:xfrm>
            <a:off x="228600" y="904787"/>
            <a:ext cx="8686800" cy="276999"/>
          </a:xfrm>
          <a:prstGeom prst="rect">
            <a:avLst/>
          </a:prstGeom>
          <a:noFill/>
        </p:spPr>
        <p:txBody>
          <a:bodyPr wrap="square" rtlCol="0">
            <a:spAutoFit/>
          </a:bodyPr>
          <a:lstStyle/>
          <a:p>
            <a:pPr algn="ctr"/>
            <a:r>
              <a:rPr lang="en-US" sz="1200" b="1" i="1" dirty="0"/>
              <a:t>Anesthesia remains an attractive space for investors as compelling characteristics converge to drive market tailwinds.</a:t>
            </a:r>
          </a:p>
        </p:txBody>
      </p:sp>
      <p:pic>
        <p:nvPicPr>
          <p:cNvPr id="12" name="Graphic 11" descr="Schoolhouse">
            <a:extLst>
              <a:ext uri="{FF2B5EF4-FFF2-40B4-BE49-F238E27FC236}">
                <a16:creationId xmlns:a16="http://schemas.microsoft.com/office/drawing/2014/main" id="{8CDA1280-C11F-3C3A-EF4E-65B84823EB4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37188" y="1408723"/>
            <a:ext cx="621792" cy="621792"/>
          </a:xfrm>
          <a:prstGeom prst="rect">
            <a:avLst/>
          </a:prstGeom>
          <a:effectLst/>
        </p:spPr>
      </p:pic>
      <p:pic>
        <p:nvPicPr>
          <p:cNvPr id="13" name="Graphic 12" descr="Doctor">
            <a:extLst>
              <a:ext uri="{FF2B5EF4-FFF2-40B4-BE49-F238E27FC236}">
                <a16:creationId xmlns:a16="http://schemas.microsoft.com/office/drawing/2014/main" id="{95783C21-7CB4-3E9B-734B-4B3684411E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35567" y="1428589"/>
            <a:ext cx="543559" cy="543559"/>
          </a:xfrm>
          <a:prstGeom prst="rect">
            <a:avLst/>
          </a:prstGeom>
          <a:effectLst/>
        </p:spPr>
      </p:pic>
      <p:grpSp>
        <p:nvGrpSpPr>
          <p:cNvPr id="14" name="Group 13">
            <a:extLst>
              <a:ext uri="{FF2B5EF4-FFF2-40B4-BE49-F238E27FC236}">
                <a16:creationId xmlns:a16="http://schemas.microsoft.com/office/drawing/2014/main" id="{FD45124E-4F56-E500-3445-78531081D9C2}"/>
              </a:ext>
            </a:extLst>
          </p:cNvPr>
          <p:cNvGrpSpPr/>
          <p:nvPr/>
        </p:nvGrpSpPr>
        <p:grpSpPr>
          <a:xfrm>
            <a:off x="521292" y="2296204"/>
            <a:ext cx="377906" cy="515399"/>
            <a:chOff x="7729451" y="1985543"/>
            <a:chExt cx="309053" cy="402870"/>
          </a:xfrm>
          <a:solidFill>
            <a:srgbClr val="00677F"/>
          </a:solidFill>
          <a:effectLst/>
        </p:grpSpPr>
        <p:sp>
          <p:nvSpPr>
            <p:cNvPr id="15" name="Freeform 6">
              <a:extLst>
                <a:ext uri="{FF2B5EF4-FFF2-40B4-BE49-F238E27FC236}">
                  <a16:creationId xmlns:a16="http://schemas.microsoft.com/office/drawing/2014/main" id="{547E0C76-4C75-913A-3E9C-6487A5935296}"/>
                </a:ext>
              </a:extLst>
            </p:cNvPr>
            <p:cNvSpPr>
              <a:spLocks noEditPoints="1"/>
            </p:cNvSpPr>
            <p:nvPr/>
          </p:nvSpPr>
          <p:spPr bwMode="auto">
            <a:xfrm>
              <a:off x="7895015" y="2174837"/>
              <a:ext cx="143489" cy="213576"/>
            </a:xfrm>
            <a:custGeom>
              <a:avLst/>
              <a:gdLst>
                <a:gd name="T0" fmla="*/ 101 w 110"/>
                <a:gd name="T1" fmla="*/ 140 h 164"/>
                <a:gd name="T2" fmla="*/ 91 w 110"/>
                <a:gd name="T3" fmla="*/ 38 h 164"/>
                <a:gd name="T4" fmla="*/ 91 w 110"/>
                <a:gd name="T5" fmla="*/ 38 h 164"/>
                <a:gd name="T6" fmla="*/ 53 w 110"/>
                <a:gd name="T7" fmla="*/ 0 h 164"/>
                <a:gd name="T8" fmla="*/ 15 w 110"/>
                <a:gd name="T9" fmla="*/ 38 h 164"/>
                <a:gd name="T10" fmla="*/ 15 w 110"/>
                <a:gd name="T11" fmla="*/ 38 h 164"/>
                <a:gd name="T12" fmla="*/ 5 w 110"/>
                <a:gd name="T13" fmla="*/ 140 h 164"/>
                <a:gd name="T14" fmla="*/ 1 w 110"/>
                <a:gd name="T15" fmla="*/ 145 h 164"/>
                <a:gd name="T16" fmla="*/ 0 w 110"/>
                <a:gd name="T17" fmla="*/ 160 h 164"/>
                <a:gd name="T18" fmla="*/ 3 w 110"/>
                <a:gd name="T19" fmla="*/ 164 h 164"/>
                <a:gd name="T20" fmla="*/ 3 w 110"/>
                <a:gd name="T21" fmla="*/ 164 h 164"/>
                <a:gd name="T22" fmla="*/ 4 w 110"/>
                <a:gd name="T23" fmla="*/ 164 h 164"/>
                <a:gd name="T24" fmla="*/ 14 w 110"/>
                <a:gd name="T25" fmla="*/ 164 h 164"/>
                <a:gd name="T26" fmla="*/ 15 w 110"/>
                <a:gd name="T27" fmla="*/ 164 h 164"/>
                <a:gd name="T28" fmla="*/ 15 w 110"/>
                <a:gd name="T29" fmla="*/ 164 h 164"/>
                <a:gd name="T30" fmla="*/ 19 w 110"/>
                <a:gd name="T31" fmla="*/ 160 h 164"/>
                <a:gd name="T32" fmla="*/ 20 w 110"/>
                <a:gd name="T33" fmla="*/ 145 h 164"/>
                <a:gd name="T34" fmla="*/ 18 w 110"/>
                <a:gd name="T35" fmla="*/ 140 h 164"/>
                <a:gd name="T36" fmla="*/ 23 w 110"/>
                <a:gd name="T37" fmla="*/ 84 h 164"/>
                <a:gd name="T38" fmla="*/ 83 w 110"/>
                <a:gd name="T39" fmla="*/ 84 h 164"/>
                <a:gd name="T40" fmla="*/ 89 w 110"/>
                <a:gd name="T41" fmla="*/ 142 h 164"/>
                <a:gd name="T42" fmla="*/ 89 w 110"/>
                <a:gd name="T43" fmla="*/ 142 h 164"/>
                <a:gd name="T44" fmla="*/ 85 w 110"/>
                <a:gd name="T45" fmla="*/ 151 h 164"/>
                <a:gd name="T46" fmla="*/ 97 w 110"/>
                <a:gd name="T47" fmla="*/ 164 h 164"/>
                <a:gd name="T48" fmla="*/ 110 w 110"/>
                <a:gd name="T49" fmla="*/ 151 h 164"/>
                <a:gd name="T50" fmla="*/ 101 w 110"/>
                <a:gd name="T51" fmla="*/ 140 h 164"/>
                <a:gd name="T52" fmla="*/ 25 w 110"/>
                <a:gd name="T53" fmla="*/ 71 h 164"/>
                <a:gd name="T54" fmla="*/ 28 w 110"/>
                <a:gd name="T55" fmla="*/ 38 h 164"/>
                <a:gd name="T56" fmla="*/ 28 w 110"/>
                <a:gd name="T57" fmla="*/ 38 h 164"/>
                <a:gd name="T58" fmla="*/ 53 w 110"/>
                <a:gd name="T59" fmla="*/ 13 h 164"/>
                <a:gd name="T60" fmla="*/ 78 w 110"/>
                <a:gd name="T61" fmla="*/ 38 h 164"/>
                <a:gd name="T62" fmla="*/ 82 w 110"/>
                <a:gd name="T63" fmla="*/ 71 h 164"/>
                <a:gd name="T64" fmla="*/ 25 w 110"/>
                <a:gd name="T65" fmla="*/ 71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0" h="164">
                  <a:moveTo>
                    <a:pt x="101" y="140"/>
                  </a:moveTo>
                  <a:cubicBezTo>
                    <a:pt x="91" y="38"/>
                    <a:pt x="91" y="38"/>
                    <a:pt x="91" y="38"/>
                  </a:cubicBezTo>
                  <a:cubicBezTo>
                    <a:pt x="91" y="38"/>
                    <a:pt x="91" y="38"/>
                    <a:pt x="91" y="38"/>
                  </a:cubicBezTo>
                  <a:cubicBezTo>
                    <a:pt x="91" y="17"/>
                    <a:pt x="84" y="0"/>
                    <a:pt x="53" y="0"/>
                  </a:cubicBezTo>
                  <a:cubicBezTo>
                    <a:pt x="22" y="0"/>
                    <a:pt x="15" y="17"/>
                    <a:pt x="15" y="38"/>
                  </a:cubicBezTo>
                  <a:cubicBezTo>
                    <a:pt x="15" y="38"/>
                    <a:pt x="15" y="38"/>
                    <a:pt x="15" y="38"/>
                  </a:cubicBezTo>
                  <a:cubicBezTo>
                    <a:pt x="5" y="140"/>
                    <a:pt x="5" y="140"/>
                    <a:pt x="5" y="140"/>
                  </a:cubicBezTo>
                  <a:cubicBezTo>
                    <a:pt x="3" y="141"/>
                    <a:pt x="2" y="143"/>
                    <a:pt x="1" y="145"/>
                  </a:cubicBezTo>
                  <a:cubicBezTo>
                    <a:pt x="0" y="160"/>
                    <a:pt x="0" y="160"/>
                    <a:pt x="0" y="160"/>
                  </a:cubicBezTo>
                  <a:cubicBezTo>
                    <a:pt x="0" y="162"/>
                    <a:pt x="1" y="163"/>
                    <a:pt x="3" y="164"/>
                  </a:cubicBezTo>
                  <a:cubicBezTo>
                    <a:pt x="3" y="164"/>
                    <a:pt x="3" y="164"/>
                    <a:pt x="3" y="164"/>
                  </a:cubicBezTo>
                  <a:cubicBezTo>
                    <a:pt x="4" y="164"/>
                    <a:pt x="4" y="164"/>
                    <a:pt x="4" y="164"/>
                  </a:cubicBezTo>
                  <a:cubicBezTo>
                    <a:pt x="14" y="164"/>
                    <a:pt x="14" y="164"/>
                    <a:pt x="14" y="164"/>
                  </a:cubicBezTo>
                  <a:cubicBezTo>
                    <a:pt x="15" y="164"/>
                    <a:pt x="15" y="164"/>
                    <a:pt x="15" y="164"/>
                  </a:cubicBezTo>
                  <a:cubicBezTo>
                    <a:pt x="15" y="164"/>
                    <a:pt x="15" y="164"/>
                    <a:pt x="15" y="164"/>
                  </a:cubicBezTo>
                  <a:cubicBezTo>
                    <a:pt x="17" y="163"/>
                    <a:pt x="19" y="162"/>
                    <a:pt x="19" y="160"/>
                  </a:cubicBezTo>
                  <a:cubicBezTo>
                    <a:pt x="20" y="145"/>
                    <a:pt x="20" y="145"/>
                    <a:pt x="20" y="145"/>
                  </a:cubicBezTo>
                  <a:cubicBezTo>
                    <a:pt x="21" y="143"/>
                    <a:pt x="19" y="141"/>
                    <a:pt x="18" y="140"/>
                  </a:cubicBezTo>
                  <a:cubicBezTo>
                    <a:pt x="23" y="84"/>
                    <a:pt x="23" y="84"/>
                    <a:pt x="23" y="84"/>
                  </a:cubicBezTo>
                  <a:cubicBezTo>
                    <a:pt x="83" y="84"/>
                    <a:pt x="83" y="84"/>
                    <a:pt x="83" y="84"/>
                  </a:cubicBezTo>
                  <a:cubicBezTo>
                    <a:pt x="89" y="142"/>
                    <a:pt x="89" y="142"/>
                    <a:pt x="89" y="142"/>
                  </a:cubicBezTo>
                  <a:cubicBezTo>
                    <a:pt x="89" y="142"/>
                    <a:pt x="89" y="142"/>
                    <a:pt x="89" y="142"/>
                  </a:cubicBezTo>
                  <a:cubicBezTo>
                    <a:pt x="86" y="145"/>
                    <a:pt x="85" y="148"/>
                    <a:pt x="85" y="151"/>
                  </a:cubicBezTo>
                  <a:cubicBezTo>
                    <a:pt x="85" y="158"/>
                    <a:pt x="90" y="164"/>
                    <a:pt x="97" y="164"/>
                  </a:cubicBezTo>
                  <a:cubicBezTo>
                    <a:pt x="104" y="164"/>
                    <a:pt x="110" y="158"/>
                    <a:pt x="110" y="151"/>
                  </a:cubicBezTo>
                  <a:cubicBezTo>
                    <a:pt x="110" y="146"/>
                    <a:pt x="106" y="141"/>
                    <a:pt x="101" y="140"/>
                  </a:cubicBezTo>
                  <a:close/>
                  <a:moveTo>
                    <a:pt x="25" y="71"/>
                  </a:moveTo>
                  <a:cubicBezTo>
                    <a:pt x="28" y="38"/>
                    <a:pt x="28" y="38"/>
                    <a:pt x="28" y="38"/>
                  </a:cubicBezTo>
                  <a:cubicBezTo>
                    <a:pt x="28" y="38"/>
                    <a:pt x="28" y="38"/>
                    <a:pt x="28" y="38"/>
                  </a:cubicBezTo>
                  <a:cubicBezTo>
                    <a:pt x="28" y="24"/>
                    <a:pt x="32" y="13"/>
                    <a:pt x="53" y="13"/>
                  </a:cubicBezTo>
                  <a:cubicBezTo>
                    <a:pt x="74" y="13"/>
                    <a:pt x="78" y="24"/>
                    <a:pt x="78" y="38"/>
                  </a:cubicBezTo>
                  <a:cubicBezTo>
                    <a:pt x="82" y="71"/>
                    <a:pt x="82" y="71"/>
                    <a:pt x="82" y="71"/>
                  </a:cubicBezTo>
                  <a:lnTo>
                    <a:pt x="25" y="71"/>
                  </a:ln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6" name="Freeform 7">
              <a:extLst>
                <a:ext uri="{FF2B5EF4-FFF2-40B4-BE49-F238E27FC236}">
                  <a16:creationId xmlns:a16="http://schemas.microsoft.com/office/drawing/2014/main" id="{1BBB1CC5-9247-6405-D110-260F27575791}"/>
                </a:ext>
              </a:extLst>
            </p:cNvPr>
            <p:cNvSpPr>
              <a:spLocks/>
            </p:cNvSpPr>
            <p:nvPr/>
          </p:nvSpPr>
          <p:spPr bwMode="auto">
            <a:xfrm>
              <a:off x="7729451" y="2045698"/>
              <a:ext cx="238412" cy="342714"/>
            </a:xfrm>
            <a:custGeom>
              <a:avLst/>
              <a:gdLst>
                <a:gd name="T0" fmla="*/ 179 w 183"/>
                <a:gd name="T1" fmla="*/ 87 h 263"/>
                <a:gd name="T2" fmla="*/ 144 w 183"/>
                <a:gd name="T3" fmla="*/ 76 h 263"/>
                <a:gd name="T4" fmla="*/ 138 w 183"/>
                <a:gd name="T5" fmla="*/ 69 h 263"/>
                <a:gd name="T6" fmla="*/ 134 w 183"/>
                <a:gd name="T7" fmla="*/ 53 h 263"/>
                <a:gd name="T8" fmla="*/ 94 w 183"/>
                <a:gd name="T9" fmla="*/ 0 h 263"/>
                <a:gd name="T10" fmla="*/ 45 w 183"/>
                <a:gd name="T11" fmla="*/ 45 h 263"/>
                <a:gd name="T12" fmla="*/ 13 w 183"/>
                <a:gd name="T13" fmla="*/ 137 h 263"/>
                <a:gd name="T14" fmla="*/ 20 w 183"/>
                <a:gd name="T15" fmla="*/ 137 h 263"/>
                <a:gd name="T16" fmla="*/ 26 w 183"/>
                <a:gd name="T17" fmla="*/ 175 h 263"/>
                <a:gd name="T18" fmla="*/ 20 w 183"/>
                <a:gd name="T19" fmla="*/ 251 h 263"/>
                <a:gd name="T20" fmla="*/ 32 w 183"/>
                <a:gd name="T21" fmla="*/ 263 h 263"/>
                <a:gd name="T22" fmla="*/ 37 w 183"/>
                <a:gd name="T23" fmla="*/ 263 h 263"/>
                <a:gd name="T24" fmla="*/ 50 w 183"/>
                <a:gd name="T25" fmla="*/ 251 h 263"/>
                <a:gd name="T26" fmla="*/ 56 w 183"/>
                <a:gd name="T27" fmla="*/ 175 h 263"/>
                <a:gd name="T28" fmla="*/ 50 w 183"/>
                <a:gd name="T29" fmla="*/ 137 h 263"/>
                <a:gd name="T30" fmla="*/ 61 w 183"/>
                <a:gd name="T31" fmla="*/ 137 h 263"/>
                <a:gd name="T32" fmla="*/ 67 w 183"/>
                <a:gd name="T33" fmla="*/ 175 h 263"/>
                <a:gd name="T34" fmla="*/ 61 w 183"/>
                <a:gd name="T35" fmla="*/ 251 h 263"/>
                <a:gd name="T36" fmla="*/ 73 w 183"/>
                <a:gd name="T37" fmla="*/ 263 h 263"/>
                <a:gd name="T38" fmla="*/ 78 w 183"/>
                <a:gd name="T39" fmla="*/ 263 h 263"/>
                <a:gd name="T40" fmla="*/ 91 w 183"/>
                <a:gd name="T41" fmla="*/ 251 h 263"/>
                <a:gd name="T42" fmla="*/ 97 w 183"/>
                <a:gd name="T43" fmla="*/ 175 h 263"/>
                <a:gd name="T44" fmla="*/ 91 w 183"/>
                <a:gd name="T45" fmla="*/ 137 h 263"/>
                <a:gd name="T46" fmla="*/ 98 w 183"/>
                <a:gd name="T47" fmla="*/ 137 h 263"/>
                <a:gd name="T48" fmla="*/ 96 w 183"/>
                <a:gd name="T49" fmla="*/ 94 h 263"/>
                <a:gd name="T50" fmla="*/ 116 w 183"/>
                <a:gd name="T51" fmla="*/ 69 h 263"/>
                <a:gd name="T52" fmla="*/ 118 w 183"/>
                <a:gd name="T53" fmla="*/ 84 h 263"/>
                <a:gd name="T54" fmla="*/ 124 w 183"/>
                <a:gd name="T55" fmla="*/ 91 h 263"/>
                <a:gd name="T56" fmla="*/ 170 w 183"/>
                <a:gd name="T57" fmla="*/ 106 h 263"/>
                <a:gd name="T58" fmla="*/ 180 w 183"/>
                <a:gd name="T59" fmla="*/ 101 h 263"/>
                <a:gd name="T60" fmla="*/ 181 w 183"/>
                <a:gd name="T61" fmla="*/ 98 h 263"/>
                <a:gd name="T62" fmla="*/ 179 w 183"/>
                <a:gd name="T63" fmla="*/ 87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83" h="263">
                  <a:moveTo>
                    <a:pt x="179" y="87"/>
                  </a:moveTo>
                  <a:cubicBezTo>
                    <a:pt x="144" y="76"/>
                    <a:pt x="144" y="76"/>
                    <a:pt x="144" y="76"/>
                  </a:cubicBezTo>
                  <a:cubicBezTo>
                    <a:pt x="141" y="75"/>
                    <a:pt x="138" y="72"/>
                    <a:pt x="138" y="69"/>
                  </a:cubicBezTo>
                  <a:cubicBezTo>
                    <a:pt x="138" y="69"/>
                    <a:pt x="136" y="59"/>
                    <a:pt x="134" y="53"/>
                  </a:cubicBezTo>
                  <a:cubicBezTo>
                    <a:pt x="130" y="27"/>
                    <a:pt x="115" y="1"/>
                    <a:pt x="94" y="0"/>
                  </a:cubicBezTo>
                  <a:cubicBezTo>
                    <a:pt x="81" y="0"/>
                    <a:pt x="68" y="22"/>
                    <a:pt x="45" y="45"/>
                  </a:cubicBezTo>
                  <a:cubicBezTo>
                    <a:pt x="0" y="90"/>
                    <a:pt x="13" y="137"/>
                    <a:pt x="13" y="137"/>
                  </a:cubicBezTo>
                  <a:cubicBezTo>
                    <a:pt x="20" y="137"/>
                    <a:pt x="20" y="137"/>
                    <a:pt x="20" y="137"/>
                  </a:cubicBezTo>
                  <a:cubicBezTo>
                    <a:pt x="26" y="175"/>
                    <a:pt x="26" y="175"/>
                    <a:pt x="26" y="175"/>
                  </a:cubicBezTo>
                  <a:cubicBezTo>
                    <a:pt x="20" y="251"/>
                    <a:pt x="20" y="251"/>
                    <a:pt x="20" y="251"/>
                  </a:cubicBezTo>
                  <a:cubicBezTo>
                    <a:pt x="20" y="258"/>
                    <a:pt x="25" y="263"/>
                    <a:pt x="32" y="263"/>
                  </a:cubicBezTo>
                  <a:cubicBezTo>
                    <a:pt x="37" y="263"/>
                    <a:pt x="37" y="263"/>
                    <a:pt x="37" y="263"/>
                  </a:cubicBezTo>
                  <a:cubicBezTo>
                    <a:pt x="44" y="263"/>
                    <a:pt x="50" y="258"/>
                    <a:pt x="50" y="251"/>
                  </a:cubicBezTo>
                  <a:cubicBezTo>
                    <a:pt x="56" y="175"/>
                    <a:pt x="56" y="175"/>
                    <a:pt x="56" y="175"/>
                  </a:cubicBezTo>
                  <a:cubicBezTo>
                    <a:pt x="50" y="137"/>
                    <a:pt x="50" y="137"/>
                    <a:pt x="50" y="137"/>
                  </a:cubicBezTo>
                  <a:cubicBezTo>
                    <a:pt x="61" y="137"/>
                    <a:pt x="61" y="137"/>
                    <a:pt x="61" y="137"/>
                  </a:cubicBezTo>
                  <a:cubicBezTo>
                    <a:pt x="67" y="175"/>
                    <a:pt x="67" y="175"/>
                    <a:pt x="67" y="175"/>
                  </a:cubicBezTo>
                  <a:cubicBezTo>
                    <a:pt x="61" y="251"/>
                    <a:pt x="61" y="251"/>
                    <a:pt x="61" y="251"/>
                  </a:cubicBezTo>
                  <a:cubicBezTo>
                    <a:pt x="61" y="258"/>
                    <a:pt x="66" y="263"/>
                    <a:pt x="73" y="263"/>
                  </a:cubicBezTo>
                  <a:cubicBezTo>
                    <a:pt x="78" y="263"/>
                    <a:pt x="78" y="263"/>
                    <a:pt x="78" y="263"/>
                  </a:cubicBezTo>
                  <a:cubicBezTo>
                    <a:pt x="85" y="263"/>
                    <a:pt x="91" y="258"/>
                    <a:pt x="91" y="251"/>
                  </a:cubicBezTo>
                  <a:cubicBezTo>
                    <a:pt x="97" y="175"/>
                    <a:pt x="97" y="175"/>
                    <a:pt x="97" y="175"/>
                  </a:cubicBezTo>
                  <a:cubicBezTo>
                    <a:pt x="91" y="137"/>
                    <a:pt x="91" y="137"/>
                    <a:pt x="91" y="137"/>
                  </a:cubicBezTo>
                  <a:cubicBezTo>
                    <a:pt x="98" y="137"/>
                    <a:pt x="98" y="137"/>
                    <a:pt x="98" y="137"/>
                  </a:cubicBezTo>
                  <a:cubicBezTo>
                    <a:pt x="96" y="94"/>
                    <a:pt x="96" y="94"/>
                    <a:pt x="96" y="94"/>
                  </a:cubicBezTo>
                  <a:cubicBezTo>
                    <a:pt x="107" y="89"/>
                    <a:pt x="105" y="76"/>
                    <a:pt x="116" y="69"/>
                  </a:cubicBezTo>
                  <a:cubicBezTo>
                    <a:pt x="118" y="84"/>
                    <a:pt x="118" y="84"/>
                    <a:pt x="118" y="84"/>
                  </a:cubicBezTo>
                  <a:cubicBezTo>
                    <a:pt x="119" y="87"/>
                    <a:pt x="122" y="90"/>
                    <a:pt x="124" y="91"/>
                  </a:cubicBezTo>
                  <a:cubicBezTo>
                    <a:pt x="170" y="106"/>
                    <a:pt x="170" y="106"/>
                    <a:pt x="170" y="106"/>
                  </a:cubicBezTo>
                  <a:cubicBezTo>
                    <a:pt x="173" y="108"/>
                    <a:pt x="178" y="105"/>
                    <a:pt x="180" y="101"/>
                  </a:cubicBezTo>
                  <a:cubicBezTo>
                    <a:pt x="181" y="98"/>
                    <a:pt x="181" y="98"/>
                    <a:pt x="181" y="98"/>
                  </a:cubicBezTo>
                  <a:cubicBezTo>
                    <a:pt x="183" y="93"/>
                    <a:pt x="183" y="88"/>
                    <a:pt x="179" y="8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8" name="Freeform 8">
              <a:extLst>
                <a:ext uri="{FF2B5EF4-FFF2-40B4-BE49-F238E27FC236}">
                  <a16:creationId xmlns:a16="http://schemas.microsoft.com/office/drawing/2014/main" id="{CC706268-6BC3-BAD6-60FF-1DED8585E86D}"/>
                </a:ext>
              </a:extLst>
            </p:cNvPr>
            <p:cNvSpPr>
              <a:spLocks/>
            </p:cNvSpPr>
            <p:nvPr/>
          </p:nvSpPr>
          <p:spPr bwMode="auto">
            <a:xfrm>
              <a:off x="7869075" y="1985543"/>
              <a:ext cx="88301" cy="81126"/>
            </a:xfrm>
            <a:custGeom>
              <a:avLst/>
              <a:gdLst>
                <a:gd name="T0" fmla="*/ 39 w 68"/>
                <a:gd name="T1" fmla="*/ 59 h 62"/>
                <a:gd name="T2" fmla="*/ 65 w 68"/>
                <a:gd name="T3" fmla="*/ 26 h 62"/>
                <a:gd name="T4" fmla="*/ 29 w 68"/>
                <a:gd name="T5" fmla="*/ 3 h 62"/>
                <a:gd name="T6" fmla="*/ 3 w 68"/>
                <a:gd name="T7" fmla="*/ 37 h 62"/>
                <a:gd name="T8" fmla="*/ 39 w 68"/>
                <a:gd name="T9" fmla="*/ 59 h 62"/>
              </a:gdLst>
              <a:ahLst/>
              <a:cxnLst>
                <a:cxn ang="0">
                  <a:pos x="T0" y="T1"/>
                </a:cxn>
                <a:cxn ang="0">
                  <a:pos x="T2" y="T3"/>
                </a:cxn>
                <a:cxn ang="0">
                  <a:pos x="T4" y="T5"/>
                </a:cxn>
                <a:cxn ang="0">
                  <a:pos x="T6" y="T7"/>
                </a:cxn>
                <a:cxn ang="0">
                  <a:pos x="T8" y="T9"/>
                </a:cxn>
              </a:cxnLst>
              <a:rect l="0" t="0" r="r" b="b"/>
              <a:pathLst>
                <a:path w="68" h="62">
                  <a:moveTo>
                    <a:pt x="39" y="59"/>
                  </a:moveTo>
                  <a:cubicBezTo>
                    <a:pt x="56" y="56"/>
                    <a:pt x="68" y="41"/>
                    <a:pt x="65" y="26"/>
                  </a:cubicBezTo>
                  <a:cubicBezTo>
                    <a:pt x="62" y="11"/>
                    <a:pt x="46" y="0"/>
                    <a:pt x="29" y="3"/>
                  </a:cubicBezTo>
                  <a:cubicBezTo>
                    <a:pt x="12" y="6"/>
                    <a:pt x="0" y="21"/>
                    <a:pt x="3" y="37"/>
                  </a:cubicBezTo>
                  <a:cubicBezTo>
                    <a:pt x="6" y="52"/>
                    <a:pt x="22" y="62"/>
                    <a:pt x="39" y="59"/>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pic>
        <p:nvPicPr>
          <p:cNvPr id="19" name="Graphic 18" descr="Fast Forward with solid fill">
            <a:extLst>
              <a:ext uri="{FF2B5EF4-FFF2-40B4-BE49-F238E27FC236}">
                <a16:creationId xmlns:a16="http://schemas.microsoft.com/office/drawing/2014/main" id="{BF8DB703-C7F2-8E11-3C51-0D4A13F2AF8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37188" y="2239579"/>
            <a:ext cx="628650" cy="628650"/>
          </a:xfrm>
          <a:prstGeom prst="rect">
            <a:avLst/>
          </a:prstGeom>
          <a:effectLst/>
        </p:spPr>
      </p:pic>
      <p:grpSp>
        <p:nvGrpSpPr>
          <p:cNvPr id="20" name="Group 19">
            <a:extLst>
              <a:ext uri="{FF2B5EF4-FFF2-40B4-BE49-F238E27FC236}">
                <a16:creationId xmlns:a16="http://schemas.microsoft.com/office/drawing/2014/main" id="{CD8E0305-E682-B17A-DB59-C49765A75FB2}"/>
              </a:ext>
            </a:extLst>
          </p:cNvPr>
          <p:cNvGrpSpPr>
            <a:grpSpLocks noChangeAspect="1"/>
          </p:cNvGrpSpPr>
          <p:nvPr/>
        </p:nvGrpSpPr>
        <p:grpSpPr>
          <a:xfrm>
            <a:off x="4838875" y="3234341"/>
            <a:ext cx="436701" cy="418624"/>
            <a:chOff x="10148897" y="5683223"/>
            <a:chExt cx="596593" cy="571900"/>
          </a:xfrm>
          <a:solidFill>
            <a:srgbClr val="00677F"/>
          </a:solidFill>
          <a:effectLst/>
        </p:grpSpPr>
        <p:sp>
          <p:nvSpPr>
            <p:cNvPr id="22" name="Freeform: Shape 21">
              <a:extLst>
                <a:ext uri="{FF2B5EF4-FFF2-40B4-BE49-F238E27FC236}">
                  <a16:creationId xmlns:a16="http://schemas.microsoft.com/office/drawing/2014/main" id="{85CD14AF-2DA0-CDF6-4903-5513F2DEA9F1}"/>
                </a:ext>
              </a:extLst>
            </p:cNvPr>
            <p:cNvSpPr/>
            <p:nvPr/>
          </p:nvSpPr>
          <p:spPr>
            <a:xfrm>
              <a:off x="10507179" y="5963637"/>
              <a:ext cx="180975" cy="228600"/>
            </a:xfrm>
            <a:custGeom>
              <a:avLst/>
              <a:gdLst>
                <a:gd name="connsiteX0" fmla="*/ 177622 w 180975"/>
                <a:gd name="connsiteY0" fmla="*/ 122503 h 228600"/>
                <a:gd name="connsiteX1" fmla="*/ 177432 w 180975"/>
                <a:gd name="connsiteY1" fmla="*/ 92756 h 228600"/>
                <a:gd name="connsiteX2" fmla="*/ 177517 w 180975"/>
                <a:gd name="connsiteY2" fmla="*/ 79669 h 228600"/>
                <a:gd name="connsiteX3" fmla="*/ 177527 w 180975"/>
                <a:gd name="connsiteY3" fmla="*/ 68363 h 228600"/>
                <a:gd name="connsiteX4" fmla="*/ 177527 w 180975"/>
                <a:gd name="connsiteY4" fmla="*/ 65172 h 228600"/>
                <a:gd name="connsiteX5" fmla="*/ 177594 w 180975"/>
                <a:gd name="connsiteY5" fmla="*/ 28100 h 228600"/>
                <a:gd name="connsiteX6" fmla="*/ 131493 w 180975"/>
                <a:gd name="connsiteY6" fmla="*/ 16670 h 228600"/>
                <a:gd name="connsiteX7" fmla="*/ 93916 w 180975"/>
                <a:gd name="connsiteY7" fmla="*/ 7317 h 228600"/>
                <a:gd name="connsiteX8" fmla="*/ 91030 w 180975"/>
                <a:gd name="connsiteY8" fmla="*/ 7279 h 228600"/>
                <a:gd name="connsiteX9" fmla="*/ 54121 w 180975"/>
                <a:gd name="connsiteY9" fmla="*/ 16461 h 228600"/>
                <a:gd name="connsiteX10" fmla="*/ 7210 w 180975"/>
                <a:gd name="connsiteY10" fmla="*/ 28072 h 228600"/>
                <a:gd name="connsiteX11" fmla="*/ 7258 w 180975"/>
                <a:gd name="connsiteY11" fmla="*/ 38464 h 228600"/>
                <a:gd name="connsiteX12" fmla="*/ 7153 w 180975"/>
                <a:gd name="connsiteY12" fmla="*/ 123760 h 228600"/>
                <a:gd name="connsiteX13" fmla="*/ 26051 w 180975"/>
                <a:gd name="connsiteY13" fmla="*/ 176767 h 228600"/>
                <a:gd name="connsiteX14" fmla="*/ 92373 w 180975"/>
                <a:gd name="connsiteY14" fmla="*/ 224163 h 228600"/>
                <a:gd name="connsiteX15" fmla="*/ 152848 w 180975"/>
                <a:gd name="connsiteY15" fmla="*/ 183491 h 228600"/>
                <a:gd name="connsiteX16" fmla="*/ 177622 w 180975"/>
                <a:gd name="connsiteY16" fmla="*/ 122503 h 228600"/>
                <a:gd name="connsiteX17" fmla="*/ 148037 w 180975"/>
                <a:gd name="connsiteY17" fmla="*/ 82021 h 228600"/>
                <a:gd name="connsiteX18" fmla="*/ 125377 w 180975"/>
                <a:gd name="connsiteY18" fmla="*/ 111082 h 228600"/>
                <a:gd name="connsiteX19" fmla="*/ 88640 w 180975"/>
                <a:gd name="connsiteY19" fmla="*/ 158507 h 228600"/>
                <a:gd name="connsiteX20" fmla="*/ 69590 w 180975"/>
                <a:gd name="connsiteY20" fmla="*/ 158298 h 228600"/>
                <a:gd name="connsiteX21" fmla="*/ 36995 w 180975"/>
                <a:gd name="connsiteY21" fmla="*/ 113673 h 228600"/>
                <a:gd name="connsiteX22" fmla="*/ 37043 w 180975"/>
                <a:gd name="connsiteY22" fmla="*/ 100043 h 228600"/>
                <a:gd name="connsiteX23" fmla="*/ 50635 w 180975"/>
                <a:gd name="connsiteY23" fmla="*/ 101014 h 228600"/>
                <a:gd name="connsiteX24" fmla="*/ 74495 w 180975"/>
                <a:gd name="connsiteY24" fmla="*/ 121817 h 228600"/>
                <a:gd name="connsiteX25" fmla="*/ 79772 w 180975"/>
                <a:gd name="connsiteY25" fmla="*/ 126008 h 228600"/>
                <a:gd name="connsiteX26" fmla="*/ 82686 w 180975"/>
                <a:gd name="connsiteY26" fmla="*/ 121407 h 228600"/>
                <a:gd name="connsiteX27" fmla="*/ 133159 w 180975"/>
                <a:gd name="connsiteY27" fmla="*/ 70963 h 228600"/>
                <a:gd name="connsiteX28" fmla="*/ 139760 w 180975"/>
                <a:gd name="connsiteY28" fmla="*/ 66791 h 228600"/>
                <a:gd name="connsiteX29" fmla="*/ 149352 w 180975"/>
                <a:gd name="connsiteY29" fmla="*/ 71049 h 228600"/>
                <a:gd name="connsiteX30" fmla="*/ 148037 w 180975"/>
                <a:gd name="connsiteY30" fmla="*/ 82021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80975" h="228600">
                  <a:moveTo>
                    <a:pt x="177622" y="122503"/>
                  </a:moveTo>
                  <a:cubicBezTo>
                    <a:pt x="177241" y="112502"/>
                    <a:pt x="177336" y="102472"/>
                    <a:pt x="177432" y="92756"/>
                  </a:cubicBezTo>
                  <a:cubicBezTo>
                    <a:pt x="177479" y="88394"/>
                    <a:pt x="177517" y="84022"/>
                    <a:pt x="177517" y="79669"/>
                  </a:cubicBezTo>
                  <a:lnTo>
                    <a:pt x="177527" y="68363"/>
                  </a:lnTo>
                  <a:lnTo>
                    <a:pt x="177527" y="65172"/>
                  </a:lnTo>
                  <a:cubicBezTo>
                    <a:pt x="177508" y="53037"/>
                    <a:pt x="177479" y="40502"/>
                    <a:pt x="177594" y="28100"/>
                  </a:cubicBezTo>
                  <a:cubicBezTo>
                    <a:pt x="162154" y="24348"/>
                    <a:pt x="146580" y="20442"/>
                    <a:pt x="131493" y="16670"/>
                  </a:cubicBezTo>
                  <a:cubicBezTo>
                    <a:pt x="119177" y="13584"/>
                    <a:pt x="106442" y="10403"/>
                    <a:pt x="93916" y="7317"/>
                  </a:cubicBezTo>
                  <a:cubicBezTo>
                    <a:pt x="93021" y="7098"/>
                    <a:pt x="91840" y="7088"/>
                    <a:pt x="91030" y="7279"/>
                  </a:cubicBezTo>
                  <a:cubicBezTo>
                    <a:pt x="78734" y="10298"/>
                    <a:pt x="66227" y="13432"/>
                    <a:pt x="54121" y="16461"/>
                  </a:cubicBezTo>
                  <a:cubicBezTo>
                    <a:pt x="38757" y="20309"/>
                    <a:pt x="22908" y="24262"/>
                    <a:pt x="7210" y="28072"/>
                  </a:cubicBezTo>
                  <a:lnTo>
                    <a:pt x="7258" y="38464"/>
                  </a:lnTo>
                  <a:cubicBezTo>
                    <a:pt x="7401" y="66400"/>
                    <a:pt x="7563" y="95299"/>
                    <a:pt x="7153" y="123760"/>
                  </a:cubicBezTo>
                  <a:cubicBezTo>
                    <a:pt x="6867" y="143667"/>
                    <a:pt x="13059" y="160993"/>
                    <a:pt x="26051" y="176767"/>
                  </a:cubicBezTo>
                  <a:cubicBezTo>
                    <a:pt x="41939" y="196036"/>
                    <a:pt x="63046" y="211123"/>
                    <a:pt x="92373" y="224163"/>
                  </a:cubicBezTo>
                  <a:cubicBezTo>
                    <a:pt x="117338" y="213276"/>
                    <a:pt x="137131" y="199960"/>
                    <a:pt x="152848" y="183491"/>
                  </a:cubicBezTo>
                  <a:cubicBezTo>
                    <a:pt x="170393" y="165137"/>
                    <a:pt x="178489" y="145182"/>
                    <a:pt x="177622" y="122503"/>
                  </a:cubicBezTo>
                  <a:close/>
                  <a:moveTo>
                    <a:pt x="148037" y="82021"/>
                  </a:moveTo>
                  <a:cubicBezTo>
                    <a:pt x="140484" y="91708"/>
                    <a:pt x="132912" y="101376"/>
                    <a:pt x="125377" y="111082"/>
                  </a:cubicBezTo>
                  <a:cubicBezTo>
                    <a:pt x="113119" y="126884"/>
                    <a:pt x="100917" y="142724"/>
                    <a:pt x="88640" y="158507"/>
                  </a:cubicBezTo>
                  <a:cubicBezTo>
                    <a:pt x="81724" y="167385"/>
                    <a:pt x="76171" y="167289"/>
                    <a:pt x="69590" y="158298"/>
                  </a:cubicBezTo>
                  <a:cubicBezTo>
                    <a:pt x="58722" y="143429"/>
                    <a:pt x="47854" y="128551"/>
                    <a:pt x="36995" y="113673"/>
                  </a:cubicBezTo>
                  <a:cubicBezTo>
                    <a:pt x="33328" y="108644"/>
                    <a:pt x="33366" y="103443"/>
                    <a:pt x="37043" y="100043"/>
                  </a:cubicBezTo>
                  <a:cubicBezTo>
                    <a:pt x="40710" y="96642"/>
                    <a:pt x="45968" y="96976"/>
                    <a:pt x="50635" y="101014"/>
                  </a:cubicBezTo>
                  <a:cubicBezTo>
                    <a:pt x="58607" y="107920"/>
                    <a:pt x="66532" y="114892"/>
                    <a:pt x="74495" y="121817"/>
                  </a:cubicBezTo>
                  <a:cubicBezTo>
                    <a:pt x="75771" y="122931"/>
                    <a:pt x="77152" y="123932"/>
                    <a:pt x="79772" y="126008"/>
                  </a:cubicBezTo>
                  <a:cubicBezTo>
                    <a:pt x="80800" y="124351"/>
                    <a:pt x="81477" y="122617"/>
                    <a:pt x="82686" y="121407"/>
                  </a:cubicBezTo>
                  <a:cubicBezTo>
                    <a:pt x="99450" y="104529"/>
                    <a:pt x="116253" y="87689"/>
                    <a:pt x="133159" y="70963"/>
                  </a:cubicBezTo>
                  <a:cubicBezTo>
                    <a:pt x="134979" y="69163"/>
                    <a:pt x="137350" y="67439"/>
                    <a:pt x="139760" y="66791"/>
                  </a:cubicBezTo>
                  <a:cubicBezTo>
                    <a:pt x="143751" y="65724"/>
                    <a:pt x="147275" y="67286"/>
                    <a:pt x="149352" y="71049"/>
                  </a:cubicBezTo>
                  <a:cubicBezTo>
                    <a:pt x="151476" y="74935"/>
                    <a:pt x="150685" y="78631"/>
                    <a:pt x="148037" y="82021"/>
                  </a:cubicBezTo>
                  <a:close/>
                </a:path>
              </a:pathLst>
            </a:custGeom>
            <a:grpFill/>
            <a:ln w="9525" cap="flat">
              <a:noFill/>
              <a:prstDash val="solid"/>
              <a:miter/>
            </a:ln>
          </p:spPr>
          <p:txBody>
            <a:bodyPr rtlCol="0" anchor="ctr"/>
            <a:lstStyle/>
            <a:p>
              <a:pPr defTabSz="665648">
                <a:defRPr/>
              </a:pPr>
              <a:endParaRPr lang="en-IN" sz="1310" dirty="0">
                <a:solidFill>
                  <a:prstClr val="black"/>
                </a:solidFill>
                <a:latin typeface="Calibri" panose="020F0502020204030204"/>
              </a:endParaRPr>
            </a:p>
          </p:txBody>
        </p:sp>
        <p:sp>
          <p:nvSpPr>
            <p:cNvPr id="23" name="Freeform: Shape 22">
              <a:extLst>
                <a:ext uri="{FF2B5EF4-FFF2-40B4-BE49-F238E27FC236}">
                  <a16:creationId xmlns:a16="http://schemas.microsoft.com/office/drawing/2014/main" id="{4F0F8C77-F4C5-C986-27EA-AD6C2B1B3C21}"/>
                </a:ext>
              </a:extLst>
            </p:cNvPr>
            <p:cNvSpPr/>
            <p:nvPr/>
          </p:nvSpPr>
          <p:spPr>
            <a:xfrm>
              <a:off x="10450215" y="5902698"/>
              <a:ext cx="295275" cy="352425"/>
            </a:xfrm>
            <a:custGeom>
              <a:avLst/>
              <a:gdLst>
                <a:gd name="connsiteX0" fmla="*/ 291508 w 295275"/>
                <a:gd name="connsiteY0" fmla="*/ 182813 h 352425"/>
                <a:gd name="connsiteX1" fmla="*/ 291508 w 295275"/>
                <a:gd name="connsiteY1" fmla="*/ 182813 h 352425"/>
                <a:gd name="connsiteX2" fmla="*/ 291213 w 295275"/>
                <a:gd name="connsiteY2" fmla="*/ 164183 h 352425"/>
                <a:gd name="connsiteX3" fmla="*/ 291442 w 295275"/>
                <a:gd name="connsiteY3" fmla="*/ 164183 h 352425"/>
                <a:gd name="connsiteX4" fmla="*/ 291422 w 295275"/>
                <a:gd name="connsiteY4" fmla="*/ 117453 h 352425"/>
                <a:gd name="connsiteX5" fmla="*/ 291527 w 295275"/>
                <a:gd name="connsiteY5" fmla="*/ 70914 h 352425"/>
                <a:gd name="connsiteX6" fmla="*/ 262790 w 295275"/>
                <a:gd name="connsiteY6" fmla="*/ 33757 h 352425"/>
                <a:gd name="connsiteX7" fmla="*/ 209498 w 295275"/>
                <a:gd name="connsiteY7" fmla="*/ 20565 h 352425"/>
                <a:gd name="connsiteX8" fmla="*/ 201716 w 295275"/>
                <a:gd name="connsiteY8" fmla="*/ 18621 h 352425"/>
                <a:gd name="connsiteX9" fmla="*/ 161359 w 295275"/>
                <a:gd name="connsiteY9" fmla="*/ 8582 h 352425"/>
                <a:gd name="connsiteX10" fmla="*/ 137565 w 295275"/>
                <a:gd name="connsiteY10" fmla="*/ 8534 h 352425"/>
                <a:gd name="connsiteX11" fmla="*/ 94341 w 295275"/>
                <a:gd name="connsiteY11" fmla="*/ 19288 h 352425"/>
                <a:gd name="connsiteX12" fmla="*/ 36133 w 295275"/>
                <a:gd name="connsiteY12" fmla="*/ 33680 h 352425"/>
                <a:gd name="connsiteX13" fmla="*/ 7196 w 295275"/>
                <a:gd name="connsiteY13" fmla="*/ 71218 h 352425"/>
                <a:gd name="connsiteX14" fmla="*/ 7282 w 295275"/>
                <a:gd name="connsiteY14" fmla="*/ 87849 h 352425"/>
                <a:gd name="connsiteX15" fmla="*/ 7158 w 295275"/>
                <a:gd name="connsiteY15" fmla="*/ 185328 h 352425"/>
                <a:gd name="connsiteX16" fmla="*/ 38962 w 295275"/>
                <a:gd name="connsiteY16" fmla="*/ 274968 h 352425"/>
                <a:gd name="connsiteX17" fmla="*/ 133984 w 295275"/>
                <a:gd name="connsiteY17" fmla="*/ 343014 h 352425"/>
                <a:gd name="connsiteX18" fmla="*/ 149157 w 295275"/>
                <a:gd name="connsiteY18" fmla="*/ 346072 h 352425"/>
                <a:gd name="connsiteX19" fmla="*/ 165016 w 295275"/>
                <a:gd name="connsiteY19" fmla="*/ 342862 h 352425"/>
                <a:gd name="connsiteX20" fmla="*/ 250827 w 295275"/>
                <a:gd name="connsiteY20" fmla="*/ 285131 h 352425"/>
                <a:gd name="connsiteX21" fmla="*/ 291508 w 295275"/>
                <a:gd name="connsiteY21" fmla="*/ 182813 h 352425"/>
                <a:gd name="connsiteX22" fmla="*/ 226814 w 295275"/>
                <a:gd name="connsiteY22" fmla="*/ 263871 h 352425"/>
                <a:gd name="connsiteX23" fmla="*/ 226814 w 295275"/>
                <a:gd name="connsiteY23" fmla="*/ 263871 h 352425"/>
                <a:gd name="connsiteX24" fmla="*/ 149357 w 295275"/>
                <a:gd name="connsiteY24" fmla="*/ 316297 h 352425"/>
                <a:gd name="connsiteX25" fmla="*/ 64280 w 295275"/>
                <a:gd name="connsiteY25" fmla="*/ 255156 h 352425"/>
                <a:gd name="connsiteX26" fmla="*/ 40077 w 295275"/>
                <a:gd name="connsiteY26" fmla="*/ 187300 h 352425"/>
                <a:gd name="connsiteX27" fmla="*/ 40210 w 295275"/>
                <a:gd name="connsiteY27" fmla="*/ 73866 h 352425"/>
                <a:gd name="connsiteX28" fmla="*/ 40153 w 295275"/>
                <a:gd name="connsiteY28" fmla="*/ 63284 h 352425"/>
                <a:gd name="connsiteX29" fmla="*/ 99227 w 295275"/>
                <a:gd name="connsiteY29" fmla="*/ 48635 h 352425"/>
                <a:gd name="connsiteX30" fmla="*/ 148471 w 295275"/>
                <a:gd name="connsiteY30" fmla="*/ 36386 h 352425"/>
                <a:gd name="connsiteX31" fmla="*/ 150481 w 295275"/>
                <a:gd name="connsiteY31" fmla="*/ 36433 h 352425"/>
                <a:gd name="connsiteX32" fmla="*/ 199325 w 295275"/>
                <a:gd name="connsiteY32" fmla="*/ 48597 h 352425"/>
                <a:gd name="connsiteX33" fmla="*/ 258542 w 295275"/>
                <a:gd name="connsiteY33" fmla="*/ 63303 h 352425"/>
                <a:gd name="connsiteX34" fmla="*/ 258485 w 295275"/>
                <a:gd name="connsiteY34" fmla="*/ 109147 h 352425"/>
                <a:gd name="connsiteX35" fmla="*/ 258485 w 295275"/>
                <a:gd name="connsiteY35" fmla="*/ 110004 h 352425"/>
                <a:gd name="connsiteX36" fmla="*/ 258476 w 295275"/>
                <a:gd name="connsiteY36" fmla="*/ 128750 h 352425"/>
                <a:gd name="connsiteX37" fmla="*/ 258361 w 295275"/>
                <a:gd name="connsiteY37" fmla="*/ 146104 h 352425"/>
                <a:gd name="connsiteX38" fmla="*/ 258609 w 295275"/>
                <a:gd name="connsiteY38" fmla="*/ 185699 h 352425"/>
                <a:gd name="connsiteX39" fmla="*/ 226814 w 295275"/>
                <a:gd name="connsiteY39" fmla="*/ 263871 h 352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95275" h="352425">
                  <a:moveTo>
                    <a:pt x="291508" y="182813"/>
                  </a:moveTo>
                  <a:lnTo>
                    <a:pt x="291508" y="182813"/>
                  </a:lnTo>
                  <a:cubicBezTo>
                    <a:pt x="291270" y="176698"/>
                    <a:pt x="291213" y="170431"/>
                    <a:pt x="291213" y="164183"/>
                  </a:cubicBezTo>
                  <a:lnTo>
                    <a:pt x="291442" y="164183"/>
                  </a:lnTo>
                  <a:lnTo>
                    <a:pt x="291422" y="117453"/>
                  </a:lnTo>
                  <a:cubicBezTo>
                    <a:pt x="291394" y="102156"/>
                    <a:pt x="291365" y="86344"/>
                    <a:pt x="291527" y="70914"/>
                  </a:cubicBezTo>
                  <a:cubicBezTo>
                    <a:pt x="291737" y="52054"/>
                    <a:pt x="281002" y="38167"/>
                    <a:pt x="262790" y="33757"/>
                  </a:cubicBezTo>
                  <a:cubicBezTo>
                    <a:pt x="245055" y="29461"/>
                    <a:pt x="226976" y="24937"/>
                    <a:pt x="209498" y="20565"/>
                  </a:cubicBezTo>
                  <a:lnTo>
                    <a:pt x="201716" y="18621"/>
                  </a:lnTo>
                  <a:cubicBezTo>
                    <a:pt x="188495" y="15307"/>
                    <a:pt x="174817" y="11887"/>
                    <a:pt x="161359" y="8582"/>
                  </a:cubicBezTo>
                  <a:cubicBezTo>
                    <a:pt x="153624" y="6677"/>
                    <a:pt x="145166" y="6668"/>
                    <a:pt x="137565" y="8534"/>
                  </a:cubicBezTo>
                  <a:cubicBezTo>
                    <a:pt x="122773" y="12164"/>
                    <a:pt x="108047" y="15850"/>
                    <a:pt x="94341" y="19288"/>
                  </a:cubicBezTo>
                  <a:cubicBezTo>
                    <a:pt x="77367" y="23536"/>
                    <a:pt x="56250" y="28823"/>
                    <a:pt x="36133" y="33680"/>
                  </a:cubicBezTo>
                  <a:cubicBezTo>
                    <a:pt x="17931" y="38072"/>
                    <a:pt x="7111" y="52102"/>
                    <a:pt x="7196" y="71218"/>
                  </a:cubicBezTo>
                  <a:lnTo>
                    <a:pt x="7282" y="87849"/>
                  </a:lnTo>
                  <a:cubicBezTo>
                    <a:pt x="7454" y="119844"/>
                    <a:pt x="7625" y="152933"/>
                    <a:pt x="7158" y="185328"/>
                  </a:cubicBezTo>
                  <a:cubicBezTo>
                    <a:pt x="6692" y="218618"/>
                    <a:pt x="17388" y="248774"/>
                    <a:pt x="38962" y="274968"/>
                  </a:cubicBezTo>
                  <a:cubicBezTo>
                    <a:pt x="62232" y="303200"/>
                    <a:pt x="92426" y="324822"/>
                    <a:pt x="133984" y="343014"/>
                  </a:cubicBezTo>
                  <a:cubicBezTo>
                    <a:pt x="138575" y="345015"/>
                    <a:pt x="143823" y="346072"/>
                    <a:pt x="149157" y="346072"/>
                  </a:cubicBezTo>
                  <a:cubicBezTo>
                    <a:pt x="154634" y="346072"/>
                    <a:pt x="160120" y="344958"/>
                    <a:pt x="165016" y="342862"/>
                  </a:cubicBezTo>
                  <a:cubicBezTo>
                    <a:pt x="200087" y="327765"/>
                    <a:pt x="228148" y="308877"/>
                    <a:pt x="250827" y="285131"/>
                  </a:cubicBezTo>
                  <a:cubicBezTo>
                    <a:pt x="279278" y="255308"/>
                    <a:pt x="292966" y="220885"/>
                    <a:pt x="291508" y="182813"/>
                  </a:cubicBezTo>
                  <a:close/>
                  <a:moveTo>
                    <a:pt x="226814" y="263871"/>
                  </a:moveTo>
                  <a:lnTo>
                    <a:pt x="226814" y="263871"/>
                  </a:lnTo>
                  <a:cubicBezTo>
                    <a:pt x="206640" y="285017"/>
                    <a:pt x="181275" y="302190"/>
                    <a:pt x="149357" y="316297"/>
                  </a:cubicBezTo>
                  <a:cubicBezTo>
                    <a:pt x="111800" y="299409"/>
                    <a:pt x="84701" y="279921"/>
                    <a:pt x="64280" y="255156"/>
                  </a:cubicBezTo>
                  <a:cubicBezTo>
                    <a:pt x="47630" y="234953"/>
                    <a:pt x="39715" y="212760"/>
                    <a:pt x="40077" y="187300"/>
                  </a:cubicBezTo>
                  <a:cubicBezTo>
                    <a:pt x="40610" y="149438"/>
                    <a:pt x="40410" y="111023"/>
                    <a:pt x="40210" y="73866"/>
                  </a:cubicBezTo>
                  <a:lnTo>
                    <a:pt x="40153" y="63284"/>
                  </a:lnTo>
                  <a:cubicBezTo>
                    <a:pt x="59946" y="58474"/>
                    <a:pt x="79882" y="53483"/>
                    <a:pt x="99227" y="48635"/>
                  </a:cubicBezTo>
                  <a:cubicBezTo>
                    <a:pt x="115362" y="44596"/>
                    <a:pt x="132041" y="40415"/>
                    <a:pt x="148471" y="36386"/>
                  </a:cubicBezTo>
                  <a:cubicBezTo>
                    <a:pt x="148852" y="36290"/>
                    <a:pt x="149795" y="36262"/>
                    <a:pt x="150481" y="36433"/>
                  </a:cubicBezTo>
                  <a:cubicBezTo>
                    <a:pt x="166759" y="40443"/>
                    <a:pt x="183314" y="44587"/>
                    <a:pt x="199325" y="48597"/>
                  </a:cubicBezTo>
                  <a:cubicBezTo>
                    <a:pt x="218699" y="53445"/>
                    <a:pt x="238654" y="58445"/>
                    <a:pt x="258542" y="63303"/>
                  </a:cubicBezTo>
                  <a:cubicBezTo>
                    <a:pt x="258428" y="78667"/>
                    <a:pt x="258456" y="94126"/>
                    <a:pt x="258485" y="109147"/>
                  </a:cubicBezTo>
                  <a:cubicBezTo>
                    <a:pt x="258485" y="109433"/>
                    <a:pt x="258485" y="109719"/>
                    <a:pt x="258485" y="110004"/>
                  </a:cubicBezTo>
                  <a:lnTo>
                    <a:pt x="258476" y="128750"/>
                  </a:lnTo>
                  <a:cubicBezTo>
                    <a:pt x="258476" y="134531"/>
                    <a:pt x="258418" y="140322"/>
                    <a:pt x="258361" y="146104"/>
                  </a:cubicBezTo>
                  <a:cubicBezTo>
                    <a:pt x="258237" y="159010"/>
                    <a:pt x="258104" y="172355"/>
                    <a:pt x="258609" y="185699"/>
                  </a:cubicBezTo>
                  <a:cubicBezTo>
                    <a:pt x="259733" y="214722"/>
                    <a:pt x="249332" y="240287"/>
                    <a:pt x="226814" y="263871"/>
                  </a:cubicBezTo>
                  <a:close/>
                </a:path>
              </a:pathLst>
            </a:custGeom>
            <a:grpFill/>
            <a:ln w="9525" cap="flat">
              <a:noFill/>
              <a:prstDash val="solid"/>
              <a:miter/>
            </a:ln>
          </p:spPr>
          <p:txBody>
            <a:bodyPr rtlCol="0" anchor="ctr"/>
            <a:lstStyle/>
            <a:p>
              <a:pPr defTabSz="665648">
                <a:defRPr/>
              </a:pPr>
              <a:endParaRPr lang="en-IN" sz="1310" dirty="0">
                <a:solidFill>
                  <a:prstClr val="black"/>
                </a:solidFill>
                <a:latin typeface="Calibri" panose="020F0502020204030204"/>
              </a:endParaRPr>
            </a:p>
          </p:txBody>
        </p:sp>
        <p:sp>
          <p:nvSpPr>
            <p:cNvPr id="25" name="Freeform: Shape 24">
              <a:extLst>
                <a:ext uri="{FF2B5EF4-FFF2-40B4-BE49-F238E27FC236}">
                  <a16:creationId xmlns:a16="http://schemas.microsoft.com/office/drawing/2014/main" id="{73342E2C-B2FD-6A76-B517-12B7D2469E6F}"/>
                </a:ext>
              </a:extLst>
            </p:cNvPr>
            <p:cNvSpPr/>
            <p:nvPr/>
          </p:nvSpPr>
          <p:spPr>
            <a:xfrm>
              <a:off x="10297439" y="5769310"/>
              <a:ext cx="171450" cy="171450"/>
            </a:xfrm>
            <a:custGeom>
              <a:avLst/>
              <a:gdLst>
                <a:gd name="connsiteX0" fmla="*/ 171317 w 171450"/>
                <a:gd name="connsiteY0" fmla="*/ 55702 h 171450"/>
                <a:gd name="connsiteX1" fmla="*/ 122758 w 171450"/>
                <a:gd name="connsiteY1" fmla="*/ 55702 h 171450"/>
                <a:gd name="connsiteX2" fmla="*/ 122758 w 171450"/>
                <a:gd name="connsiteY2" fmla="*/ 7144 h 171450"/>
                <a:gd name="connsiteX3" fmla="*/ 55702 w 171450"/>
                <a:gd name="connsiteY3" fmla="*/ 7144 h 171450"/>
                <a:gd name="connsiteX4" fmla="*/ 55702 w 171450"/>
                <a:gd name="connsiteY4" fmla="*/ 55702 h 171450"/>
                <a:gd name="connsiteX5" fmla="*/ 7144 w 171450"/>
                <a:gd name="connsiteY5" fmla="*/ 55702 h 171450"/>
                <a:gd name="connsiteX6" fmla="*/ 7144 w 171450"/>
                <a:gd name="connsiteY6" fmla="*/ 122758 h 171450"/>
                <a:gd name="connsiteX7" fmla="*/ 55702 w 171450"/>
                <a:gd name="connsiteY7" fmla="*/ 122758 h 171450"/>
                <a:gd name="connsiteX8" fmla="*/ 55702 w 171450"/>
                <a:gd name="connsiteY8" fmla="*/ 171317 h 171450"/>
                <a:gd name="connsiteX9" fmla="*/ 122758 w 171450"/>
                <a:gd name="connsiteY9" fmla="*/ 171317 h 171450"/>
                <a:gd name="connsiteX10" fmla="*/ 122758 w 171450"/>
                <a:gd name="connsiteY10" fmla="*/ 122758 h 171450"/>
                <a:gd name="connsiteX11" fmla="*/ 171317 w 171450"/>
                <a:gd name="connsiteY11" fmla="*/ 122758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1450" h="171450">
                  <a:moveTo>
                    <a:pt x="171317" y="55702"/>
                  </a:moveTo>
                  <a:lnTo>
                    <a:pt x="122758" y="55702"/>
                  </a:lnTo>
                  <a:lnTo>
                    <a:pt x="122758" y="7144"/>
                  </a:lnTo>
                  <a:lnTo>
                    <a:pt x="55702" y="7144"/>
                  </a:lnTo>
                  <a:lnTo>
                    <a:pt x="55702" y="55702"/>
                  </a:lnTo>
                  <a:lnTo>
                    <a:pt x="7144" y="55702"/>
                  </a:lnTo>
                  <a:lnTo>
                    <a:pt x="7144" y="122758"/>
                  </a:lnTo>
                  <a:lnTo>
                    <a:pt x="55702" y="122758"/>
                  </a:lnTo>
                  <a:lnTo>
                    <a:pt x="55702" y="171317"/>
                  </a:lnTo>
                  <a:lnTo>
                    <a:pt x="122758" y="171317"/>
                  </a:lnTo>
                  <a:lnTo>
                    <a:pt x="122758" y="122758"/>
                  </a:lnTo>
                  <a:lnTo>
                    <a:pt x="171317" y="122758"/>
                  </a:lnTo>
                  <a:close/>
                </a:path>
              </a:pathLst>
            </a:custGeom>
            <a:grpFill/>
            <a:ln w="9525" cap="flat">
              <a:noFill/>
              <a:prstDash val="solid"/>
              <a:miter/>
            </a:ln>
          </p:spPr>
          <p:txBody>
            <a:bodyPr rtlCol="0" anchor="ctr"/>
            <a:lstStyle/>
            <a:p>
              <a:pPr defTabSz="665648">
                <a:defRPr/>
              </a:pPr>
              <a:endParaRPr lang="en-IN" sz="1310" dirty="0">
                <a:solidFill>
                  <a:prstClr val="black"/>
                </a:solidFill>
                <a:latin typeface="Calibri" panose="020F0502020204030204"/>
              </a:endParaRPr>
            </a:p>
          </p:txBody>
        </p:sp>
        <p:sp>
          <p:nvSpPr>
            <p:cNvPr id="28" name="Freeform: Shape 27">
              <a:extLst>
                <a:ext uri="{FF2B5EF4-FFF2-40B4-BE49-F238E27FC236}">
                  <a16:creationId xmlns:a16="http://schemas.microsoft.com/office/drawing/2014/main" id="{9288A00B-661D-D827-0F3F-38B972D8A962}"/>
                </a:ext>
              </a:extLst>
            </p:cNvPr>
            <p:cNvSpPr/>
            <p:nvPr/>
          </p:nvSpPr>
          <p:spPr>
            <a:xfrm>
              <a:off x="10239527" y="5987813"/>
              <a:ext cx="180975" cy="38100"/>
            </a:xfrm>
            <a:custGeom>
              <a:avLst/>
              <a:gdLst>
                <a:gd name="connsiteX0" fmla="*/ 178375 w 180975"/>
                <a:gd name="connsiteY0" fmla="*/ 7144 h 38100"/>
                <a:gd name="connsiteX1" fmla="*/ 20355 w 180975"/>
                <a:gd name="connsiteY1" fmla="*/ 7144 h 38100"/>
                <a:gd name="connsiteX2" fmla="*/ 7144 w 180975"/>
                <a:gd name="connsiteY2" fmla="*/ 20355 h 38100"/>
                <a:gd name="connsiteX3" fmla="*/ 20355 w 180975"/>
                <a:gd name="connsiteY3" fmla="*/ 33566 h 38100"/>
                <a:gd name="connsiteX4" fmla="*/ 178489 w 180975"/>
                <a:gd name="connsiteY4" fmla="*/ 33566 h 38100"/>
                <a:gd name="connsiteX5" fmla="*/ 178375 w 180975"/>
                <a:gd name="connsiteY5" fmla="*/ 714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975" h="38100">
                  <a:moveTo>
                    <a:pt x="178375" y="7144"/>
                  </a:moveTo>
                  <a:lnTo>
                    <a:pt x="20355" y="7144"/>
                  </a:lnTo>
                  <a:cubicBezTo>
                    <a:pt x="13059" y="7144"/>
                    <a:pt x="7144" y="13059"/>
                    <a:pt x="7144" y="20355"/>
                  </a:cubicBezTo>
                  <a:cubicBezTo>
                    <a:pt x="7144" y="27651"/>
                    <a:pt x="13059" y="33566"/>
                    <a:pt x="20355" y="33566"/>
                  </a:cubicBezTo>
                  <a:lnTo>
                    <a:pt x="178489" y="33566"/>
                  </a:lnTo>
                  <a:cubicBezTo>
                    <a:pt x="178460" y="24698"/>
                    <a:pt x="178422" y="15888"/>
                    <a:pt x="178375" y="7144"/>
                  </a:cubicBezTo>
                  <a:close/>
                </a:path>
              </a:pathLst>
            </a:custGeom>
            <a:grpFill/>
            <a:ln w="9525" cap="flat">
              <a:noFill/>
              <a:prstDash val="solid"/>
              <a:miter/>
            </a:ln>
          </p:spPr>
          <p:txBody>
            <a:bodyPr rtlCol="0" anchor="ctr"/>
            <a:lstStyle/>
            <a:p>
              <a:pPr defTabSz="665648">
                <a:defRPr/>
              </a:pPr>
              <a:endParaRPr lang="en-IN" sz="1310" dirty="0">
                <a:solidFill>
                  <a:prstClr val="black"/>
                </a:solidFill>
                <a:latin typeface="Calibri" panose="020F0502020204030204"/>
              </a:endParaRPr>
            </a:p>
          </p:txBody>
        </p:sp>
        <p:sp>
          <p:nvSpPr>
            <p:cNvPr id="29" name="Freeform: Shape 28">
              <a:extLst>
                <a:ext uri="{FF2B5EF4-FFF2-40B4-BE49-F238E27FC236}">
                  <a16:creationId xmlns:a16="http://schemas.microsoft.com/office/drawing/2014/main" id="{DB9B717D-C5E0-9934-A0A0-DDE5B8159E59}"/>
                </a:ext>
              </a:extLst>
            </p:cNvPr>
            <p:cNvSpPr/>
            <p:nvPr/>
          </p:nvSpPr>
          <p:spPr>
            <a:xfrm>
              <a:off x="10239527" y="6058946"/>
              <a:ext cx="180975" cy="38100"/>
            </a:xfrm>
            <a:custGeom>
              <a:avLst/>
              <a:gdLst>
                <a:gd name="connsiteX0" fmla="*/ 178232 w 180975"/>
                <a:gd name="connsiteY0" fmla="*/ 28518 h 38100"/>
                <a:gd name="connsiteX1" fmla="*/ 178441 w 180975"/>
                <a:gd name="connsiteY1" fmla="*/ 7144 h 38100"/>
                <a:gd name="connsiteX2" fmla="*/ 20355 w 180975"/>
                <a:gd name="connsiteY2" fmla="*/ 7144 h 38100"/>
                <a:gd name="connsiteX3" fmla="*/ 7144 w 180975"/>
                <a:gd name="connsiteY3" fmla="*/ 20355 h 38100"/>
                <a:gd name="connsiteX4" fmla="*/ 20355 w 180975"/>
                <a:gd name="connsiteY4" fmla="*/ 33566 h 38100"/>
                <a:gd name="connsiteX5" fmla="*/ 178270 w 180975"/>
                <a:gd name="connsiteY5" fmla="*/ 33566 h 38100"/>
                <a:gd name="connsiteX6" fmla="*/ 178232 w 180975"/>
                <a:gd name="connsiteY6" fmla="*/ 28518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0975" h="38100">
                  <a:moveTo>
                    <a:pt x="178232" y="28518"/>
                  </a:moveTo>
                  <a:cubicBezTo>
                    <a:pt x="178337" y="21431"/>
                    <a:pt x="178394" y="14288"/>
                    <a:pt x="178441" y="7144"/>
                  </a:cubicBezTo>
                  <a:lnTo>
                    <a:pt x="20355" y="7144"/>
                  </a:lnTo>
                  <a:cubicBezTo>
                    <a:pt x="13059" y="7144"/>
                    <a:pt x="7144" y="13059"/>
                    <a:pt x="7144" y="20355"/>
                  </a:cubicBezTo>
                  <a:cubicBezTo>
                    <a:pt x="7144" y="27651"/>
                    <a:pt x="13059" y="33566"/>
                    <a:pt x="20355" y="33566"/>
                  </a:cubicBezTo>
                  <a:lnTo>
                    <a:pt x="178270" y="33566"/>
                  </a:lnTo>
                  <a:cubicBezTo>
                    <a:pt x="178251" y="31880"/>
                    <a:pt x="178213" y="30213"/>
                    <a:pt x="178232" y="28518"/>
                  </a:cubicBezTo>
                  <a:close/>
                </a:path>
              </a:pathLst>
            </a:custGeom>
            <a:grpFill/>
            <a:ln w="9525" cap="flat">
              <a:noFill/>
              <a:prstDash val="solid"/>
              <a:miter/>
            </a:ln>
          </p:spPr>
          <p:txBody>
            <a:bodyPr rtlCol="0" anchor="ctr"/>
            <a:lstStyle/>
            <a:p>
              <a:pPr defTabSz="665648">
                <a:defRPr/>
              </a:pPr>
              <a:endParaRPr lang="en-IN" sz="1310" dirty="0">
                <a:solidFill>
                  <a:prstClr val="black"/>
                </a:solidFill>
                <a:latin typeface="Calibri" panose="020F0502020204030204"/>
              </a:endParaRPr>
            </a:p>
          </p:txBody>
        </p:sp>
        <p:sp>
          <p:nvSpPr>
            <p:cNvPr id="30" name="Freeform: Shape 29">
              <a:extLst>
                <a:ext uri="{FF2B5EF4-FFF2-40B4-BE49-F238E27FC236}">
                  <a16:creationId xmlns:a16="http://schemas.microsoft.com/office/drawing/2014/main" id="{8F124729-20CA-3967-E4A4-7CB2838AB975}"/>
                </a:ext>
              </a:extLst>
            </p:cNvPr>
            <p:cNvSpPr/>
            <p:nvPr/>
          </p:nvSpPr>
          <p:spPr>
            <a:xfrm>
              <a:off x="10239527" y="6130088"/>
              <a:ext cx="200025" cy="38100"/>
            </a:xfrm>
            <a:custGeom>
              <a:avLst/>
              <a:gdLst>
                <a:gd name="connsiteX0" fmla="*/ 184499 w 200025"/>
                <a:gd name="connsiteY0" fmla="*/ 7144 h 38100"/>
                <a:gd name="connsiteX1" fmla="*/ 20355 w 200025"/>
                <a:gd name="connsiteY1" fmla="*/ 7144 h 38100"/>
                <a:gd name="connsiteX2" fmla="*/ 7144 w 200025"/>
                <a:gd name="connsiteY2" fmla="*/ 20355 h 38100"/>
                <a:gd name="connsiteX3" fmla="*/ 20355 w 200025"/>
                <a:gd name="connsiteY3" fmla="*/ 33566 h 38100"/>
                <a:gd name="connsiteX4" fmla="*/ 194196 w 200025"/>
                <a:gd name="connsiteY4" fmla="*/ 33566 h 38100"/>
                <a:gd name="connsiteX5" fmla="*/ 184499 w 200025"/>
                <a:gd name="connsiteY5" fmla="*/ 714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025" h="38100">
                  <a:moveTo>
                    <a:pt x="184499" y="7144"/>
                  </a:moveTo>
                  <a:lnTo>
                    <a:pt x="20355" y="7144"/>
                  </a:lnTo>
                  <a:cubicBezTo>
                    <a:pt x="13059" y="7144"/>
                    <a:pt x="7144" y="13059"/>
                    <a:pt x="7144" y="20355"/>
                  </a:cubicBezTo>
                  <a:cubicBezTo>
                    <a:pt x="7144" y="27651"/>
                    <a:pt x="13059" y="33566"/>
                    <a:pt x="20355" y="33566"/>
                  </a:cubicBezTo>
                  <a:lnTo>
                    <a:pt x="194196" y="33566"/>
                  </a:lnTo>
                  <a:cubicBezTo>
                    <a:pt x="190214" y="25003"/>
                    <a:pt x="186995" y="16183"/>
                    <a:pt x="184499" y="7144"/>
                  </a:cubicBezTo>
                  <a:close/>
                </a:path>
              </a:pathLst>
            </a:custGeom>
            <a:grpFill/>
            <a:ln w="9525" cap="flat">
              <a:noFill/>
              <a:prstDash val="solid"/>
              <a:miter/>
            </a:ln>
          </p:spPr>
          <p:txBody>
            <a:bodyPr rtlCol="0" anchor="ctr"/>
            <a:lstStyle/>
            <a:p>
              <a:pPr defTabSz="665648">
                <a:defRPr/>
              </a:pPr>
              <a:endParaRPr lang="en-IN" sz="1310" dirty="0">
                <a:solidFill>
                  <a:prstClr val="black"/>
                </a:solidFill>
                <a:latin typeface="Calibri" panose="020F0502020204030204"/>
              </a:endParaRPr>
            </a:p>
          </p:txBody>
        </p:sp>
        <p:sp>
          <p:nvSpPr>
            <p:cNvPr id="31" name="Freeform: Shape 30">
              <a:extLst>
                <a:ext uri="{FF2B5EF4-FFF2-40B4-BE49-F238E27FC236}">
                  <a16:creationId xmlns:a16="http://schemas.microsoft.com/office/drawing/2014/main" id="{58800EF4-38BC-3A76-7DDA-8D8C4DA6BF86}"/>
                </a:ext>
              </a:extLst>
            </p:cNvPr>
            <p:cNvSpPr/>
            <p:nvPr/>
          </p:nvSpPr>
          <p:spPr>
            <a:xfrm>
              <a:off x="10148897" y="5683223"/>
              <a:ext cx="466725" cy="571500"/>
            </a:xfrm>
            <a:custGeom>
              <a:avLst/>
              <a:gdLst>
                <a:gd name="connsiteX0" fmla="*/ 316925 w 466725"/>
                <a:gd name="connsiteY0" fmla="*/ 527837 h 571500"/>
                <a:gd name="connsiteX1" fmla="*/ 45825 w 466725"/>
                <a:gd name="connsiteY1" fmla="*/ 527837 h 571500"/>
                <a:gd name="connsiteX2" fmla="*/ 45825 w 466725"/>
                <a:gd name="connsiteY2" fmla="*/ 437864 h 571500"/>
                <a:gd name="connsiteX3" fmla="*/ 45825 w 466725"/>
                <a:gd name="connsiteY3" fmla="*/ 372380 h 571500"/>
                <a:gd name="connsiteX4" fmla="*/ 45825 w 466725"/>
                <a:gd name="connsiteY4" fmla="*/ 198615 h 571500"/>
                <a:gd name="connsiteX5" fmla="*/ 45825 w 466725"/>
                <a:gd name="connsiteY5" fmla="*/ 131464 h 571500"/>
                <a:gd name="connsiteX6" fmla="*/ 45825 w 466725"/>
                <a:gd name="connsiteY6" fmla="*/ 45815 h 571500"/>
                <a:gd name="connsiteX7" fmla="*/ 366465 w 466725"/>
                <a:gd name="connsiteY7" fmla="*/ 45815 h 571500"/>
                <a:gd name="connsiteX8" fmla="*/ 366465 w 466725"/>
                <a:gd name="connsiteY8" fmla="*/ 88316 h 571500"/>
                <a:gd name="connsiteX9" fmla="*/ 385801 w 466725"/>
                <a:gd name="connsiteY9" fmla="*/ 107652 h 571500"/>
                <a:gd name="connsiteX10" fmla="*/ 429720 w 466725"/>
                <a:gd name="connsiteY10" fmla="*/ 107652 h 571500"/>
                <a:gd name="connsiteX11" fmla="*/ 429720 w 466725"/>
                <a:gd name="connsiteY11" fmla="*/ 189462 h 571500"/>
                <a:gd name="connsiteX12" fmla="*/ 468401 w 466725"/>
                <a:gd name="connsiteY12" fmla="*/ 188766 h 571500"/>
                <a:gd name="connsiteX13" fmla="*/ 468401 w 466725"/>
                <a:gd name="connsiteY13" fmla="*/ 88316 h 571500"/>
                <a:gd name="connsiteX14" fmla="*/ 462582 w 466725"/>
                <a:gd name="connsiteY14" fmla="*/ 74486 h 571500"/>
                <a:gd name="connsiteX15" fmla="*/ 399317 w 466725"/>
                <a:gd name="connsiteY15" fmla="*/ 12649 h 571500"/>
                <a:gd name="connsiteX16" fmla="*/ 385801 w 466725"/>
                <a:gd name="connsiteY16" fmla="*/ 7144 h 571500"/>
                <a:gd name="connsiteX17" fmla="*/ 26480 w 466725"/>
                <a:gd name="connsiteY17" fmla="*/ 7144 h 571500"/>
                <a:gd name="connsiteX18" fmla="*/ 7144 w 466725"/>
                <a:gd name="connsiteY18" fmla="*/ 26479 h 571500"/>
                <a:gd name="connsiteX19" fmla="*/ 7144 w 466725"/>
                <a:gd name="connsiteY19" fmla="*/ 131464 h 571500"/>
                <a:gd name="connsiteX20" fmla="*/ 7144 w 466725"/>
                <a:gd name="connsiteY20" fmla="*/ 198615 h 571500"/>
                <a:gd name="connsiteX21" fmla="*/ 7144 w 466725"/>
                <a:gd name="connsiteY21" fmla="*/ 374790 h 571500"/>
                <a:gd name="connsiteX22" fmla="*/ 7144 w 466725"/>
                <a:gd name="connsiteY22" fmla="*/ 437864 h 571500"/>
                <a:gd name="connsiteX23" fmla="*/ 7144 w 466725"/>
                <a:gd name="connsiteY23" fmla="*/ 547173 h 571500"/>
                <a:gd name="connsiteX24" fmla="*/ 26480 w 466725"/>
                <a:gd name="connsiteY24" fmla="*/ 566509 h 571500"/>
                <a:gd name="connsiteX25" fmla="*/ 360940 w 466725"/>
                <a:gd name="connsiteY25" fmla="*/ 566509 h 571500"/>
                <a:gd name="connsiteX26" fmla="*/ 316925 w 466725"/>
                <a:gd name="connsiteY26" fmla="*/ 527837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66725" h="571500">
                  <a:moveTo>
                    <a:pt x="316925" y="527837"/>
                  </a:moveTo>
                  <a:lnTo>
                    <a:pt x="45825" y="527837"/>
                  </a:lnTo>
                  <a:lnTo>
                    <a:pt x="45825" y="437864"/>
                  </a:lnTo>
                  <a:lnTo>
                    <a:pt x="45825" y="372380"/>
                  </a:lnTo>
                  <a:lnTo>
                    <a:pt x="45825" y="198615"/>
                  </a:lnTo>
                  <a:lnTo>
                    <a:pt x="45825" y="131464"/>
                  </a:lnTo>
                  <a:lnTo>
                    <a:pt x="45825" y="45815"/>
                  </a:lnTo>
                  <a:lnTo>
                    <a:pt x="366465" y="45815"/>
                  </a:lnTo>
                  <a:lnTo>
                    <a:pt x="366465" y="88316"/>
                  </a:lnTo>
                  <a:cubicBezTo>
                    <a:pt x="366465" y="98993"/>
                    <a:pt x="375123" y="107652"/>
                    <a:pt x="385801" y="107652"/>
                  </a:cubicBezTo>
                  <a:lnTo>
                    <a:pt x="429720" y="107652"/>
                  </a:lnTo>
                  <a:lnTo>
                    <a:pt x="429720" y="189462"/>
                  </a:lnTo>
                  <a:cubicBezTo>
                    <a:pt x="442274" y="186404"/>
                    <a:pt x="455562" y="186185"/>
                    <a:pt x="468401" y="188766"/>
                  </a:cubicBezTo>
                  <a:lnTo>
                    <a:pt x="468401" y="88316"/>
                  </a:lnTo>
                  <a:cubicBezTo>
                    <a:pt x="468401" y="83106"/>
                    <a:pt x="466306" y="78124"/>
                    <a:pt x="462582" y="74486"/>
                  </a:cubicBezTo>
                  <a:lnTo>
                    <a:pt x="399317" y="12649"/>
                  </a:lnTo>
                  <a:cubicBezTo>
                    <a:pt x="395707" y="9115"/>
                    <a:pt x="390849" y="7144"/>
                    <a:pt x="385801" y="7144"/>
                  </a:cubicBezTo>
                  <a:lnTo>
                    <a:pt x="26480" y="7144"/>
                  </a:lnTo>
                  <a:cubicBezTo>
                    <a:pt x="15802" y="7144"/>
                    <a:pt x="7144" y="15802"/>
                    <a:pt x="7144" y="26479"/>
                  </a:cubicBezTo>
                  <a:lnTo>
                    <a:pt x="7144" y="131464"/>
                  </a:lnTo>
                  <a:lnTo>
                    <a:pt x="7144" y="198615"/>
                  </a:lnTo>
                  <a:lnTo>
                    <a:pt x="7144" y="374790"/>
                  </a:lnTo>
                  <a:lnTo>
                    <a:pt x="7144" y="437864"/>
                  </a:lnTo>
                  <a:lnTo>
                    <a:pt x="7144" y="547173"/>
                  </a:lnTo>
                  <a:cubicBezTo>
                    <a:pt x="7144" y="557851"/>
                    <a:pt x="15802" y="566509"/>
                    <a:pt x="26480" y="566509"/>
                  </a:cubicBezTo>
                  <a:lnTo>
                    <a:pt x="360940" y="566509"/>
                  </a:lnTo>
                  <a:cubicBezTo>
                    <a:pt x="344367" y="554974"/>
                    <a:pt x="329832" y="542182"/>
                    <a:pt x="316925" y="527837"/>
                  </a:cubicBezTo>
                  <a:close/>
                </a:path>
              </a:pathLst>
            </a:custGeom>
            <a:grpFill/>
            <a:ln w="9525" cap="flat">
              <a:noFill/>
              <a:prstDash val="solid"/>
              <a:miter/>
            </a:ln>
          </p:spPr>
          <p:txBody>
            <a:bodyPr rtlCol="0" anchor="ctr"/>
            <a:lstStyle/>
            <a:p>
              <a:pPr defTabSz="665648">
                <a:defRPr/>
              </a:pPr>
              <a:endParaRPr lang="en-IN" sz="1310" dirty="0">
                <a:solidFill>
                  <a:prstClr val="black"/>
                </a:solidFill>
                <a:latin typeface="Calibri" panose="020F0502020204030204"/>
              </a:endParaRPr>
            </a:p>
          </p:txBody>
        </p:sp>
      </p:grpSp>
      <p:pic>
        <p:nvPicPr>
          <p:cNvPr id="32" name="Graphic 31" descr="Puzzle pieces with solid fill">
            <a:extLst>
              <a:ext uri="{FF2B5EF4-FFF2-40B4-BE49-F238E27FC236}">
                <a16:creationId xmlns:a16="http://schemas.microsoft.com/office/drawing/2014/main" id="{9DF7186A-0490-3CF4-1455-9AE93D64629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55700" y="3189399"/>
            <a:ext cx="513340" cy="513340"/>
          </a:xfrm>
          <a:prstGeom prst="rect">
            <a:avLst/>
          </a:prstGeom>
          <a:effectLst/>
        </p:spPr>
      </p:pic>
      <p:sp>
        <p:nvSpPr>
          <p:cNvPr id="33" name="Rectangle: Rounded Corners 32">
            <a:extLst>
              <a:ext uri="{FF2B5EF4-FFF2-40B4-BE49-F238E27FC236}">
                <a16:creationId xmlns:a16="http://schemas.microsoft.com/office/drawing/2014/main" id="{E035174F-F7FB-DAF5-F765-CBC5A28B9DC4}"/>
              </a:ext>
            </a:extLst>
          </p:cNvPr>
          <p:cNvSpPr/>
          <p:nvPr/>
        </p:nvSpPr>
        <p:spPr>
          <a:xfrm>
            <a:off x="1074319" y="1424477"/>
            <a:ext cx="3200400" cy="551783"/>
          </a:xfrm>
          <a:prstGeom prst="round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Services Can Be Performed By Physician or CRNA</a:t>
            </a:r>
          </a:p>
        </p:txBody>
      </p:sp>
      <p:sp>
        <p:nvSpPr>
          <p:cNvPr id="34" name="Rectangle: Rounded Corners 33">
            <a:extLst>
              <a:ext uri="{FF2B5EF4-FFF2-40B4-BE49-F238E27FC236}">
                <a16:creationId xmlns:a16="http://schemas.microsoft.com/office/drawing/2014/main" id="{CC6649D7-6542-6080-5C34-5C4187F73B65}"/>
              </a:ext>
            </a:extLst>
          </p:cNvPr>
          <p:cNvSpPr/>
          <p:nvPr/>
        </p:nvSpPr>
        <p:spPr>
          <a:xfrm>
            <a:off x="5448863" y="1424477"/>
            <a:ext cx="3200400" cy="551783"/>
          </a:xfrm>
          <a:prstGeom prst="round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Ongoing Proliferation Of Surgeries Performed In</a:t>
            </a:r>
          </a:p>
          <a:p>
            <a:pPr algn="ctr"/>
            <a:r>
              <a:rPr lang="en-US" sz="1200" b="1" dirty="0">
                <a:solidFill>
                  <a:schemeClr val="tx1"/>
                </a:solidFill>
              </a:rPr>
              <a:t>Outpatient Settings</a:t>
            </a:r>
          </a:p>
        </p:txBody>
      </p:sp>
      <p:sp>
        <p:nvSpPr>
          <p:cNvPr id="35" name="Rectangle: Rounded Corners 34">
            <a:extLst>
              <a:ext uri="{FF2B5EF4-FFF2-40B4-BE49-F238E27FC236}">
                <a16:creationId xmlns:a16="http://schemas.microsoft.com/office/drawing/2014/main" id="{0CC2C7E1-15D1-3406-C62B-94F6B8E3E342}"/>
              </a:ext>
            </a:extLst>
          </p:cNvPr>
          <p:cNvSpPr/>
          <p:nvPr/>
        </p:nvSpPr>
        <p:spPr>
          <a:xfrm>
            <a:off x="1074319" y="2278012"/>
            <a:ext cx="3200400" cy="551783"/>
          </a:xfrm>
          <a:prstGeom prst="round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Aging Population Leading To More Chronic Conditions</a:t>
            </a:r>
          </a:p>
        </p:txBody>
      </p:sp>
      <p:sp>
        <p:nvSpPr>
          <p:cNvPr id="36" name="Rectangle: Rounded Corners 35">
            <a:extLst>
              <a:ext uri="{FF2B5EF4-FFF2-40B4-BE49-F238E27FC236}">
                <a16:creationId xmlns:a16="http://schemas.microsoft.com/office/drawing/2014/main" id="{96E83817-2DC0-B9E4-563E-B234C1E3815D}"/>
              </a:ext>
            </a:extLst>
          </p:cNvPr>
          <p:cNvSpPr/>
          <p:nvPr/>
        </p:nvSpPr>
        <p:spPr>
          <a:xfrm>
            <a:off x="5448863" y="2278012"/>
            <a:ext cx="3200400" cy="551783"/>
          </a:xfrm>
          <a:prstGeom prst="round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Services Continue To Be Outsourced By Hospitals</a:t>
            </a:r>
          </a:p>
        </p:txBody>
      </p:sp>
      <p:sp>
        <p:nvSpPr>
          <p:cNvPr id="37" name="Rectangle: Rounded Corners 36">
            <a:extLst>
              <a:ext uri="{FF2B5EF4-FFF2-40B4-BE49-F238E27FC236}">
                <a16:creationId xmlns:a16="http://schemas.microsoft.com/office/drawing/2014/main" id="{C994F4E6-C63B-1371-5174-3EB46E042F50}"/>
              </a:ext>
            </a:extLst>
          </p:cNvPr>
          <p:cNvSpPr/>
          <p:nvPr/>
        </p:nvSpPr>
        <p:spPr>
          <a:xfrm>
            <a:off x="1074319" y="3173543"/>
            <a:ext cx="3200400" cy="551783"/>
          </a:xfrm>
          <a:prstGeom prst="round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Market Remains Fragmented</a:t>
            </a:r>
          </a:p>
        </p:txBody>
      </p:sp>
      <p:sp>
        <p:nvSpPr>
          <p:cNvPr id="38" name="Rectangle: Rounded Corners 37">
            <a:extLst>
              <a:ext uri="{FF2B5EF4-FFF2-40B4-BE49-F238E27FC236}">
                <a16:creationId xmlns:a16="http://schemas.microsoft.com/office/drawing/2014/main" id="{CE11B552-A2AB-3B20-8FE1-303AD2588AE5}"/>
              </a:ext>
            </a:extLst>
          </p:cNvPr>
          <p:cNvSpPr/>
          <p:nvPr/>
        </p:nvSpPr>
        <p:spPr>
          <a:xfrm>
            <a:off x="5448862" y="3173543"/>
            <a:ext cx="3200400" cy="551783"/>
          </a:xfrm>
          <a:prstGeom prst="roundRect">
            <a:avLst/>
          </a:prstGeom>
          <a:solidFill>
            <a:srgbClr val="E6E6E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Support Positive Outcomes In Value-Based Care Reimbursement Environment</a:t>
            </a:r>
          </a:p>
        </p:txBody>
      </p:sp>
      <p:sp>
        <p:nvSpPr>
          <p:cNvPr id="39" name="Rectangle: Diagonal Corners Snipped 38">
            <a:extLst>
              <a:ext uri="{FF2B5EF4-FFF2-40B4-BE49-F238E27FC236}">
                <a16:creationId xmlns:a16="http://schemas.microsoft.com/office/drawing/2014/main" id="{02FE9717-115E-461E-26AE-D486678ED21F}"/>
              </a:ext>
            </a:extLst>
          </p:cNvPr>
          <p:cNvSpPr/>
          <p:nvPr/>
        </p:nvSpPr>
        <p:spPr>
          <a:xfrm>
            <a:off x="176306" y="3973866"/>
            <a:ext cx="2834640" cy="285170"/>
          </a:xfrm>
          <a:prstGeom prst="snip2DiagRect">
            <a:avLst/>
          </a:prstGeom>
          <a:solidFill>
            <a:schemeClr val="accent2">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Surgical Procedure Growth</a:t>
            </a:r>
            <a:endParaRPr lang="en-US" sz="1400" b="1" baseline="30000" dirty="0">
              <a:solidFill>
                <a:schemeClr val="bg1"/>
              </a:solidFill>
            </a:endParaRPr>
          </a:p>
        </p:txBody>
      </p:sp>
      <p:sp>
        <p:nvSpPr>
          <p:cNvPr id="40" name="TextBox 39">
            <a:extLst>
              <a:ext uri="{FF2B5EF4-FFF2-40B4-BE49-F238E27FC236}">
                <a16:creationId xmlns:a16="http://schemas.microsoft.com/office/drawing/2014/main" id="{84B0AADE-8575-B07D-B1DD-6013914D07ED}"/>
              </a:ext>
            </a:extLst>
          </p:cNvPr>
          <p:cNvSpPr txBox="1"/>
          <p:nvPr/>
        </p:nvSpPr>
        <p:spPr>
          <a:xfrm>
            <a:off x="-8180" y="6586525"/>
            <a:ext cx="6062471" cy="215444"/>
          </a:xfrm>
          <a:prstGeom prst="rect">
            <a:avLst/>
          </a:prstGeom>
          <a:noFill/>
        </p:spPr>
        <p:txBody>
          <a:bodyPr wrap="square" rtlCol="0">
            <a:spAutoFit/>
          </a:bodyPr>
          <a:lstStyle/>
          <a:p>
            <a:r>
              <a:rPr lang="en-US" sz="800" dirty="0"/>
              <a:t>Sources: KeyBanc Capital Markets; U.S. Census Bureau; American Society of Anesthesiologists; Kaiser Family Foundation</a:t>
            </a:r>
          </a:p>
        </p:txBody>
      </p:sp>
      <p:sp>
        <p:nvSpPr>
          <p:cNvPr id="41" name="Rectangle: Diagonal Corners Snipped 40">
            <a:extLst>
              <a:ext uri="{FF2B5EF4-FFF2-40B4-BE49-F238E27FC236}">
                <a16:creationId xmlns:a16="http://schemas.microsoft.com/office/drawing/2014/main" id="{7599920E-EF2D-1781-6A2F-638D0161D7F1}"/>
              </a:ext>
            </a:extLst>
          </p:cNvPr>
          <p:cNvSpPr/>
          <p:nvPr/>
        </p:nvSpPr>
        <p:spPr>
          <a:xfrm>
            <a:off x="3153507" y="3973866"/>
            <a:ext cx="2834640" cy="285170"/>
          </a:xfrm>
          <a:prstGeom prst="snip2DiagRect">
            <a:avLst/>
          </a:prstGeom>
          <a:solidFill>
            <a:schemeClr val="accent2">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 Americans Over Age 65</a:t>
            </a:r>
            <a:endParaRPr lang="en-US" sz="1400" b="1" baseline="30000" dirty="0">
              <a:solidFill>
                <a:schemeClr val="bg1"/>
              </a:solidFill>
            </a:endParaRPr>
          </a:p>
        </p:txBody>
      </p:sp>
      <p:sp>
        <p:nvSpPr>
          <p:cNvPr id="42" name="Rectangle: Diagonal Corners Snipped 41">
            <a:extLst>
              <a:ext uri="{FF2B5EF4-FFF2-40B4-BE49-F238E27FC236}">
                <a16:creationId xmlns:a16="http://schemas.microsoft.com/office/drawing/2014/main" id="{D820B9C4-CC60-E367-84B6-577705549AEA}"/>
              </a:ext>
            </a:extLst>
          </p:cNvPr>
          <p:cNvSpPr/>
          <p:nvPr/>
        </p:nvSpPr>
        <p:spPr>
          <a:xfrm>
            <a:off x="6126480" y="3973866"/>
            <a:ext cx="2834640" cy="285170"/>
          </a:xfrm>
          <a:prstGeom prst="snip2DiagRect">
            <a:avLst/>
          </a:prstGeom>
          <a:solidFill>
            <a:schemeClr val="accent2">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Key Industry Stats</a:t>
            </a:r>
            <a:endParaRPr lang="en-US" sz="1400" b="1" baseline="30000" dirty="0">
              <a:solidFill>
                <a:schemeClr val="bg1"/>
              </a:solidFill>
            </a:endParaRPr>
          </a:p>
        </p:txBody>
      </p:sp>
      <p:pic>
        <p:nvPicPr>
          <p:cNvPr id="43" name="Picture 42">
            <a:extLst>
              <a:ext uri="{FF2B5EF4-FFF2-40B4-BE49-F238E27FC236}">
                <a16:creationId xmlns:a16="http://schemas.microsoft.com/office/drawing/2014/main" id="{C5DC9B2D-7B7C-0032-5287-25C04CC4877F}"/>
              </a:ext>
            </a:extLst>
          </p:cNvPr>
          <p:cNvPicPr>
            <a:picLocks noChangeAspect="1"/>
          </p:cNvPicPr>
          <p:nvPr/>
        </p:nvPicPr>
        <p:blipFill>
          <a:blip r:embed="rId10"/>
          <a:stretch>
            <a:fillRect/>
          </a:stretch>
        </p:blipFill>
        <p:spPr>
          <a:xfrm>
            <a:off x="3154097" y="4588099"/>
            <a:ext cx="2834886" cy="1457070"/>
          </a:xfrm>
          <a:prstGeom prst="rect">
            <a:avLst/>
          </a:prstGeom>
        </p:spPr>
      </p:pic>
      <p:pic>
        <p:nvPicPr>
          <p:cNvPr id="45" name="Picture 44">
            <a:extLst>
              <a:ext uri="{FF2B5EF4-FFF2-40B4-BE49-F238E27FC236}">
                <a16:creationId xmlns:a16="http://schemas.microsoft.com/office/drawing/2014/main" id="{10B75F3E-69C7-E8D1-75E4-BA63986E21C7}"/>
              </a:ext>
            </a:extLst>
          </p:cNvPr>
          <p:cNvPicPr>
            <a:picLocks noChangeAspect="1"/>
          </p:cNvPicPr>
          <p:nvPr/>
        </p:nvPicPr>
        <p:blipFill>
          <a:blip r:embed="rId11"/>
          <a:stretch>
            <a:fillRect/>
          </a:stretch>
        </p:blipFill>
        <p:spPr>
          <a:xfrm>
            <a:off x="450527" y="4770995"/>
            <a:ext cx="2286198" cy="1274174"/>
          </a:xfrm>
          <a:prstGeom prst="rect">
            <a:avLst/>
          </a:prstGeom>
        </p:spPr>
      </p:pic>
      <p:cxnSp>
        <p:nvCxnSpPr>
          <p:cNvPr id="46" name="Straight Arrow Connector 45">
            <a:extLst>
              <a:ext uri="{FF2B5EF4-FFF2-40B4-BE49-F238E27FC236}">
                <a16:creationId xmlns:a16="http://schemas.microsoft.com/office/drawing/2014/main" id="{A90E1F20-7938-9DF8-04FE-DB9204A8A8B5}"/>
              </a:ext>
            </a:extLst>
          </p:cNvPr>
          <p:cNvCxnSpPr>
            <a:cxnSpLocks/>
          </p:cNvCxnSpPr>
          <p:nvPr/>
        </p:nvCxnSpPr>
        <p:spPr>
          <a:xfrm flipV="1">
            <a:off x="1091704" y="4703452"/>
            <a:ext cx="987353" cy="382878"/>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00F777AF-1ADE-3BEA-49F4-C089482B135C}"/>
              </a:ext>
            </a:extLst>
          </p:cNvPr>
          <p:cNvSpPr txBox="1"/>
          <p:nvPr/>
        </p:nvSpPr>
        <p:spPr>
          <a:xfrm rot="20455129">
            <a:off x="1014721" y="4747485"/>
            <a:ext cx="922581" cy="215445"/>
          </a:xfrm>
          <a:prstGeom prst="rect">
            <a:avLst/>
          </a:prstGeom>
          <a:noFill/>
        </p:spPr>
        <p:txBody>
          <a:bodyPr wrap="square" rtlCol="0">
            <a:spAutoFit/>
          </a:bodyPr>
          <a:lstStyle/>
          <a:p>
            <a:pPr algn="ctr"/>
            <a:r>
              <a:rPr lang="en-US" sz="800" b="1" dirty="0"/>
              <a:t>3.4% CAGR</a:t>
            </a:r>
          </a:p>
        </p:txBody>
      </p:sp>
      <p:sp>
        <p:nvSpPr>
          <p:cNvPr id="49" name="TextBox 48">
            <a:extLst>
              <a:ext uri="{FF2B5EF4-FFF2-40B4-BE49-F238E27FC236}">
                <a16:creationId xmlns:a16="http://schemas.microsoft.com/office/drawing/2014/main" id="{6761DF76-B943-44F0-4687-D5809A4279BC}"/>
              </a:ext>
            </a:extLst>
          </p:cNvPr>
          <p:cNvSpPr txBox="1"/>
          <p:nvPr/>
        </p:nvSpPr>
        <p:spPr>
          <a:xfrm>
            <a:off x="618190" y="4488007"/>
            <a:ext cx="922581" cy="215445"/>
          </a:xfrm>
          <a:prstGeom prst="rect">
            <a:avLst/>
          </a:prstGeom>
          <a:noFill/>
        </p:spPr>
        <p:txBody>
          <a:bodyPr wrap="square" rtlCol="0">
            <a:spAutoFit/>
          </a:bodyPr>
          <a:lstStyle/>
          <a:p>
            <a:pPr algn="ctr"/>
            <a:r>
              <a:rPr lang="en-US" sz="800" i="1" dirty="0"/>
              <a:t>(millions)</a:t>
            </a:r>
          </a:p>
        </p:txBody>
      </p:sp>
      <p:sp>
        <p:nvSpPr>
          <p:cNvPr id="50" name="TextBox 49">
            <a:extLst>
              <a:ext uri="{FF2B5EF4-FFF2-40B4-BE49-F238E27FC236}">
                <a16:creationId xmlns:a16="http://schemas.microsoft.com/office/drawing/2014/main" id="{32628C17-2F27-4B13-FEB7-4B5F35D61D2A}"/>
              </a:ext>
            </a:extLst>
          </p:cNvPr>
          <p:cNvSpPr txBox="1"/>
          <p:nvPr/>
        </p:nvSpPr>
        <p:spPr>
          <a:xfrm>
            <a:off x="3285981" y="4488007"/>
            <a:ext cx="922581" cy="215445"/>
          </a:xfrm>
          <a:prstGeom prst="rect">
            <a:avLst/>
          </a:prstGeom>
          <a:noFill/>
        </p:spPr>
        <p:txBody>
          <a:bodyPr wrap="square" rtlCol="0">
            <a:spAutoFit/>
          </a:bodyPr>
          <a:lstStyle/>
          <a:p>
            <a:pPr algn="ctr"/>
            <a:r>
              <a:rPr lang="en-US" sz="800" i="1" dirty="0"/>
              <a:t>(millions)</a:t>
            </a:r>
          </a:p>
        </p:txBody>
      </p:sp>
      <p:sp>
        <p:nvSpPr>
          <p:cNvPr id="52" name="TextBox 51">
            <a:extLst>
              <a:ext uri="{FF2B5EF4-FFF2-40B4-BE49-F238E27FC236}">
                <a16:creationId xmlns:a16="http://schemas.microsoft.com/office/drawing/2014/main" id="{AF286123-D626-DCBA-F0A9-0B7C801C0705}"/>
              </a:ext>
            </a:extLst>
          </p:cNvPr>
          <p:cNvSpPr txBox="1"/>
          <p:nvPr/>
        </p:nvSpPr>
        <p:spPr>
          <a:xfrm>
            <a:off x="6120867" y="4440139"/>
            <a:ext cx="610896" cy="274320"/>
          </a:xfrm>
          <a:prstGeom prst="rect">
            <a:avLst/>
          </a:prstGeom>
          <a:ln>
            <a:noFill/>
          </a:ln>
          <a:effectLst/>
        </p:spPr>
        <p:txBody>
          <a:bodyPr vert="horz" wrap="square" lIns="0" tIns="0" rIns="0" bIns="0" rtlCol="0" anchor="ctr" anchorCtr="0">
            <a:noAutofit/>
          </a:bodyPr>
          <a:lstStyle/>
          <a:p>
            <a:pPr algn="ctr"/>
            <a:r>
              <a:rPr lang="en-US" sz="1200" b="1" i="1" dirty="0"/>
              <a:t>15</a:t>
            </a:r>
          </a:p>
        </p:txBody>
      </p:sp>
      <p:sp>
        <p:nvSpPr>
          <p:cNvPr id="53" name="TextBox 52">
            <a:extLst>
              <a:ext uri="{FF2B5EF4-FFF2-40B4-BE49-F238E27FC236}">
                <a16:creationId xmlns:a16="http://schemas.microsoft.com/office/drawing/2014/main" id="{C365CD09-DECE-129E-4CED-1E257F9F5559}"/>
              </a:ext>
            </a:extLst>
          </p:cNvPr>
          <p:cNvSpPr txBox="1"/>
          <p:nvPr/>
        </p:nvSpPr>
        <p:spPr>
          <a:xfrm>
            <a:off x="6681703" y="4358476"/>
            <a:ext cx="2286198" cy="437647"/>
          </a:xfrm>
          <a:prstGeom prst="rect">
            <a:avLst/>
          </a:prstGeom>
          <a:ln>
            <a:noFill/>
          </a:ln>
          <a:effectLst/>
        </p:spPr>
        <p:txBody>
          <a:bodyPr vert="horz" wrap="square" lIns="0" tIns="0" rIns="0" bIns="0" rtlCol="0" anchor="ctr" anchorCtr="0">
            <a:noAutofit/>
          </a:bodyPr>
          <a:lstStyle/>
          <a:p>
            <a:pPr algn="ctr"/>
            <a:r>
              <a:rPr lang="en-US" sz="1000" dirty="0"/>
              <a:t>Anesthesia organizations that employ at least 500 physicians</a:t>
            </a:r>
            <a:endParaRPr lang="en-US" sz="1000" baseline="30000" dirty="0"/>
          </a:p>
        </p:txBody>
      </p:sp>
      <p:sp>
        <p:nvSpPr>
          <p:cNvPr id="54" name="TextBox 53">
            <a:extLst>
              <a:ext uri="{FF2B5EF4-FFF2-40B4-BE49-F238E27FC236}">
                <a16:creationId xmlns:a16="http://schemas.microsoft.com/office/drawing/2014/main" id="{BB0BAB60-F1BD-A6E0-2970-531757A8CDE4}"/>
              </a:ext>
            </a:extLst>
          </p:cNvPr>
          <p:cNvSpPr txBox="1"/>
          <p:nvPr/>
        </p:nvSpPr>
        <p:spPr>
          <a:xfrm>
            <a:off x="6120867" y="4997476"/>
            <a:ext cx="610896" cy="274320"/>
          </a:xfrm>
          <a:prstGeom prst="rect">
            <a:avLst/>
          </a:prstGeom>
          <a:ln>
            <a:noFill/>
          </a:ln>
          <a:effectLst/>
        </p:spPr>
        <p:txBody>
          <a:bodyPr vert="horz" wrap="square" lIns="0" tIns="0" rIns="0" bIns="0" rtlCol="0" anchor="ctr" anchorCtr="0">
            <a:noAutofit/>
          </a:bodyPr>
          <a:lstStyle/>
          <a:p>
            <a:pPr algn="ctr"/>
            <a:r>
              <a:rPr lang="en-US" sz="1200" b="1" i="1" dirty="0"/>
              <a:t>22%</a:t>
            </a:r>
          </a:p>
        </p:txBody>
      </p:sp>
      <p:sp>
        <p:nvSpPr>
          <p:cNvPr id="55" name="TextBox 54">
            <a:extLst>
              <a:ext uri="{FF2B5EF4-FFF2-40B4-BE49-F238E27FC236}">
                <a16:creationId xmlns:a16="http://schemas.microsoft.com/office/drawing/2014/main" id="{01BA9CF8-ABF4-03ED-D376-B586AE8FB783}"/>
              </a:ext>
            </a:extLst>
          </p:cNvPr>
          <p:cNvSpPr txBox="1"/>
          <p:nvPr/>
        </p:nvSpPr>
        <p:spPr>
          <a:xfrm>
            <a:off x="6681703" y="4915813"/>
            <a:ext cx="2286198" cy="437647"/>
          </a:xfrm>
          <a:prstGeom prst="rect">
            <a:avLst/>
          </a:prstGeom>
          <a:ln>
            <a:noFill/>
          </a:ln>
          <a:effectLst/>
        </p:spPr>
        <p:txBody>
          <a:bodyPr vert="horz" wrap="square" lIns="0" tIns="0" rIns="0" bIns="0" rtlCol="0" anchor="ctr" anchorCtr="0">
            <a:noAutofit/>
          </a:bodyPr>
          <a:lstStyle/>
          <a:p>
            <a:pPr algn="ctr"/>
            <a:r>
              <a:rPr lang="en-US" sz="1000" dirty="0"/>
              <a:t>US Population over 65 by 2040</a:t>
            </a:r>
            <a:endParaRPr lang="en-US" sz="1000" baseline="30000" dirty="0"/>
          </a:p>
        </p:txBody>
      </p:sp>
      <p:sp>
        <p:nvSpPr>
          <p:cNvPr id="56" name="TextBox 55">
            <a:extLst>
              <a:ext uri="{FF2B5EF4-FFF2-40B4-BE49-F238E27FC236}">
                <a16:creationId xmlns:a16="http://schemas.microsoft.com/office/drawing/2014/main" id="{9D186B47-5AB1-2A10-7021-FF653E416786}"/>
              </a:ext>
            </a:extLst>
          </p:cNvPr>
          <p:cNvSpPr txBox="1"/>
          <p:nvPr/>
        </p:nvSpPr>
        <p:spPr>
          <a:xfrm>
            <a:off x="6120867" y="5554813"/>
            <a:ext cx="610896" cy="274320"/>
          </a:xfrm>
          <a:prstGeom prst="rect">
            <a:avLst/>
          </a:prstGeom>
          <a:ln>
            <a:noFill/>
          </a:ln>
          <a:effectLst/>
        </p:spPr>
        <p:txBody>
          <a:bodyPr vert="horz" wrap="square" lIns="0" tIns="0" rIns="0" bIns="0" rtlCol="0" anchor="ctr" anchorCtr="0">
            <a:noAutofit/>
          </a:bodyPr>
          <a:lstStyle/>
          <a:p>
            <a:pPr algn="ctr"/>
            <a:r>
              <a:rPr lang="en-US" sz="1200" b="1" i="1" dirty="0"/>
              <a:t>60%</a:t>
            </a:r>
          </a:p>
        </p:txBody>
      </p:sp>
      <p:sp>
        <p:nvSpPr>
          <p:cNvPr id="57" name="TextBox 56">
            <a:extLst>
              <a:ext uri="{FF2B5EF4-FFF2-40B4-BE49-F238E27FC236}">
                <a16:creationId xmlns:a16="http://schemas.microsoft.com/office/drawing/2014/main" id="{B2134B36-12F6-4DE0-977F-B29412ACF5DC}"/>
              </a:ext>
            </a:extLst>
          </p:cNvPr>
          <p:cNvSpPr txBox="1"/>
          <p:nvPr/>
        </p:nvSpPr>
        <p:spPr>
          <a:xfrm>
            <a:off x="6681703" y="5473150"/>
            <a:ext cx="2286198" cy="437647"/>
          </a:xfrm>
          <a:prstGeom prst="rect">
            <a:avLst/>
          </a:prstGeom>
          <a:ln>
            <a:noFill/>
          </a:ln>
          <a:effectLst/>
        </p:spPr>
        <p:txBody>
          <a:bodyPr vert="horz" wrap="square" lIns="0" tIns="0" rIns="0" bIns="0" rtlCol="0" anchor="ctr" anchorCtr="0">
            <a:noAutofit/>
          </a:bodyPr>
          <a:lstStyle/>
          <a:p>
            <a:pPr algn="ctr"/>
            <a:r>
              <a:rPr lang="en-US" sz="1000" dirty="0"/>
              <a:t>Elderly population that will suffer from more than one chronic condition</a:t>
            </a:r>
            <a:endParaRPr lang="en-US" sz="1000" baseline="30000" dirty="0"/>
          </a:p>
        </p:txBody>
      </p:sp>
      <p:sp>
        <p:nvSpPr>
          <p:cNvPr id="58" name="TextBox 57">
            <a:extLst>
              <a:ext uri="{FF2B5EF4-FFF2-40B4-BE49-F238E27FC236}">
                <a16:creationId xmlns:a16="http://schemas.microsoft.com/office/drawing/2014/main" id="{B9CF3571-1D70-E01D-12E1-71F02A76EC79}"/>
              </a:ext>
            </a:extLst>
          </p:cNvPr>
          <p:cNvSpPr txBox="1"/>
          <p:nvPr/>
        </p:nvSpPr>
        <p:spPr>
          <a:xfrm>
            <a:off x="6120867" y="6112148"/>
            <a:ext cx="610896" cy="274320"/>
          </a:xfrm>
          <a:prstGeom prst="rect">
            <a:avLst/>
          </a:prstGeom>
          <a:ln>
            <a:noFill/>
          </a:ln>
          <a:effectLst/>
        </p:spPr>
        <p:txBody>
          <a:bodyPr vert="horz" wrap="square" lIns="0" tIns="0" rIns="0" bIns="0" rtlCol="0" anchor="ctr" anchorCtr="0">
            <a:noAutofit/>
          </a:bodyPr>
          <a:lstStyle/>
          <a:p>
            <a:pPr algn="ctr"/>
            <a:r>
              <a:rPr lang="en-US" sz="1200" b="1" i="1" dirty="0"/>
              <a:t>80%</a:t>
            </a:r>
          </a:p>
        </p:txBody>
      </p:sp>
      <p:sp>
        <p:nvSpPr>
          <p:cNvPr id="59" name="TextBox 58">
            <a:extLst>
              <a:ext uri="{FF2B5EF4-FFF2-40B4-BE49-F238E27FC236}">
                <a16:creationId xmlns:a16="http://schemas.microsoft.com/office/drawing/2014/main" id="{194D27D4-5863-0B40-4B86-2930C289E6F8}"/>
              </a:ext>
            </a:extLst>
          </p:cNvPr>
          <p:cNvSpPr txBox="1"/>
          <p:nvPr/>
        </p:nvSpPr>
        <p:spPr>
          <a:xfrm>
            <a:off x="6681703" y="6030485"/>
            <a:ext cx="2286198" cy="437647"/>
          </a:xfrm>
          <a:prstGeom prst="rect">
            <a:avLst/>
          </a:prstGeom>
          <a:ln>
            <a:noFill/>
          </a:ln>
          <a:effectLst/>
        </p:spPr>
        <p:txBody>
          <a:bodyPr vert="horz" wrap="square" lIns="0" tIns="0" rIns="0" bIns="0" rtlCol="0" anchor="ctr" anchorCtr="0">
            <a:noAutofit/>
          </a:bodyPr>
          <a:lstStyle/>
          <a:p>
            <a:pPr algn="ctr"/>
            <a:r>
              <a:rPr lang="en-US" sz="1000" dirty="0"/>
              <a:t>Hospitals provide stipend payments to their anesthesia provider</a:t>
            </a:r>
            <a:endParaRPr lang="en-US" sz="1000" baseline="30000" dirty="0"/>
          </a:p>
        </p:txBody>
      </p:sp>
      <p:cxnSp>
        <p:nvCxnSpPr>
          <p:cNvPr id="60" name="Straight Connector 59">
            <a:extLst>
              <a:ext uri="{FF2B5EF4-FFF2-40B4-BE49-F238E27FC236}">
                <a16:creationId xmlns:a16="http://schemas.microsoft.com/office/drawing/2014/main" id="{A958CD57-860B-98D1-AF72-58BE4C3D3EE9}"/>
              </a:ext>
            </a:extLst>
          </p:cNvPr>
          <p:cNvCxnSpPr>
            <a:cxnSpLocks/>
          </p:cNvCxnSpPr>
          <p:nvPr/>
        </p:nvCxnSpPr>
        <p:spPr>
          <a:xfrm>
            <a:off x="6333312" y="4837420"/>
            <a:ext cx="2651760" cy="0"/>
          </a:xfrm>
          <a:prstGeom prst="line">
            <a:avLst/>
          </a:prstGeom>
          <a:ln>
            <a:solidFill>
              <a:schemeClr val="bg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0B284AD-E097-CEC2-13CB-D3C74AE5E2EC}"/>
              </a:ext>
            </a:extLst>
          </p:cNvPr>
          <p:cNvCxnSpPr>
            <a:cxnSpLocks/>
          </p:cNvCxnSpPr>
          <p:nvPr/>
        </p:nvCxnSpPr>
        <p:spPr>
          <a:xfrm>
            <a:off x="6333312" y="5394757"/>
            <a:ext cx="2651760" cy="0"/>
          </a:xfrm>
          <a:prstGeom prst="line">
            <a:avLst/>
          </a:prstGeom>
          <a:ln>
            <a:solidFill>
              <a:schemeClr val="bg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BF4942D-5DED-4CFC-1402-D44578004324}"/>
              </a:ext>
            </a:extLst>
          </p:cNvPr>
          <p:cNvCxnSpPr>
            <a:cxnSpLocks/>
          </p:cNvCxnSpPr>
          <p:nvPr/>
        </p:nvCxnSpPr>
        <p:spPr>
          <a:xfrm>
            <a:off x="6333312" y="5952094"/>
            <a:ext cx="2651760" cy="0"/>
          </a:xfrm>
          <a:prstGeom prst="line">
            <a:avLst/>
          </a:prstGeom>
          <a:ln>
            <a:solidFill>
              <a:schemeClr val="bg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D17E7D8-4A8C-72AF-9A1C-E135CE763367}"/>
              </a:ext>
            </a:extLst>
          </p:cNvPr>
          <p:cNvCxnSpPr>
            <a:cxnSpLocks/>
          </p:cNvCxnSpPr>
          <p:nvPr/>
        </p:nvCxnSpPr>
        <p:spPr>
          <a:xfrm>
            <a:off x="6333312" y="6509431"/>
            <a:ext cx="2651760" cy="0"/>
          </a:xfrm>
          <a:prstGeom prst="line">
            <a:avLst/>
          </a:prstGeom>
          <a:ln>
            <a:solidFill>
              <a:schemeClr val="bg2">
                <a:lumMod val="90000"/>
              </a:schemeClr>
            </a:solidFill>
          </a:ln>
          <a:effectLst/>
        </p:spPr>
        <p:style>
          <a:lnRef idx="1">
            <a:schemeClr val="accent1"/>
          </a:lnRef>
          <a:fillRef idx="0">
            <a:schemeClr val="accent1"/>
          </a:fillRef>
          <a:effectRef idx="0">
            <a:schemeClr val="accent1"/>
          </a:effectRef>
          <a:fontRef idx="minor">
            <a:schemeClr val="tx1"/>
          </a:fontRef>
        </p:style>
      </p:cxnSp>
      <p:sp>
        <p:nvSpPr>
          <p:cNvPr id="4" name="Slide Number Placeholder 8">
            <a:extLst>
              <a:ext uri="{FF2B5EF4-FFF2-40B4-BE49-F238E27FC236}">
                <a16:creationId xmlns:a16="http://schemas.microsoft.com/office/drawing/2014/main" id="{E9834C33-5BB7-FDC0-4D65-59C275239126}"/>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33</a:t>
            </a:fld>
            <a:endParaRPr lang="en-US" dirty="0"/>
          </a:p>
        </p:txBody>
      </p:sp>
    </p:spTree>
    <p:extLst>
      <p:ext uri="{BB962C8B-B14F-4D97-AF65-F5344CB8AC3E}">
        <p14:creationId xmlns:p14="http://schemas.microsoft.com/office/powerpoint/2010/main" val="30991278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99917-6C4E-8E2D-5032-01B33715CD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EC4667-323F-CAC5-3174-8C586BD646A0}"/>
              </a:ext>
            </a:extLst>
          </p:cNvPr>
          <p:cNvSpPr>
            <a:spLocks noGrp="1"/>
          </p:cNvSpPr>
          <p:nvPr>
            <p:ph type="title"/>
          </p:nvPr>
        </p:nvSpPr>
        <p:spPr/>
        <p:txBody>
          <a:bodyPr>
            <a:normAutofit/>
          </a:bodyPr>
          <a:lstStyle/>
          <a:p>
            <a:r>
              <a:rPr lang="en-US" dirty="0"/>
              <a:t>Anesthesia Staffing Market Outlook</a:t>
            </a:r>
          </a:p>
        </p:txBody>
      </p:sp>
      <p:sp>
        <p:nvSpPr>
          <p:cNvPr id="17" name="Rectangle: Diagonal Corners Snipped 16">
            <a:extLst>
              <a:ext uri="{FF2B5EF4-FFF2-40B4-BE49-F238E27FC236}">
                <a16:creationId xmlns:a16="http://schemas.microsoft.com/office/drawing/2014/main" id="{8A878727-D621-8CE3-7D5B-70F12970E53F}"/>
              </a:ext>
            </a:extLst>
          </p:cNvPr>
          <p:cNvSpPr/>
          <p:nvPr/>
        </p:nvSpPr>
        <p:spPr>
          <a:xfrm>
            <a:off x="176305" y="1389433"/>
            <a:ext cx="4261223"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Market Overview</a:t>
            </a:r>
            <a:endParaRPr lang="en-US" sz="1400" b="1" baseline="30000" dirty="0">
              <a:solidFill>
                <a:schemeClr val="bg1"/>
              </a:solidFill>
            </a:endParaRPr>
          </a:p>
        </p:txBody>
      </p:sp>
      <p:sp>
        <p:nvSpPr>
          <p:cNvPr id="21" name="TextBox 20">
            <a:extLst>
              <a:ext uri="{FF2B5EF4-FFF2-40B4-BE49-F238E27FC236}">
                <a16:creationId xmlns:a16="http://schemas.microsoft.com/office/drawing/2014/main" id="{AC8D5D80-AF93-9B73-4903-D951102BD6A3}"/>
              </a:ext>
            </a:extLst>
          </p:cNvPr>
          <p:cNvSpPr txBox="1"/>
          <p:nvPr/>
        </p:nvSpPr>
        <p:spPr>
          <a:xfrm>
            <a:off x="176305" y="1716250"/>
            <a:ext cx="4261223" cy="2811026"/>
          </a:xfrm>
          <a:prstGeom prst="rect">
            <a:avLst/>
          </a:prstGeom>
          <a:noFill/>
        </p:spPr>
        <p:txBody>
          <a:bodyPr wrap="square" rtlCol="0">
            <a:spAutoFit/>
          </a:bodyPr>
          <a:lstStyle/>
          <a:p>
            <a:pPr marL="171450" indent="-171450" algn="just">
              <a:spcBef>
                <a:spcPts val="200"/>
              </a:spcBef>
              <a:spcAft>
                <a:spcPts val="200"/>
              </a:spcAft>
              <a:buFont typeface="Arial" panose="020B0604020202020204" pitchFamily="34" charset="0"/>
              <a:buChar char="•"/>
            </a:pPr>
            <a:r>
              <a:rPr lang="en-US" sz="1000" dirty="0"/>
              <a:t>The U.S. Anesthesia Staffing market is experiencing a critical and worsening shortage of both anesthesiologists and Certified Registered Nurse Anesthetists (“CRNAs”), with up to 78% of facilities reporting shortages as of the end of 2022, up from approximately 35% pre-pandemic.</a:t>
            </a:r>
          </a:p>
          <a:p>
            <a:pPr marL="171450" indent="-171450" algn="just">
              <a:spcBef>
                <a:spcPts val="200"/>
              </a:spcBef>
              <a:spcAft>
                <a:spcPts val="200"/>
              </a:spcAft>
              <a:buFont typeface="Arial" panose="020B0604020202020204" pitchFamily="34" charset="0"/>
              <a:buChar char="•"/>
            </a:pPr>
            <a:r>
              <a:rPr lang="en-US" sz="1000" dirty="0"/>
              <a:t>Projections indicate a shortfall of approximately 6,300 anesthesiologists by 2036, and a 22% workforce shortage across anesthesiology by 2033. </a:t>
            </a:r>
          </a:p>
          <a:p>
            <a:pPr marL="171450" indent="-171450" algn="just">
              <a:spcBef>
                <a:spcPts val="200"/>
              </a:spcBef>
              <a:spcAft>
                <a:spcPts val="200"/>
              </a:spcAft>
              <a:buFont typeface="Arial" panose="020B0604020202020204" pitchFamily="34" charset="0"/>
              <a:buChar char="•"/>
            </a:pPr>
            <a:r>
              <a:rPr lang="en-US" sz="1000" dirty="0"/>
              <a:t>The primary drivers of these shortages include:</a:t>
            </a:r>
          </a:p>
          <a:p>
            <a:pPr marL="346075" lvl="1" indent="-173038" algn="just">
              <a:spcBef>
                <a:spcPts val="200"/>
              </a:spcBef>
              <a:spcAft>
                <a:spcPts val="200"/>
              </a:spcAft>
              <a:buFont typeface="Aptos" panose="020B0004020202020204" pitchFamily="34" charset="0"/>
              <a:buChar char="─"/>
            </a:pPr>
            <a:r>
              <a:rPr lang="en-US" sz="1000" dirty="0"/>
              <a:t>An ageing anesthesia workforce (over half of anesthesiologists are over 55) compounded by increasing retirement rates, particularly accelerated by the COVID-19 pandemic. </a:t>
            </a:r>
          </a:p>
          <a:p>
            <a:pPr marL="346075" lvl="1" indent="-173038" algn="just">
              <a:spcBef>
                <a:spcPts val="200"/>
              </a:spcBef>
              <a:spcAft>
                <a:spcPts val="200"/>
              </a:spcAft>
              <a:buFont typeface="Aptos" panose="020B0004020202020204" pitchFamily="34" charset="0"/>
              <a:buChar char="─"/>
            </a:pPr>
            <a:r>
              <a:rPr lang="en-US" sz="1000" dirty="0"/>
              <a:t>Limited pipeline of new providers due to restricted residency positions.</a:t>
            </a:r>
          </a:p>
          <a:p>
            <a:pPr marL="346075" lvl="1" indent="-173038" algn="just">
              <a:spcBef>
                <a:spcPts val="200"/>
              </a:spcBef>
              <a:spcAft>
                <a:spcPts val="200"/>
              </a:spcAft>
              <a:buFont typeface="Aptos" panose="020B0004020202020204" pitchFamily="34" charset="0"/>
              <a:buChar char="─"/>
            </a:pPr>
            <a:r>
              <a:rPr lang="en-US" sz="1000" dirty="0"/>
              <a:t>Rising demand for surgical and procedural anesthesia, especially as the population ages and seeks more procedures.</a:t>
            </a:r>
          </a:p>
        </p:txBody>
      </p:sp>
      <p:sp>
        <p:nvSpPr>
          <p:cNvPr id="26" name="Rectangle: Diagonal Corners Snipped 25">
            <a:extLst>
              <a:ext uri="{FF2B5EF4-FFF2-40B4-BE49-F238E27FC236}">
                <a16:creationId xmlns:a16="http://schemas.microsoft.com/office/drawing/2014/main" id="{BC584209-F72B-3183-366A-A8B5B46DF58A}"/>
              </a:ext>
            </a:extLst>
          </p:cNvPr>
          <p:cNvSpPr/>
          <p:nvPr/>
        </p:nvSpPr>
        <p:spPr>
          <a:xfrm>
            <a:off x="4706472" y="1389433"/>
            <a:ext cx="4261223"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Ambulatory Anesthesia – In Focus</a:t>
            </a:r>
            <a:endParaRPr lang="en-US" sz="1400" b="1" baseline="30000" dirty="0">
              <a:solidFill>
                <a:schemeClr val="bg1"/>
              </a:solidFill>
            </a:endParaRPr>
          </a:p>
        </p:txBody>
      </p:sp>
      <p:sp>
        <p:nvSpPr>
          <p:cNvPr id="29" name="TextBox 28">
            <a:extLst>
              <a:ext uri="{FF2B5EF4-FFF2-40B4-BE49-F238E27FC236}">
                <a16:creationId xmlns:a16="http://schemas.microsoft.com/office/drawing/2014/main" id="{D04B0E5E-16A6-C757-4EB0-7ED681C51B40}"/>
              </a:ext>
            </a:extLst>
          </p:cNvPr>
          <p:cNvSpPr txBox="1"/>
          <p:nvPr/>
        </p:nvSpPr>
        <p:spPr>
          <a:xfrm>
            <a:off x="-8180" y="6586525"/>
            <a:ext cx="5138445" cy="215444"/>
          </a:xfrm>
          <a:prstGeom prst="rect">
            <a:avLst/>
          </a:prstGeom>
          <a:noFill/>
        </p:spPr>
        <p:txBody>
          <a:bodyPr wrap="square" rtlCol="0">
            <a:spAutoFit/>
          </a:bodyPr>
          <a:lstStyle/>
          <a:p>
            <a:r>
              <a:rPr lang="en-US" sz="800" dirty="0"/>
              <a:t>Sources: Medicus Healthcare Research; American Society of Anesthesiologists; Outpatient Surgery Magazine</a:t>
            </a:r>
          </a:p>
        </p:txBody>
      </p:sp>
      <p:sp>
        <p:nvSpPr>
          <p:cNvPr id="30" name="TextBox 29">
            <a:extLst>
              <a:ext uri="{FF2B5EF4-FFF2-40B4-BE49-F238E27FC236}">
                <a16:creationId xmlns:a16="http://schemas.microsoft.com/office/drawing/2014/main" id="{62071C60-4FEF-1ECE-4470-9AAF6DD08274}"/>
              </a:ext>
            </a:extLst>
          </p:cNvPr>
          <p:cNvSpPr txBox="1"/>
          <p:nvPr/>
        </p:nvSpPr>
        <p:spPr>
          <a:xfrm>
            <a:off x="4706472" y="1716250"/>
            <a:ext cx="4261223" cy="2605842"/>
          </a:xfrm>
          <a:prstGeom prst="rect">
            <a:avLst/>
          </a:prstGeom>
          <a:noFill/>
        </p:spPr>
        <p:txBody>
          <a:bodyPr wrap="square" rtlCol="0">
            <a:spAutoFit/>
          </a:bodyPr>
          <a:lstStyle/>
          <a:p>
            <a:pPr marL="171450" indent="-171450" algn="just">
              <a:spcBef>
                <a:spcPts val="200"/>
              </a:spcBef>
              <a:spcAft>
                <a:spcPts val="200"/>
              </a:spcAft>
              <a:buFont typeface="Arial" panose="020B0604020202020204" pitchFamily="34" charset="0"/>
              <a:buChar char="•"/>
            </a:pPr>
            <a:r>
              <a:rPr lang="en-US" sz="1000" dirty="0"/>
              <a:t>The shift towards outpatient and minimally invasive procedures is accelerating demand for anesthesia in ambulatory settings.</a:t>
            </a:r>
          </a:p>
          <a:p>
            <a:pPr marL="171450" indent="-171450" algn="just">
              <a:spcBef>
                <a:spcPts val="200"/>
              </a:spcBef>
              <a:spcAft>
                <a:spcPts val="200"/>
              </a:spcAft>
              <a:buFont typeface="Arial" panose="020B0604020202020204" pitchFamily="34" charset="0"/>
              <a:buChar char="•"/>
            </a:pPr>
            <a:r>
              <a:rPr lang="en-US" sz="1000" dirty="0"/>
              <a:t>Ambulatory Surgical Centers (“ASCs”) are particularly affected by anesthesia staffing shortages, leading to operational challenges and margin compression due to rising labor costs and stagnant payer reimbursement. </a:t>
            </a:r>
          </a:p>
          <a:p>
            <a:pPr marL="171450" indent="-171450" algn="just">
              <a:spcBef>
                <a:spcPts val="200"/>
              </a:spcBef>
              <a:spcAft>
                <a:spcPts val="200"/>
              </a:spcAft>
              <a:buFont typeface="Arial" panose="020B0604020202020204" pitchFamily="34" charset="0"/>
              <a:buChar char="•"/>
            </a:pPr>
            <a:r>
              <a:rPr lang="en-US" sz="1000" dirty="0"/>
              <a:t>ASCs increasingly rely on a mix of employed anesthesiologists, CRNAs, and 1099 providers to maintain coverage. </a:t>
            </a:r>
          </a:p>
          <a:p>
            <a:pPr marL="171450" indent="-171450" algn="just">
              <a:spcBef>
                <a:spcPts val="200"/>
              </a:spcBef>
              <a:spcAft>
                <a:spcPts val="200"/>
              </a:spcAft>
              <a:buFont typeface="Arial" panose="020B0604020202020204" pitchFamily="34" charset="0"/>
              <a:buChar char="•"/>
            </a:pPr>
            <a:r>
              <a:rPr lang="en-US" sz="1000" dirty="0"/>
              <a:t>As the anesthesia staffing shortage persists and worsens, ASCs and other ambulatory providers will need to continue innovating with staffing models, compensation, and operational efficiencies to maintain adequate anesthesia coverage and financial viability.</a:t>
            </a:r>
          </a:p>
          <a:p>
            <a:pPr marL="346075" lvl="1" indent="-173038" algn="just">
              <a:spcBef>
                <a:spcPts val="200"/>
              </a:spcBef>
              <a:spcAft>
                <a:spcPts val="200"/>
              </a:spcAft>
              <a:buFont typeface="Aptos" panose="020B0004020202020204" pitchFamily="34" charset="0"/>
              <a:buChar char="─"/>
            </a:pPr>
            <a:r>
              <a:rPr lang="en-US" sz="1000" dirty="0"/>
              <a:t>Strategic partnerships with staffing agencies, adoption of care team models, and proactive workforce planning will be essential for success in the evolving market. </a:t>
            </a:r>
          </a:p>
        </p:txBody>
      </p:sp>
      <p:sp>
        <p:nvSpPr>
          <p:cNvPr id="31" name="TextBox 30">
            <a:extLst>
              <a:ext uri="{FF2B5EF4-FFF2-40B4-BE49-F238E27FC236}">
                <a16:creationId xmlns:a16="http://schemas.microsoft.com/office/drawing/2014/main" id="{AB8A5D64-5A8E-8E08-4FBF-C4F7B6F5966A}"/>
              </a:ext>
            </a:extLst>
          </p:cNvPr>
          <p:cNvSpPr txBox="1"/>
          <p:nvPr/>
        </p:nvSpPr>
        <p:spPr>
          <a:xfrm>
            <a:off x="228600" y="904787"/>
            <a:ext cx="8686800" cy="461665"/>
          </a:xfrm>
          <a:prstGeom prst="rect">
            <a:avLst/>
          </a:prstGeom>
          <a:noFill/>
        </p:spPr>
        <p:txBody>
          <a:bodyPr wrap="square" rtlCol="0">
            <a:spAutoFit/>
          </a:bodyPr>
          <a:lstStyle/>
          <a:p>
            <a:pPr algn="ctr"/>
            <a:r>
              <a:rPr lang="en-US" sz="1200" b="1" i="1" dirty="0"/>
              <a:t>The anesthesia staffing market, especially for ambulatory anesthesia, is marked by acute shortages, rising demand, and a need for flexible, innovative staffing solutions to ensure continuity and quality of care.</a:t>
            </a:r>
          </a:p>
        </p:txBody>
      </p:sp>
      <p:sp>
        <p:nvSpPr>
          <p:cNvPr id="33" name="Rectangle: Diagonal Corners Snipped 32">
            <a:extLst>
              <a:ext uri="{FF2B5EF4-FFF2-40B4-BE49-F238E27FC236}">
                <a16:creationId xmlns:a16="http://schemas.microsoft.com/office/drawing/2014/main" id="{7095056A-2938-5B9D-6E79-177DB10BCC32}"/>
              </a:ext>
            </a:extLst>
          </p:cNvPr>
          <p:cNvSpPr/>
          <p:nvPr/>
        </p:nvSpPr>
        <p:spPr>
          <a:xfrm>
            <a:off x="4706472" y="4318236"/>
            <a:ext cx="4261223"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U.S. ASC Market Size Outlook</a:t>
            </a:r>
            <a:endParaRPr lang="en-US" sz="1400" b="1" baseline="30000" dirty="0">
              <a:solidFill>
                <a:schemeClr val="bg1"/>
              </a:solidFill>
            </a:endParaRPr>
          </a:p>
        </p:txBody>
      </p:sp>
      <p:pic>
        <p:nvPicPr>
          <p:cNvPr id="36" name="Picture 35">
            <a:extLst>
              <a:ext uri="{FF2B5EF4-FFF2-40B4-BE49-F238E27FC236}">
                <a16:creationId xmlns:a16="http://schemas.microsoft.com/office/drawing/2014/main" id="{3B8E7234-C8FB-6A50-ED13-F0B760168F0D}"/>
              </a:ext>
            </a:extLst>
          </p:cNvPr>
          <p:cNvPicPr>
            <a:picLocks noChangeAspect="1"/>
          </p:cNvPicPr>
          <p:nvPr/>
        </p:nvPicPr>
        <p:blipFill>
          <a:blip r:embed="rId2"/>
          <a:stretch>
            <a:fillRect/>
          </a:stretch>
        </p:blipFill>
        <p:spPr>
          <a:xfrm>
            <a:off x="4754994" y="4677507"/>
            <a:ext cx="4212701" cy="1926503"/>
          </a:xfrm>
          <a:prstGeom prst="rect">
            <a:avLst/>
          </a:prstGeom>
        </p:spPr>
      </p:pic>
      <p:cxnSp>
        <p:nvCxnSpPr>
          <p:cNvPr id="38" name="Straight Arrow Connector 37">
            <a:extLst>
              <a:ext uri="{FF2B5EF4-FFF2-40B4-BE49-F238E27FC236}">
                <a16:creationId xmlns:a16="http://schemas.microsoft.com/office/drawing/2014/main" id="{62921BF9-05A1-4791-EB72-64931266B6FC}"/>
              </a:ext>
            </a:extLst>
          </p:cNvPr>
          <p:cNvCxnSpPr>
            <a:cxnSpLocks/>
          </p:cNvCxnSpPr>
          <p:nvPr/>
        </p:nvCxnSpPr>
        <p:spPr>
          <a:xfrm flipV="1">
            <a:off x="5034012" y="4677507"/>
            <a:ext cx="3522847" cy="587866"/>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DAADA0FE-2972-2757-664A-71D1425761C6}"/>
              </a:ext>
            </a:extLst>
          </p:cNvPr>
          <p:cNvSpPr txBox="1"/>
          <p:nvPr/>
        </p:nvSpPr>
        <p:spPr>
          <a:xfrm rot="21099766">
            <a:off x="6132738" y="4822417"/>
            <a:ext cx="922581" cy="215445"/>
          </a:xfrm>
          <a:prstGeom prst="rect">
            <a:avLst/>
          </a:prstGeom>
          <a:noFill/>
        </p:spPr>
        <p:txBody>
          <a:bodyPr wrap="square" rtlCol="0">
            <a:spAutoFit/>
          </a:bodyPr>
          <a:lstStyle/>
          <a:p>
            <a:pPr algn="ctr"/>
            <a:r>
              <a:rPr lang="en-US" sz="800" b="1" dirty="0"/>
              <a:t>5.7% CAGR</a:t>
            </a:r>
          </a:p>
        </p:txBody>
      </p:sp>
      <p:sp>
        <p:nvSpPr>
          <p:cNvPr id="41" name="TextBox 40">
            <a:extLst>
              <a:ext uri="{FF2B5EF4-FFF2-40B4-BE49-F238E27FC236}">
                <a16:creationId xmlns:a16="http://schemas.microsoft.com/office/drawing/2014/main" id="{F5297A3E-DDA4-9A2F-C3C0-C08FA19EF6C9}"/>
              </a:ext>
            </a:extLst>
          </p:cNvPr>
          <p:cNvSpPr txBox="1"/>
          <p:nvPr/>
        </p:nvSpPr>
        <p:spPr>
          <a:xfrm>
            <a:off x="4968479" y="4683099"/>
            <a:ext cx="922581" cy="215445"/>
          </a:xfrm>
          <a:prstGeom prst="rect">
            <a:avLst/>
          </a:prstGeom>
          <a:noFill/>
        </p:spPr>
        <p:txBody>
          <a:bodyPr wrap="square" rtlCol="0">
            <a:spAutoFit/>
          </a:bodyPr>
          <a:lstStyle/>
          <a:p>
            <a:pPr algn="ctr"/>
            <a:r>
              <a:rPr lang="en-US" sz="800" i="1" dirty="0"/>
              <a:t>($ in billions)</a:t>
            </a:r>
          </a:p>
        </p:txBody>
      </p:sp>
      <p:grpSp>
        <p:nvGrpSpPr>
          <p:cNvPr id="54" name="Group 53">
            <a:extLst>
              <a:ext uri="{FF2B5EF4-FFF2-40B4-BE49-F238E27FC236}">
                <a16:creationId xmlns:a16="http://schemas.microsoft.com/office/drawing/2014/main" id="{4CC8FA70-C92C-AD48-B64C-7719BACD253C}"/>
              </a:ext>
            </a:extLst>
          </p:cNvPr>
          <p:cNvGrpSpPr/>
          <p:nvPr/>
        </p:nvGrpSpPr>
        <p:grpSpPr>
          <a:xfrm>
            <a:off x="2463480" y="4586254"/>
            <a:ext cx="2017951" cy="1506755"/>
            <a:chOff x="2463480" y="4961640"/>
            <a:chExt cx="2017951" cy="1506755"/>
          </a:xfrm>
        </p:grpSpPr>
        <p:pic>
          <p:nvPicPr>
            <p:cNvPr id="52" name="Picture 51">
              <a:extLst>
                <a:ext uri="{FF2B5EF4-FFF2-40B4-BE49-F238E27FC236}">
                  <a16:creationId xmlns:a16="http://schemas.microsoft.com/office/drawing/2014/main" id="{C4D4284A-9CB4-54CA-457F-111183B5F230}"/>
                </a:ext>
              </a:extLst>
            </p:cNvPr>
            <p:cNvPicPr>
              <a:picLocks noChangeAspect="1"/>
            </p:cNvPicPr>
            <p:nvPr/>
          </p:nvPicPr>
          <p:blipFill>
            <a:blip r:embed="rId3"/>
            <a:stretch>
              <a:fillRect/>
            </a:stretch>
          </p:blipFill>
          <p:spPr>
            <a:xfrm>
              <a:off x="2463480" y="5377116"/>
              <a:ext cx="2017951" cy="1091279"/>
            </a:xfrm>
            <a:prstGeom prst="rect">
              <a:avLst/>
            </a:prstGeom>
          </p:spPr>
        </p:pic>
        <p:cxnSp>
          <p:nvCxnSpPr>
            <p:cNvPr id="45" name="Straight Arrow Connector 44">
              <a:extLst>
                <a:ext uri="{FF2B5EF4-FFF2-40B4-BE49-F238E27FC236}">
                  <a16:creationId xmlns:a16="http://schemas.microsoft.com/office/drawing/2014/main" id="{93252F13-2221-DA14-A9FC-43A7E5652E98}"/>
                </a:ext>
              </a:extLst>
            </p:cNvPr>
            <p:cNvCxnSpPr>
              <a:cxnSpLocks/>
            </p:cNvCxnSpPr>
            <p:nvPr/>
          </p:nvCxnSpPr>
          <p:spPr>
            <a:xfrm flipV="1">
              <a:off x="2999646" y="5585426"/>
              <a:ext cx="616512" cy="177420"/>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3FAC3FAE-1EF1-9BDB-3555-D33719680DBE}"/>
                </a:ext>
              </a:extLst>
            </p:cNvPr>
            <p:cNvSpPr txBox="1"/>
            <p:nvPr/>
          </p:nvSpPr>
          <p:spPr>
            <a:xfrm rot="20650051">
              <a:off x="2777146" y="5477703"/>
              <a:ext cx="922581" cy="215445"/>
            </a:xfrm>
            <a:prstGeom prst="rect">
              <a:avLst/>
            </a:prstGeom>
            <a:noFill/>
          </p:spPr>
          <p:txBody>
            <a:bodyPr wrap="square" rtlCol="0">
              <a:spAutoFit/>
            </a:bodyPr>
            <a:lstStyle/>
            <a:p>
              <a:pPr algn="ctr"/>
              <a:r>
                <a:rPr lang="en-US" sz="800" b="1" dirty="0"/>
                <a:t>10% Growth</a:t>
              </a:r>
            </a:p>
          </p:txBody>
        </p:sp>
        <p:sp>
          <p:nvSpPr>
            <p:cNvPr id="51" name="TextBox 50">
              <a:extLst>
                <a:ext uri="{FF2B5EF4-FFF2-40B4-BE49-F238E27FC236}">
                  <a16:creationId xmlns:a16="http://schemas.microsoft.com/office/drawing/2014/main" id="{93C08FA5-FF23-6B83-B55C-5838249CE48A}"/>
                </a:ext>
              </a:extLst>
            </p:cNvPr>
            <p:cNvSpPr txBox="1"/>
            <p:nvPr/>
          </p:nvSpPr>
          <p:spPr>
            <a:xfrm>
              <a:off x="2951287" y="4961640"/>
              <a:ext cx="1042338" cy="461665"/>
            </a:xfrm>
            <a:prstGeom prst="rect">
              <a:avLst/>
            </a:prstGeom>
            <a:noFill/>
          </p:spPr>
          <p:txBody>
            <a:bodyPr wrap="square" rtlCol="0">
              <a:spAutoFit/>
            </a:bodyPr>
            <a:lstStyle/>
            <a:p>
              <a:pPr algn="ctr"/>
              <a:r>
                <a:rPr lang="en-US" sz="800" b="1" dirty="0"/>
                <a:t>Projected CRNA Employment Growth in U.S.</a:t>
              </a:r>
            </a:p>
          </p:txBody>
        </p:sp>
      </p:grpSp>
      <p:sp>
        <p:nvSpPr>
          <p:cNvPr id="53" name="TextBox 52">
            <a:extLst>
              <a:ext uri="{FF2B5EF4-FFF2-40B4-BE49-F238E27FC236}">
                <a16:creationId xmlns:a16="http://schemas.microsoft.com/office/drawing/2014/main" id="{F85D537C-18E3-31AA-B16A-C6553A621594}"/>
              </a:ext>
            </a:extLst>
          </p:cNvPr>
          <p:cNvSpPr txBox="1"/>
          <p:nvPr/>
        </p:nvSpPr>
        <p:spPr>
          <a:xfrm>
            <a:off x="224835" y="4497386"/>
            <a:ext cx="2444961" cy="1836400"/>
          </a:xfrm>
          <a:prstGeom prst="rect">
            <a:avLst/>
          </a:prstGeom>
          <a:noFill/>
        </p:spPr>
        <p:txBody>
          <a:bodyPr wrap="square" rtlCol="0">
            <a:spAutoFit/>
          </a:bodyPr>
          <a:lstStyle/>
          <a:p>
            <a:pPr marL="171450" indent="-171450" algn="just">
              <a:spcBef>
                <a:spcPts val="200"/>
              </a:spcBef>
              <a:spcAft>
                <a:spcPts val="200"/>
              </a:spcAft>
              <a:buFont typeface="Arial" panose="020B0604020202020204" pitchFamily="34" charset="0"/>
              <a:buChar char="•"/>
            </a:pPr>
            <a:r>
              <a:rPr lang="en-US" sz="1000" dirty="0"/>
              <a:t>In recent years, states have been passing legislation to eliminate the need for direct physician supervision over CRNAs for many procedures, opening a path for greater CRNA growth.</a:t>
            </a:r>
          </a:p>
          <a:p>
            <a:pPr marL="171450" indent="-171450" algn="just">
              <a:spcBef>
                <a:spcPts val="200"/>
              </a:spcBef>
              <a:spcAft>
                <a:spcPts val="200"/>
              </a:spcAft>
              <a:buFont typeface="Arial" panose="020B0604020202020204" pitchFamily="34" charset="0"/>
              <a:buChar char="•"/>
            </a:pPr>
            <a:r>
              <a:rPr lang="en-US" sz="1000" dirty="0"/>
              <a:t>Due to rapid demand of healthcare services and spending, employment of Anesthesiologists and CRNAs is projected to grow faster than the average occupation through 2032.</a:t>
            </a:r>
          </a:p>
        </p:txBody>
      </p:sp>
      <p:sp>
        <p:nvSpPr>
          <p:cNvPr id="4" name="Slide Number Placeholder 8">
            <a:extLst>
              <a:ext uri="{FF2B5EF4-FFF2-40B4-BE49-F238E27FC236}">
                <a16:creationId xmlns:a16="http://schemas.microsoft.com/office/drawing/2014/main" id="{A2CC055E-0F5D-6D26-E445-61A3B5C05C6F}"/>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34</a:t>
            </a:fld>
            <a:endParaRPr lang="en-US" dirty="0"/>
          </a:p>
        </p:txBody>
      </p:sp>
    </p:spTree>
    <p:extLst>
      <p:ext uri="{BB962C8B-B14F-4D97-AF65-F5344CB8AC3E}">
        <p14:creationId xmlns:p14="http://schemas.microsoft.com/office/powerpoint/2010/main" val="35278566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CB102-E24D-7910-CB7F-D81D9C118F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1A7919-4497-D149-E4FE-130DF5BDBCDF}"/>
              </a:ext>
            </a:extLst>
          </p:cNvPr>
          <p:cNvSpPr>
            <a:spLocks noGrp="1"/>
          </p:cNvSpPr>
          <p:nvPr>
            <p:ph type="title"/>
          </p:nvPr>
        </p:nvSpPr>
        <p:spPr/>
        <p:txBody>
          <a:bodyPr>
            <a:normAutofit/>
          </a:bodyPr>
          <a:lstStyle/>
          <a:p>
            <a:r>
              <a:rPr lang="en-US" dirty="0"/>
              <a:t>Anesthesia in the ASC Value-Chain</a:t>
            </a:r>
          </a:p>
        </p:txBody>
      </p:sp>
      <p:sp>
        <p:nvSpPr>
          <p:cNvPr id="29" name="TextBox 28">
            <a:extLst>
              <a:ext uri="{FF2B5EF4-FFF2-40B4-BE49-F238E27FC236}">
                <a16:creationId xmlns:a16="http://schemas.microsoft.com/office/drawing/2014/main" id="{B86FA09F-ABB4-5F62-F10D-E084FF6345D8}"/>
              </a:ext>
            </a:extLst>
          </p:cNvPr>
          <p:cNvSpPr txBox="1"/>
          <p:nvPr/>
        </p:nvSpPr>
        <p:spPr>
          <a:xfrm>
            <a:off x="-8180" y="6586525"/>
            <a:ext cx="5138445" cy="215444"/>
          </a:xfrm>
          <a:prstGeom prst="rect">
            <a:avLst/>
          </a:prstGeom>
          <a:noFill/>
        </p:spPr>
        <p:txBody>
          <a:bodyPr wrap="square" rtlCol="0">
            <a:spAutoFit/>
          </a:bodyPr>
          <a:lstStyle/>
          <a:p>
            <a:r>
              <a:rPr lang="en-US" sz="800" dirty="0"/>
              <a:t>Sources: Becker’s ASC Review; National Library of Medicine.</a:t>
            </a:r>
          </a:p>
        </p:txBody>
      </p:sp>
      <p:sp>
        <p:nvSpPr>
          <p:cNvPr id="4" name="TextBox 3">
            <a:extLst>
              <a:ext uri="{FF2B5EF4-FFF2-40B4-BE49-F238E27FC236}">
                <a16:creationId xmlns:a16="http://schemas.microsoft.com/office/drawing/2014/main" id="{99C19737-0873-8027-7C26-FB1500707F7A}"/>
              </a:ext>
            </a:extLst>
          </p:cNvPr>
          <p:cNvSpPr txBox="1"/>
          <p:nvPr/>
        </p:nvSpPr>
        <p:spPr>
          <a:xfrm>
            <a:off x="228600" y="981789"/>
            <a:ext cx="8686800" cy="2349361"/>
          </a:xfrm>
          <a:prstGeom prst="rect">
            <a:avLst/>
          </a:prstGeom>
          <a:noFill/>
        </p:spPr>
        <p:txBody>
          <a:bodyPr wrap="square" rtlCol="0">
            <a:spAutoFit/>
          </a:bodyPr>
          <a:lstStyle/>
          <a:p>
            <a:pPr marL="228600" indent="-228600">
              <a:spcBef>
                <a:spcPts val="400"/>
              </a:spcBef>
              <a:spcAft>
                <a:spcPts val="400"/>
              </a:spcAft>
              <a:buFont typeface="Arial" panose="020B0604020202020204" pitchFamily="34" charset="0"/>
              <a:buChar char="•"/>
            </a:pPr>
            <a:r>
              <a:rPr lang="en-US" sz="1200" dirty="0"/>
              <a:t>Anesthesia is a high-value, low-cost component of the ASC value-chain that underpins safety, efficiency, and patient satisfaction in ASC surgical operations.</a:t>
            </a:r>
          </a:p>
          <a:p>
            <a:pPr marL="228600" indent="-228600">
              <a:spcBef>
                <a:spcPts val="400"/>
              </a:spcBef>
              <a:spcAft>
                <a:spcPts val="400"/>
              </a:spcAft>
              <a:buFont typeface="Arial" panose="020B0604020202020204" pitchFamily="34" charset="0"/>
              <a:buChar char="•"/>
            </a:pPr>
            <a:r>
              <a:rPr lang="en-US" sz="1200" dirty="0"/>
              <a:t>For common procedures in ambulatory / outpatient settings, anesthesia represents as little as &lt;1% to as much as 20% of the total cost of the procedure, depending on the complexity and type of procedure. </a:t>
            </a:r>
          </a:p>
          <a:p>
            <a:pPr marL="517525" lvl="1" indent="-284163">
              <a:spcBef>
                <a:spcPts val="400"/>
              </a:spcBef>
              <a:spcAft>
                <a:spcPts val="400"/>
              </a:spcAft>
              <a:buFont typeface="Aptos" panose="020B0004020202020204" pitchFamily="34" charset="0"/>
              <a:buChar char="─"/>
            </a:pPr>
            <a:r>
              <a:rPr lang="en-US" sz="1200" dirty="0"/>
              <a:t>For example, for a typical lens/cataract surgery, anesthesia represents ~0.7% of the cost, while in something like Carpal Tunnel Release (CTR) surgery, it can represent ~20% of total cost. </a:t>
            </a:r>
          </a:p>
          <a:p>
            <a:pPr marL="228600" indent="-228600">
              <a:spcBef>
                <a:spcPts val="400"/>
              </a:spcBef>
              <a:spcAft>
                <a:spcPts val="400"/>
              </a:spcAft>
              <a:buFont typeface="Arial" panose="020B0604020202020204" pitchFamily="34" charset="0"/>
              <a:buChar char="•"/>
            </a:pPr>
            <a:r>
              <a:rPr lang="en-US" sz="1200" dirty="0"/>
              <a:t>The top three procedure types in AAS’s current business mix are (i) Ophthalmologic, (ii) Orthopedic, and (iii) neuromuscular procedures, which represent 23, 18, and 13% of total collections in 2024, respectively. </a:t>
            </a:r>
          </a:p>
          <a:p>
            <a:pPr marL="517525" lvl="1" indent="-284163">
              <a:spcBef>
                <a:spcPts val="400"/>
              </a:spcBef>
              <a:spcAft>
                <a:spcPts val="400"/>
              </a:spcAft>
              <a:buFont typeface="Aptos" panose="020B0004020202020204" pitchFamily="34" charset="0"/>
              <a:buChar char="─"/>
            </a:pPr>
            <a:r>
              <a:rPr lang="en-US" sz="1200" dirty="0"/>
              <a:t>In ASC settings, these procedures represent a relatively modest portion (4-15%) of total cost, as outlined in the table below:</a:t>
            </a:r>
          </a:p>
        </p:txBody>
      </p:sp>
      <p:graphicFrame>
        <p:nvGraphicFramePr>
          <p:cNvPr id="5" name="Table 4">
            <a:extLst>
              <a:ext uri="{FF2B5EF4-FFF2-40B4-BE49-F238E27FC236}">
                <a16:creationId xmlns:a16="http://schemas.microsoft.com/office/drawing/2014/main" id="{34A1A464-2D1D-0534-F5B9-65A62DBD9A54}"/>
              </a:ext>
            </a:extLst>
          </p:cNvPr>
          <p:cNvGraphicFramePr>
            <a:graphicFrameLocks noGrp="1"/>
          </p:cNvGraphicFramePr>
          <p:nvPr>
            <p:extLst>
              <p:ext uri="{D42A27DB-BD31-4B8C-83A1-F6EECF244321}">
                <p14:modId xmlns:p14="http://schemas.microsoft.com/office/powerpoint/2010/main" val="1865324734"/>
              </p:ext>
            </p:extLst>
          </p:nvPr>
        </p:nvGraphicFramePr>
        <p:xfrm>
          <a:off x="1325880" y="3774440"/>
          <a:ext cx="6492240" cy="1630680"/>
        </p:xfrm>
        <a:graphic>
          <a:graphicData uri="http://schemas.openxmlformats.org/drawingml/2006/table">
            <a:tbl>
              <a:tblPr firstRow="1" bandRow="1">
                <a:tableStyleId>{5C22544A-7EE6-4342-B048-85BDC9FD1C3A}</a:tableStyleId>
              </a:tblPr>
              <a:tblGrid>
                <a:gridCol w="2164080">
                  <a:extLst>
                    <a:ext uri="{9D8B030D-6E8A-4147-A177-3AD203B41FA5}">
                      <a16:colId xmlns:a16="http://schemas.microsoft.com/office/drawing/2014/main" val="1835487569"/>
                    </a:ext>
                  </a:extLst>
                </a:gridCol>
                <a:gridCol w="2164080">
                  <a:extLst>
                    <a:ext uri="{9D8B030D-6E8A-4147-A177-3AD203B41FA5}">
                      <a16:colId xmlns:a16="http://schemas.microsoft.com/office/drawing/2014/main" val="591371217"/>
                    </a:ext>
                  </a:extLst>
                </a:gridCol>
                <a:gridCol w="2164080">
                  <a:extLst>
                    <a:ext uri="{9D8B030D-6E8A-4147-A177-3AD203B41FA5}">
                      <a16:colId xmlns:a16="http://schemas.microsoft.com/office/drawing/2014/main" val="3730972488"/>
                    </a:ext>
                  </a:extLst>
                </a:gridCol>
              </a:tblGrid>
              <a:tr h="370840">
                <a:tc>
                  <a:txBody>
                    <a:bodyPr/>
                    <a:lstStyle/>
                    <a:p>
                      <a:r>
                        <a:rPr lang="en-US" sz="1400" dirty="0"/>
                        <a:t>Procedure Type</a:t>
                      </a:r>
                    </a:p>
                  </a:txBody>
                  <a:tcPr anchor="ctr">
                    <a:solidFill>
                      <a:schemeClr val="accent1">
                        <a:lumMod val="50000"/>
                      </a:schemeClr>
                    </a:solidFill>
                  </a:tcPr>
                </a:tc>
                <a:tc>
                  <a:txBody>
                    <a:bodyPr/>
                    <a:lstStyle/>
                    <a:p>
                      <a:r>
                        <a:rPr lang="en-US" sz="1400" dirty="0"/>
                        <a:t>Example Procedure</a:t>
                      </a:r>
                    </a:p>
                  </a:txBody>
                  <a:tcPr anchor="ctr">
                    <a:solidFill>
                      <a:schemeClr val="accent1">
                        <a:lumMod val="50000"/>
                      </a:schemeClr>
                    </a:solidFill>
                  </a:tcPr>
                </a:tc>
                <a:tc>
                  <a:txBody>
                    <a:bodyPr/>
                    <a:lstStyle/>
                    <a:p>
                      <a:r>
                        <a:rPr lang="en-US" sz="1400" dirty="0"/>
                        <a:t>Anesthesia % of Total Cost (ASC)</a:t>
                      </a:r>
                    </a:p>
                  </a:txBody>
                  <a:tcPr anchor="ctr">
                    <a:solidFill>
                      <a:schemeClr val="accent1">
                        <a:lumMod val="50000"/>
                      </a:schemeClr>
                    </a:solidFill>
                  </a:tcPr>
                </a:tc>
                <a:extLst>
                  <a:ext uri="{0D108BD9-81ED-4DB2-BD59-A6C34878D82A}">
                    <a16:rowId xmlns:a16="http://schemas.microsoft.com/office/drawing/2014/main" val="1537858601"/>
                  </a:ext>
                </a:extLst>
              </a:tr>
              <a:tr h="370840">
                <a:tc>
                  <a:txBody>
                    <a:bodyPr/>
                    <a:lstStyle/>
                    <a:p>
                      <a:r>
                        <a:rPr lang="en-US" sz="1200" dirty="0"/>
                        <a:t>Ophthalmologic</a:t>
                      </a:r>
                    </a:p>
                  </a:txBody>
                  <a:tcPr anchor="ctr">
                    <a:solidFill>
                      <a:schemeClr val="bg1">
                        <a:lumMod val="95000"/>
                      </a:schemeClr>
                    </a:solidFill>
                  </a:tcPr>
                </a:tc>
                <a:tc>
                  <a:txBody>
                    <a:bodyPr/>
                    <a:lstStyle/>
                    <a:p>
                      <a:r>
                        <a:rPr lang="en-US" sz="1200" dirty="0"/>
                        <a:t>Cataract, Vitrectomy (PPV)</a:t>
                      </a:r>
                    </a:p>
                  </a:txBody>
                  <a:tcPr anchor="ctr">
                    <a:solidFill>
                      <a:schemeClr val="bg1">
                        <a:lumMod val="95000"/>
                      </a:schemeClr>
                    </a:solidFill>
                  </a:tcPr>
                </a:tc>
                <a:tc>
                  <a:txBody>
                    <a:bodyPr/>
                    <a:lstStyle/>
                    <a:p>
                      <a:r>
                        <a:rPr lang="en-US" sz="1200" dirty="0"/>
                        <a:t>4-10%</a:t>
                      </a:r>
                    </a:p>
                  </a:txBody>
                  <a:tcPr anchor="ctr">
                    <a:solidFill>
                      <a:schemeClr val="bg1">
                        <a:lumMod val="95000"/>
                      </a:schemeClr>
                    </a:solidFill>
                  </a:tcPr>
                </a:tc>
                <a:extLst>
                  <a:ext uri="{0D108BD9-81ED-4DB2-BD59-A6C34878D82A}">
                    <a16:rowId xmlns:a16="http://schemas.microsoft.com/office/drawing/2014/main" val="1499056534"/>
                  </a:ext>
                </a:extLst>
              </a:tr>
              <a:tr h="370840">
                <a:tc>
                  <a:txBody>
                    <a:bodyPr/>
                    <a:lstStyle/>
                    <a:p>
                      <a:r>
                        <a:rPr lang="en-US" sz="1200" dirty="0"/>
                        <a:t>Orthopedic</a:t>
                      </a:r>
                    </a:p>
                  </a:txBody>
                  <a:tcPr anchor="ctr">
                    <a:solidFill>
                      <a:schemeClr val="bg1">
                        <a:lumMod val="85000"/>
                      </a:schemeClr>
                    </a:solidFill>
                  </a:tcPr>
                </a:tc>
                <a:tc>
                  <a:txBody>
                    <a:bodyPr/>
                    <a:lstStyle/>
                    <a:p>
                      <a:r>
                        <a:rPr lang="en-US" sz="1200" dirty="0"/>
                        <a:t>Knee / Shoulder Arthroscopy</a:t>
                      </a:r>
                    </a:p>
                  </a:txBody>
                  <a:tcPr anchor="ctr">
                    <a:solidFill>
                      <a:schemeClr val="bg1">
                        <a:lumMod val="85000"/>
                      </a:schemeClr>
                    </a:solidFill>
                  </a:tcPr>
                </a:tc>
                <a:tc>
                  <a:txBody>
                    <a:bodyPr/>
                    <a:lstStyle/>
                    <a:p>
                      <a:r>
                        <a:rPr lang="en-US" sz="1200" dirty="0"/>
                        <a:t>7-15%</a:t>
                      </a:r>
                    </a:p>
                  </a:txBody>
                  <a:tcPr anchor="ctr">
                    <a:solidFill>
                      <a:schemeClr val="bg1">
                        <a:lumMod val="85000"/>
                      </a:schemeClr>
                    </a:solidFill>
                  </a:tcPr>
                </a:tc>
                <a:extLst>
                  <a:ext uri="{0D108BD9-81ED-4DB2-BD59-A6C34878D82A}">
                    <a16:rowId xmlns:a16="http://schemas.microsoft.com/office/drawing/2014/main" val="3195084240"/>
                  </a:ext>
                </a:extLst>
              </a:tr>
              <a:tr h="370840">
                <a:tc>
                  <a:txBody>
                    <a:bodyPr/>
                    <a:lstStyle/>
                    <a:p>
                      <a:r>
                        <a:rPr lang="en-US" sz="1200" dirty="0"/>
                        <a:t>Neuromuscular</a:t>
                      </a:r>
                    </a:p>
                  </a:txBody>
                  <a:tcPr anchor="ctr">
                    <a:solidFill>
                      <a:schemeClr val="bg1">
                        <a:lumMod val="95000"/>
                      </a:schemeClr>
                    </a:solidFill>
                  </a:tcPr>
                </a:tc>
                <a:tc>
                  <a:txBody>
                    <a:bodyPr/>
                    <a:lstStyle/>
                    <a:p>
                      <a:r>
                        <a:rPr lang="en-US" sz="1200" dirty="0"/>
                        <a:t>Carpal Tunnel, Spinal Stim</a:t>
                      </a:r>
                    </a:p>
                  </a:txBody>
                  <a:tcPr anchor="ctr">
                    <a:solidFill>
                      <a:schemeClr val="bg1">
                        <a:lumMod val="95000"/>
                      </a:schemeClr>
                    </a:solidFill>
                  </a:tcPr>
                </a:tc>
                <a:tc>
                  <a:txBody>
                    <a:bodyPr/>
                    <a:lstStyle/>
                    <a:p>
                      <a:r>
                        <a:rPr lang="en-US" sz="1200" dirty="0"/>
                        <a:t>2-15%</a:t>
                      </a:r>
                    </a:p>
                  </a:txBody>
                  <a:tcPr anchor="ctr">
                    <a:solidFill>
                      <a:schemeClr val="bg1">
                        <a:lumMod val="95000"/>
                      </a:schemeClr>
                    </a:solidFill>
                  </a:tcPr>
                </a:tc>
                <a:extLst>
                  <a:ext uri="{0D108BD9-81ED-4DB2-BD59-A6C34878D82A}">
                    <a16:rowId xmlns:a16="http://schemas.microsoft.com/office/drawing/2014/main" val="1108187650"/>
                  </a:ext>
                </a:extLst>
              </a:tr>
            </a:tbl>
          </a:graphicData>
        </a:graphic>
      </p:graphicFrame>
      <p:sp>
        <p:nvSpPr>
          <p:cNvPr id="3" name="Slide Number Placeholder 2">
            <a:extLst>
              <a:ext uri="{FF2B5EF4-FFF2-40B4-BE49-F238E27FC236}">
                <a16:creationId xmlns:a16="http://schemas.microsoft.com/office/drawing/2014/main" id="{1792F4CA-CCAA-E082-220B-C4FCFFB931C5}"/>
              </a:ext>
            </a:extLst>
          </p:cNvPr>
          <p:cNvSpPr>
            <a:spLocks noGrp="1"/>
          </p:cNvSpPr>
          <p:nvPr>
            <p:ph type="sldNum" sz="quarter" idx="12"/>
          </p:nvPr>
        </p:nvSpPr>
        <p:spPr/>
        <p:txBody>
          <a:bodyPr/>
          <a:lstStyle/>
          <a:p>
            <a:fld id="{F8DDDAE5-3BDD-4D78-843B-A22FA78305BB}" type="slidenum">
              <a:rPr lang="en-US" smtClean="0"/>
              <a:t>35</a:t>
            </a:fld>
            <a:endParaRPr lang="en-US" dirty="0"/>
          </a:p>
        </p:txBody>
      </p:sp>
    </p:spTree>
    <p:extLst>
      <p:ext uri="{BB962C8B-B14F-4D97-AF65-F5344CB8AC3E}">
        <p14:creationId xmlns:p14="http://schemas.microsoft.com/office/powerpoint/2010/main" val="18748279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E3300-9DE3-4A1A-9C11-300558289C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43E129-3125-685D-3F07-AD8F30D627FD}"/>
              </a:ext>
            </a:extLst>
          </p:cNvPr>
          <p:cNvSpPr>
            <a:spLocks noGrp="1"/>
          </p:cNvSpPr>
          <p:nvPr>
            <p:ph type="title"/>
          </p:nvPr>
        </p:nvSpPr>
        <p:spPr/>
        <p:txBody>
          <a:bodyPr>
            <a:normAutofit/>
          </a:bodyPr>
          <a:lstStyle/>
          <a:p>
            <a:r>
              <a:rPr lang="en-US" dirty="0"/>
              <a:t>Potential Board Members and SMEs</a:t>
            </a:r>
          </a:p>
        </p:txBody>
      </p:sp>
      <p:sp>
        <p:nvSpPr>
          <p:cNvPr id="5" name="TextBox 4">
            <a:extLst>
              <a:ext uri="{FF2B5EF4-FFF2-40B4-BE49-F238E27FC236}">
                <a16:creationId xmlns:a16="http://schemas.microsoft.com/office/drawing/2014/main" id="{7B1D5D13-1350-5900-CD28-C1E60D8C674C}"/>
              </a:ext>
            </a:extLst>
          </p:cNvPr>
          <p:cNvSpPr txBox="1"/>
          <p:nvPr/>
        </p:nvSpPr>
        <p:spPr>
          <a:xfrm>
            <a:off x="228600" y="991414"/>
            <a:ext cx="8686800" cy="5201424"/>
          </a:xfrm>
          <a:prstGeom prst="rect">
            <a:avLst/>
          </a:prstGeom>
          <a:noFill/>
        </p:spPr>
        <p:txBody>
          <a:bodyPr wrap="square" rtlCol="0">
            <a:spAutoFit/>
          </a:bodyPr>
          <a:lstStyle/>
          <a:p>
            <a:pPr marL="228600" indent="-228600">
              <a:spcBef>
                <a:spcPts val="600"/>
              </a:spcBef>
              <a:spcAft>
                <a:spcPts val="600"/>
              </a:spcAft>
              <a:buFont typeface="+mj-lt"/>
              <a:buAutoNum type="arabicPeriod"/>
            </a:pPr>
            <a:r>
              <a:rPr lang="en-US" sz="1200" b="1" dirty="0"/>
              <a:t>Nicholas Schmidt </a:t>
            </a:r>
            <a:r>
              <a:rPr lang="en-US" sz="1200" dirty="0"/>
              <a:t>(</a:t>
            </a:r>
            <a:r>
              <a:rPr lang="en-US" sz="1200" dirty="0">
                <a:hlinkClick r:id="rId2"/>
              </a:rPr>
              <a:t>schmidtna1@yahoo.com</a:t>
            </a:r>
            <a:r>
              <a:rPr lang="en-US" sz="1200" dirty="0"/>
              <a:t>; (954) 560-6525) – Nick is an experienced healthcare executive with a proven track record leading large-scale physician practice platforms, driving operational excellence, and executing growth strategies across multi-state healthcare businesses.</a:t>
            </a:r>
          </a:p>
          <a:p>
            <a:pPr marL="685800" lvl="1" indent="-228600">
              <a:spcBef>
                <a:spcPts val="600"/>
              </a:spcBef>
              <a:spcAft>
                <a:spcPts val="600"/>
              </a:spcAft>
              <a:buFont typeface="Arial" panose="020B0604020202020204" pitchFamily="34" charset="0"/>
              <a:buChar char="•"/>
            </a:pPr>
            <a:r>
              <a:rPr lang="en-US" sz="1200" b="1" dirty="0"/>
              <a:t>Chief Operating Officer, OrthoAlliance (2021 – 2023):</a:t>
            </a:r>
            <a:r>
              <a:rPr lang="en-US" sz="1200" dirty="0"/>
              <a:t> Expanded PE-backed platform from a single-site practice of 20 physicians to nearly 200 physicians across three states; integrated ASCs and ancillary services; tripled EBITDA during tenure.</a:t>
            </a:r>
          </a:p>
          <a:p>
            <a:pPr marL="685800" lvl="1" indent="-228600">
              <a:spcBef>
                <a:spcPts val="600"/>
              </a:spcBef>
              <a:spcAft>
                <a:spcPts val="600"/>
              </a:spcAft>
              <a:buFont typeface="Arial" panose="020B0604020202020204" pitchFamily="34" charset="0"/>
              <a:buChar char="•"/>
            </a:pPr>
            <a:r>
              <a:rPr lang="en-US" sz="1200" b="1" dirty="0"/>
              <a:t>President of New Markets, Unified Women’s Healthcare (2020 – 2021):</a:t>
            </a:r>
            <a:r>
              <a:rPr lang="en-US" sz="1200" dirty="0"/>
              <a:t> Led strategy and integration of new-state acquisitions, ensuring operational success and positioning the platform for continued expansion.</a:t>
            </a:r>
          </a:p>
          <a:p>
            <a:pPr marL="685800" lvl="1" indent="-228600">
              <a:spcBef>
                <a:spcPts val="600"/>
              </a:spcBef>
              <a:spcAft>
                <a:spcPts val="600"/>
              </a:spcAft>
              <a:buFont typeface="Arial" panose="020B0604020202020204" pitchFamily="34" charset="0"/>
              <a:buChar char="•"/>
            </a:pPr>
            <a:r>
              <a:rPr lang="en-US" sz="1200" b="1" dirty="0"/>
              <a:t>Market COO, MEDNAX (2019 – 2020; prior leadership roles 2003 – 2019):</a:t>
            </a:r>
            <a:r>
              <a:rPr lang="en-US" sz="1200" dirty="0"/>
              <a:t> Oversaw ~50 practice sites across a four-state region with $300M+ in revenue; negotiated multimillion-dollar reimbursement increases; built cross-functional teams driving practice integration and physician recruitment. </a:t>
            </a:r>
          </a:p>
          <a:p>
            <a:pPr marL="228600" indent="-228600">
              <a:spcBef>
                <a:spcPts val="600"/>
              </a:spcBef>
              <a:spcAft>
                <a:spcPts val="600"/>
              </a:spcAft>
              <a:buFont typeface="+mj-lt"/>
              <a:buAutoNum type="arabicPeriod"/>
            </a:pPr>
            <a:r>
              <a:rPr lang="en-US" sz="1200" b="1" dirty="0"/>
              <a:t>Nicholas Schmidt </a:t>
            </a:r>
            <a:r>
              <a:rPr lang="en-US" sz="1200" dirty="0"/>
              <a:t>([email];[phone number] – Jeremiah is a seasoned government affairs and business strategy executive with nearly 20 years of experience shaping healthcare, insurance, and public policy initiatives.</a:t>
            </a:r>
          </a:p>
          <a:p>
            <a:pPr marL="685800" lvl="1" indent="-228600">
              <a:spcBef>
                <a:spcPts val="600"/>
              </a:spcBef>
              <a:spcAft>
                <a:spcPts val="600"/>
              </a:spcAft>
              <a:buFont typeface="Arial" panose="020B0604020202020204" pitchFamily="34" charset="0"/>
              <a:buChar char="•"/>
            </a:pPr>
            <a:r>
              <a:rPr lang="en-US" sz="1200" b="1" dirty="0"/>
              <a:t>CEO &amp; President, MGS Consultants (2007–Present): </a:t>
            </a:r>
            <a:r>
              <a:rPr lang="en-US" sz="1200" dirty="0"/>
              <a:t>Leads a multi-client lobbying and strategy firm specializing in federal appropriations, healthcare regulation, and corporate advocacy</a:t>
            </a:r>
          </a:p>
          <a:p>
            <a:pPr marL="685800" lvl="1" indent="-228600">
              <a:spcBef>
                <a:spcPts val="600"/>
              </a:spcBef>
              <a:spcAft>
                <a:spcPts val="600"/>
              </a:spcAft>
              <a:buFont typeface="Arial" panose="020B0604020202020204" pitchFamily="34" charset="0"/>
              <a:buChar char="•"/>
            </a:pPr>
            <a:r>
              <a:rPr lang="en-US" sz="1200" b="1" dirty="0"/>
              <a:t>SVP, Government Affairs – Centria Healthcare (2014–Present): </a:t>
            </a:r>
            <a:r>
              <a:rPr lang="en-US" sz="1200" dirty="0"/>
              <a:t>Directs policy and reimbursement strategy for one of the nation’s largest autism therapy providers</a:t>
            </a:r>
          </a:p>
          <a:p>
            <a:pPr marL="685800" lvl="1" indent="-228600">
              <a:spcBef>
                <a:spcPts val="600"/>
              </a:spcBef>
              <a:spcAft>
                <a:spcPts val="600"/>
              </a:spcAft>
              <a:buFont typeface="Arial" panose="020B0604020202020204" pitchFamily="34" charset="0"/>
              <a:buChar char="•"/>
            </a:pPr>
            <a:r>
              <a:rPr lang="en-US" sz="1200" b="1" dirty="0"/>
              <a:t>Political Background: </a:t>
            </a:r>
            <a:r>
              <a:rPr lang="en-US" sz="1200" dirty="0"/>
              <a:t>Former communications specialist for a U.S. Congressman and legislative aide to the Michigan Senate Majority Floor Leader</a:t>
            </a:r>
          </a:p>
          <a:p>
            <a:pPr marL="0" lvl="1">
              <a:spcBef>
                <a:spcPts val="600"/>
              </a:spcBef>
              <a:spcAft>
                <a:spcPts val="600"/>
              </a:spcAft>
            </a:pPr>
            <a:r>
              <a:rPr lang="en-US" sz="1200" b="1" dirty="0"/>
              <a:t>Northern Shore is continuously searching for potential board members and subject matter experts as part of our ongoing diligence and value-creation strategy. </a:t>
            </a:r>
          </a:p>
        </p:txBody>
      </p:sp>
      <p:sp>
        <p:nvSpPr>
          <p:cNvPr id="3" name="Slide Number Placeholder 2">
            <a:extLst>
              <a:ext uri="{FF2B5EF4-FFF2-40B4-BE49-F238E27FC236}">
                <a16:creationId xmlns:a16="http://schemas.microsoft.com/office/drawing/2014/main" id="{CD815292-9222-C44D-C34D-EEC78F95B535}"/>
              </a:ext>
            </a:extLst>
          </p:cNvPr>
          <p:cNvSpPr>
            <a:spLocks noGrp="1"/>
          </p:cNvSpPr>
          <p:nvPr>
            <p:ph type="sldNum" sz="quarter" idx="12"/>
          </p:nvPr>
        </p:nvSpPr>
        <p:spPr/>
        <p:txBody>
          <a:bodyPr/>
          <a:lstStyle/>
          <a:p>
            <a:fld id="{F8DDDAE5-3BDD-4D78-843B-A22FA78305BB}" type="slidenum">
              <a:rPr lang="en-US" smtClean="0"/>
              <a:t>36</a:t>
            </a:fld>
            <a:endParaRPr lang="en-US" dirty="0"/>
          </a:p>
        </p:txBody>
      </p:sp>
    </p:spTree>
    <p:extLst>
      <p:ext uri="{BB962C8B-B14F-4D97-AF65-F5344CB8AC3E}">
        <p14:creationId xmlns:p14="http://schemas.microsoft.com/office/powerpoint/2010/main" val="40951186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7C812-FB3C-B13A-5B8A-F5C0259CF5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D234BA-8887-0179-CCC7-2DC297B21E17}"/>
              </a:ext>
            </a:extLst>
          </p:cNvPr>
          <p:cNvSpPr>
            <a:spLocks noGrp="1"/>
          </p:cNvSpPr>
          <p:nvPr>
            <p:ph type="title"/>
          </p:nvPr>
        </p:nvSpPr>
        <p:spPr/>
        <p:txBody>
          <a:bodyPr>
            <a:normAutofit/>
          </a:bodyPr>
          <a:lstStyle/>
          <a:p>
            <a:r>
              <a:rPr lang="en-US" dirty="0"/>
              <a:t>Investment Banking Relationships</a:t>
            </a:r>
          </a:p>
        </p:txBody>
      </p:sp>
      <p:sp>
        <p:nvSpPr>
          <p:cNvPr id="3" name="TextBox 2">
            <a:extLst>
              <a:ext uri="{FF2B5EF4-FFF2-40B4-BE49-F238E27FC236}">
                <a16:creationId xmlns:a16="http://schemas.microsoft.com/office/drawing/2014/main" id="{E8563C8D-6957-9554-9AF4-CA4D3B2AE7E0}"/>
              </a:ext>
            </a:extLst>
          </p:cNvPr>
          <p:cNvSpPr txBox="1"/>
          <p:nvPr/>
        </p:nvSpPr>
        <p:spPr>
          <a:xfrm>
            <a:off x="228600" y="981789"/>
            <a:ext cx="8686800" cy="3662541"/>
          </a:xfrm>
          <a:prstGeom prst="rect">
            <a:avLst/>
          </a:prstGeom>
          <a:noFill/>
        </p:spPr>
        <p:txBody>
          <a:bodyPr wrap="square" rtlCol="0">
            <a:spAutoFit/>
          </a:bodyPr>
          <a:lstStyle/>
          <a:p>
            <a:pPr marL="228600" indent="-228600">
              <a:spcBef>
                <a:spcPts val="600"/>
              </a:spcBef>
              <a:spcAft>
                <a:spcPts val="600"/>
              </a:spcAft>
              <a:buFont typeface="+mj-lt"/>
              <a:buAutoNum type="arabicPeriod"/>
            </a:pPr>
            <a:r>
              <a:rPr lang="en-US" sz="1200" b="1" dirty="0"/>
              <a:t>Cain Brothers (KeyBanc)</a:t>
            </a:r>
          </a:p>
          <a:p>
            <a:pPr marL="685800" lvl="1" indent="-228600">
              <a:spcBef>
                <a:spcPts val="600"/>
              </a:spcBef>
              <a:spcAft>
                <a:spcPts val="600"/>
              </a:spcAft>
              <a:buFont typeface="Arial" panose="020B0604020202020204" pitchFamily="34" charset="0"/>
              <a:buChar char="•"/>
            </a:pPr>
            <a:r>
              <a:rPr lang="en-US" sz="1200" u="sng" dirty="0"/>
              <a:t>Patrick Allen</a:t>
            </a:r>
            <a:r>
              <a:rPr lang="en-US" sz="1200" dirty="0"/>
              <a:t>, Managing Director (</a:t>
            </a:r>
            <a:r>
              <a:rPr lang="en-US" sz="1200" dirty="0">
                <a:hlinkClick r:id="rId2"/>
              </a:rPr>
              <a:t>pallen@cainbrothers.com</a:t>
            </a:r>
            <a:r>
              <a:rPr lang="en-US" sz="1200" dirty="0"/>
              <a:t>; 312.604.0509)</a:t>
            </a:r>
          </a:p>
          <a:p>
            <a:pPr marL="228600" indent="-228600">
              <a:spcBef>
                <a:spcPts val="600"/>
              </a:spcBef>
              <a:spcAft>
                <a:spcPts val="600"/>
              </a:spcAft>
              <a:buFont typeface="+mj-lt"/>
              <a:buAutoNum type="arabicPeriod"/>
            </a:pPr>
            <a:r>
              <a:rPr lang="en-US" sz="1200" b="1" dirty="0"/>
              <a:t>Brentwood Capital Advisors</a:t>
            </a:r>
          </a:p>
          <a:p>
            <a:pPr marL="685800" lvl="1" indent="-228600">
              <a:spcBef>
                <a:spcPts val="600"/>
              </a:spcBef>
              <a:spcAft>
                <a:spcPts val="600"/>
              </a:spcAft>
              <a:buFont typeface="Arial" panose="020B0604020202020204" pitchFamily="34" charset="0"/>
              <a:buChar char="•"/>
            </a:pPr>
            <a:r>
              <a:rPr lang="en-US" sz="1200" u="sng" dirty="0"/>
              <a:t>Grey Reames</a:t>
            </a:r>
            <a:r>
              <a:rPr lang="en-US" sz="1200" dirty="0"/>
              <a:t>, Vice President (</a:t>
            </a:r>
            <a:r>
              <a:rPr lang="en-US" sz="1200" dirty="0">
                <a:hlinkClick r:id="rId3"/>
              </a:rPr>
              <a:t>greames@brentwoodcapital.com</a:t>
            </a:r>
            <a:r>
              <a:rPr lang="en-US" sz="1200" dirty="0"/>
              <a:t>; 615.425.6493)</a:t>
            </a:r>
          </a:p>
          <a:p>
            <a:pPr marL="228600" indent="-228600">
              <a:spcBef>
                <a:spcPts val="600"/>
              </a:spcBef>
              <a:spcAft>
                <a:spcPts val="600"/>
              </a:spcAft>
              <a:buFont typeface="+mj-lt"/>
              <a:buAutoNum type="arabicPeriod"/>
            </a:pPr>
            <a:r>
              <a:rPr lang="en-US" sz="1200" b="1" dirty="0"/>
              <a:t>Houlihan Lokey</a:t>
            </a:r>
          </a:p>
          <a:p>
            <a:pPr marL="685800" lvl="1" indent="-228600">
              <a:spcBef>
                <a:spcPts val="600"/>
              </a:spcBef>
              <a:spcAft>
                <a:spcPts val="600"/>
              </a:spcAft>
              <a:buFont typeface="Arial" panose="020B0604020202020204" pitchFamily="34" charset="0"/>
              <a:buChar char="•"/>
            </a:pPr>
            <a:r>
              <a:rPr lang="en-US" sz="1200" u="sng" dirty="0"/>
              <a:t>Austin Smith</a:t>
            </a:r>
            <a:r>
              <a:rPr lang="en-US" sz="1200" dirty="0"/>
              <a:t>, Director (</a:t>
            </a:r>
            <a:r>
              <a:rPr lang="en-US" sz="1200" dirty="0">
                <a:hlinkClick r:id="rId4"/>
              </a:rPr>
              <a:t>ansmith@hl.com</a:t>
            </a:r>
            <a:r>
              <a:rPr lang="en-US" sz="1200" dirty="0"/>
              <a:t>; 212.497.4112)</a:t>
            </a:r>
            <a:endParaRPr lang="en-US" sz="1200" b="1" dirty="0"/>
          </a:p>
          <a:p>
            <a:pPr marL="228600" indent="-228600">
              <a:spcBef>
                <a:spcPts val="600"/>
              </a:spcBef>
              <a:spcAft>
                <a:spcPts val="600"/>
              </a:spcAft>
              <a:buFont typeface="+mj-lt"/>
              <a:buAutoNum type="arabicPeriod"/>
            </a:pPr>
            <a:r>
              <a:rPr lang="en-US" sz="1200" b="1" dirty="0"/>
              <a:t>Palm Tree Capital Advisors</a:t>
            </a:r>
          </a:p>
          <a:p>
            <a:pPr marL="685800" lvl="1" indent="-228600">
              <a:spcBef>
                <a:spcPts val="600"/>
              </a:spcBef>
              <a:spcAft>
                <a:spcPts val="600"/>
              </a:spcAft>
              <a:buFont typeface="Arial" panose="020B0604020202020204" pitchFamily="34" charset="0"/>
              <a:buChar char="•"/>
            </a:pPr>
            <a:r>
              <a:rPr lang="en-US" sz="1200" u="sng" dirty="0"/>
              <a:t>Mitchell Steffens</a:t>
            </a:r>
            <a:r>
              <a:rPr lang="en-US" sz="1200" dirty="0"/>
              <a:t>, Vice President (</a:t>
            </a:r>
            <a:r>
              <a:rPr lang="en-US" sz="1200" dirty="0">
                <a:hlinkClick r:id="rId5"/>
              </a:rPr>
              <a:t>msteffens@palmtreellc.com</a:t>
            </a:r>
            <a:r>
              <a:rPr lang="en-US" sz="1200" dirty="0"/>
              <a:t>; 310.636.2050)</a:t>
            </a:r>
            <a:endParaRPr lang="en-US" sz="1200" b="1" dirty="0"/>
          </a:p>
          <a:p>
            <a:pPr marL="228600" indent="-228600">
              <a:spcBef>
                <a:spcPts val="600"/>
              </a:spcBef>
              <a:spcAft>
                <a:spcPts val="600"/>
              </a:spcAft>
              <a:buFont typeface="+mj-lt"/>
              <a:buAutoNum type="arabicPeriod"/>
            </a:pPr>
            <a:r>
              <a:rPr lang="en-US" sz="1200" b="1" dirty="0"/>
              <a:t>TM Capital Advisors</a:t>
            </a:r>
          </a:p>
          <a:p>
            <a:pPr marL="685800" lvl="1" indent="-228600">
              <a:spcBef>
                <a:spcPts val="600"/>
              </a:spcBef>
              <a:spcAft>
                <a:spcPts val="600"/>
              </a:spcAft>
              <a:buFont typeface="Arial" panose="020B0604020202020204" pitchFamily="34" charset="0"/>
              <a:buChar char="•"/>
            </a:pPr>
            <a:r>
              <a:rPr lang="en-US" sz="1200" u="sng" dirty="0"/>
              <a:t>Josh Mastracci</a:t>
            </a:r>
            <a:r>
              <a:rPr lang="en-US" sz="1200" dirty="0"/>
              <a:t>, Managing Director (</a:t>
            </a:r>
            <a:r>
              <a:rPr lang="en-US" sz="1200" dirty="0">
                <a:hlinkClick r:id="rId6"/>
              </a:rPr>
              <a:t>jmastracci@tmcapital.com</a:t>
            </a:r>
            <a:r>
              <a:rPr lang="en-US" sz="1200" dirty="0"/>
              <a:t>; 404.924.4562)</a:t>
            </a:r>
            <a:endParaRPr lang="en-US" sz="1200" b="1" dirty="0"/>
          </a:p>
          <a:p>
            <a:pPr>
              <a:spcBef>
                <a:spcPts val="600"/>
              </a:spcBef>
              <a:spcAft>
                <a:spcPts val="600"/>
              </a:spcAft>
            </a:pPr>
            <a:r>
              <a:rPr lang="en-US" sz="1200" b="1" dirty="0"/>
              <a:t>  </a:t>
            </a:r>
          </a:p>
        </p:txBody>
      </p:sp>
      <p:sp>
        <p:nvSpPr>
          <p:cNvPr id="4" name="Slide Number Placeholder 3">
            <a:extLst>
              <a:ext uri="{FF2B5EF4-FFF2-40B4-BE49-F238E27FC236}">
                <a16:creationId xmlns:a16="http://schemas.microsoft.com/office/drawing/2014/main" id="{AE794AEE-F328-ECFA-C1FF-18AAC06C31B8}"/>
              </a:ext>
            </a:extLst>
          </p:cNvPr>
          <p:cNvSpPr>
            <a:spLocks noGrp="1"/>
          </p:cNvSpPr>
          <p:nvPr>
            <p:ph type="sldNum" sz="quarter" idx="12"/>
          </p:nvPr>
        </p:nvSpPr>
        <p:spPr/>
        <p:txBody>
          <a:bodyPr/>
          <a:lstStyle/>
          <a:p>
            <a:fld id="{F8DDDAE5-3BDD-4D78-843B-A22FA78305BB}" type="slidenum">
              <a:rPr lang="en-US" smtClean="0"/>
              <a:t>37</a:t>
            </a:fld>
            <a:endParaRPr lang="en-US" dirty="0"/>
          </a:p>
        </p:txBody>
      </p:sp>
    </p:spTree>
    <p:extLst>
      <p:ext uri="{BB962C8B-B14F-4D97-AF65-F5344CB8AC3E}">
        <p14:creationId xmlns:p14="http://schemas.microsoft.com/office/powerpoint/2010/main" val="37915893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3026C-76C2-EA79-1E33-6822721E93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CDDBCA-E92F-4BCA-2E2F-71DD7B8DA8A0}"/>
              </a:ext>
            </a:extLst>
          </p:cNvPr>
          <p:cNvSpPr>
            <a:spLocks noGrp="1"/>
          </p:cNvSpPr>
          <p:nvPr>
            <p:ph type="title"/>
          </p:nvPr>
        </p:nvSpPr>
        <p:spPr/>
        <p:txBody>
          <a:bodyPr>
            <a:normAutofit/>
          </a:bodyPr>
          <a:lstStyle/>
          <a:p>
            <a:r>
              <a:rPr lang="en-US" dirty="0"/>
              <a:t>Industry Conferences</a:t>
            </a:r>
          </a:p>
        </p:txBody>
      </p:sp>
      <p:sp>
        <p:nvSpPr>
          <p:cNvPr id="3" name="TextBox 2">
            <a:extLst>
              <a:ext uri="{FF2B5EF4-FFF2-40B4-BE49-F238E27FC236}">
                <a16:creationId xmlns:a16="http://schemas.microsoft.com/office/drawing/2014/main" id="{5DDC4D20-7228-320C-3AE0-85B706B1D147}"/>
              </a:ext>
            </a:extLst>
          </p:cNvPr>
          <p:cNvSpPr txBox="1"/>
          <p:nvPr/>
        </p:nvSpPr>
        <p:spPr>
          <a:xfrm>
            <a:off x="228600" y="981789"/>
            <a:ext cx="8686800" cy="2862322"/>
          </a:xfrm>
          <a:prstGeom prst="rect">
            <a:avLst/>
          </a:prstGeom>
          <a:noFill/>
        </p:spPr>
        <p:txBody>
          <a:bodyPr wrap="square" rtlCol="0">
            <a:spAutoFit/>
          </a:bodyPr>
          <a:lstStyle/>
          <a:p>
            <a:pPr marL="228600" indent="-228600">
              <a:buFont typeface="+mj-lt"/>
              <a:buAutoNum type="arabicPeriod"/>
            </a:pPr>
            <a:r>
              <a:rPr lang="en-US" sz="1200" b="1" dirty="0"/>
              <a:t>American Society of Anesthesiologists – The Anesthesiology Annual Meeting</a:t>
            </a:r>
          </a:p>
          <a:p>
            <a:pPr marL="685800" lvl="1" indent="-228600">
              <a:buFont typeface="Arial" panose="020B0604020202020204" pitchFamily="34" charset="0"/>
              <a:buChar char="•"/>
            </a:pPr>
            <a:r>
              <a:rPr lang="en-US" sz="1200" dirty="0"/>
              <a:t>October 10 - 14, 2025</a:t>
            </a:r>
          </a:p>
          <a:p>
            <a:pPr marL="685800" lvl="1" indent="-228600">
              <a:buFont typeface="Arial" panose="020B0604020202020204" pitchFamily="34" charset="0"/>
              <a:buChar char="•"/>
            </a:pPr>
            <a:r>
              <a:rPr lang="en-US" sz="1200" dirty="0"/>
              <a:t>San Antonio, TX</a:t>
            </a:r>
          </a:p>
          <a:p>
            <a:pPr marL="685800" lvl="1" indent="-228600">
              <a:buFont typeface="Arial" panose="020B0604020202020204" pitchFamily="34" charset="0"/>
              <a:buChar char="•"/>
            </a:pPr>
            <a:r>
              <a:rPr lang="en-US" sz="1200" dirty="0">
                <a:hlinkClick r:id="rId2"/>
              </a:rPr>
              <a:t>https://www.asahq.org/annualmeeting</a:t>
            </a:r>
            <a:endParaRPr lang="en-US" sz="1200" dirty="0"/>
          </a:p>
          <a:p>
            <a:pPr marL="685800" lvl="1" indent="-228600">
              <a:buFont typeface="Arial" panose="020B0604020202020204" pitchFamily="34" charset="0"/>
              <a:buChar char="•"/>
            </a:pPr>
            <a:endParaRPr lang="en-US" sz="1200" dirty="0"/>
          </a:p>
          <a:p>
            <a:pPr marL="228600" indent="-228600">
              <a:buFont typeface="+mj-lt"/>
              <a:buAutoNum type="arabicPeriod"/>
            </a:pPr>
            <a:r>
              <a:rPr lang="en-US" sz="1200" b="1" dirty="0"/>
              <a:t>Society for Ambulatory Anesthesia Annual Meeting (SAMBA)</a:t>
            </a:r>
          </a:p>
          <a:p>
            <a:pPr marL="685800" lvl="1" indent="-228600">
              <a:buFont typeface="Arial" panose="020B0604020202020204" pitchFamily="34" charset="0"/>
              <a:buChar char="•"/>
            </a:pPr>
            <a:r>
              <a:rPr lang="en-US" sz="1200" dirty="0"/>
              <a:t>May 15 - 17, 2025</a:t>
            </a:r>
          </a:p>
          <a:p>
            <a:pPr marL="685800" lvl="1" indent="-228600">
              <a:buFont typeface="Arial" panose="020B0604020202020204" pitchFamily="34" charset="0"/>
              <a:buChar char="•"/>
            </a:pPr>
            <a:r>
              <a:rPr lang="en-US" sz="1200" dirty="0"/>
              <a:t>Phoenix, AZ</a:t>
            </a:r>
          </a:p>
          <a:p>
            <a:pPr marL="685800" lvl="1" indent="-228600">
              <a:buFont typeface="Arial" panose="020B0604020202020204" pitchFamily="34" charset="0"/>
              <a:buChar char="•"/>
            </a:pPr>
            <a:r>
              <a:rPr lang="en-US" sz="1200" dirty="0">
                <a:hlinkClick r:id="rId3"/>
              </a:rPr>
              <a:t>https://www.sambahq.org/2025-annual-meeting</a:t>
            </a:r>
            <a:endParaRPr lang="en-US" sz="1200" dirty="0"/>
          </a:p>
          <a:p>
            <a:pPr marL="685800" lvl="1" indent="-228600">
              <a:buFont typeface="Arial" panose="020B0604020202020204" pitchFamily="34" charset="0"/>
              <a:buChar char="•"/>
            </a:pPr>
            <a:endParaRPr lang="en-US" sz="1200" dirty="0"/>
          </a:p>
          <a:p>
            <a:pPr marL="228600" indent="-228600">
              <a:buFont typeface="+mj-lt"/>
              <a:buAutoNum type="arabicPeriod"/>
            </a:pPr>
            <a:r>
              <a:rPr lang="en-US" sz="1200" b="1" dirty="0"/>
              <a:t>Ambulatory Surgery Center Association (ASCA) Annual Conference &amp; Expo</a:t>
            </a:r>
          </a:p>
          <a:p>
            <a:pPr marL="685800" lvl="1" indent="-228600">
              <a:buFont typeface="Arial" panose="020B0604020202020204" pitchFamily="34" charset="0"/>
              <a:buChar char="•"/>
            </a:pPr>
            <a:r>
              <a:rPr lang="en-US" sz="1200" dirty="0"/>
              <a:t>April 30 – May 3, 2025</a:t>
            </a:r>
          </a:p>
          <a:p>
            <a:pPr marL="685800" lvl="1" indent="-228600">
              <a:buFont typeface="Arial" panose="020B0604020202020204" pitchFamily="34" charset="0"/>
              <a:buChar char="•"/>
            </a:pPr>
            <a:r>
              <a:rPr lang="en-US" sz="1200" dirty="0"/>
              <a:t>Denver, CO</a:t>
            </a:r>
          </a:p>
          <a:p>
            <a:pPr marL="685800" lvl="1" indent="-228600">
              <a:buFont typeface="Arial" panose="020B0604020202020204" pitchFamily="34" charset="0"/>
              <a:buChar char="•"/>
            </a:pPr>
            <a:r>
              <a:rPr lang="en-US" sz="1200" dirty="0">
                <a:hlinkClick r:id="rId4"/>
              </a:rPr>
              <a:t>https://www.ascassociation.org/annualconference/schedule</a:t>
            </a:r>
            <a:endParaRPr lang="en-US" sz="1200" dirty="0"/>
          </a:p>
          <a:p>
            <a:pPr marL="685800" lvl="1" indent="-228600">
              <a:buFont typeface="Arial" panose="020B0604020202020204" pitchFamily="34" charset="0"/>
              <a:buChar char="•"/>
            </a:pPr>
            <a:endParaRPr lang="en-US" sz="1200" dirty="0"/>
          </a:p>
        </p:txBody>
      </p:sp>
      <p:sp>
        <p:nvSpPr>
          <p:cNvPr id="4" name="Slide Number Placeholder 3">
            <a:extLst>
              <a:ext uri="{FF2B5EF4-FFF2-40B4-BE49-F238E27FC236}">
                <a16:creationId xmlns:a16="http://schemas.microsoft.com/office/drawing/2014/main" id="{E4A5BD53-2E8F-091E-FFA8-AF91B7DAA68D}"/>
              </a:ext>
            </a:extLst>
          </p:cNvPr>
          <p:cNvSpPr>
            <a:spLocks noGrp="1"/>
          </p:cNvSpPr>
          <p:nvPr>
            <p:ph type="sldNum" sz="quarter" idx="12"/>
          </p:nvPr>
        </p:nvSpPr>
        <p:spPr/>
        <p:txBody>
          <a:bodyPr/>
          <a:lstStyle/>
          <a:p>
            <a:fld id="{F8DDDAE5-3BDD-4D78-843B-A22FA78305BB}" type="slidenum">
              <a:rPr lang="en-US" smtClean="0"/>
              <a:t>38</a:t>
            </a:fld>
            <a:endParaRPr lang="en-US" dirty="0"/>
          </a:p>
        </p:txBody>
      </p:sp>
    </p:spTree>
    <p:extLst>
      <p:ext uri="{BB962C8B-B14F-4D97-AF65-F5344CB8AC3E}">
        <p14:creationId xmlns:p14="http://schemas.microsoft.com/office/powerpoint/2010/main" val="30679172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4C3B9-D116-E668-A475-E4AB07C042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67B9C-5F65-B83C-1B8F-D7FE7790D09C}"/>
              </a:ext>
            </a:extLst>
          </p:cNvPr>
          <p:cNvSpPr>
            <a:spLocks noGrp="1"/>
          </p:cNvSpPr>
          <p:nvPr>
            <p:ph type="title"/>
          </p:nvPr>
        </p:nvSpPr>
        <p:spPr/>
        <p:txBody>
          <a:bodyPr/>
          <a:lstStyle/>
          <a:p>
            <a:r>
              <a:rPr lang="en-US" dirty="0"/>
              <a:t>Financing Update</a:t>
            </a:r>
          </a:p>
        </p:txBody>
      </p:sp>
      <p:sp>
        <p:nvSpPr>
          <p:cNvPr id="3" name="TextBox 2">
            <a:extLst>
              <a:ext uri="{FF2B5EF4-FFF2-40B4-BE49-F238E27FC236}">
                <a16:creationId xmlns:a16="http://schemas.microsoft.com/office/drawing/2014/main" id="{655AED2D-EB97-CB1C-F9BA-E42D44038612}"/>
              </a:ext>
            </a:extLst>
          </p:cNvPr>
          <p:cNvSpPr txBox="1"/>
          <p:nvPr/>
        </p:nvSpPr>
        <p:spPr>
          <a:xfrm>
            <a:off x="221942" y="4687503"/>
            <a:ext cx="1866262" cy="1862048"/>
          </a:xfrm>
          <a:prstGeom prst="rect">
            <a:avLst/>
          </a:prstGeom>
          <a:noFill/>
        </p:spPr>
        <p:txBody>
          <a:bodyPr wrap="square" rtlCol="0">
            <a:spAutoFit/>
          </a:bodyPr>
          <a:lstStyle/>
          <a:p>
            <a:r>
              <a:rPr lang="en-US" sz="11500" dirty="0"/>
              <a:t>VI</a:t>
            </a:r>
          </a:p>
        </p:txBody>
      </p:sp>
      <p:pic>
        <p:nvPicPr>
          <p:cNvPr id="4" name="Picture 3">
            <a:extLst>
              <a:ext uri="{FF2B5EF4-FFF2-40B4-BE49-F238E27FC236}">
                <a16:creationId xmlns:a16="http://schemas.microsoft.com/office/drawing/2014/main" id="{774D8045-C5E3-416E-DCB3-8B686DD76EDC}"/>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7243624" y="4908636"/>
            <a:ext cx="1703194" cy="1517130"/>
          </a:xfrm>
          <a:prstGeom prst="rect">
            <a:avLst/>
          </a:prstGeom>
        </p:spPr>
      </p:pic>
    </p:spTree>
    <p:extLst>
      <p:ext uri="{BB962C8B-B14F-4D97-AF65-F5344CB8AC3E}">
        <p14:creationId xmlns:p14="http://schemas.microsoft.com/office/powerpoint/2010/main" val="5317961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1D5ED-9AE0-FE4C-9745-A5B25E8952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4EB195-FE37-9BDE-BFCA-5939AD737388}"/>
              </a:ext>
            </a:extLst>
          </p:cNvPr>
          <p:cNvSpPr>
            <a:spLocks noGrp="1"/>
          </p:cNvSpPr>
          <p:nvPr>
            <p:ph type="title"/>
          </p:nvPr>
        </p:nvSpPr>
        <p:spPr/>
        <p:txBody>
          <a:bodyPr>
            <a:normAutofit/>
          </a:bodyPr>
          <a:lstStyle/>
          <a:p>
            <a:r>
              <a:rPr lang="en-US" dirty="0"/>
              <a:t>Financing Update</a:t>
            </a:r>
          </a:p>
        </p:txBody>
      </p:sp>
      <p:sp>
        <p:nvSpPr>
          <p:cNvPr id="8" name="Slide Number Placeholder 7">
            <a:extLst>
              <a:ext uri="{FF2B5EF4-FFF2-40B4-BE49-F238E27FC236}">
                <a16:creationId xmlns:a16="http://schemas.microsoft.com/office/drawing/2014/main" id="{E81F2EFC-BB9C-9F78-9641-A9203B8CF8CC}"/>
              </a:ext>
            </a:extLst>
          </p:cNvPr>
          <p:cNvSpPr>
            <a:spLocks noGrp="1"/>
          </p:cNvSpPr>
          <p:nvPr>
            <p:ph type="sldNum" sz="quarter" idx="12"/>
          </p:nvPr>
        </p:nvSpPr>
        <p:spPr/>
        <p:txBody>
          <a:bodyPr/>
          <a:lstStyle/>
          <a:p>
            <a:fld id="{F8DDDAE5-3BDD-4D78-843B-A22FA78305BB}" type="slidenum">
              <a:rPr lang="en-US" smtClean="0"/>
              <a:t>40</a:t>
            </a:fld>
            <a:endParaRPr lang="en-US" dirty="0"/>
          </a:p>
        </p:txBody>
      </p:sp>
      <p:sp>
        <p:nvSpPr>
          <p:cNvPr id="9" name="TextBox 8">
            <a:extLst>
              <a:ext uri="{FF2B5EF4-FFF2-40B4-BE49-F238E27FC236}">
                <a16:creationId xmlns:a16="http://schemas.microsoft.com/office/drawing/2014/main" id="{8573CC07-832D-1320-B244-45EA4238AEB5}"/>
              </a:ext>
            </a:extLst>
          </p:cNvPr>
          <p:cNvSpPr txBox="1"/>
          <p:nvPr/>
        </p:nvSpPr>
        <p:spPr>
          <a:xfrm>
            <a:off x="228600" y="981789"/>
            <a:ext cx="8686800" cy="646331"/>
          </a:xfrm>
          <a:prstGeom prst="rect">
            <a:avLst/>
          </a:prstGeom>
          <a:noFill/>
        </p:spPr>
        <p:txBody>
          <a:bodyPr wrap="square" rtlCol="0">
            <a:spAutoFit/>
          </a:bodyPr>
          <a:lstStyle/>
          <a:p>
            <a:pPr>
              <a:spcBef>
                <a:spcPts val="1200"/>
              </a:spcBef>
              <a:spcAft>
                <a:spcPts val="1200"/>
              </a:spcAft>
            </a:pPr>
            <a:r>
              <a:rPr lang="en-US" sz="1200" dirty="0"/>
              <a:t>Northern Shore ran a competitive debt process with multiple lenders. After evaluating term sheets from Gladstone Capital, Five Points Capital, Freeport Financial, and O2 Sponsor Finance, the Company has selected </a:t>
            </a:r>
            <a:r>
              <a:rPr lang="en-US" sz="1200" b="1" dirty="0"/>
              <a:t>Five Points Capital</a:t>
            </a:r>
            <a:r>
              <a:rPr lang="en-US" sz="1200" dirty="0"/>
              <a:t> as the preferred partner, given their attractive economics, diligence completed to-date, and ability to move quickly to closing.</a:t>
            </a:r>
          </a:p>
        </p:txBody>
      </p:sp>
      <p:sp>
        <p:nvSpPr>
          <p:cNvPr id="3" name="Rectangle: Diagonal Corners Snipped 2">
            <a:extLst>
              <a:ext uri="{FF2B5EF4-FFF2-40B4-BE49-F238E27FC236}">
                <a16:creationId xmlns:a16="http://schemas.microsoft.com/office/drawing/2014/main" id="{B9DB33F7-8FC3-BE96-F91D-AD657EB31032}"/>
              </a:ext>
            </a:extLst>
          </p:cNvPr>
          <p:cNvSpPr/>
          <p:nvPr/>
        </p:nvSpPr>
        <p:spPr>
          <a:xfrm>
            <a:off x="178308" y="1658600"/>
            <a:ext cx="8787384"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Lender Matrix</a:t>
            </a:r>
            <a:endParaRPr lang="en-US" sz="1400" b="1" baseline="30000" dirty="0">
              <a:solidFill>
                <a:schemeClr val="bg1"/>
              </a:solidFill>
            </a:endParaRPr>
          </a:p>
        </p:txBody>
      </p:sp>
      <p:graphicFrame>
        <p:nvGraphicFramePr>
          <p:cNvPr id="4" name="Table 3">
            <a:extLst>
              <a:ext uri="{FF2B5EF4-FFF2-40B4-BE49-F238E27FC236}">
                <a16:creationId xmlns:a16="http://schemas.microsoft.com/office/drawing/2014/main" id="{BD2564EA-1026-BE2E-8C20-93E3FDB10C89}"/>
              </a:ext>
            </a:extLst>
          </p:cNvPr>
          <p:cNvGraphicFramePr>
            <a:graphicFrameLocks noGrp="1"/>
          </p:cNvGraphicFramePr>
          <p:nvPr/>
        </p:nvGraphicFramePr>
        <p:xfrm>
          <a:off x="403404" y="2016782"/>
          <a:ext cx="8287921" cy="4667729"/>
        </p:xfrm>
        <a:graphic>
          <a:graphicData uri="http://schemas.openxmlformats.org/drawingml/2006/table">
            <a:tbl>
              <a:tblPr firstRow="1" bandRow="1">
                <a:tableStyleId>{5C22544A-7EE6-4342-B048-85BDC9FD1C3A}</a:tableStyleId>
              </a:tblPr>
              <a:tblGrid>
                <a:gridCol w="1060357">
                  <a:extLst>
                    <a:ext uri="{9D8B030D-6E8A-4147-A177-3AD203B41FA5}">
                      <a16:colId xmlns:a16="http://schemas.microsoft.com/office/drawing/2014/main" val="404520868"/>
                    </a:ext>
                  </a:extLst>
                </a:gridCol>
                <a:gridCol w="1806891">
                  <a:extLst>
                    <a:ext uri="{9D8B030D-6E8A-4147-A177-3AD203B41FA5}">
                      <a16:colId xmlns:a16="http://schemas.microsoft.com/office/drawing/2014/main" val="1970745495"/>
                    </a:ext>
                  </a:extLst>
                </a:gridCol>
                <a:gridCol w="1806891">
                  <a:extLst>
                    <a:ext uri="{9D8B030D-6E8A-4147-A177-3AD203B41FA5}">
                      <a16:colId xmlns:a16="http://schemas.microsoft.com/office/drawing/2014/main" val="638757138"/>
                    </a:ext>
                  </a:extLst>
                </a:gridCol>
                <a:gridCol w="1806891">
                  <a:extLst>
                    <a:ext uri="{9D8B030D-6E8A-4147-A177-3AD203B41FA5}">
                      <a16:colId xmlns:a16="http://schemas.microsoft.com/office/drawing/2014/main" val="1073427330"/>
                    </a:ext>
                  </a:extLst>
                </a:gridCol>
                <a:gridCol w="1806891">
                  <a:extLst>
                    <a:ext uri="{9D8B030D-6E8A-4147-A177-3AD203B41FA5}">
                      <a16:colId xmlns:a16="http://schemas.microsoft.com/office/drawing/2014/main" val="548440200"/>
                    </a:ext>
                  </a:extLst>
                </a:gridCol>
              </a:tblGrid>
              <a:tr h="172204">
                <a:tc>
                  <a:txBody>
                    <a:bodyPr/>
                    <a:lstStyle/>
                    <a:p>
                      <a:endParaRPr lang="en-US" sz="800" dirty="0"/>
                    </a:p>
                  </a:txBody>
                  <a:tcPr marL="161992" marR="161992" marT="23461" marB="23461">
                    <a:lnL w="6350" cap="flat" cmpd="sng" algn="ctr">
                      <a:solidFill>
                        <a:schemeClr val="bg1">
                          <a:lumMod val="50000"/>
                        </a:schemeClr>
                      </a:solidFill>
                      <a:prstDash val="solid"/>
                      <a:round/>
                      <a:headEnd type="none" w="med" len="med"/>
                      <a:tailEnd type="none" w="med" len="med"/>
                    </a:lnL>
                    <a:lnR w="12700" cmpd="sng">
                      <a:noFill/>
                    </a:lnR>
                    <a:lnT w="6350" cap="flat" cmpd="sng" algn="ctr">
                      <a:solidFill>
                        <a:schemeClr val="bg1">
                          <a:lumMod val="50000"/>
                        </a:schemeClr>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fontAlgn="ctr">
                        <a:buNone/>
                      </a:pPr>
                      <a:r>
                        <a:rPr lang="en-US" sz="900" b="1" i="0" u="none" strike="noStrike" dirty="0">
                          <a:solidFill>
                            <a:srgbClr val="FFFFFF"/>
                          </a:solidFill>
                          <a:effectLst/>
                          <a:latin typeface="Calibri" panose="020F0502020204030204" pitchFamily="34" charset="0"/>
                        </a:rPr>
                        <a:t>Five Points Capital (Selected)</a:t>
                      </a:r>
                    </a:p>
                  </a:txBody>
                  <a:tcPr marL="9525" marR="9525" marT="7156" marB="0" anchor="ctr">
                    <a:lnL w="12700" cmpd="sng">
                      <a:noFill/>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143F6A"/>
                    </a:solidFill>
                  </a:tcPr>
                </a:tc>
                <a:tc>
                  <a:txBody>
                    <a:bodyPr/>
                    <a:lstStyle/>
                    <a:p>
                      <a:pPr algn="ctr" fontAlgn="ctr">
                        <a:buNone/>
                      </a:pPr>
                      <a:r>
                        <a:rPr lang="en-US" sz="900" b="1" i="0" u="none" strike="noStrike" dirty="0">
                          <a:solidFill>
                            <a:srgbClr val="FFFFFF"/>
                          </a:solidFill>
                          <a:effectLst/>
                          <a:latin typeface="Calibri" panose="020F0502020204030204" pitchFamily="34" charset="0"/>
                        </a:rPr>
                        <a:t>Gladstone Capital</a:t>
                      </a:r>
                    </a:p>
                  </a:txBody>
                  <a:tcPr marL="9525" marR="9525" marT="7156" marB="0" anchor="ctr">
                    <a:lnL w="6350" cap="flat" cmpd="sng" algn="ctr">
                      <a:solidFill>
                        <a:schemeClr val="bg1">
                          <a:lumMod val="50000"/>
                        </a:schemeClr>
                      </a:solidFill>
                      <a:prstDash val="solid"/>
                      <a:round/>
                      <a:headEnd type="none" w="med" len="med"/>
                      <a:tailEnd type="none" w="med" len="med"/>
                    </a:lnL>
                    <a:lnR w="12700" cmpd="sng">
                      <a:noFill/>
                    </a:lnR>
                    <a:lnT w="6350" cap="flat" cmpd="sng" algn="ctr">
                      <a:solidFill>
                        <a:schemeClr val="bg1">
                          <a:lumMod val="50000"/>
                        </a:schemeClr>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143F6A"/>
                    </a:solidFill>
                  </a:tcPr>
                </a:tc>
                <a:tc>
                  <a:txBody>
                    <a:bodyPr/>
                    <a:lstStyle/>
                    <a:p>
                      <a:pPr algn="ctr" fontAlgn="ctr">
                        <a:buNone/>
                      </a:pPr>
                      <a:r>
                        <a:rPr lang="en-US" sz="900" b="1" i="0" u="none" strike="noStrike" dirty="0">
                          <a:solidFill>
                            <a:srgbClr val="FFFFFF"/>
                          </a:solidFill>
                          <a:effectLst/>
                          <a:latin typeface="Calibri" panose="020F0502020204030204" pitchFamily="34" charset="0"/>
                        </a:rPr>
                        <a:t>Freeport Financial</a:t>
                      </a:r>
                    </a:p>
                  </a:txBody>
                  <a:tcPr marL="9525" marR="9525" marT="7156" marB="0" anchor="ctr">
                    <a:lnL w="12700" cmpd="sng">
                      <a:noFill/>
                    </a:lnL>
                    <a:lnR w="12700" cmpd="sng">
                      <a:noFill/>
                    </a:lnR>
                    <a:lnT w="6350" cap="flat" cmpd="sng" algn="ctr">
                      <a:solidFill>
                        <a:schemeClr val="bg1">
                          <a:lumMod val="50000"/>
                        </a:schemeClr>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143F6A"/>
                    </a:solidFill>
                  </a:tcPr>
                </a:tc>
                <a:tc>
                  <a:txBody>
                    <a:bodyPr/>
                    <a:lstStyle/>
                    <a:p>
                      <a:pPr algn="ctr" fontAlgn="ctr">
                        <a:buNone/>
                      </a:pPr>
                      <a:r>
                        <a:rPr lang="en-US" sz="900" b="1" i="0" u="none" strike="noStrike" dirty="0">
                          <a:solidFill>
                            <a:srgbClr val="FFFFFF"/>
                          </a:solidFill>
                          <a:effectLst/>
                          <a:latin typeface="Calibri" panose="020F0502020204030204" pitchFamily="34" charset="0"/>
                        </a:rPr>
                        <a:t>Old Second (O2) Sponsor Finance</a:t>
                      </a:r>
                    </a:p>
                  </a:txBody>
                  <a:tcPr marL="9525" marR="9525" marT="7156" marB="0" anchor="ctr">
                    <a:lnL w="12700" cmpd="sng">
                      <a:noFill/>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143F6A"/>
                    </a:solidFill>
                  </a:tcPr>
                </a:tc>
                <a:extLst>
                  <a:ext uri="{0D108BD9-81ED-4DB2-BD59-A6C34878D82A}">
                    <a16:rowId xmlns:a16="http://schemas.microsoft.com/office/drawing/2014/main" val="2597492138"/>
                  </a:ext>
                </a:extLst>
              </a:tr>
              <a:tr h="263841">
                <a:tc>
                  <a:txBody>
                    <a:bodyPr/>
                    <a:lstStyle/>
                    <a:p>
                      <a:pPr algn="l" fontAlgn="ctr">
                        <a:buNone/>
                      </a:pPr>
                      <a:r>
                        <a:rPr lang="en-US" sz="900" b="1" i="0" u="none" strike="noStrike" dirty="0">
                          <a:solidFill>
                            <a:srgbClr val="FFFFFF"/>
                          </a:solidFill>
                          <a:effectLst/>
                          <a:latin typeface="Calibri" panose="020F0502020204030204" pitchFamily="34" charset="0"/>
                        </a:rPr>
                        <a:t>Total Debt $ Amount</a:t>
                      </a:r>
                    </a:p>
                  </a:txBody>
                  <a:tcPr marL="9525" marR="9525" marT="7156"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8100" cmpd="sng">
                      <a:noFill/>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143F6A"/>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Up to $17.0M Term Loan</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8100" cmpd="sng">
                      <a:noFill/>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Up to $24.0M ($17.0M Term Loan + $4.0M Revolver + $3.0M DDTL)</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8100" cmpd="sng">
                      <a:noFill/>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Up to $28.75M total ($14.75M Term Loan + $4.0M Revolver + $10.0M DDTL)</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8100" cmpd="sng">
                      <a:noFill/>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$16.7M total ($14.7M Term Loan + $2.0M Revolver)</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8100" cmpd="sng">
                      <a:noFill/>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814245504"/>
                  </a:ext>
                </a:extLst>
              </a:tr>
              <a:tr h="167899">
                <a:tc>
                  <a:txBody>
                    <a:bodyPr/>
                    <a:lstStyle/>
                    <a:p>
                      <a:pPr algn="l" fontAlgn="ctr">
                        <a:buNone/>
                      </a:pPr>
                      <a:r>
                        <a:rPr lang="en-US" sz="900" b="1" i="0" u="none" strike="noStrike" dirty="0">
                          <a:solidFill>
                            <a:srgbClr val="FFFFFF"/>
                          </a:solidFill>
                          <a:effectLst/>
                          <a:latin typeface="Calibri" panose="020F0502020204030204" pitchFamily="34" charset="0"/>
                        </a:rPr>
                        <a:t>Debt / EBITDA</a:t>
                      </a:r>
                    </a:p>
                  </a:txBody>
                  <a:tcPr marL="9525" marR="9525" marT="7156"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143F6A"/>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Max 4.1x</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0" i="0" u="none" strike="noStrike" dirty="0">
                          <a:solidFill>
                            <a:srgbClr val="000000"/>
                          </a:solidFill>
                          <a:effectLst/>
                          <a:latin typeface="Calibri" panose="020F0502020204030204" pitchFamily="34" charset="0"/>
                        </a:rPr>
                        <a:t>Max 4.0x</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0" i="0" u="none" strike="noStrike" dirty="0">
                          <a:solidFill>
                            <a:srgbClr val="000000"/>
                          </a:solidFill>
                          <a:effectLst/>
                          <a:latin typeface="Calibri" panose="020F0502020204030204" pitchFamily="34" charset="0"/>
                        </a:rPr>
                        <a:t>Max 3.5x</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0" i="0" u="none" strike="noStrike" dirty="0">
                          <a:solidFill>
                            <a:srgbClr val="000000"/>
                          </a:solidFill>
                          <a:effectLst/>
                          <a:latin typeface="Calibri" panose="020F0502020204030204" pitchFamily="34" charset="0"/>
                        </a:rPr>
                        <a:t>Max 3.5x</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4314324"/>
                  </a:ext>
                </a:extLst>
              </a:tr>
              <a:tr h="263841">
                <a:tc>
                  <a:txBody>
                    <a:bodyPr/>
                    <a:lstStyle/>
                    <a:p>
                      <a:pPr algn="l" fontAlgn="ctr">
                        <a:buNone/>
                      </a:pPr>
                      <a:r>
                        <a:rPr lang="en-US" sz="900" b="1" i="0" u="none" strike="noStrike" dirty="0">
                          <a:solidFill>
                            <a:srgbClr val="FFFFFF"/>
                          </a:solidFill>
                          <a:effectLst/>
                          <a:latin typeface="Calibri" panose="020F0502020204030204" pitchFamily="34" charset="0"/>
                        </a:rPr>
                        <a:t>Debt Type</a:t>
                      </a:r>
                    </a:p>
                  </a:txBody>
                  <a:tcPr marL="9525" marR="9525" marT="7156"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143F6A"/>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Senior secured Term Loan</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Senior secured Term Loan + Revolver + DDTL</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Senior secured Term Loan + Revolver + DDTL</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Senior secured Term Loan + Revolver</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12650352"/>
                  </a:ext>
                </a:extLst>
              </a:tr>
              <a:tr h="167899">
                <a:tc>
                  <a:txBody>
                    <a:bodyPr/>
                    <a:lstStyle/>
                    <a:p>
                      <a:pPr algn="l" fontAlgn="ctr">
                        <a:buNone/>
                      </a:pPr>
                      <a:r>
                        <a:rPr lang="en-US" sz="900" b="1" i="0" u="none" strike="noStrike" dirty="0">
                          <a:solidFill>
                            <a:srgbClr val="FFFFFF"/>
                          </a:solidFill>
                          <a:effectLst/>
                          <a:latin typeface="Calibri" panose="020F0502020204030204" pitchFamily="34" charset="0"/>
                        </a:rPr>
                        <a:t>Term Loan $ Amount</a:t>
                      </a:r>
                    </a:p>
                  </a:txBody>
                  <a:tcPr marL="9525" marR="9525" marT="7156"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143F6A"/>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Up to $17.0M</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0" i="0" u="none" strike="noStrike" dirty="0">
                          <a:solidFill>
                            <a:srgbClr val="000000"/>
                          </a:solidFill>
                          <a:effectLst/>
                          <a:latin typeface="Calibri" panose="020F0502020204030204" pitchFamily="34" charset="0"/>
                        </a:rPr>
                        <a:t>Up to $17.0M</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0" i="0" u="none" strike="noStrike">
                          <a:solidFill>
                            <a:srgbClr val="000000"/>
                          </a:solidFill>
                          <a:effectLst/>
                          <a:latin typeface="Calibri" panose="020F0502020204030204" pitchFamily="34" charset="0"/>
                        </a:rPr>
                        <a:t>$14.75M</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0" i="0" u="none" strike="noStrike" dirty="0">
                          <a:solidFill>
                            <a:srgbClr val="000000"/>
                          </a:solidFill>
                          <a:effectLst/>
                          <a:latin typeface="Calibri" panose="020F0502020204030204" pitchFamily="34" charset="0"/>
                        </a:rPr>
                        <a:t>$14.7M</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1856288"/>
                  </a:ext>
                </a:extLst>
              </a:tr>
              <a:tr h="263841">
                <a:tc>
                  <a:txBody>
                    <a:bodyPr/>
                    <a:lstStyle/>
                    <a:p>
                      <a:pPr algn="l" fontAlgn="ctr">
                        <a:buNone/>
                      </a:pPr>
                      <a:r>
                        <a:rPr lang="en-US" sz="900" b="1" i="0" u="none" strike="noStrike" dirty="0">
                          <a:solidFill>
                            <a:srgbClr val="FFFFFF"/>
                          </a:solidFill>
                          <a:effectLst/>
                          <a:latin typeface="Calibri" panose="020F0502020204030204" pitchFamily="34" charset="0"/>
                        </a:rPr>
                        <a:t>Pricing</a:t>
                      </a:r>
                    </a:p>
                  </a:txBody>
                  <a:tcPr marL="9525" marR="9525" marT="7156"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143F6A"/>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S + 575 (3.00% SOFR floor)</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&gt;3.0x: S + 675, ≤3.0x: S + 625 (2.0% SOFR floor)</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S + 550 (1.00% SOFR floor)</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&gt;4.25x: S + 375 , 2.5≤4.25x: S + 350; ≤2.5x S+325 (1.0% SOFR floor)</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14220445"/>
                  </a:ext>
                </a:extLst>
              </a:tr>
              <a:tr h="263841">
                <a:tc>
                  <a:txBody>
                    <a:bodyPr/>
                    <a:lstStyle/>
                    <a:p>
                      <a:pPr algn="l" fontAlgn="ctr">
                        <a:buNone/>
                      </a:pPr>
                      <a:r>
                        <a:rPr lang="en-US" sz="900" b="1" i="0" u="none" strike="noStrike" dirty="0">
                          <a:solidFill>
                            <a:srgbClr val="FFFFFF"/>
                          </a:solidFill>
                          <a:effectLst/>
                          <a:latin typeface="Calibri" panose="020F0502020204030204" pitchFamily="34" charset="0"/>
                        </a:rPr>
                        <a:t>Revolver</a:t>
                      </a:r>
                    </a:p>
                  </a:txBody>
                  <a:tcPr marL="9525" marR="9525" marT="7156"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143F6A"/>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None</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0" i="0" u="none" strike="noStrike" dirty="0">
                          <a:solidFill>
                            <a:srgbClr val="000000"/>
                          </a:solidFill>
                          <a:effectLst/>
                          <a:latin typeface="Calibri" panose="020F0502020204030204" pitchFamily="34" charset="0"/>
                        </a:rPr>
                        <a:t>$4.0M Unfunded at close, No borrowing base</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0" i="0" u="none" strike="noStrike" dirty="0">
                          <a:solidFill>
                            <a:srgbClr val="000000"/>
                          </a:solidFill>
                          <a:effectLst/>
                          <a:latin typeface="Calibri" panose="020F0502020204030204" pitchFamily="34" charset="0"/>
                        </a:rPr>
                        <a:t>$4.0M Unfunded at close, Leverage governed</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0" i="0" u="none" strike="noStrike" dirty="0">
                          <a:solidFill>
                            <a:srgbClr val="000000"/>
                          </a:solidFill>
                          <a:effectLst/>
                          <a:latin typeface="Calibri" panose="020F0502020204030204" pitchFamily="34" charset="0"/>
                        </a:rPr>
                        <a:t>$2.0M Unfunded at close, Leverage-based</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2383792"/>
                  </a:ext>
                </a:extLst>
              </a:tr>
              <a:tr h="221502">
                <a:tc>
                  <a:txBody>
                    <a:bodyPr/>
                    <a:lstStyle/>
                    <a:p>
                      <a:pPr algn="l" fontAlgn="ctr">
                        <a:buNone/>
                      </a:pPr>
                      <a:r>
                        <a:rPr lang="en-US" sz="900" b="1" i="0" u="none" strike="noStrike" dirty="0">
                          <a:solidFill>
                            <a:srgbClr val="FFFFFF"/>
                          </a:solidFill>
                          <a:effectLst/>
                          <a:latin typeface="Calibri" panose="020F0502020204030204" pitchFamily="34" charset="0"/>
                        </a:rPr>
                        <a:t>Delayed Draw Term Loan</a:t>
                      </a:r>
                    </a:p>
                  </a:txBody>
                  <a:tcPr marL="9525" marR="9525" marT="7156"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143F6A"/>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None</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Up to $3.0M, Available for 24 months</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Up to $10.0M, Available for 24 months</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None</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34495590"/>
                  </a:ext>
                </a:extLst>
              </a:tr>
              <a:tr h="455726">
                <a:tc>
                  <a:txBody>
                    <a:bodyPr/>
                    <a:lstStyle/>
                    <a:p>
                      <a:pPr algn="l" fontAlgn="ctr">
                        <a:buNone/>
                      </a:pPr>
                      <a:r>
                        <a:rPr lang="en-US" sz="900" b="1" i="0" u="none" strike="noStrike" dirty="0">
                          <a:solidFill>
                            <a:srgbClr val="FFFFFF"/>
                          </a:solidFill>
                          <a:effectLst/>
                          <a:latin typeface="Calibri" panose="020F0502020204030204" pitchFamily="34" charset="0"/>
                        </a:rPr>
                        <a:t>Fees</a:t>
                      </a:r>
                    </a:p>
                  </a:txBody>
                  <a:tcPr marL="9525" marR="9525" marT="7156"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143F6A"/>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1.75% funded term loan fee</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0" i="0" u="none" strike="noStrike" dirty="0">
                          <a:solidFill>
                            <a:srgbClr val="000000"/>
                          </a:solidFill>
                          <a:effectLst/>
                          <a:latin typeface="Calibri" panose="020F0502020204030204" pitchFamily="34" charset="0"/>
                        </a:rPr>
                        <a:t>1.75% funded term loan fee; 1.5% revolver commitment fee, 0.5% unused revolver fee; 1.25% DDTL commitment fee, 0.5% unused revolver fee</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0" i="0" u="none" strike="noStrike" dirty="0">
                          <a:solidFill>
                            <a:srgbClr val="000000"/>
                          </a:solidFill>
                          <a:effectLst/>
                          <a:latin typeface="Calibri" panose="020F0502020204030204" pitchFamily="34" charset="0"/>
                        </a:rPr>
                        <a:t>2% closing fee, 0.5% unused revolver fee, 1.0% unused DDTL fee, $28.75K annual admin fee</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0" i="0" u="none" strike="noStrike" dirty="0">
                          <a:solidFill>
                            <a:srgbClr val="000000"/>
                          </a:solidFill>
                          <a:effectLst/>
                          <a:latin typeface="Calibri" panose="020F0502020204030204" pitchFamily="34" charset="0"/>
                        </a:rPr>
                        <a:t>1% closing fee, 0.5% unused revolver fee, $1K monthly admin fee</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7083539"/>
                  </a:ext>
                </a:extLst>
              </a:tr>
              <a:tr h="263841">
                <a:tc>
                  <a:txBody>
                    <a:bodyPr/>
                    <a:lstStyle/>
                    <a:p>
                      <a:pPr algn="l" fontAlgn="ctr">
                        <a:buNone/>
                      </a:pPr>
                      <a:r>
                        <a:rPr lang="en-US" sz="900" b="1" i="0" u="none" strike="noStrike">
                          <a:solidFill>
                            <a:srgbClr val="FFFFFF"/>
                          </a:solidFill>
                          <a:effectLst/>
                          <a:latin typeface="Calibri" panose="020F0502020204030204" pitchFamily="34" charset="0"/>
                        </a:rPr>
                        <a:t>Amortization</a:t>
                      </a:r>
                    </a:p>
                  </a:txBody>
                  <a:tcPr marL="9525" marR="9525" marT="7156"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143F6A"/>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1.0% per annum</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None Years 1-2; 2.5% per annum Years 3-5</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Term Loan: 1% annually</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5% annually</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927200540"/>
                  </a:ext>
                </a:extLst>
              </a:tr>
              <a:tr h="167899">
                <a:tc>
                  <a:txBody>
                    <a:bodyPr/>
                    <a:lstStyle/>
                    <a:p>
                      <a:pPr algn="l" fontAlgn="ctr">
                        <a:buNone/>
                      </a:pPr>
                      <a:r>
                        <a:rPr lang="en-US" sz="900" b="1" i="0" u="none" strike="noStrike" dirty="0">
                          <a:solidFill>
                            <a:srgbClr val="FFFFFF"/>
                          </a:solidFill>
                          <a:effectLst/>
                          <a:latin typeface="Calibri" panose="020F0502020204030204" pitchFamily="34" charset="0"/>
                        </a:rPr>
                        <a:t>Maturity</a:t>
                      </a:r>
                    </a:p>
                  </a:txBody>
                  <a:tcPr marL="9525" marR="9525" marT="7156"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143F6A"/>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5 years</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0" i="0" u="none" strike="noStrike">
                          <a:solidFill>
                            <a:srgbClr val="000000"/>
                          </a:solidFill>
                          <a:effectLst/>
                          <a:latin typeface="Calibri" panose="020F0502020204030204" pitchFamily="34" charset="0"/>
                        </a:rPr>
                        <a:t>5 years</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0" i="0" u="none" strike="noStrike" dirty="0">
                          <a:solidFill>
                            <a:srgbClr val="000000"/>
                          </a:solidFill>
                          <a:effectLst/>
                          <a:latin typeface="Calibri" panose="020F0502020204030204" pitchFamily="34" charset="0"/>
                        </a:rPr>
                        <a:t>5 years</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0" i="0" u="none" strike="noStrike" dirty="0">
                          <a:solidFill>
                            <a:srgbClr val="000000"/>
                          </a:solidFill>
                          <a:effectLst/>
                          <a:latin typeface="Calibri" panose="020F0502020204030204" pitchFamily="34" charset="0"/>
                        </a:rPr>
                        <a:t>5 years</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1651496"/>
                  </a:ext>
                </a:extLst>
              </a:tr>
              <a:tr h="167899">
                <a:tc>
                  <a:txBody>
                    <a:bodyPr/>
                    <a:lstStyle/>
                    <a:p>
                      <a:pPr algn="l" fontAlgn="ctr">
                        <a:buNone/>
                      </a:pPr>
                      <a:r>
                        <a:rPr lang="en-US" sz="900" b="1" i="0" u="none" strike="noStrike">
                          <a:solidFill>
                            <a:srgbClr val="FFFFFF"/>
                          </a:solidFill>
                          <a:effectLst/>
                          <a:latin typeface="Calibri" panose="020F0502020204030204" pitchFamily="34" charset="0"/>
                        </a:rPr>
                        <a:t>Equity Co-Investment</a:t>
                      </a:r>
                    </a:p>
                  </a:txBody>
                  <a:tcPr marL="9525" marR="9525" marT="7156"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143F6A"/>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$1.5M</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$1.0M - $3.0M</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Up to $2.0M (not required)</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Not indicated</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18878065"/>
                  </a:ext>
                </a:extLst>
              </a:tr>
              <a:tr h="167899">
                <a:tc>
                  <a:txBody>
                    <a:bodyPr/>
                    <a:lstStyle/>
                    <a:p>
                      <a:pPr algn="l" fontAlgn="ctr">
                        <a:buNone/>
                      </a:pPr>
                      <a:r>
                        <a:rPr lang="en-US" sz="900" b="1" i="0" u="none" strike="noStrike" dirty="0">
                          <a:solidFill>
                            <a:srgbClr val="FFFFFF"/>
                          </a:solidFill>
                          <a:effectLst/>
                          <a:latin typeface="Calibri" panose="020F0502020204030204" pitchFamily="34" charset="0"/>
                        </a:rPr>
                        <a:t>EBITDA Indication</a:t>
                      </a:r>
                    </a:p>
                  </a:txBody>
                  <a:tcPr marL="9525" marR="9525" marT="7156"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143F6A"/>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$4.2M; min of $4.1M at closing</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0" i="0" u="none" strike="noStrike">
                          <a:solidFill>
                            <a:srgbClr val="000000"/>
                          </a:solidFill>
                          <a:effectLst/>
                          <a:latin typeface="Calibri" panose="020F0502020204030204" pitchFamily="34" charset="0"/>
                        </a:rPr>
                        <a:t>$4.25M; min of $4.2M at closing</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0" i="0" u="none" strike="noStrike" dirty="0">
                          <a:solidFill>
                            <a:srgbClr val="000000"/>
                          </a:solidFill>
                          <a:effectLst/>
                          <a:latin typeface="Calibri" panose="020F0502020204030204" pitchFamily="34" charset="0"/>
                        </a:rPr>
                        <a:t>$4.2M</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0" i="0" u="none" strike="noStrike" dirty="0">
                          <a:solidFill>
                            <a:srgbClr val="000000"/>
                          </a:solidFill>
                          <a:effectLst/>
                          <a:latin typeface="Calibri" panose="020F0502020204030204" pitchFamily="34" charset="0"/>
                        </a:rPr>
                        <a:t>$4.25M</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0537594"/>
                  </a:ext>
                </a:extLst>
              </a:tr>
              <a:tr h="263841">
                <a:tc>
                  <a:txBody>
                    <a:bodyPr/>
                    <a:lstStyle/>
                    <a:p>
                      <a:pPr algn="l" fontAlgn="ctr">
                        <a:buNone/>
                      </a:pPr>
                      <a:r>
                        <a:rPr lang="en-US" sz="900" b="1" i="0" u="none" strike="noStrike" dirty="0">
                          <a:solidFill>
                            <a:srgbClr val="FFFFFF"/>
                          </a:solidFill>
                          <a:effectLst/>
                          <a:latin typeface="Calibri" panose="020F0502020204030204" pitchFamily="34" charset="0"/>
                        </a:rPr>
                        <a:t>Excess Cash Flow Sweep</a:t>
                      </a:r>
                    </a:p>
                  </a:txBody>
                  <a:tcPr marL="9525" marR="9525" marT="7156"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143F6A"/>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50% of excess cash flow if leverage ≥ 2.5x</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50% of excess cash flow if leverage ≥ 2.5x</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50% annually</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50% annually; step-down to 25% if leverage &lt; 2.0x</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4167823"/>
                  </a:ext>
                </a:extLst>
              </a:tr>
              <a:tr h="263841">
                <a:tc>
                  <a:txBody>
                    <a:bodyPr/>
                    <a:lstStyle/>
                    <a:p>
                      <a:pPr algn="l" fontAlgn="ctr">
                        <a:buNone/>
                      </a:pPr>
                      <a:r>
                        <a:rPr lang="en-US" sz="900" b="1" i="0" u="none" strike="noStrike" dirty="0">
                          <a:solidFill>
                            <a:srgbClr val="FFFFFF"/>
                          </a:solidFill>
                          <a:effectLst/>
                          <a:latin typeface="Calibri" panose="020F0502020204030204" pitchFamily="34" charset="0"/>
                        </a:rPr>
                        <a:t>Prepayment Penalty</a:t>
                      </a:r>
                    </a:p>
                  </a:txBody>
                  <a:tcPr marL="9525" marR="9525" marT="7156"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143F6A"/>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3% Year 1, 2% Year 2, 1% Year 3, 0% thereafter</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0" i="0" u="none" strike="noStrike">
                          <a:solidFill>
                            <a:srgbClr val="000000"/>
                          </a:solidFill>
                          <a:effectLst/>
                          <a:latin typeface="Calibri" panose="020F0502020204030204" pitchFamily="34" charset="0"/>
                        </a:rPr>
                        <a:t>2% Year 1, 1% Year 2, 0% thereafter</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0" i="0" u="none" strike="noStrike" dirty="0">
                          <a:solidFill>
                            <a:srgbClr val="000000"/>
                          </a:solidFill>
                          <a:effectLst/>
                          <a:latin typeface="Calibri" panose="020F0502020204030204" pitchFamily="34" charset="0"/>
                        </a:rPr>
                        <a:t>2% for first 18 months</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0" i="0" u="none" strike="noStrike" dirty="0">
                          <a:solidFill>
                            <a:srgbClr val="000000"/>
                          </a:solidFill>
                          <a:effectLst/>
                          <a:latin typeface="Calibri" panose="020F0502020204030204" pitchFamily="34" charset="0"/>
                        </a:rPr>
                        <a:t>None</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991646"/>
                  </a:ext>
                </a:extLst>
              </a:tr>
              <a:tr h="263841">
                <a:tc>
                  <a:txBody>
                    <a:bodyPr/>
                    <a:lstStyle/>
                    <a:p>
                      <a:pPr algn="l" fontAlgn="ctr">
                        <a:buNone/>
                      </a:pPr>
                      <a:r>
                        <a:rPr lang="en-US" sz="900" b="1" i="0" u="none" strike="noStrike" dirty="0">
                          <a:solidFill>
                            <a:srgbClr val="FFFFFF"/>
                          </a:solidFill>
                          <a:effectLst/>
                          <a:latin typeface="Calibri" panose="020F0502020204030204" pitchFamily="34" charset="0"/>
                        </a:rPr>
                        <a:t>Financial Covenants</a:t>
                      </a:r>
                    </a:p>
                  </a:txBody>
                  <a:tcPr marL="9525" marR="9525" marT="7156"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143F6A"/>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Max Total Leverage not to exceed 3.5x at closing, Min Fixed Charge Coverage</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Max Total Leverage not to exceed 4.0x at closing, Min Fixed Charge Coverage</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Max Leverage, Min Fixed Charge Coverage, Max </a:t>
                      </a:r>
                      <a:r>
                        <a:rPr lang="en-US" sz="800" b="0" i="0" u="none" strike="noStrike" dirty="0" err="1">
                          <a:solidFill>
                            <a:srgbClr val="000000"/>
                          </a:solidFill>
                          <a:effectLst/>
                          <a:latin typeface="Calibri" panose="020F0502020204030204" pitchFamily="34" charset="0"/>
                        </a:rPr>
                        <a:t>CapEx</a:t>
                      </a:r>
                      <a:endParaRPr lang="en-US" sz="800" b="0" i="0" u="none" strike="noStrike" dirty="0">
                        <a:solidFill>
                          <a:srgbClr val="000000"/>
                        </a:solidFill>
                        <a:effectLst/>
                        <a:latin typeface="Calibri" panose="020F0502020204030204" pitchFamily="34" charset="0"/>
                      </a:endParaRP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Min Debt Service Coverage, Max Total Leverage, Max </a:t>
                      </a:r>
                      <a:r>
                        <a:rPr lang="en-US" sz="800" b="0" i="0" u="none" strike="noStrike" dirty="0" err="1">
                          <a:solidFill>
                            <a:srgbClr val="000000"/>
                          </a:solidFill>
                          <a:effectLst/>
                          <a:latin typeface="Calibri" panose="020F0502020204030204" pitchFamily="34" charset="0"/>
                        </a:rPr>
                        <a:t>CapEx</a:t>
                      </a:r>
                      <a:endParaRPr lang="en-US" sz="800" b="0" i="0" u="none" strike="noStrike" dirty="0">
                        <a:solidFill>
                          <a:srgbClr val="000000"/>
                        </a:solidFill>
                        <a:effectLst/>
                        <a:latin typeface="Calibri" panose="020F0502020204030204" pitchFamily="34" charset="0"/>
                      </a:endParaRP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3270062"/>
                  </a:ext>
                </a:extLst>
              </a:tr>
              <a:tr h="167899">
                <a:tc>
                  <a:txBody>
                    <a:bodyPr/>
                    <a:lstStyle/>
                    <a:p>
                      <a:pPr algn="l" fontAlgn="ctr">
                        <a:buNone/>
                      </a:pPr>
                      <a:r>
                        <a:rPr lang="en-US" sz="900" b="1" i="0" u="none" strike="noStrike" dirty="0">
                          <a:solidFill>
                            <a:srgbClr val="FFFFFF"/>
                          </a:solidFill>
                          <a:effectLst/>
                          <a:latin typeface="Calibri" panose="020F0502020204030204" pitchFamily="34" charset="0"/>
                        </a:rPr>
                        <a:t>Board Observation</a:t>
                      </a:r>
                    </a:p>
                  </a:txBody>
                  <a:tcPr marL="9525" marR="9525" marT="7156"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143F6A"/>
                    </a:solidFill>
                  </a:tcPr>
                </a:tc>
                <a:tc>
                  <a:txBody>
                    <a:bodyPr/>
                    <a:lstStyle/>
                    <a:p>
                      <a:pPr algn="l" fontAlgn="ctr">
                        <a:buNone/>
                      </a:pPr>
                      <a:r>
                        <a:rPr lang="en-US" sz="800" b="0" i="0" u="none" strike="noStrike" dirty="0">
                          <a:solidFill>
                            <a:srgbClr val="000000"/>
                          </a:solidFill>
                          <a:effectLst/>
                          <a:latin typeface="Calibri" panose="020F0502020204030204" pitchFamily="34" charset="0"/>
                        </a:rPr>
                        <a:t>Yes</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0" i="0" u="none" strike="noStrike">
                          <a:solidFill>
                            <a:srgbClr val="000000"/>
                          </a:solidFill>
                          <a:effectLst/>
                          <a:latin typeface="Calibri" panose="020F0502020204030204" pitchFamily="34" charset="0"/>
                        </a:rPr>
                        <a:t>Yes</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0" i="0" u="none" strike="noStrike">
                          <a:solidFill>
                            <a:srgbClr val="000000"/>
                          </a:solidFill>
                          <a:effectLst/>
                          <a:latin typeface="Calibri" panose="020F0502020204030204" pitchFamily="34" charset="0"/>
                        </a:rPr>
                        <a:t>Not noted</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0" i="0" u="none" strike="noStrike" dirty="0">
                          <a:solidFill>
                            <a:srgbClr val="000000"/>
                          </a:solidFill>
                          <a:effectLst/>
                          <a:latin typeface="Calibri" panose="020F0502020204030204" pitchFamily="34" charset="0"/>
                        </a:rPr>
                        <a:t>Not noted</a:t>
                      </a:r>
                    </a:p>
                  </a:txBody>
                  <a:tcPr marL="18288" marR="18288" marT="36576" marB="36576"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5541035"/>
                  </a:ext>
                </a:extLst>
              </a:tr>
            </a:tbl>
          </a:graphicData>
        </a:graphic>
      </p:graphicFrame>
    </p:spTree>
    <p:extLst>
      <p:ext uri="{BB962C8B-B14F-4D97-AF65-F5344CB8AC3E}">
        <p14:creationId xmlns:p14="http://schemas.microsoft.com/office/powerpoint/2010/main" val="21971298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BF0B0-80E6-04E7-3319-BEDE8AF714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DCCD2C-D92B-108B-F8A3-3D9EAFB68B39}"/>
              </a:ext>
            </a:extLst>
          </p:cNvPr>
          <p:cNvSpPr>
            <a:spLocks noGrp="1"/>
          </p:cNvSpPr>
          <p:nvPr>
            <p:ph type="title"/>
          </p:nvPr>
        </p:nvSpPr>
        <p:spPr/>
        <p:txBody>
          <a:bodyPr/>
          <a:lstStyle/>
          <a:p>
            <a:r>
              <a:rPr lang="en-US" dirty="0"/>
              <a:t>Legal Update</a:t>
            </a:r>
          </a:p>
        </p:txBody>
      </p:sp>
      <p:sp>
        <p:nvSpPr>
          <p:cNvPr id="3" name="TextBox 2">
            <a:extLst>
              <a:ext uri="{FF2B5EF4-FFF2-40B4-BE49-F238E27FC236}">
                <a16:creationId xmlns:a16="http://schemas.microsoft.com/office/drawing/2014/main" id="{B5D1B1D2-D926-A545-B058-0C71D90CAFC5}"/>
              </a:ext>
            </a:extLst>
          </p:cNvPr>
          <p:cNvSpPr txBox="1"/>
          <p:nvPr/>
        </p:nvSpPr>
        <p:spPr>
          <a:xfrm>
            <a:off x="221942" y="4687503"/>
            <a:ext cx="2752264" cy="1862048"/>
          </a:xfrm>
          <a:prstGeom prst="rect">
            <a:avLst/>
          </a:prstGeom>
          <a:noFill/>
        </p:spPr>
        <p:txBody>
          <a:bodyPr wrap="square" rtlCol="0">
            <a:spAutoFit/>
          </a:bodyPr>
          <a:lstStyle/>
          <a:p>
            <a:r>
              <a:rPr lang="en-US" sz="11500" dirty="0"/>
              <a:t>VII</a:t>
            </a:r>
          </a:p>
        </p:txBody>
      </p:sp>
      <p:pic>
        <p:nvPicPr>
          <p:cNvPr id="4" name="Picture 3">
            <a:extLst>
              <a:ext uri="{FF2B5EF4-FFF2-40B4-BE49-F238E27FC236}">
                <a16:creationId xmlns:a16="http://schemas.microsoft.com/office/drawing/2014/main" id="{8B0C0F7A-9E08-C559-0934-E0A20E6A2B52}"/>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7243624" y="4908636"/>
            <a:ext cx="1703194" cy="1517130"/>
          </a:xfrm>
          <a:prstGeom prst="rect">
            <a:avLst/>
          </a:prstGeom>
        </p:spPr>
      </p:pic>
    </p:spTree>
    <p:extLst>
      <p:ext uri="{BB962C8B-B14F-4D97-AF65-F5344CB8AC3E}">
        <p14:creationId xmlns:p14="http://schemas.microsoft.com/office/powerpoint/2010/main" val="20024938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40B1F-3EF4-7D4C-2EB2-D1906917E279}"/>
            </a:ext>
          </a:extLst>
        </p:cNvPr>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A92C7D4E-3D05-49D7-F716-B5FBE3E09AD7}"/>
              </a:ext>
            </a:extLst>
          </p:cNvPr>
          <p:cNvCxnSpPr>
            <a:cxnSpLocks/>
          </p:cNvCxnSpPr>
          <p:nvPr/>
        </p:nvCxnSpPr>
        <p:spPr>
          <a:xfrm flipV="1">
            <a:off x="8150993" y="4056904"/>
            <a:ext cx="0" cy="579121"/>
          </a:xfrm>
          <a:prstGeom prst="line">
            <a:avLst/>
          </a:prstGeom>
          <a:ln>
            <a:solidFill>
              <a:schemeClr val="bg2">
                <a:lumMod val="1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330672D4-5302-D97A-A839-533E7229E1D5}"/>
              </a:ext>
            </a:extLst>
          </p:cNvPr>
          <p:cNvCxnSpPr/>
          <p:nvPr/>
        </p:nvCxnSpPr>
        <p:spPr>
          <a:xfrm flipH="1">
            <a:off x="1357162" y="5650029"/>
            <a:ext cx="462013" cy="0"/>
          </a:xfrm>
          <a:prstGeom prst="line">
            <a:avLst/>
          </a:prstGeom>
          <a:ln>
            <a:solidFill>
              <a:schemeClr val="bg2">
                <a:lumMod val="10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A91B3771-A4E7-ADEF-9681-83CBD75BEFDA}"/>
              </a:ext>
            </a:extLst>
          </p:cNvPr>
          <p:cNvSpPr>
            <a:spLocks noGrp="1"/>
          </p:cNvSpPr>
          <p:nvPr>
            <p:ph type="title"/>
          </p:nvPr>
        </p:nvSpPr>
        <p:spPr/>
        <p:txBody>
          <a:bodyPr>
            <a:normAutofit/>
          </a:bodyPr>
          <a:lstStyle/>
          <a:p>
            <a:r>
              <a:rPr lang="en-US" dirty="0"/>
              <a:t>Legal Update</a:t>
            </a:r>
          </a:p>
        </p:txBody>
      </p:sp>
      <p:sp>
        <p:nvSpPr>
          <p:cNvPr id="11" name="TextBox 10">
            <a:extLst>
              <a:ext uri="{FF2B5EF4-FFF2-40B4-BE49-F238E27FC236}">
                <a16:creationId xmlns:a16="http://schemas.microsoft.com/office/drawing/2014/main" id="{35E3AB12-17BD-C8EE-54BC-95F52190B7B2}"/>
              </a:ext>
            </a:extLst>
          </p:cNvPr>
          <p:cNvSpPr txBox="1"/>
          <p:nvPr/>
        </p:nvSpPr>
        <p:spPr>
          <a:xfrm>
            <a:off x="228600" y="981789"/>
            <a:ext cx="8686800" cy="2339102"/>
          </a:xfrm>
          <a:prstGeom prst="rect">
            <a:avLst/>
          </a:prstGeom>
          <a:noFill/>
        </p:spPr>
        <p:txBody>
          <a:bodyPr wrap="square" rtlCol="0">
            <a:spAutoFit/>
          </a:bodyPr>
          <a:lstStyle/>
          <a:p>
            <a:pPr marL="228600" indent="-228600">
              <a:spcBef>
                <a:spcPts val="600"/>
              </a:spcBef>
              <a:spcAft>
                <a:spcPts val="600"/>
              </a:spcAft>
              <a:buFont typeface="Arial" panose="020B0604020202020204" pitchFamily="34" charset="0"/>
              <a:buChar char="•"/>
            </a:pPr>
            <a:r>
              <a:rPr lang="en-US" sz="1400" dirty="0"/>
              <a:t>Our legal due diligence uncovered that, unintentionally, the Company has been operating in Michigan incorrectly as an LLC, whereas medical practices need to be registered as a PLLC (or PC). The Company’s LLC structure in Indiana is compliant. </a:t>
            </a:r>
          </a:p>
          <a:p>
            <a:pPr marL="228600" indent="-228600">
              <a:spcBef>
                <a:spcPts val="600"/>
              </a:spcBef>
              <a:spcAft>
                <a:spcPts val="600"/>
              </a:spcAft>
              <a:buFont typeface="Arial" panose="020B0604020202020204" pitchFamily="34" charset="0"/>
              <a:buChar char="•"/>
            </a:pPr>
            <a:r>
              <a:rPr lang="en-US" sz="1400" dirty="0"/>
              <a:t>As a result, the Company is undergoing a pre-closing restructuring as outlined below to rectify the issue. </a:t>
            </a:r>
          </a:p>
          <a:p>
            <a:pPr marL="228600" indent="-228600">
              <a:spcBef>
                <a:spcPts val="600"/>
              </a:spcBef>
              <a:spcAft>
                <a:spcPts val="600"/>
              </a:spcAft>
              <a:buFont typeface="Arial" panose="020B0604020202020204" pitchFamily="34" charset="0"/>
              <a:buChar char="•"/>
            </a:pPr>
            <a:r>
              <a:rPr lang="en-US" sz="1400" dirty="0"/>
              <a:t>The Company has been operating in good faith, with proper licensure and credentials, with the primary purposes of providing anesthesia staffing solutions. As a result, we do not believe there is any regulatory risk and, at any rate, we will be indemnified by the Sellers for any pre-closing liabilities related to this issue. Going forward, we will have an orthodox Corporate Practice of Medicine (“CPOM”) structure in place in full compliance with all regulatory statutes. </a:t>
            </a:r>
          </a:p>
        </p:txBody>
      </p:sp>
      <p:sp>
        <p:nvSpPr>
          <p:cNvPr id="3" name="Rectangle: Diagonal Corners Snipped 2">
            <a:extLst>
              <a:ext uri="{FF2B5EF4-FFF2-40B4-BE49-F238E27FC236}">
                <a16:creationId xmlns:a16="http://schemas.microsoft.com/office/drawing/2014/main" id="{E6931979-A741-F60E-5B6B-86900D527545}"/>
              </a:ext>
            </a:extLst>
          </p:cNvPr>
          <p:cNvSpPr/>
          <p:nvPr/>
        </p:nvSpPr>
        <p:spPr>
          <a:xfrm>
            <a:off x="115221" y="3419511"/>
            <a:ext cx="3234371"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Current Operating Structure</a:t>
            </a:r>
            <a:endParaRPr lang="en-US" sz="1400" b="1" baseline="30000" dirty="0">
              <a:solidFill>
                <a:schemeClr val="bg1"/>
              </a:solidFill>
            </a:endParaRPr>
          </a:p>
        </p:txBody>
      </p:sp>
      <p:sp>
        <p:nvSpPr>
          <p:cNvPr id="4" name="Rectangle: Diagonal Corners Snipped 3">
            <a:extLst>
              <a:ext uri="{FF2B5EF4-FFF2-40B4-BE49-F238E27FC236}">
                <a16:creationId xmlns:a16="http://schemas.microsoft.com/office/drawing/2014/main" id="{223E1B41-53C1-4CF7-0E4A-2BDBF7A8FDAE}"/>
              </a:ext>
            </a:extLst>
          </p:cNvPr>
          <p:cNvSpPr/>
          <p:nvPr/>
        </p:nvSpPr>
        <p:spPr>
          <a:xfrm>
            <a:off x="3464813" y="3429000"/>
            <a:ext cx="5345089"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Go-Forward Pre-Closing Restructuring</a:t>
            </a:r>
            <a:endParaRPr lang="en-US" sz="1400" b="1" baseline="30000" dirty="0">
              <a:solidFill>
                <a:schemeClr val="bg1"/>
              </a:solidFill>
            </a:endParaRPr>
          </a:p>
        </p:txBody>
      </p:sp>
      <p:sp>
        <p:nvSpPr>
          <p:cNvPr id="5" name="Rectangle 4">
            <a:extLst>
              <a:ext uri="{FF2B5EF4-FFF2-40B4-BE49-F238E27FC236}">
                <a16:creationId xmlns:a16="http://schemas.microsoft.com/office/drawing/2014/main" id="{67BD9585-AEA5-4C1D-9EEA-FFBC6FC6DBC4}"/>
              </a:ext>
            </a:extLst>
          </p:cNvPr>
          <p:cNvSpPr/>
          <p:nvPr/>
        </p:nvSpPr>
        <p:spPr>
          <a:xfrm>
            <a:off x="115222" y="3792354"/>
            <a:ext cx="1453698" cy="433137"/>
          </a:xfrm>
          <a:prstGeom prst="rect">
            <a:avLst/>
          </a:prstGeom>
          <a:solidFill>
            <a:schemeClr val="bg1">
              <a:lumMod val="95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AAS, LLC</a:t>
            </a:r>
          </a:p>
        </p:txBody>
      </p:sp>
      <p:sp>
        <p:nvSpPr>
          <p:cNvPr id="6" name="Rectangle 5">
            <a:extLst>
              <a:ext uri="{FF2B5EF4-FFF2-40B4-BE49-F238E27FC236}">
                <a16:creationId xmlns:a16="http://schemas.microsoft.com/office/drawing/2014/main" id="{F5770370-4F08-0AE7-54C6-3F2706282183}"/>
              </a:ext>
            </a:extLst>
          </p:cNvPr>
          <p:cNvSpPr/>
          <p:nvPr/>
        </p:nvSpPr>
        <p:spPr>
          <a:xfrm>
            <a:off x="115221" y="4313164"/>
            <a:ext cx="1453698" cy="433137"/>
          </a:xfrm>
          <a:prstGeom prst="rect">
            <a:avLst/>
          </a:prstGeom>
          <a:solidFill>
            <a:schemeClr val="bg1">
              <a:lumMod val="95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Novi AAS, LLC</a:t>
            </a:r>
          </a:p>
        </p:txBody>
      </p:sp>
      <p:sp>
        <p:nvSpPr>
          <p:cNvPr id="7" name="Rectangle 6">
            <a:extLst>
              <a:ext uri="{FF2B5EF4-FFF2-40B4-BE49-F238E27FC236}">
                <a16:creationId xmlns:a16="http://schemas.microsoft.com/office/drawing/2014/main" id="{205C83B9-0951-BE8E-BEDF-347E1C2C1E61}"/>
              </a:ext>
            </a:extLst>
          </p:cNvPr>
          <p:cNvSpPr/>
          <p:nvPr/>
        </p:nvSpPr>
        <p:spPr>
          <a:xfrm>
            <a:off x="115221" y="4863896"/>
            <a:ext cx="1453698" cy="433137"/>
          </a:xfrm>
          <a:prstGeom prst="rect">
            <a:avLst/>
          </a:prstGeom>
          <a:solidFill>
            <a:schemeClr val="bg1">
              <a:lumMod val="95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West Michigan CRNA, LLC</a:t>
            </a:r>
          </a:p>
        </p:txBody>
      </p:sp>
      <p:sp>
        <p:nvSpPr>
          <p:cNvPr id="8" name="Rectangle 7">
            <a:extLst>
              <a:ext uri="{FF2B5EF4-FFF2-40B4-BE49-F238E27FC236}">
                <a16:creationId xmlns:a16="http://schemas.microsoft.com/office/drawing/2014/main" id="{94C5D5FC-410B-8797-C096-7B2FC00CE947}"/>
              </a:ext>
            </a:extLst>
          </p:cNvPr>
          <p:cNvSpPr/>
          <p:nvPr/>
        </p:nvSpPr>
        <p:spPr>
          <a:xfrm>
            <a:off x="115220" y="5414628"/>
            <a:ext cx="1453698" cy="433137"/>
          </a:xfrm>
          <a:prstGeom prst="rect">
            <a:avLst/>
          </a:prstGeom>
          <a:solidFill>
            <a:schemeClr val="bg1">
              <a:lumMod val="95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MI CRNA, LLC</a:t>
            </a:r>
          </a:p>
        </p:txBody>
      </p:sp>
      <p:sp>
        <p:nvSpPr>
          <p:cNvPr id="9" name="Rectangle 8">
            <a:extLst>
              <a:ext uri="{FF2B5EF4-FFF2-40B4-BE49-F238E27FC236}">
                <a16:creationId xmlns:a16="http://schemas.microsoft.com/office/drawing/2014/main" id="{91555A4E-7736-ED3F-DC59-C5682126C111}"/>
              </a:ext>
            </a:extLst>
          </p:cNvPr>
          <p:cNvSpPr/>
          <p:nvPr/>
        </p:nvSpPr>
        <p:spPr>
          <a:xfrm>
            <a:off x="1655406" y="5414627"/>
            <a:ext cx="1530419" cy="433137"/>
          </a:xfrm>
          <a:prstGeom prst="rect">
            <a:avLst/>
          </a:prstGeom>
          <a:solidFill>
            <a:schemeClr val="bg1">
              <a:lumMod val="95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Detroit Anesthesia Group, LLC</a:t>
            </a:r>
          </a:p>
        </p:txBody>
      </p:sp>
      <p:sp>
        <p:nvSpPr>
          <p:cNvPr id="10" name="Rectangle 9">
            <a:extLst>
              <a:ext uri="{FF2B5EF4-FFF2-40B4-BE49-F238E27FC236}">
                <a16:creationId xmlns:a16="http://schemas.microsoft.com/office/drawing/2014/main" id="{1F2B93E0-B6E1-5DF6-21CB-10FA52339AF3}"/>
              </a:ext>
            </a:extLst>
          </p:cNvPr>
          <p:cNvSpPr/>
          <p:nvPr/>
        </p:nvSpPr>
        <p:spPr>
          <a:xfrm>
            <a:off x="115220" y="6206378"/>
            <a:ext cx="1453698" cy="433137"/>
          </a:xfrm>
          <a:prstGeom prst="rect">
            <a:avLst/>
          </a:prstGeom>
          <a:solidFill>
            <a:schemeClr val="bg1">
              <a:lumMod val="95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AAS IN, LLC</a:t>
            </a:r>
          </a:p>
        </p:txBody>
      </p:sp>
      <p:sp>
        <p:nvSpPr>
          <p:cNvPr id="12" name="Rectangle 11">
            <a:extLst>
              <a:ext uri="{FF2B5EF4-FFF2-40B4-BE49-F238E27FC236}">
                <a16:creationId xmlns:a16="http://schemas.microsoft.com/office/drawing/2014/main" id="{36C25F13-F50D-FBA7-778C-B19813941CEF}"/>
              </a:ext>
            </a:extLst>
          </p:cNvPr>
          <p:cNvSpPr/>
          <p:nvPr/>
        </p:nvSpPr>
        <p:spPr>
          <a:xfrm>
            <a:off x="3464813" y="3856379"/>
            <a:ext cx="1280160" cy="433137"/>
          </a:xfrm>
          <a:prstGeom prst="rect">
            <a:avLst/>
          </a:prstGeom>
          <a:solidFill>
            <a:schemeClr val="bg1">
              <a:lumMod val="95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AAS, PLLC</a:t>
            </a:r>
          </a:p>
        </p:txBody>
      </p:sp>
      <p:sp>
        <p:nvSpPr>
          <p:cNvPr id="13" name="Rectangle 12">
            <a:extLst>
              <a:ext uri="{FF2B5EF4-FFF2-40B4-BE49-F238E27FC236}">
                <a16:creationId xmlns:a16="http://schemas.microsoft.com/office/drawing/2014/main" id="{E1FE2569-473C-327C-E371-1AB584F6B9E3}"/>
              </a:ext>
            </a:extLst>
          </p:cNvPr>
          <p:cNvSpPr/>
          <p:nvPr/>
        </p:nvSpPr>
        <p:spPr>
          <a:xfrm>
            <a:off x="4822998" y="3856379"/>
            <a:ext cx="1280160" cy="433137"/>
          </a:xfrm>
          <a:prstGeom prst="rect">
            <a:avLst/>
          </a:prstGeom>
          <a:solidFill>
            <a:schemeClr val="bg1">
              <a:lumMod val="95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Novi AAS, PLLC</a:t>
            </a:r>
          </a:p>
        </p:txBody>
      </p:sp>
      <p:sp>
        <p:nvSpPr>
          <p:cNvPr id="14" name="Rectangle 13">
            <a:extLst>
              <a:ext uri="{FF2B5EF4-FFF2-40B4-BE49-F238E27FC236}">
                <a16:creationId xmlns:a16="http://schemas.microsoft.com/office/drawing/2014/main" id="{E8043BAE-81AF-4703-C59B-75BEF37E0797}"/>
              </a:ext>
            </a:extLst>
          </p:cNvPr>
          <p:cNvSpPr/>
          <p:nvPr/>
        </p:nvSpPr>
        <p:spPr>
          <a:xfrm>
            <a:off x="6161930" y="3856379"/>
            <a:ext cx="1280160" cy="433137"/>
          </a:xfrm>
          <a:prstGeom prst="rect">
            <a:avLst/>
          </a:prstGeom>
          <a:solidFill>
            <a:schemeClr val="bg1">
              <a:lumMod val="95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West Michigan CRNA, PLLC</a:t>
            </a:r>
          </a:p>
        </p:txBody>
      </p:sp>
      <p:sp>
        <p:nvSpPr>
          <p:cNvPr id="15" name="Rectangle 14">
            <a:extLst>
              <a:ext uri="{FF2B5EF4-FFF2-40B4-BE49-F238E27FC236}">
                <a16:creationId xmlns:a16="http://schemas.microsoft.com/office/drawing/2014/main" id="{29037263-574E-89AE-7F50-020DE2E82B4F}"/>
              </a:ext>
            </a:extLst>
          </p:cNvPr>
          <p:cNvSpPr/>
          <p:nvPr/>
        </p:nvSpPr>
        <p:spPr>
          <a:xfrm>
            <a:off x="7529742" y="3856378"/>
            <a:ext cx="1280160" cy="433137"/>
          </a:xfrm>
          <a:prstGeom prst="rect">
            <a:avLst/>
          </a:prstGeom>
          <a:solidFill>
            <a:schemeClr val="bg1">
              <a:lumMod val="95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MI CRNA, PLLC</a:t>
            </a:r>
          </a:p>
        </p:txBody>
      </p:sp>
      <p:sp>
        <p:nvSpPr>
          <p:cNvPr id="16" name="Rectangle 15">
            <a:extLst>
              <a:ext uri="{FF2B5EF4-FFF2-40B4-BE49-F238E27FC236}">
                <a16:creationId xmlns:a16="http://schemas.microsoft.com/office/drawing/2014/main" id="{6283597D-7A9F-C07E-F943-3CF41812A468}"/>
              </a:ext>
            </a:extLst>
          </p:cNvPr>
          <p:cNvSpPr/>
          <p:nvPr/>
        </p:nvSpPr>
        <p:spPr>
          <a:xfrm>
            <a:off x="7529742" y="4391865"/>
            <a:ext cx="1280160" cy="433137"/>
          </a:xfrm>
          <a:prstGeom prst="rect">
            <a:avLst/>
          </a:prstGeom>
          <a:solidFill>
            <a:schemeClr val="bg1">
              <a:lumMod val="95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ysClr val="windowText" lastClr="000000"/>
                </a:solidFill>
              </a:rPr>
              <a:t>DAG, PLLC</a:t>
            </a:r>
          </a:p>
        </p:txBody>
      </p:sp>
      <p:sp>
        <p:nvSpPr>
          <p:cNvPr id="21" name="TextBox 20">
            <a:extLst>
              <a:ext uri="{FF2B5EF4-FFF2-40B4-BE49-F238E27FC236}">
                <a16:creationId xmlns:a16="http://schemas.microsoft.com/office/drawing/2014/main" id="{F9AB6490-1351-5926-E196-E44D69D94F6B}"/>
              </a:ext>
            </a:extLst>
          </p:cNvPr>
          <p:cNvSpPr txBox="1"/>
          <p:nvPr/>
        </p:nvSpPr>
        <p:spPr>
          <a:xfrm>
            <a:off x="3464813" y="4391865"/>
            <a:ext cx="3977277" cy="2195473"/>
          </a:xfrm>
          <a:prstGeom prst="rect">
            <a:avLst/>
          </a:prstGeom>
          <a:noFill/>
        </p:spPr>
        <p:txBody>
          <a:bodyPr wrap="square" rtlCol="0">
            <a:spAutoFit/>
          </a:bodyPr>
          <a:lstStyle/>
          <a:p>
            <a:pPr marL="115888" indent="-115888">
              <a:spcBef>
                <a:spcPts val="200"/>
              </a:spcBef>
              <a:spcAft>
                <a:spcPts val="200"/>
              </a:spcAft>
              <a:buFont typeface="Arial" panose="020B0604020202020204" pitchFamily="34" charset="0"/>
              <a:buChar char="•"/>
            </a:pPr>
            <a:r>
              <a:rPr lang="en-US" sz="1000" dirty="0"/>
              <a:t>As part of its pre-closing restructuring, the Company is working with Varnum on:</a:t>
            </a:r>
          </a:p>
          <a:p>
            <a:pPr marL="404813" lvl="1" indent="-231775">
              <a:spcBef>
                <a:spcPts val="200"/>
              </a:spcBef>
              <a:spcAft>
                <a:spcPts val="200"/>
              </a:spcAft>
              <a:buFont typeface="+mj-lt"/>
              <a:buAutoNum type="romanUcPeriod"/>
            </a:pPr>
            <a:r>
              <a:rPr lang="en-US" sz="1000" dirty="0"/>
              <a:t>Certificate of Conversion and PLLC Articles of Organization</a:t>
            </a:r>
          </a:p>
          <a:p>
            <a:pPr marL="404813" lvl="1" indent="-231775">
              <a:spcBef>
                <a:spcPts val="200"/>
              </a:spcBef>
              <a:spcAft>
                <a:spcPts val="200"/>
              </a:spcAft>
              <a:buFont typeface="+mj-lt"/>
              <a:buAutoNum type="romanUcPeriod"/>
            </a:pPr>
            <a:r>
              <a:rPr lang="en-US" sz="1000" dirty="0"/>
              <a:t>Certificate of Correct and PLLC Articles of Organization</a:t>
            </a:r>
          </a:p>
          <a:p>
            <a:pPr marL="404813" lvl="1" indent="-231775">
              <a:spcBef>
                <a:spcPts val="200"/>
              </a:spcBef>
              <a:spcAft>
                <a:spcPts val="600"/>
              </a:spcAft>
              <a:buFont typeface="+mj-lt"/>
              <a:buAutoNum type="romanUcPeriod"/>
            </a:pPr>
            <a:r>
              <a:rPr lang="en-US" sz="1000" dirty="0"/>
              <a:t>Restating Articles of Organization for PLLC</a:t>
            </a:r>
          </a:p>
          <a:p>
            <a:pPr>
              <a:spcBef>
                <a:spcPts val="200"/>
              </a:spcBef>
              <a:spcAft>
                <a:spcPts val="200"/>
              </a:spcAft>
            </a:pPr>
            <a:r>
              <a:rPr lang="en-US" sz="1000" u="sng" dirty="0"/>
              <a:t>Implications of PLLC Conversion</a:t>
            </a:r>
          </a:p>
          <a:p>
            <a:pPr marL="171450" indent="-171450">
              <a:spcBef>
                <a:spcPts val="200"/>
              </a:spcBef>
              <a:spcAft>
                <a:spcPts val="200"/>
              </a:spcAft>
              <a:buFont typeface="Arial" panose="020B0604020202020204" pitchFamily="34" charset="0"/>
              <a:buChar char="•"/>
            </a:pPr>
            <a:r>
              <a:rPr lang="en-US" sz="1000" dirty="0"/>
              <a:t>The tax treatment will remain the same for each entity – preventing any changes in FEIN</a:t>
            </a:r>
          </a:p>
          <a:p>
            <a:pPr marL="171450" indent="-171450">
              <a:spcBef>
                <a:spcPts val="200"/>
              </a:spcBef>
              <a:spcAft>
                <a:spcPts val="200"/>
              </a:spcAft>
              <a:buFont typeface="Arial" panose="020B0604020202020204" pitchFamily="34" charset="0"/>
              <a:buChar char="•"/>
            </a:pPr>
            <a:r>
              <a:rPr lang="en-US" sz="1000" dirty="0"/>
              <a:t>Conversion does not trigger any change of control provisions with existing contracts.</a:t>
            </a:r>
          </a:p>
          <a:p>
            <a:pPr marL="171450" indent="-171450">
              <a:spcBef>
                <a:spcPts val="200"/>
              </a:spcBef>
              <a:spcAft>
                <a:spcPts val="200"/>
              </a:spcAft>
              <a:buFont typeface="Arial" panose="020B0604020202020204" pitchFamily="34" charset="0"/>
              <a:buChar char="•"/>
            </a:pPr>
            <a:r>
              <a:rPr lang="en-US" sz="1000" dirty="0"/>
              <a:t>Counsel does not anticipate any penalties related to a conversion.</a:t>
            </a:r>
          </a:p>
        </p:txBody>
      </p:sp>
      <p:sp>
        <p:nvSpPr>
          <p:cNvPr id="20" name="Slide Number Placeholder 19">
            <a:extLst>
              <a:ext uri="{FF2B5EF4-FFF2-40B4-BE49-F238E27FC236}">
                <a16:creationId xmlns:a16="http://schemas.microsoft.com/office/drawing/2014/main" id="{FBA03517-B2AC-0ADC-45D7-1C3A05F6FF1D}"/>
              </a:ext>
            </a:extLst>
          </p:cNvPr>
          <p:cNvSpPr>
            <a:spLocks noGrp="1"/>
          </p:cNvSpPr>
          <p:nvPr>
            <p:ph type="sldNum" sz="quarter" idx="12"/>
          </p:nvPr>
        </p:nvSpPr>
        <p:spPr/>
        <p:txBody>
          <a:bodyPr/>
          <a:lstStyle/>
          <a:p>
            <a:fld id="{F8DDDAE5-3BDD-4D78-843B-A22FA78305BB}" type="slidenum">
              <a:rPr lang="en-US" smtClean="0"/>
              <a:t>42</a:t>
            </a:fld>
            <a:endParaRPr lang="en-US" dirty="0"/>
          </a:p>
        </p:txBody>
      </p:sp>
    </p:spTree>
    <p:extLst>
      <p:ext uri="{BB962C8B-B14F-4D97-AF65-F5344CB8AC3E}">
        <p14:creationId xmlns:p14="http://schemas.microsoft.com/office/powerpoint/2010/main" val="22425257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F81DE-85C8-FD66-EA9E-BB2940D53B71}"/>
            </a:ext>
          </a:extLst>
        </p:cNvPr>
        <p:cNvGrpSpPr/>
        <p:nvPr/>
      </p:nvGrpSpPr>
      <p:grpSpPr>
        <a:xfrm>
          <a:off x="0" y="0"/>
          <a:ext cx="0" cy="0"/>
          <a:chOff x="0" y="0"/>
          <a:chExt cx="0" cy="0"/>
        </a:xfrm>
      </p:grpSpPr>
      <p:cxnSp>
        <p:nvCxnSpPr>
          <p:cNvPr id="43" name="Straight Connector 42">
            <a:extLst>
              <a:ext uri="{FF2B5EF4-FFF2-40B4-BE49-F238E27FC236}">
                <a16:creationId xmlns:a16="http://schemas.microsoft.com/office/drawing/2014/main" id="{0C207B6D-88D6-5487-4EE8-3F48EA3DDDEE}"/>
              </a:ext>
            </a:extLst>
          </p:cNvPr>
          <p:cNvCxnSpPr>
            <a:cxnSpLocks/>
          </p:cNvCxnSpPr>
          <p:nvPr/>
        </p:nvCxnSpPr>
        <p:spPr>
          <a:xfrm>
            <a:off x="3294744" y="2806363"/>
            <a:ext cx="0" cy="860355"/>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1D3B205-7013-ADF6-6524-876DEC726C37}"/>
              </a:ext>
            </a:extLst>
          </p:cNvPr>
          <p:cNvSpPr>
            <a:spLocks noGrp="1"/>
          </p:cNvSpPr>
          <p:nvPr>
            <p:ph type="title"/>
          </p:nvPr>
        </p:nvSpPr>
        <p:spPr>
          <a:xfrm>
            <a:off x="221942" y="218485"/>
            <a:ext cx="8697771" cy="664684"/>
          </a:xfrm>
        </p:spPr>
        <p:txBody>
          <a:bodyPr>
            <a:normAutofit/>
          </a:bodyPr>
          <a:lstStyle/>
          <a:p>
            <a:r>
              <a:rPr lang="en-US" dirty="0"/>
              <a:t>Post-Closing Legal Structure</a:t>
            </a:r>
          </a:p>
        </p:txBody>
      </p:sp>
      <p:sp>
        <p:nvSpPr>
          <p:cNvPr id="11" name="TextBox 10">
            <a:extLst>
              <a:ext uri="{FF2B5EF4-FFF2-40B4-BE49-F238E27FC236}">
                <a16:creationId xmlns:a16="http://schemas.microsoft.com/office/drawing/2014/main" id="{C686F66F-0C76-AAD2-41E2-47F7D19D7506}"/>
              </a:ext>
            </a:extLst>
          </p:cNvPr>
          <p:cNvSpPr txBox="1"/>
          <p:nvPr/>
        </p:nvSpPr>
        <p:spPr>
          <a:xfrm>
            <a:off x="228600" y="981789"/>
            <a:ext cx="8686800" cy="1354217"/>
          </a:xfrm>
          <a:prstGeom prst="rect">
            <a:avLst/>
          </a:prstGeom>
          <a:noFill/>
        </p:spPr>
        <p:txBody>
          <a:bodyPr wrap="square" rtlCol="0">
            <a:spAutoFit/>
          </a:bodyPr>
          <a:lstStyle/>
          <a:p>
            <a:pPr marL="228600" indent="-228600">
              <a:spcBef>
                <a:spcPts val="300"/>
              </a:spcBef>
              <a:spcAft>
                <a:spcPts val="300"/>
              </a:spcAft>
              <a:buFont typeface="Arial" panose="020B0604020202020204" pitchFamily="34" charset="0"/>
              <a:buChar char="•"/>
            </a:pPr>
            <a:r>
              <a:rPr lang="en-US" sz="1200" dirty="0"/>
              <a:t>The post-closing legal structure will reflect a CPOM-compliant organization. The new management Company will enter into an Asset Purchase Agreement (“APA”) with the practice entity to purchase the non-clinical assets of the PE. </a:t>
            </a:r>
          </a:p>
          <a:p>
            <a:pPr marL="228600" indent="-228600">
              <a:spcBef>
                <a:spcPts val="300"/>
              </a:spcBef>
              <a:spcAft>
                <a:spcPts val="300"/>
              </a:spcAft>
              <a:buFont typeface="Arial" panose="020B0604020202020204" pitchFamily="34" charset="0"/>
              <a:buChar char="•"/>
            </a:pPr>
            <a:r>
              <a:rPr lang="en-US" sz="1200" dirty="0"/>
              <a:t>The Management Company and Practice Entity will enter into an Administrative Services Agreement (“ASA”) and Deficit Loan Funding Agreement (“DFLA”); while all entities will enter into a Securities Transfer Restriction Agreement (“STRA”). </a:t>
            </a:r>
          </a:p>
          <a:p>
            <a:pPr marL="228600" indent="-228600">
              <a:spcBef>
                <a:spcPts val="300"/>
              </a:spcBef>
              <a:spcAft>
                <a:spcPts val="300"/>
              </a:spcAft>
              <a:buFont typeface="Arial" panose="020B0604020202020204" pitchFamily="34" charset="0"/>
              <a:buChar char="•"/>
            </a:pPr>
            <a:r>
              <a:rPr lang="en-US" sz="1200" dirty="0"/>
              <a:t>This structure allows the management company to effectively exercise full operational control of all non-clinical aspects of the business. </a:t>
            </a:r>
          </a:p>
        </p:txBody>
      </p:sp>
      <p:sp>
        <p:nvSpPr>
          <p:cNvPr id="79" name="Isosceles Triangle 78">
            <a:extLst>
              <a:ext uri="{FF2B5EF4-FFF2-40B4-BE49-F238E27FC236}">
                <a16:creationId xmlns:a16="http://schemas.microsoft.com/office/drawing/2014/main" id="{E108C81B-5F35-E881-F5C7-A4A748F87791}"/>
              </a:ext>
            </a:extLst>
          </p:cNvPr>
          <p:cNvSpPr>
            <a:spLocks noChangeAspect="1"/>
          </p:cNvSpPr>
          <p:nvPr/>
        </p:nvSpPr>
        <p:spPr>
          <a:xfrm>
            <a:off x="7486011" y="2743683"/>
            <a:ext cx="1064767" cy="506704"/>
          </a:xfrm>
          <a:prstGeom prst="triangle">
            <a:avLst>
              <a:gd name="adj" fmla="val 50495"/>
            </a:avLst>
          </a:prstGeom>
          <a:solidFill>
            <a:srgbClr val="242852"/>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100" dirty="0">
              <a:solidFill>
                <a:prstClr val="white"/>
              </a:solidFill>
            </a:endParaRPr>
          </a:p>
        </p:txBody>
      </p:sp>
      <p:sp>
        <p:nvSpPr>
          <p:cNvPr id="49" name="TextBox 49">
            <a:extLst>
              <a:ext uri="{FF2B5EF4-FFF2-40B4-BE49-F238E27FC236}">
                <a16:creationId xmlns:a16="http://schemas.microsoft.com/office/drawing/2014/main" id="{7D79CAFD-C03B-9AC7-23DA-39DD1D547616}"/>
              </a:ext>
            </a:extLst>
          </p:cNvPr>
          <p:cNvSpPr txBox="1"/>
          <p:nvPr/>
        </p:nvSpPr>
        <p:spPr>
          <a:xfrm>
            <a:off x="7298609" y="3267004"/>
            <a:ext cx="1439571" cy="220011"/>
          </a:xfrm>
          <a:prstGeom prst="rect">
            <a:avLst/>
          </a:prstGeom>
          <a:noFill/>
        </p:spPr>
        <p:txBody>
          <a:bodyPr wrap="square" lIns="0" tIns="0" rIns="0" bIns="0"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dirty="0"/>
              <a:t>Tax Partnership</a:t>
            </a:r>
          </a:p>
        </p:txBody>
      </p:sp>
      <p:sp>
        <p:nvSpPr>
          <p:cNvPr id="52" name="Rectangle 51">
            <a:extLst>
              <a:ext uri="{FF2B5EF4-FFF2-40B4-BE49-F238E27FC236}">
                <a16:creationId xmlns:a16="http://schemas.microsoft.com/office/drawing/2014/main" id="{651F3EDC-01C4-CEFD-8019-EE0B677817E8}"/>
              </a:ext>
            </a:extLst>
          </p:cNvPr>
          <p:cNvSpPr/>
          <p:nvPr/>
        </p:nvSpPr>
        <p:spPr>
          <a:xfrm>
            <a:off x="7273504" y="2372274"/>
            <a:ext cx="1489781" cy="4182380"/>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a:extLst>
              <a:ext uri="{FF2B5EF4-FFF2-40B4-BE49-F238E27FC236}">
                <a16:creationId xmlns:a16="http://schemas.microsoft.com/office/drawing/2014/main" id="{60F0A0AA-6382-FD63-8862-82173FDA3545}"/>
              </a:ext>
            </a:extLst>
          </p:cNvPr>
          <p:cNvSpPr txBox="1"/>
          <p:nvPr/>
        </p:nvSpPr>
        <p:spPr>
          <a:xfrm>
            <a:off x="7682609" y="2403003"/>
            <a:ext cx="671570" cy="292834"/>
          </a:xfrm>
          <a:prstGeom prst="rect">
            <a:avLst/>
          </a:prstGeom>
          <a:noFill/>
        </p:spPr>
        <p:txBody>
          <a:bodyPr wrap="square" lIns="0" tIns="0" rIns="0" bIns="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b="1" u="sng" dirty="0"/>
              <a:t>Tax Key:</a:t>
            </a:r>
          </a:p>
        </p:txBody>
      </p:sp>
      <p:sp>
        <p:nvSpPr>
          <p:cNvPr id="4" name="Slide Number Placeholder 3">
            <a:extLst>
              <a:ext uri="{FF2B5EF4-FFF2-40B4-BE49-F238E27FC236}">
                <a16:creationId xmlns:a16="http://schemas.microsoft.com/office/drawing/2014/main" id="{60C8C980-8A37-60B4-E636-3D8D41F3FBF3}"/>
              </a:ext>
            </a:extLst>
          </p:cNvPr>
          <p:cNvSpPr>
            <a:spLocks noGrp="1"/>
          </p:cNvSpPr>
          <p:nvPr>
            <p:ph type="sldNum" sz="quarter" idx="12"/>
          </p:nvPr>
        </p:nvSpPr>
        <p:spPr/>
        <p:txBody>
          <a:bodyPr/>
          <a:lstStyle/>
          <a:p>
            <a:fld id="{F8DDDAE5-3BDD-4D78-843B-A22FA78305BB}" type="slidenum">
              <a:rPr lang="en-US" smtClean="0"/>
              <a:t>43</a:t>
            </a:fld>
            <a:endParaRPr lang="en-US" dirty="0"/>
          </a:p>
        </p:txBody>
      </p:sp>
      <p:cxnSp>
        <p:nvCxnSpPr>
          <p:cNvPr id="61" name="Straight Connector 60">
            <a:extLst>
              <a:ext uri="{FF2B5EF4-FFF2-40B4-BE49-F238E27FC236}">
                <a16:creationId xmlns:a16="http://schemas.microsoft.com/office/drawing/2014/main" id="{6B4BDF31-485C-313B-9327-981A93ADE5DD}"/>
              </a:ext>
            </a:extLst>
          </p:cNvPr>
          <p:cNvCxnSpPr>
            <a:cxnSpLocks/>
          </p:cNvCxnSpPr>
          <p:nvPr/>
        </p:nvCxnSpPr>
        <p:spPr>
          <a:xfrm>
            <a:off x="6142665" y="3695664"/>
            <a:ext cx="0" cy="22315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DA81C80-BC23-9AB1-4A60-9444A2D2E667}"/>
              </a:ext>
            </a:extLst>
          </p:cNvPr>
          <p:cNvCxnSpPr>
            <a:cxnSpLocks/>
          </p:cNvCxnSpPr>
          <p:nvPr/>
        </p:nvCxnSpPr>
        <p:spPr>
          <a:xfrm rot="5400000">
            <a:off x="2155655" y="2579894"/>
            <a:ext cx="0" cy="2231540"/>
          </a:xfrm>
          <a:prstGeom prst="line">
            <a:avLst/>
          </a:prstGeom>
        </p:spPr>
        <p:style>
          <a:lnRef idx="1">
            <a:schemeClr val="accent1"/>
          </a:lnRef>
          <a:fillRef idx="0">
            <a:schemeClr val="accent1"/>
          </a:fillRef>
          <a:effectRef idx="0">
            <a:schemeClr val="accent1"/>
          </a:effectRef>
          <a:fontRef idx="minor">
            <a:schemeClr val="tx1"/>
          </a:fontRef>
        </p:style>
      </p:cxnSp>
      <p:grpSp>
        <p:nvGrpSpPr>
          <p:cNvPr id="84" name="Group 83">
            <a:extLst>
              <a:ext uri="{FF2B5EF4-FFF2-40B4-BE49-F238E27FC236}">
                <a16:creationId xmlns:a16="http://schemas.microsoft.com/office/drawing/2014/main" id="{556B0858-5FA9-712F-8B04-70028BBBF440}"/>
              </a:ext>
            </a:extLst>
          </p:cNvPr>
          <p:cNvGrpSpPr/>
          <p:nvPr/>
        </p:nvGrpSpPr>
        <p:grpSpPr>
          <a:xfrm>
            <a:off x="2711357" y="3417807"/>
            <a:ext cx="1166774" cy="552683"/>
            <a:chOff x="2711357" y="3417807"/>
            <a:chExt cx="1166774" cy="552683"/>
          </a:xfrm>
        </p:grpSpPr>
        <p:sp>
          <p:nvSpPr>
            <p:cNvPr id="83" name="Rectangle 82">
              <a:extLst>
                <a:ext uri="{FF2B5EF4-FFF2-40B4-BE49-F238E27FC236}">
                  <a16:creationId xmlns:a16="http://schemas.microsoft.com/office/drawing/2014/main" id="{2BCE37BB-EE1B-F71A-7956-605CAAF01D9C}"/>
                </a:ext>
              </a:extLst>
            </p:cNvPr>
            <p:cNvSpPr>
              <a:spLocks noChangeAspect="1"/>
            </p:cNvSpPr>
            <p:nvPr/>
          </p:nvSpPr>
          <p:spPr>
            <a:xfrm>
              <a:off x="2711357" y="3417807"/>
              <a:ext cx="1166774" cy="552683"/>
            </a:xfrm>
            <a:prstGeom prst="rect">
              <a:avLst/>
            </a:prstGeom>
            <a:solidFill>
              <a:srgbClr val="B5C1DF"/>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en-US" sz="1100" b="1" dirty="0"/>
            </a:p>
          </p:txBody>
        </p:sp>
        <p:sp>
          <p:nvSpPr>
            <p:cNvPr id="17" name="Oval 16">
              <a:extLst>
                <a:ext uri="{FF2B5EF4-FFF2-40B4-BE49-F238E27FC236}">
                  <a16:creationId xmlns:a16="http://schemas.microsoft.com/office/drawing/2014/main" id="{2F8C5EA6-470A-64BE-3B62-F0FEB2D917A1}"/>
                </a:ext>
              </a:extLst>
            </p:cNvPr>
            <p:cNvSpPr/>
            <p:nvPr/>
          </p:nvSpPr>
          <p:spPr>
            <a:xfrm>
              <a:off x="2723244" y="3439330"/>
              <a:ext cx="1143000" cy="509637"/>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dirty="0"/>
                <a:t>AAS Holdco</a:t>
              </a:r>
            </a:p>
          </p:txBody>
        </p:sp>
      </p:grpSp>
      <p:cxnSp>
        <p:nvCxnSpPr>
          <p:cNvPr id="20" name="Straight Connector 19">
            <a:extLst>
              <a:ext uri="{FF2B5EF4-FFF2-40B4-BE49-F238E27FC236}">
                <a16:creationId xmlns:a16="http://schemas.microsoft.com/office/drawing/2014/main" id="{D169005F-13AE-7083-777C-884E32770EC6}"/>
              </a:ext>
            </a:extLst>
          </p:cNvPr>
          <p:cNvCxnSpPr/>
          <p:nvPr/>
        </p:nvCxnSpPr>
        <p:spPr>
          <a:xfrm>
            <a:off x="2155656" y="3921366"/>
            <a:ext cx="333" cy="25999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15AF34F-8B5D-C5BF-5164-A74A21D7B622}"/>
              </a:ext>
            </a:extLst>
          </p:cNvPr>
          <p:cNvCxnSpPr>
            <a:cxnSpLocks/>
          </p:cNvCxnSpPr>
          <p:nvPr/>
        </p:nvCxnSpPr>
        <p:spPr>
          <a:xfrm>
            <a:off x="2155655" y="3695664"/>
            <a:ext cx="0" cy="2231540"/>
          </a:xfrm>
          <a:prstGeom prst="line">
            <a:avLst/>
          </a:prstGeom>
        </p:spPr>
        <p:style>
          <a:lnRef idx="1">
            <a:schemeClr val="accent1"/>
          </a:lnRef>
          <a:fillRef idx="0">
            <a:schemeClr val="accent1"/>
          </a:fillRef>
          <a:effectRef idx="0">
            <a:schemeClr val="accent1"/>
          </a:effectRef>
          <a:fontRef idx="minor">
            <a:schemeClr val="tx1"/>
          </a:fontRef>
        </p:style>
      </p:cxnSp>
      <p:sp>
        <p:nvSpPr>
          <p:cNvPr id="34" name="TextBox 43">
            <a:extLst>
              <a:ext uri="{FF2B5EF4-FFF2-40B4-BE49-F238E27FC236}">
                <a16:creationId xmlns:a16="http://schemas.microsoft.com/office/drawing/2014/main" id="{7F3D83F5-5BBE-01B5-6AA6-AAF00F47B5AA}"/>
              </a:ext>
            </a:extLst>
          </p:cNvPr>
          <p:cNvSpPr txBox="1"/>
          <p:nvPr/>
        </p:nvSpPr>
        <p:spPr>
          <a:xfrm>
            <a:off x="3660115" y="4584818"/>
            <a:ext cx="589868" cy="191375"/>
          </a:xfrm>
          <a:prstGeom prst="rect">
            <a:avLst/>
          </a:prstGeom>
          <a:solidFill>
            <a:schemeClr val="bg1"/>
          </a:solidFill>
        </p:spPr>
        <p:txBody>
          <a:bodyPr wrap="square" lIns="0" tIns="0" rIns="0" bIns="0"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dirty="0"/>
              <a:t>STRA</a:t>
            </a:r>
          </a:p>
        </p:txBody>
      </p:sp>
      <p:sp>
        <p:nvSpPr>
          <p:cNvPr id="36" name="TextBox 49">
            <a:extLst>
              <a:ext uri="{FF2B5EF4-FFF2-40B4-BE49-F238E27FC236}">
                <a16:creationId xmlns:a16="http://schemas.microsoft.com/office/drawing/2014/main" id="{F557B2AD-2A23-2B5C-0519-07B83B9FE95A}"/>
              </a:ext>
            </a:extLst>
          </p:cNvPr>
          <p:cNvSpPr txBox="1"/>
          <p:nvPr/>
        </p:nvSpPr>
        <p:spPr>
          <a:xfrm>
            <a:off x="3614562" y="6218766"/>
            <a:ext cx="680975" cy="335888"/>
          </a:xfrm>
          <a:prstGeom prst="rect">
            <a:avLst/>
          </a:prstGeom>
          <a:noFill/>
        </p:spPr>
        <p:txBody>
          <a:bodyPr wrap="square" lIns="0" tIns="0" rIns="0" bIns="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dirty="0"/>
              <a:t>DFLA</a:t>
            </a:r>
          </a:p>
          <a:p>
            <a:pPr algn="ctr"/>
            <a:r>
              <a:rPr lang="en-US" sz="1000" dirty="0"/>
              <a:t>ASA</a:t>
            </a:r>
          </a:p>
        </p:txBody>
      </p:sp>
      <p:sp>
        <p:nvSpPr>
          <p:cNvPr id="39" name="Rectangle 38">
            <a:extLst>
              <a:ext uri="{FF2B5EF4-FFF2-40B4-BE49-F238E27FC236}">
                <a16:creationId xmlns:a16="http://schemas.microsoft.com/office/drawing/2014/main" id="{B9135CFF-1D6A-12E7-7A34-E1828141398A}"/>
              </a:ext>
            </a:extLst>
          </p:cNvPr>
          <p:cNvSpPr/>
          <p:nvPr/>
        </p:nvSpPr>
        <p:spPr>
          <a:xfrm>
            <a:off x="5360853" y="5778008"/>
            <a:ext cx="1563624" cy="740664"/>
          </a:xfrm>
          <a:prstGeom prst="rect">
            <a:avLst/>
          </a:prstGeom>
          <a:solidFill>
            <a:srgbClr val="242852"/>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r>
              <a:rPr lang="en-US" sz="1100" b="1" dirty="0"/>
              <a:t>Practice Entity</a:t>
            </a:r>
          </a:p>
        </p:txBody>
      </p:sp>
      <p:sp>
        <p:nvSpPr>
          <p:cNvPr id="5" name="Oval 4">
            <a:extLst>
              <a:ext uri="{FF2B5EF4-FFF2-40B4-BE49-F238E27FC236}">
                <a16:creationId xmlns:a16="http://schemas.microsoft.com/office/drawing/2014/main" id="{5C750BFA-76BB-0571-5DD4-0E4954498F76}"/>
              </a:ext>
            </a:extLst>
          </p:cNvPr>
          <p:cNvSpPr/>
          <p:nvPr/>
        </p:nvSpPr>
        <p:spPr>
          <a:xfrm>
            <a:off x="2723244" y="2372274"/>
            <a:ext cx="1143000" cy="509637"/>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dirty="0"/>
              <a:t>Chris / Mark</a:t>
            </a:r>
          </a:p>
        </p:txBody>
      </p:sp>
      <p:sp>
        <p:nvSpPr>
          <p:cNvPr id="9" name="Isosceles Triangle 8">
            <a:extLst>
              <a:ext uri="{FF2B5EF4-FFF2-40B4-BE49-F238E27FC236}">
                <a16:creationId xmlns:a16="http://schemas.microsoft.com/office/drawing/2014/main" id="{B19637CA-44FB-B38B-D6C9-0398DDEA8A34}"/>
              </a:ext>
            </a:extLst>
          </p:cNvPr>
          <p:cNvSpPr/>
          <p:nvPr/>
        </p:nvSpPr>
        <p:spPr>
          <a:xfrm>
            <a:off x="1376192" y="5777408"/>
            <a:ext cx="1558926" cy="741864"/>
          </a:xfrm>
          <a:prstGeom prst="triangle">
            <a:avLst>
              <a:gd name="adj" fmla="val 50495"/>
            </a:avLst>
          </a:prstGeom>
          <a:solidFill>
            <a:schemeClr val="accent1">
              <a:lumMod val="40000"/>
              <a:lumOff val="60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b="1" dirty="0">
                <a:solidFill>
                  <a:prstClr val="white"/>
                </a:solidFill>
              </a:rPr>
              <a:t>AAS MSO</a:t>
            </a:r>
          </a:p>
        </p:txBody>
      </p:sp>
      <p:sp>
        <p:nvSpPr>
          <p:cNvPr id="13" name="Oval 12">
            <a:extLst>
              <a:ext uri="{FF2B5EF4-FFF2-40B4-BE49-F238E27FC236}">
                <a16:creationId xmlns:a16="http://schemas.microsoft.com/office/drawing/2014/main" id="{8CD86EF7-03D9-B3C4-D487-292F1250BF78}"/>
              </a:ext>
            </a:extLst>
          </p:cNvPr>
          <p:cNvSpPr/>
          <p:nvPr/>
        </p:nvSpPr>
        <p:spPr>
          <a:xfrm>
            <a:off x="5571165" y="3439330"/>
            <a:ext cx="1143000" cy="509637"/>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dirty="0"/>
              <a:t>Practice Owner</a:t>
            </a:r>
          </a:p>
        </p:txBody>
      </p:sp>
      <p:sp>
        <p:nvSpPr>
          <p:cNvPr id="15" name="Isosceles Triangle 14">
            <a:extLst>
              <a:ext uri="{FF2B5EF4-FFF2-40B4-BE49-F238E27FC236}">
                <a16:creationId xmlns:a16="http://schemas.microsoft.com/office/drawing/2014/main" id="{BCEDAD60-EDB0-E2A5-AAB6-2421C331832F}"/>
              </a:ext>
            </a:extLst>
          </p:cNvPr>
          <p:cNvSpPr>
            <a:spLocks noChangeAspect="1"/>
          </p:cNvSpPr>
          <p:nvPr/>
        </p:nvSpPr>
        <p:spPr>
          <a:xfrm>
            <a:off x="1570033" y="3924815"/>
            <a:ext cx="1171244" cy="557374"/>
          </a:xfrm>
          <a:prstGeom prst="triangle">
            <a:avLst>
              <a:gd name="adj" fmla="val 50495"/>
            </a:avLst>
          </a:prstGeom>
          <a:solidFill>
            <a:srgbClr val="242852"/>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dirty="0">
                <a:solidFill>
                  <a:prstClr val="white"/>
                </a:solidFill>
              </a:rPr>
              <a:t>Topco</a:t>
            </a:r>
          </a:p>
        </p:txBody>
      </p:sp>
      <p:sp>
        <p:nvSpPr>
          <p:cNvPr id="7" name="Oval 6">
            <a:extLst>
              <a:ext uri="{FF2B5EF4-FFF2-40B4-BE49-F238E27FC236}">
                <a16:creationId xmlns:a16="http://schemas.microsoft.com/office/drawing/2014/main" id="{B5130088-2944-4A9B-DF27-7E13326BE5A7}"/>
              </a:ext>
            </a:extLst>
          </p:cNvPr>
          <p:cNvSpPr/>
          <p:nvPr/>
        </p:nvSpPr>
        <p:spPr>
          <a:xfrm>
            <a:off x="221942" y="3439330"/>
            <a:ext cx="1143000" cy="509637"/>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dirty="0"/>
              <a:t>NSC</a:t>
            </a:r>
          </a:p>
        </p:txBody>
      </p:sp>
      <p:cxnSp>
        <p:nvCxnSpPr>
          <p:cNvPr id="59" name="Straight Arrow Connector 58">
            <a:extLst>
              <a:ext uri="{FF2B5EF4-FFF2-40B4-BE49-F238E27FC236}">
                <a16:creationId xmlns:a16="http://schemas.microsoft.com/office/drawing/2014/main" id="{8628FE58-7F13-0B8E-93D7-F1595C2C0F98}"/>
              </a:ext>
            </a:extLst>
          </p:cNvPr>
          <p:cNvCxnSpPr>
            <a:cxnSpLocks/>
          </p:cNvCxnSpPr>
          <p:nvPr/>
        </p:nvCxnSpPr>
        <p:spPr>
          <a:xfrm>
            <a:off x="2549245" y="6148340"/>
            <a:ext cx="2811608" cy="1"/>
          </a:xfrm>
          <a:prstGeom prst="straightConnector1">
            <a:avLst/>
          </a:prstGeom>
          <a:ln w="12700">
            <a:prstDash val="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AE9ECA00-68E2-CD7C-A14B-A24ED1F2065A}"/>
              </a:ext>
            </a:extLst>
          </p:cNvPr>
          <p:cNvCxnSpPr>
            <a:cxnSpLocks/>
            <a:stCxn id="9" idx="5"/>
            <a:endCxn id="13" idx="2"/>
          </p:cNvCxnSpPr>
          <p:nvPr/>
        </p:nvCxnSpPr>
        <p:spPr>
          <a:xfrm flipV="1">
            <a:off x="2549245" y="3694149"/>
            <a:ext cx="3021920" cy="2454191"/>
          </a:xfrm>
          <a:prstGeom prst="straightConnector1">
            <a:avLst/>
          </a:prstGeom>
          <a:ln w="12700">
            <a:prstDash val="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EF95A65D-553E-D9C0-8D0F-42C6A25DCB18}"/>
              </a:ext>
            </a:extLst>
          </p:cNvPr>
          <p:cNvCxnSpPr>
            <a:cxnSpLocks/>
          </p:cNvCxnSpPr>
          <p:nvPr/>
        </p:nvCxnSpPr>
        <p:spPr>
          <a:xfrm>
            <a:off x="4295537" y="4776193"/>
            <a:ext cx="1065316" cy="991553"/>
          </a:xfrm>
          <a:prstGeom prst="straightConnector1">
            <a:avLst/>
          </a:prstGeom>
          <a:ln w="12700">
            <a:prstDash val="dash"/>
            <a:tailEnd type="triangle"/>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41798EA4-5A09-97DE-8412-425004122723}"/>
              </a:ext>
            </a:extLst>
          </p:cNvPr>
          <p:cNvSpPr/>
          <p:nvPr/>
        </p:nvSpPr>
        <p:spPr>
          <a:xfrm>
            <a:off x="1579156" y="5303480"/>
            <a:ext cx="1152998" cy="277350"/>
          </a:xfrm>
          <a:prstGeom prst="rect">
            <a:avLst/>
          </a:prstGeom>
          <a:solidFill>
            <a:srgbClr val="24285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dirty="0"/>
              <a:t>Buyer</a:t>
            </a:r>
          </a:p>
        </p:txBody>
      </p:sp>
      <p:sp>
        <p:nvSpPr>
          <p:cNvPr id="82" name="Rectangle 81">
            <a:extLst>
              <a:ext uri="{FF2B5EF4-FFF2-40B4-BE49-F238E27FC236}">
                <a16:creationId xmlns:a16="http://schemas.microsoft.com/office/drawing/2014/main" id="{77A080AF-2430-FA95-4143-2A0AF8218BAF}"/>
              </a:ext>
            </a:extLst>
          </p:cNvPr>
          <p:cNvSpPr>
            <a:spLocks noChangeAspect="1"/>
          </p:cNvSpPr>
          <p:nvPr/>
        </p:nvSpPr>
        <p:spPr>
          <a:xfrm>
            <a:off x="7488042" y="4648559"/>
            <a:ext cx="1060704" cy="502439"/>
          </a:xfrm>
          <a:prstGeom prst="rect">
            <a:avLst/>
          </a:prstGeom>
          <a:solidFill>
            <a:srgbClr val="242852"/>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en-US" sz="1100" b="1" dirty="0"/>
          </a:p>
        </p:txBody>
      </p:sp>
      <p:sp>
        <p:nvSpPr>
          <p:cNvPr id="75" name="TextBox 49">
            <a:extLst>
              <a:ext uri="{FF2B5EF4-FFF2-40B4-BE49-F238E27FC236}">
                <a16:creationId xmlns:a16="http://schemas.microsoft.com/office/drawing/2014/main" id="{B805E29E-CE02-43B3-D72D-4E247E40AAFE}"/>
              </a:ext>
            </a:extLst>
          </p:cNvPr>
          <p:cNvSpPr txBox="1"/>
          <p:nvPr/>
        </p:nvSpPr>
        <p:spPr>
          <a:xfrm>
            <a:off x="7298609" y="5168452"/>
            <a:ext cx="1439571" cy="220011"/>
          </a:xfrm>
          <a:prstGeom prst="rect">
            <a:avLst/>
          </a:prstGeom>
          <a:noFill/>
        </p:spPr>
        <p:txBody>
          <a:bodyPr wrap="square" lIns="0" tIns="0" rIns="0" bIns="0"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dirty="0"/>
              <a:t>C-Corporation</a:t>
            </a:r>
          </a:p>
        </p:txBody>
      </p:sp>
      <p:sp>
        <p:nvSpPr>
          <p:cNvPr id="74" name="TextBox 49">
            <a:extLst>
              <a:ext uri="{FF2B5EF4-FFF2-40B4-BE49-F238E27FC236}">
                <a16:creationId xmlns:a16="http://schemas.microsoft.com/office/drawing/2014/main" id="{CF6DC181-CEF9-9E1F-434C-ECA8A7F4B867}"/>
              </a:ext>
            </a:extLst>
          </p:cNvPr>
          <p:cNvSpPr txBox="1"/>
          <p:nvPr/>
        </p:nvSpPr>
        <p:spPr>
          <a:xfrm>
            <a:off x="7298609" y="4216179"/>
            <a:ext cx="1439571" cy="220011"/>
          </a:xfrm>
          <a:prstGeom prst="rect">
            <a:avLst/>
          </a:prstGeom>
          <a:noFill/>
        </p:spPr>
        <p:txBody>
          <a:bodyPr wrap="square" lIns="0" tIns="0" rIns="0" bIns="0"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dirty="0"/>
              <a:t>Disregarded Entity</a:t>
            </a:r>
          </a:p>
        </p:txBody>
      </p:sp>
      <p:sp>
        <p:nvSpPr>
          <p:cNvPr id="81" name="Isosceles Triangle 80">
            <a:extLst>
              <a:ext uri="{FF2B5EF4-FFF2-40B4-BE49-F238E27FC236}">
                <a16:creationId xmlns:a16="http://schemas.microsoft.com/office/drawing/2014/main" id="{7A017D46-D575-E18F-283C-0E17D336ACEA}"/>
              </a:ext>
            </a:extLst>
          </p:cNvPr>
          <p:cNvSpPr>
            <a:spLocks noChangeAspect="1"/>
          </p:cNvSpPr>
          <p:nvPr/>
        </p:nvSpPr>
        <p:spPr>
          <a:xfrm>
            <a:off x="7486011" y="3699384"/>
            <a:ext cx="1064767" cy="506704"/>
          </a:xfrm>
          <a:prstGeom prst="triangle">
            <a:avLst>
              <a:gd name="adj" fmla="val 50495"/>
            </a:avLst>
          </a:prstGeom>
          <a:solidFill>
            <a:srgbClr val="B5C1DF"/>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100" dirty="0">
              <a:solidFill>
                <a:prstClr val="white"/>
              </a:solidFill>
            </a:endParaRPr>
          </a:p>
        </p:txBody>
      </p:sp>
      <p:sp>
        <p:nvSpPr>
          <p:cNvPr id="86" name="Rectangle 85">
            <a:extLst>
              <a:ext uri="{FF2B5EF4-FFF2-40B4-BE49-F238E27FC236}">
                <a16:creationId xmlns:a16="http://schemas.microsoft.com/office/drawing/2014/main" id="{E5FA0B3A-2751-E7C3-C58A-6890E8448048}"/>
              </a:ext>
            </a:extLst>
          </p:cNvPr>
          <p:cNvSpPr>
            <a:spLocks noChangeAspect="1"/>
          </p:cNvSpPr>
          <p:nvPr/>
        </p:nvSpPr>
        <p:spPr>
          <a:xfrm>
            <a:off x="7488042" y="5600832"/>
            <a:ext cx="1060704" cy="502439"/>
          </a:xfrm>
          <a:prstGeom prst="rect">
            <a:avLst/>
          </a:prstGeom>
          <a:solidFill>
            <a:srgbClr val="B5C1DF"/>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en-US" sz="1100" b="1" dirty="0"/>
          </a:p>
        </p:txBody>
      </p:sp>
      <p:sp>
        <p:nvSpPr>
          <p:cNvPr id="87" name="Oval 86">
            <a:extLst>
              <a:ext uri="{FF2B5EF4-FFF2-40B4-BE49-F238E27FC236}">
                <a16:creationId xmlns:a16="http://schemas.microsoft.com/office/drawing/2014/main" id="{F2411893-11BE-941A-5A5F-FA64019C6321}"/>
              </a:ext>
            </a:extLst>
          </p:cNvPr>
          <p:cNvSpPr/>
          <p:nvPr/>
        </p:nvSpPr>
        <p:spPr>
          <a:xfrm>
            <a:off x="7498848" y="5620398"/>
            <a:ext cx="1039091" cy="463306"/>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100" dirty="0"/>
          </a:p>
        </p:txBody>
      </p:sp>
      <p:sp>
        <p:nvSpPr>
          <p:cNvPr id="88" name="TextBox 49">
            <a:extLst>
              <a:ext uri="{FF2B5EF4-FFF2-40B4-BE49-F238E27FC236}">
                <a16:creationId xmlns:a16="http://schemas.microsoft.com/office/drawing/2014/main" id="{74464362-96D0-09C7-517C-61D775D9D586}"/>
              </a:ext>
            </a:extLst>
          </p:cNvPr>
          <p:cNvSpPr txBox="1"/>
          <p:nvPr/>
        </p:nvSpPr>
        <p:spPr>
          <a:xfrm>
            <a:off x="7298609" y="6122275"/>
            <a:ext cx="1439571" cy="220011"/>
          </a:xfrm>
          <a:prstGeom prst="rect">
            <a:avLst/>
          </a:prstGeom>
          <a:noFill/>
        </p:spPr>
        <p:txBody>
          <a:bodyPr wrap="square" lIns="0" tIns="0" rIns="0" bIns="0"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dirty="0"/>
              <a:t>S-Corporation</a:t>
            </a:r>
          </a:p>
        </p:txBody>
      </p:sp>
    </p:spTree>
    <p:extLst>
      <p:ext uri="{BB962C8B-B14F-4D97-AF65-F5344CB8AC3E}">
        <p14:creationId xmlns:p14="http://schemas.microsoft.com/office/powerpoint/2010/main" val="19155940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EC35D-35DE-6281-A9EB-1DD31D8200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A05505-803F-EC49-0CAA-B4783C47A38C}"/>
              </a:ext>
            </a:extLst>
          </p:cNvPr>
          <p:cNvSpPr>
            <a:spLocks noGrp="1"/>
          </p:cNvSpPr>
          <p:nvPr>
            <p:ph type="title"/>
          </p:nvPr>
        </p:nvSpPr>
        <p:spPr/>
        <p:txBody>
          <a:bodyPr/>
          <a:lstStyle/>
          <a:p>
            <a:r>
              <a:rPr lang="en-US" dirty="0"/>
              <a:t>Due Diligence Updates</a:t>
            </a:r>
          </a:p>
        </p:txBody>
      </p:sp>
      <p:sp>
        <p:nvSpPr>
          <p:cNvPr id="3" name="TextBox 2">
            <a:extLst>
              <a:ext uri="{FF2B5EF4-FFF2-40B4-BE49-F238E27FC236}">
                <a16:creationId xmlns:a16="http://schemas.microsoft.com/office/drawing/2014/main" id="{73FE459C-7322-353F-6AF4-3FAB80ACE55A}"/>
              </a:ext>
            </a:extLst>
          </p:cNvPr>
          <p:cNvSpPr txBox="1"/>
          <p:nvPr/>
        </p:nvSpPr>
        <p:spPr>
          <a:xfrm>
            <a:off x="221942" y="4687503"/>
            <a:ext cx="2752264" cy="1862048"/>
          </a:xfrm>
          <a:prstGeom prst="rect">
            <a:avLst/>
          </a:prstGeom>
          <a:noFill/>
        </p:spPr>
        <p:txBody>
          <a:bodyPr wrap="square" rtlCol="0">
            <a:spAutoFit/>
          </a:bodyPr>
          <a:lstStyle/>
          <a:p>
            <a:r>
              <a:rPr lang="en-US" sz="11500" dirty="0"/>
              <a:t>VIII</a:t>
            </a:r>
          </a:p>
        </p:txBody>
      </p:sp>
      <p:pic>
        <p:nvPicPr>
          <p:cNvPr id="4" name="Picture 3">
            <a:extLst>
              <a:ext uri="{FF2B5EF4-FFF2-40B4-BE49-F238E27FC236}">
                <a16:creationId xmlns:a16="http://schemas.microsoft.com/office/drawing/2014/main" id="{7853C100-F413-CE73-5C75-C3987DB923E9}"/>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7243624" y="4908636"/>
            <a:ext cx="1703194" cy="1517130"/>
          </a:xfrm>
          <a:prstGeom prst="rect">
            <a:avLst/>
          </a:prstGeom>
        </p:spPr>
      </p:pic>
    </p:spTree>
    <p:extLst>
      <p:ext uri="{BB962C8B-B14F-4D97-AF65-F5344CB8AC3E}">
        <p14:creationId xmlns:p14="http://schemas.microsoft.com/office/powerpoint/2010/main" val="15470859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896EB-94DC-210D-1C0E-0E9A9D4253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AA40F6-A6E8-39A0-EB02-670EDDBC3A79}"/>
              </a:ext>
            </a:extLst>
          </p:cNvPr>
          <p:cNvSpPr>
            <a:spLocks noGrp="1"/>
          </p:cNvSpPr>
          <p:nvPr>
            <p:ph type="title"/>
          </p:nvPr>
        </p:nvSpPr>
        <p:spPr/>
        <p:txBody>
          <a:bodyPr>
            <a:normAutofit/>
          </a:bodyPr>
          <a:lstStyle/>
          <a:p>
            <a:r>
              <a:rPr lang="en-US" dirty="0"/>
              <a:t>Key Diligence Issues &amp; Outcomes</a:t>
            </a:r>
          </a:p>
        </p:txBody>
      </p:sp>
      <p:sp>
        <p:nvSpPr>
          <p:cNvPr id="9" name="Slide Number Placeholder 8">
            <a:extLst>
              <a:ext uri="{FF2B5EF4-FFF2-40B4-BE49-F238E27FC236}">
                <a16:creationId xmlns:a16="http://schemas.microsoft.com/office/drawing/2014/main" id="{04F5CC5F-286A-3BE7-33F3-7538BAB52378}"/>
              </a:ext>
            </a:extLst>
          </p:cNvPr>
          <p:cNvSpPr>
            <a:spLocks noGrp="1"/>
          </p:cNvSpPr>
          <p:nvPr>
            <p:ph type="sldNum" sz="quarter" idx="12"/>
          </p:nvPr>
        </p:nvSpPr>
        <p:spPr/>
        <p:txBody>
          <a:bodyPr/>
          <a:lstStyle/>
          <a:p>
            <a:fld id="{F8DDDAE5-3BDD-4D78-843B-A22FA78305BB}" type="slidenum">
              <a:rPr lang="en-US" smtClean="0"/>
              <a:t>45</a:t>
            </a:fld>
            <a:endParaRPr lang="en-US" dirty="0"/>
          </a:p>
        </p:txBody>
      </p:sp>
      <p:graphicFrame>
        <p:nvGraphicFramePr>
          <p:cNvPr id="7" name="Table 6">
            <a:extLst>
              <a:ext uri="{FF2B5EF4-FFF2-40B4-BE49-F238E27FC236}">
                <a16:creationId xmlns:a16="http://schemas.microsoft.com/office/drawing/2014/main" id="{EE165074-E527-28BB-9465-7B8EABA00DAC}"/>
              </a:ext>
            </a:extLst>
          </p:cNvPr>
          <p:cNvGraphicFramePr>
            <a:graphicFrameLocks noGrp="1"/>
          </p:cNvGraphicFramePr>
          <p:nvPr>
            <p:extLst>
              <p:ext uri="{D42A27DB-BD31-4B8C-83A1-F6EECF244321}">
                <p14:modId xmlns:p14="http://schemas.microsoft.com/office/powerpoint/2010/main" val="802249005"/>
              </p:ext>
            </p:extLst>
          </p:nvPr>
        </p:nvGraphicFramePr>
        <p:xfrm>
          <a:off x="182880" y="905124"/>
          <a:ext cx="8777462" cy="5626863"/>
        </p:xfrm>
        <a:graphic>
          <a:graphicData uri="http://schemas.openxmlformats.org/drawingml/2006/table">
            <a:tbl>
              <a:tblPr firstRow="1" bandRow="1">
                <a:tableStyleId>{5C22544A-7EE6-4342-B048-85BDC9FD1C3A}</a:tableStyleId>
              </a:tblPr>
              <a:tblGrid>
                <a:gridCol w="1000978">
                  <a:extLst>
                    <a:ext uri="{9D8B030D-6E8A-4147-A177-3AD203B41FA5}">
                      <a16:colId xmlns:a16="http://schemas.microsoft.com/office/drawing/2014/main" val="2013788962"/>
                    </a:ext>
                  </a:extLst>
                </a:gridCol>
                <a:gridCol w="1854363">
                  <a:extLst>
                    <a:ext uri="{9D8B030D-6E8A-4147-A177-3AD203B41FA5}">
                      <a16:colId xmlns:a16="http://schemas.microsoft.com/office/drawing/2014/main" val="3716730001"/>
                    </a:ext>
                  </a:extLst>
                </a:gridCol>
                <a:gridCol w="2439020">
                  <a:extLst>
                    <a:ext uri="{9D8B030D-6E8A-4147-A177-3AD203B41FA5}">
                      <a16:colId xmlns:a16="http://schemas.microsoft.com/office/drawing/2014/main" val="584997788"/>
                    </a:ext>
                  </a:extLst>
                </a:gridCol>
                <a:gridCol w="2568701">
                  <a:extLst>
                    <a:ext uri="{9D8B030D-6E8A-4147-A177-3AD203B41FA5}">
                      <a16:colId xmlns:a16="http://schemas.microsoft.com/office/drawing/2014/main" val="191570869"/>
                    </a:ext>
                  </a:extLst>
                </a:gridCol>
                <a:gridCol w="914400">
                  <a:extLst>
                    <a:ext uri="{9D8B030D-6E8A-4147-A177-3AD203B41FA5}">
                      <a16:colId xmlns:a16="http://schemas.microsoft.com/office/drawing/2014/main" val="2934890927"/>
                    </a:ext>
                  </a:extLst>
                </a:gridCol>
              </a:tblGrid>
              <a:tr h="396611">
                <a:tc>
                  <a:txBody>
                    <a:bodyPr/>
                    <a:lstStyle/>
                    <a:p>
                      <a:pPr algn="ctr"/>
                      <a:r>
                        <a:rPr lang="en-US" sz="1100" dirty="0">
                          <a:solidFill>
                            <a:schemeClr val="bg1"/>
                          </a:solidFill>
                        </a:rPr>
                        <a:t>Diligence Topic</a:t>
                      </a:r>
                    </a:p>
                  </a:txBody>
                  <a:tcPr marL="110642" marR="110642" marT="28388" marB="28388" anchor="ctr">
                    <a:lnT w="3175" cap="flat" cmpd="sng" algn="ctr">
                      <a:solidFill>
                        <a:schemeClr val="bg1"/>
                      </a:solidFill>
                      <a:prstDash val="solid"/>
                      <a:round/>
                      <a:headEnd type="none" w="med" len="med"/>
                      <a:tailEnd type="none" w="med" len="med"/>
                    </a:lnT>
                    <a:solidFill>
                      <a:schemeClr val="accent1">
                        <a:lumMod val="50000"/>
                      </a:schemeClr>
                    </a:solidFill>
                  </a:tcPr>
                </a:tc>
                <a:tc>
                  <a:txBody>
                    <a:bodyPr/>
                    <a:lstStyle/>
                    <a:p>
                      <a:pPr algn="ctr"/>
                      <a:r>
                        <a:rPr lang="en-US" sz="1100" dirty="0">
                          <a:solidFill>
                            <a:schemeClr val="bg1"/>
                          </a:solidFill>
                        </a:rPr>
                        <a:t>Description</a:t>
                      </a:r>
                    </a:p>
                  </a:txBody>
                  <a:tcPr marL="110642" marR="110642" marT="28388" marB="28388" anchor="ctr">
                    <a:lnT w="3175" cap="flat" cmpd="sng" algn="ctr">
                      <a:solidFill>
                        <a:schemeClr val="bg1"/>
                      </a:solidFill>
                      <a:prstDash val="solid"/>
                      <a:round/>
                      <a:headEnd type="none" w="med" len="med"/>
                      <a:tailEnd type="none" w="med" len="med"/>
                    </a:lnT>
                    <a:solidFill>
                      <a:schemeClr val="accent1">
                        <a:lumMod val="50000"/>
                      </a:schemeClr>
                    </a:solidFill>
                  </a:tcPr>
                </a:tc>
                <a:tc>
                  <a:txBody>
                    <a:bodyPr/>
                    <a:lstStyle/>
                    <a:p>
                      <a:pPr algn="ctr"/>
                      <a:r>
                        <a:rPr lang="en-US" sz="1100" dirty="0">
                          <a:solidFill>
                            <a:schemeClr val="bg1"/>
                          </a:solidFill>
                        </a:rPr>
                        <a:t>Status / Resolution</a:t>
                      </a:r>
                    </a:p>
                  </a:txBody>
                  <a:tcPr marL="110642" marR="110642" marT="28388" marB="28388" anchor="ctr">
                    <a:lnT w="3175" cap="flat" cmpd="sng" algn="ctr">
                      <a:solidFill>
                        <a:schemeClr val="bg1"/>
                      </a:solidFill>
                      <a:prstDash val="solid"/>
                      <a:round/>
                      <a:headEnd type="none" w="med" len="med"/>
                      <a:tailEnd type="none" w="med" len="med"/>
                    </a:lnT>
                    <a:solidFill>
                      <a:schemeClr val="accent1">
                        <a:lumMod val="50000"/>
                      </a:schemeClr>
                    </a:solidFill>
                  </a:tcPr>
                </a:tc>
                <a:tc>
                  <a:txBody>
                    <a:bodyPr/>
                    <a:lstStyle/>
                    <a:p>
                      <a:pPr algn="ctr"/>
                      <a:r>
                        <a:rPr lang="en-US" sz="1100" dirty="0">
                          <a:solidFill>
                            <a:schemeClr val="bg1"/>
                          </a:solidFill>
                        </a:rPr>
                        <a:t>Impact on Investment Thesis</a:t>
                      </a:r>
                    </a:p>
                  </a:txBody>
                  <a:tcPr marL="110642" marR="110642" marT="28388" marB="28388" anchor="ctr">
                    <a:lnT w="3175" cap="flat" cmpd="sng" algn="ctr">
                      <a:solidFill>
                        <a:schemeClr val="bg1"/>
                      </a:solidFill>
                      <a:prstDash val="solid"/>
                      <a:round/>
                      <a:headEnd type="none" w="med" len="med"/>
                      <a:tailEnd type="none" w="med" len="med"/>
                    </a:lnT>
                    <a:solidFill>
                      <a:schemeClr val="accent1">
                        <a:lumMod val="50000"/>
                      </a:schemeClr>
                    </a:solidFill>
                  </a:tcPr>
                </a:tc>
                <a:tc>
                  <a:txBody>
                    <a:bodyPr/>
                    <a:lstStyle/>
                    <a:p>
                      <a:pPr algn="ctr"/>
                      <a:r>
                        <a:rPr lang="en-US" sz="1100" dirty="0">
                          <a:solidFill>
                            <a:schemeClr val="bg1"/>
                          </a:solidFill>
                        </a:rPr>
                        <a:t>Status</a:t>
                      </a:r>
                    </a:p>
                  </a:txBody>
                  <a:tcPr marL="110642" marR="110642" marT="28388" marB="28388" anchor="ctr">
                    <a:lnT w="3175" cap="flat" cmpd="sng" algn="ctr">
                      <a:solidFill>
                        <a:schemeClr val="bg1"/>
                      </a:solidFill>
                      <a:prstDash val="solid"/>
                      <a:round/>
                      <a:headEnd type="none" w="med" len="med"/>
                      <a:tailEnd type="none" w="med" len="med"/>
                    </a:lnT>
                    <a:solidFill>
                      <a:schemeClr val="accent1">
                        <a:lumMod val="50000"/>
                      </a:schemeClr>
                    </a:solidFill>
                  </a:tcPr>
                </a:tc>
                <a:extLst>
                  <a:ext uri="{0D108BD9-81ED-4DB2-BD59-A6C34878D82A}">
                    <a16:rowId xmlns:a16="http://schemas.microsoft.com/office/drawing/2014/main" val="2007875439"/>
                  </a:ext>
                </a:extLst>
              </a:tr>
              <a:tr h="1086389">
                <a:tc>
                  <a:txBody>
                    <a:bodyPr/>
                    <a:lstStyle/>
                    <a:p>
                      <a:pPr algn="l" fontAlgn="ctr">
                        <a:buNone/>
                      </a:pPr>
                      <a:r>
                        <a:rPr lang="en-US" sz="1000" b="1" i="0" u="none" strike="noStrike" dirty="0">
                          <a:solidFill>
                            <a:srgbClr val="000000"/>
                          </a:solidFill>
                          <a:effectLst/>
                          <a:latin typeface="Aptos Narrow" panose="020B0004020202020204" pitchFamily="34" charset="0"/>
                        </a:rPr>
                        <a:t>Balance Billing</a:t>
                      </a: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Collections across the business are at ~95% and AAS is consistently hitting the labor floor in most contracts</a:t>
                      </a: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All of the collections by ASC are within compliance of the contract specifications; the primary cause of lower-than-expected collections is a result of patient balances. Additionally, management is switching to a new RCM provider (VBRCM) starting in 2026</a:t>
                      </a:r>
                    </a:p>
                  </a:txBody>
                  <a:tcPr marL="110642" marR="110642" anchor="ctr">
                    <a:solidFill>
                      <a:schemeClr val="bg1">
                        <a:lumMod val="9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950" kern="1200" dirty="0">
                          <a:solidFill>
                            <a:schemeClr val="dk1"/>
                          </a:solidFill>
                          <a:latin typeface="+mn-lt"/>
                          <a:ea typeface="+mn-ea"/>
                          <a:cs typeface="+mn-cs"/>
                        </a:rPr>
                        <a:t>Given none of the contracts are explicitly at risk, the opportunity to improve on collections, specifically patient balances, represents upside to our underwriting</a:t>
                      </a:r>
                    </a:p>
                  </a:txBody>
                  <a:tcPr marL="110642" marR="110642" anchor="ctr">
                    <a:solidFill>
                      <a:schemeClr val="bg1">
                        <a:lumMod val="9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50" b="1" kern="1200" dirty="0">
                          <a:solidFill>
                            <a:schemeClr val="dk1"/>
                          </a:solidFill>
                          <a:latin typeface="+mn-lt"/>
                          <a:ea typeface="+mn-ea"/>
                          <a:cs typeface="+mn-cs"/>
                        </a:rPr>
                        <a:t>Partial</a:t>
                      </a:r>
                    </a:p>
                  </a:txBody>
                  <a:tcPr marL="110642" marR="110642" anchor="ctr">
                    <a:solidFill>
                      <a:schemeClr val="bg1">
                        <a:lumMod val="95000"/>
                      </a:schemeClr>
                    </a:solidFill>
                  </a:tcPr>
                </a:tc>
                <a:extLst>
                  <a:ext uri="{0D108BD9-81ED-4DB2-BD59-A6C34878D82A}">
                    <a16:rowId xmlns:a16="http://schemas.microsoft.com/office/drawing/2014/main" val="714419499"/>
                  </a:ext>
                </a:extLst>
              </a:tr>
              <a:tr h="1086389">
                <a:tc>
                  <a:txBody>
                    <a:bodyPr/>
                    <a:lstStyle/>
                    <a:p>
                      <a:pPr algn="l" fontAlgn="ctr">
                        <a:buNone/>
                      </a:pPr>
                      <a:r>
                        <a:rPr lang="en-US" sz="1000" b="1" i="0" u="none" strike="noStrike" dirty="0">
                          <a:solidFill>
                            <a:srgbClr val="000000"/>
                          </a:solidFill>
                          <a:effectLst/>
                          <a:latin typeface="Aptos Narrow" panose="020B0004020202020204" pitchFamily="34" charset="0"/>
                        </a:rPr>
                        <a:t>IU Relationship</a:t>
                      </a:r>
                    </a:p>
                  </a:txBody>
                  <a:tcPr marL="110642" marR="110642" anchor="ctr">
                    <a:solidFill>
                      <a:schemeClr val="bg1">
                        <a:lumMod val="8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Collections below 97% of allowables trigger requirement for monthly reports and corrective action plans. Risk of true-up / management fee renegotiation or relationship loss</a:t>
                      </a:r>
                    </a:p>
                  </a:txBody>
                  <a:tcPr marL="110642" marR="110642" anchor="ctr">
                    <a:solidFill>
                      <a:schemeClr val="bg1">
                        <a:lumMod val="8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Confirmed that collections are &gt;98% when removing outstanding patient balances, per contract. </a:t>
                      </a:r>
                    </a:p>
                  </a:txBody>
                  <a:tcPr marL="110642" marR="110642" anchor="ctr">
                    <a:solidFill>
                      <a:schemeClr val="bg1">
                        <a:lumMod val="8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950" kern="1200" dirty="0">
                          <a:solidFill>
                            <a:schemeClr val="dk1"/>
                          </a:solidFill>
                          <a:latin typeface="+mn-lt"/>
                          <a:ea typeface="+mn-ea"/>
                          <a:cs typeface="+mn-cs"/>
                        </a:rPr>
                        <a:t>Uncertain, but pending feedback from management and IU Health customer call could be net positive; risk of churn captured in Downside Case</a:t>
                      </a:r>
                    </a:p>
                  </a:txBody>
                  <a:tcPr marL="110642" marR="110642" anchor="ctr">
                    <a:solidFill>
                      <a:schemeClr val="bg1">
                        <a:lumMod val="8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50" b="1" kern="1200" dirty="0">
                          <a:solidFill>
                            <a:schemeClr val="dk1"/>
                          </a:solidFill>
                          <a:latin typeface="+mn-lt"/>
                          <a:ea typeface="+mn-ea"/>
                          <a:cs typeface="+mn-cs"/>
                        </a:rPr>
                        <a:t>Closed</a:t>
                      </a:r>
                    </a:p>
                  </a:txBody>
                  <a:tcPr marL="110642" marR="110642" anchor="ctr">
                    <a:solidFill>
                      <a:schemeClr val="bg1">
                        <a:lumMod val="85000"/>
                      </a:schemeClr>
                    </a:solidFill>
                  </a:tcPr>
                </a:tc>
                <a:extLst>
                  <a:ext uri="{0D108BD9-81ED-4DB2-BD59-A6C34878D82A}">
                    <a16:rowId xmlns:a16="http://schemas.microsoft.com/office/drawing/2014/main" val="3319725507"/>
                  </a:ext>
                </a:extLst>
              </a:tr>
              <a:tr h="955432">
                <a:tc>
                  <a:txBody>
                    <a:bodyPr/>
                    <a:lstStyle/>
                    <a:p>
                      <a:pPr algn="l" fontAlgn="ctr">
                        <a:buNone/>
                      </a:pPr>
                      <a:r>
                        <a:rPr lang="en-US" sz="1000" b="1" i="0" u="none" strike="noStrike" dirty="0">
                          <a:solidFill>
                            <a:srgbClr val="000000"/>
                          </a:solidFill>
                          <a:effectLst/>
                          <a:latin typeface="Aptos Narrow" panose="020B0004020202020204" pitchFamily="34" charset="0"/>
                        </a:rPr>
                        <a:t>General Compliance Checklist</a:t>
                      </a: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Does AAS maintain a formal compliance program (manual, credentialing, verification)?</a:t>
                      </a:r>
                    </a:p>
                  </a:txBody>
                  <a:tcPr marL="110642" marR="110642" anchor="ctr">
                    <a:solidFill>
                      <a:schemeClr val="bg1">
                        <a:lumMod val="9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950" kern="1200" dirty="0">
                          <a:solidFill>
                            <a:schemeClr val="dk1"/>
                          </a:solidFill>
                          <a:latin typeface="+mn-lt"/>
                          <a:ea typeface="+mn-ea"/>
                          <a:cs typeface="+mn-cs"/>
                        </a:rPr>
                        <a:t>Engaging third-party (Health Law Partners) to begin creating compliance handbook, targeting completion by close date</a:t>
                      </a:r>
                    </a:p>
                  </a:txBody>
                  <a:tcPr marL="110642" marR="110642" anchor="ctr">
                    <a:solidFill>
                      <a:schemeClr val="bg1">
                        <a:lumMod val="9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950" kern="1200" dirty="0">
                          <a:solidFill>
                            <a:schemeClr val="dk1"/>
                          </a:solidFill>
                          <a:latin typeface="+mn-lt"/>
                          <a:ea typeface="+mn-ea"/>
                          <a:cs typeface="+mn-cs"/>
                        </a:rPr>
                        <a:t>Indemnification covers exposure through closing; new compliance program will be in place at-close ensuring no risk borne by NSC</a:t>
                      </a:r>
                    </a:p>
                  </a:txBody>
                  <a:tcPr marL="110642" marR="110642" anchor="ctr">
                    <a:solidFill>
                      <a:schemeClr val="bg1">
                        <a:lumMod val="9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prstClr val="black"/>
                          </a:solidFill>
                          <a:effectLst/>
                          <a:uLnTx/>
                          <a:uFillTx/>
                          <a:latin typeface="Aptos" panose="02110004020202020204"/>
                          <a:ea typeface="+mn-ea"/>
                          <a:cs typeface="+mn-cs"/>
                        </a:rPr>
                        <a:t>Closed</a:t>
                      </a:r>
                    </a:p>
                  </a:txBody>
                  <a:tcPr marL="110642" marR="110642" anchor="ctr">
                    <a:solidFill>
                      <a:schemeClr val="bg1">
                        <a:lumMod val="95000"/>
                      </a:schemeClr>
                    </a:solidFill>
                  </a:tcPr>
                </a:tc>
                <a:extLst>
                  <a:ext uri="{0D108BD9-81ED-4DB2-BD59-A6C34878D82A}">
                    <a16:rowId xmlns:a16="http://schemas.microsoft.com/office/drawing/2014/main" val="2169564543"/>
                  </a:ext>
                </a:extLst>
              </a:tr>
              <a:tr h="1086389">
                <a:tc>
                  <a:txBody>
                    <a:bodyPr/>
                    <a:lstStyle/>
                    <a:p>
                      <a:pPr algn="l" fontAlgn="ctr">
                        <a:buNone/>
                      </a:pPr>
                      <a:r>
                        <a:rPr lang="en-US" sz="1000" b="1" i="0" u="none" strike="noStrike" dirty="0">
                          <a:solidFill>
                            <a:srgbClr val="000000"/>
                          </a:solidFill>
                          <a:effectLst/>
                          <a:latin typeface="Aptos Narrow" panose="020B0004020202020204" pitchFamily="34" charset="0"/>
                        </a:rPr>
                        <a:t>IU Hand to Shoulder (IUHTS)</a:t>
                      </a:r>
                    </a:p>
                  </a:txBody>
                  <a:tcPr marL="110642" marR="110642" anchor="ctr">
                    <a:solidFill>
                      <a:schemeClr val="bg1">
                        <a:lumMod val="8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The surgeon group running IUHTS left for competing OrthoIndy for better economics, resulting in no staffing from April – May, and 0.3 FTE levels from June - October</a:t>
                      </a:r>
                    </a:p>
                  </a:txBody>
                  <a:tcPr marL="110642" marR="110642" anchor="ctr">
                    <a:solidFill>
                      <a:schemeClr val="bg1">
                        <a:lumMod val="8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IU has backfilled hand and shoulder surgery procedures by diverting ENT procedure flow through to the center; starting 10/27, staffing is expected to rise to full time operations with 1.4 FTE staffed, ramping back to 2.4 FTE by Q1 2026</a:t>
                      </a:r>
                    </a:p>
                  </a:txBody>
                  <a:tcPr marL="110642" marR="110642" anchor="ctr">
                    <a:solidFill>
                      <a:schemeClr val="bg1">
                        <a:lumMod val="8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Net MOIC impact is minimal at (0.1x), assuming return to normalized staffing in March 2026</a:t>
                      </a:r>
                    </a:p>
                  </a:txBody>
                  <a:tcPr marL="110642" marR="110642" anchor="ctr">
                    <a:solidFill>
                      <a:schemeClr val="bg1">
                        <a:lumMod val="8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50" b="1" kern="1200" dirty="0">
                          <a:solidFill>
                            <a:schemeClr val="dk1"/>
                          </a:solidFill>
                          <a:latin typeface="+mn-lt"/>
                          <a:ea typeface="+mn-ea"/>
                          <a:cs typeface="+mn-cs"/>
                        </a:rPr>
                        <a:t>Closed</a:t>
                      </a:r>
                    </a:p>
                  </a:txBody>
                  <a:tcPr marL="110642" marR="110642" anchor="ctr">
                    <a:solidFill>
                      <a:schemeClr val="bg1">
                        <a:lumMod val="85000"/>
                      </a:schemeClr>
                    </a:solidFill>
                  </a:tcPr>
                </a:tc>
                <a:extLst>
                  <a:ext uri="{0D108BD9-81ED-4DB2-BD59-A6C34878D82A}">
                    <a16:rowId xmlns:a16="http://schemas.microsoft.com/office/drawing/2014/main" val="4115207246"/>
                  </a:ext>
                </a:extLst>
              </a:tr>
              <a:tr h="955432">
                <a:tc>
                  <a:txBody>
                    <a:bodyPr/>
                    <a:lstStyle/>
                    <a:p>
                      <a:pPr algn="l" fontAlgn="ctr">
                        <a:buNone/>
                      </a:pPr>
                      <a:r>
                        <a:rPr lang="en-US" sz="1000" b="1" i="0" u="none" strike="noStrike" dirty="0">
                          <a:solidFill>
                            <a:srgbClr val="000000"/>
                          </a:solidFill>
                          <a:effectLst/>
                          <a:latin typeface="Aptos Narrow" panose="020B0004020202020204" pitchFamily="34" charset="0"/>
                        </a:rPr>
                        <a:t>Ball Outpatient Surgery Center (BOSC) Lawsuit</a:t>
                      </a: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In the disclosure schedules, a complaint was filed on 10/10/2025 naming BOSC Gina Diaz and AAS Indiana, along with two other staffing providers</a:t>
                      </a: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AAS is not involved in clinical decision-making during patient care and is indemnified under the 1099 contractor agreement; </a:t>
                      </a: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None – AAS is not expected to be named in further proceedings, and NSC has received a specific indemnity for the claim</a:t>
                      </a:r>
                    </a:p>
                  </a:txBody>
                  <a:tcPr marL="110642" marR="110642" anchor="ctr">
                    <a:solidFill>
                      <a:schemeClr val="bg1">
                        <a:lumMod val="9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prstClr val="black"/>
                          </a:solidFill>
                          <a:effectLst/>
                          <a:uLnTx/>
                          <a:uFillTx/>
                          <a:latin typeface="Aptos" panose="02110004020202020204"/>
                          <a:ea typeface="+mn-ea"/>
                          <a:cs typeface="+mn-cs"/>
                        </a:rPr>
                        <a:t>Closed</a:t>
                      </a:r>
                    </a:p>
                  </a:txBody>
                  <a:tcPr marL="110642" marR="110642" anchor="ctr">
                    <a:solidFill>
                      <a:schemeClr val="bg1">
                        <a:lumMod val="95000"/>
                      </a:schemeClr>
                    </a:solidFill>
                  </a:tcPr>
                </a:tc>
                <a:extLst>
                  <a:ext uri="{0D108BD9-81ED-4DB2-BD59-A6C34878D82A}">
                    <a16:rowId xmlns:a16="http://schemas.microsoft.com/office/drawing/2014/main" val="1416044750"/>
                  </a:ext>
                </a:extLst>
              </a:tr>
            </a:tbl>
          </a:graphicData>
        </a:graphic>
      </p:graphicFrame>
    </p:spTree>
    <p:extLst>
      <p:ext uri="{BB962C8B-B14F-4D97-AF65-F5344CB8AC3E}">
        <p14:creationId xmlns:p14="http://schemas.microsoft.com/office/powerpoint/2010/main" val="30638874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91204-32B4-33A1-A131-5967464AC2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E7BE9F-DDA5-2AA4-9B66-C04F49B38631}"/>
              </a:ext>
            </a:extLst>
          </p:cNvPr>
          <p:cNvSpPr>
            <a:spLocks noGrp="1"/>
          </p:cNvSpPr>
          <p:nvPr>
            <p:ph type="title"/>
          </p:nvPr>
        </p:nvSpPr>
        <p:spPr/>
        <p:txBody>
          <a:bodyPr>
            <a:normAutofit/>
          </a:bodyPr>
          <a:lstStyle/>
          <a:p>
            <a:r>
              <a:rPr lang="en-US" dirty="0"/>
              <a:t>Key Diligence Issues &amp; Outcomes</a:t>
            </a:r>
          </a:p>
        </p:txBody>
      </p:sp>
      <p:sp>
        <p:nvSpPr>
          <p:cNvPr id="9" name="Slide Number Placeholder 8">
            <a:extLst>
              <a:ext uri="{FF2B5EF4-FFF2-40B4-BE49-F238E27FC236}">
                <a16:creationId xmlns:a16="http://schemas.microsoft.com/office/drawing/2014/main" id="{C886D73B-F001-0D1B-9FD6-3C389D937EAE}"/>
              </a:ext>
            </a:extLst>
          </p:cNvPr>
          <p:cNvSpPr>
            <a:spLocks noGrp="1"/>
          </p:cNvSpPr>
          <p:nvPr>
            <p:ph type="sldNum" sz="quarter" idx="12"/>
          </p:nvPr>
        </p:nvSpPr>
        <p:spPr/>
        <p:txBody>
          <a:bodyPr/>
          <a:lstStyle/>
          <a:p>
            <a:fld id="{F8DDDAE5-3BDD-4D78-843B-A22FA78305BB}" type="slidenum">
              <a:rPr lang="en-US" smtClean="0"/>
              <a:t>46</a:t>
            </a:fld>
            <a:endParaRPr lang="en-US" dirty="0"/>
          </a:p>
        </p:txBody>
      </p:sp>
      <p:graphicFrame>
        <p:nvGraphicFramePr>
          <p:cNvPr id="7" name="Table 6">
            <a:extLst>
              <a:ext uri="{FF2B5EF4-FFF2-40B4-BE49-F238E27FC236}">
                <a16:creationId xmlns:a16="http://schemas.microsoft.com/office/drawing/2014/main" id="{5717555B-3B44-56F2-1FD9-7CDADEB9AF50}"/>
              </a:ext>
            </a:extLst>
          </p:cNvPr>
          <p:cNvGraphicFramePr>
            <a:graphicFrameLocks noGrp="1"/>
          </p:cNvGraphicFramePr>
          <p:nvPr>
            <p:extLst>
              <p:ext uri="{D42A27DB-BD31-4B8C-83A1-F6EECF244321}">
                <p14:modId xmlns:p14="http://schemas.microsoft.com/office/powerpoint/2010/main" val="1897416845"/>
              </p:ext>
            </p:extLst>
          </p:nvPr>
        </p:nvGraphicFramePr>
        <p:xfrm>
          <a:off x="182880" y="905124"/>
          <a:ext cx="8777462" cy="5566640"/>
        </p:xfrm>
        <a:graphic>
          <a:graphicData uri="http://schemas.openxmlformats.org/drawingml/2006/table">
            <a:tbl>
              <a:tblPr firstRow="1" bandRow="1">
                <a:tableStyleId>{5C22544A-7EE6-4342-B048-85BDC9FD1C3A}</a:tableStyleId>
              </a:tblPr>
              <a:tblGrid>
                <a:gridCol w="1000978">
                  <a:extLst>
                    <a:ext uri="{9D8B030D-6E8A-4147-A177-3AD203B41FA5}">
                      <a16:colId xmlns:a16="http://schemas.microsoft.com/office/drawing/2014/main" val="2013788962"/>
                    </a:ext>
                  </a:extLst>
                </a:gridCol>
                <a:gridCol w="1854363">
                  <a:extLst>
                    <a:ext uri="{9D8B030D-6E8A-4147-A177-3AD203B41FA5}">
                      <a16:colId xmlns:a16="http://schemas.microsoft.com/office/drawing/2014/main" val="3716730001"/>
                    </a:ext>
                  </a:extLst>
                </a:gridCol>
                <a:gridCol w="2439020">
                  <a:extLst>
                    <a:ext uri="{9D8B030D-6E8A-4147-A177-3AD203B41FA5}">
                      <a16:colId xmlns:a16="http://schemas.microsoft.com/office/drawing/2014/main" val="584997788"/>
                    </a:ext>
                  </a:extLst>
                </a:gridCol>
                <a:gridCol w="2568701">
                  <a:extLst>
                    <a:ext uri="{9D8B030D-6E8A-4147-A177-3AD203B41FA5}">
                      <a16:colId xmlns:a16="http://schemas.microsoft.com/office/drawing/2014/main" val="191570869"/>
                    </a:ext>
                  </a:extLst>
                </a:gridCol>
                <a:gridCol w="914400">
                  <a:extLst>
                    <a:ext uri="{9D8B030D-6E8A-4147-A177-3AD203B41FA5}">
                      <a16:colId xmlns:a16="http://schemas.microsoft.com/office/drawing/2014/main" val="2934890927"/>
                    </a:ext>
                  </a:extLst>
                </a:gridCol>
              </a:tblGrid>
              <a:tr h="415252">
                <a:tc>
                  <a:txBody>
                    <a:bodyPr/>
                    <a:lstStyle/>
                    <a:p>
                      <a:pPr algn="ctr"/>
                      <a:r>
                        <a:rPr lang="en-US" sz="1100" dirty="0">
                          <a:solidFill>
                            <a:schemeClr val="bg1"/>
                          </a:solidFill>
                        </a:rPr>
                        <a:t>Diligence Topic</a:t>
                      </a:r>
                    </a:p>
                  </a:txBody>
                  <a:tcPr marL="110642" marR="110642" marT="28388" marB="28388" anchor="ctr">
                    <a:lnT w="3175" cap="flat" cmpd="sng" algn="ctr">
                      <a:solidFill>
                        <a:schemeClr val="bg1"/>
                      </a:solidFill>
                      <a:prstDash val="solid"/>
                      <a:round/>
                      <a:headEnd type="none" w="med" len="med"/>
                      <a:tailEnd type="none" w="med" len="med"/>
                    </a:lnT>
                    <a:solidFill>
                      <a:schemeClr val="accent1">
                        <a:lumMod val="50000"/>
                      </a:schemeClr>
                    </a:solidFill>
                  </a:tcPr>
                </a:tc>
                <a:tc>
                  <a:txBody>
                    <a:bodyPr/>
                    <a:lstStyle/>
                    <a:p>
                      <a:pPr algn="ctr"/>
                      <a:r>
                        <a:rPr lang="en-US" sz="1100" dirty="0">
                          <a:solidFill>
                            <a:schemeClr val="bg1"/>
                          </a:solidFill>
                        </a:rPr>
                        <a:t>Description</a:t>
                      </a:r>
                    </a:p>
                  </a:txBody>
                  <a:tcPr marL="110642" marR="110642" marT="28388" marB="28388" anchor="ctr">
                    <a:lnT w="3175" cap="flat" cmpd="sng" algn="ctr">
                      <a:solidFill>
                        <a:schemeClr val="bg1"/>
                      </a:solidFill>
                      <a:prstDash val="solid"/>
                      <a:round/>
                      <a:headEnd type="none" w="med" len="med"/>
                      <a:tailEnd type="none" w="med" len="med"/>
                    </a:lnT>
                    <a:solidFill>
                      <a:schemeClr val="accent1">
                        <a:lumMod val="50000"/>
                      </a:schemeClr>
                    </a:solidFill>
                  </a:tcPr>
                </a:tc>
                <a:tc>
                  <a:txBody>
                    <a:bodyPr/>
                    <a:lstStyle/>
                    <a:p>
                      <a:pPr algn="ctr"/>
                      <a:r>
                        <a:rPr lang="en-US" sz="1100" dirty="0">
                          <a:solidFill>
                            <a:schemeClr val="bg1"/>
                          </a:solidFill>
                        </a:rPr>
                        <a:t>Status / Resolution</a:t>
                      </a:r>
                    </a:p>
                  </a:txBody>
                  <a:tcPr marL="110642" marR="110642" marT="28388" marB="28388" anchor="ctr">
                    <a:lnT w="3175" cap="flat" cmpd="sng" algn="ctr">
                      <a:solidFill>
                        <a:schemeClr val="bg1"/>
                      </a:solidFill>
                      <a:prstDash val="solid"/>
                      <a:round/>
                      <a:headEnd type="none" w="med" len="med"/>
                      <a:tailEnd type="none" w="med" len="med"/>
                    </a:lnT>
                    <a:solidFill>
                      <a:schemeClr val="accent1">
                        <a:lumMod val="50000"/>
                      </a:schemeClr>
                    </a:solidFill>
                  </a:tcPr>
                </a:tc>
                <a:tc>
                  <a:txBody>
                    <a:bodyPr/>
                    <a:lstStyle/>
                    <a:p>
                      <a:pPr algn="ctr"/>
                      <a:r>
                        <a:rPr lang="en-US" sz="1100" dirty="0">
                          <a:solidFill>
                            <a:schemeClr val="bg1"/>
                          </a:solidFill>
                        </a:rPr>
                        <a:t>Impact on Investment Thesis</a:t>
                      </a:r>
                    </a:p>
                  </a:txBody>
                  <a:tcPr marL="110642" marR="110642" marT="28388" marB="28388" anchor="ctr">
                    <a:lnT w="3175" cap="flat" cmpd="sng" algn="ctr">
                      <a:solidFill>
                        <a:schemeClr val="bg1"/>
                      </a:solidFill>
                      <a:prstDash val="solid"/>
                      <a:round/>
                      <a:headEnd type="none" w="med" len="med"/>
                      <a:tailEnd type="none" w="med" len="med"/>
                    </a:lnT>
                    <a:solidFill>
                      <a:schemeClr val="accent1">
                        <a:lumMod val="50000"/>
                      </a:schemeClr>
                    </a:solidFill>
                  </a:tcPr>
                </a:tc>
                <a:tc>
                  <a:txBody>
                    <a:bodyPr/>
                    <a:lstStyle/>
                    <a:p>
                      <a:pPr algn="ctr"/>
                      <a:r>
                        <a:rPr lang="en-US" sz="1100" dirty="0">
                          <a:solidFill>
                            <a:schemeClr val="bg1"/>
                          </a:solidFill>
                        </a:rPr>
                        <a:t>Status</a:t>
                      </a:r>
                    </a:p>
                  </a:txBody>
                  <a:tcPr marL="110642" marR="110642" marT="28388" marB="28388" anchor="ctr">
                    <a:lnT w="3175" cap="flat" cmpd="sng" algn="ctr">
                      <a:solidFill>
                        <a:schemeClr val="bg1"/>
                      </a:solidFill>
                      <a:prstDash val="solid"/>
                      <a:round/>
                      <a:headEnd type="none" w="med" len="med"/>
                      <a:tailEnd type="none" w="med" len="med"/>
                    </a:lnT>
                    <a:solidFill>
                      <a:schemeClr val="accent1">
                        <a:lumMod val="50000"/>
                      </a:schemeClr>
                    </a:solidFill>
                  </a:tcPr>
                </a:tc>
                <a:extLst>
                  <a:ext uri="{0D108BD9-81ED-4DB2-BD59-A6C34878D82A}">
                    <a16:rowId xmlns:a16="http://schemas.microsoft.com/office/drawing/2014/main" val="2007875439"/>
                  </a:ext>
                </a:extLst>
              </a:tr>
              <a:tr h="1075187">
                <a:tc>
                  <a:txBody>
                    <a:bodyPr/>
                    <a:lstStyle/>
                    <a:p>
                      <a:pPr algn="l" fontAlgn="ctr">
                        <a:buNone/>
                      </a:pPr>
                      <a:r>
                        <a:rPr lang="en-US" sz="1000" b="1" i="0" u="none" strike="noStrike" dirty="0">
                          <a:solidFill>
                            <a:srgbClr val="000000"/>
                          </a:solidFill>
                          <a:effectLst/>
                          <a:latin typeface="Aptos Narrow" panose="020B0004020202020204" pitchFamily="34" charset="0"/>
                        </a:rPr>
                        <a:t>MIP Plan</a:t>
                      </a: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Current allocation of the MIP may be too high, limiting capacity to reserve equity for future critical hires (e.g., CFO, senior leadership)</a:t>
                      </a: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After back and forth, management has landed on allocation of only 16% of the MIP, leaving significant room for future hires</a:t>
                      </a: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With 16% allocated today, we have room to provide more equity to attract certain key hires, i.e., CFO</a:t>
                      </a:r>
                    </a:p>
                  </a:txBody>
                  <a:tcPr marL="110642" marR="110642" anchor="ctr">
                    <a:solidFill>
                      <a:schemeClr val="bg1">
                        <a:lumMod val="9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prstClr val="black"/>
                          </a:solidFill>
                          <a:effectLst/>
                          <a:uLnTx/>
                          <a:uFillTx/>
                          <a:latin typeface="Aptos" panose="02110004020202020204"/>
                          <a:ea typeface="+mn-ea"/>
                          <a:cs typeface="+mn-cs"/>
                        </a:rPr>
                        <a:t>Closed</a:t>
                      </a:r>
                    </a:p>
                  </a:txBody>
                  <a:tcPr marL="110642" marR="110642" anchor="ctr">
                    <a:solidFill>
                      <a:schemeClr val="bg1">
                        <a:lumMod val="95000"/>
                      </a:schemeClr>
                    </a:solidFill>
                  </a:tcPr>
                </a:tc>
                <a:extLst>
                  <a:ext uri="{0D108BD9-81ED-4DB2-BD59-A6C34878D82A}">
                    <a16:rowId xmlns:a16="http://schemas.microsoft.com/office/drawing/2014/main" val="714419499"/>
                  </a:ext>
                </a:extLst>
              </a:tr>
              <a:tr h="1000338">
                <a:tc>
                  <a:txBody>
                    <a:bodyPr/>
                    <a:lstStyle/>
                    <a:p>
                      <a:pPr algn="l" fontAlgn="ctr">
                        <a:buNone/>
                      </a:pPr>
                      <a:r>
                        <a:rPr lang="en-US" sz="1000" b="1" i="0" u="none" strike="noStrike" dirty="0">
                          <a:solidFill>
                            <a:srgbClr val="000000"/>
                          </a:solidFill>
                          <a:effectLst/>
                          <a:latin typeface="Aptos Narrow" panose="020B0004020202020204" pitchFamily="34" charset="0"/>
                        </a:rPr>
                        <a:t>Solaris Health Acquisition</a:t>
                      </a:r>
                    </a:p>
                  </a:txBody>
                  <a:tcPr marL="110642" marR="110642" anchor="ctr">
                    <a:solidFill>
                      <a:schemeClr val="bg1">
                        <a:lumMod val="8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Cardinal Health acquired Solaris; potential concern whether acquisition drives contract changes </a:t>
                      </a:r>
                    </a:p>
                  </a:txBody>
                  <a:tcPr marL="110642" marR="110642" anchor="ctr">
                    <a:solidFill>
                      <a:schemeClr val="bg1">
                        <a:lumMod val="8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Contracts remain independent; aggregator ownership does not typically trigger wholesale vendor changes especially in new markets</a:t>
                      </a:r>
                    </a:p>
                  </a:txBody>
                  <a:tcPr marL="110642" marR="110642" anchor="ctr">
                    <a:solidFill>
                      <a:schemeClr val="bg1">
                        <a:lumMod val="8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Model assumes Solaris contracts churn at renewal. Extension would be upside, adding 0.5x MOIC</a:t>
                      </a:r>
                    </a:p>
                  </a:txBody>
                  <a:tcPr marL="110642" marR="110642" anchor="ctr">
                    <a:solidFill>
                      <a:schemeClr val="bg1">
                        <a:lumMod val="8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prstClr val="black"/>
                          </a:solidFill>
                          <a:effectLst/>
                          <a:uLnTx/>
                          <a:uFillTx/>
                          <a:latin typeface="Aptos" panose="02110004020202020204"/>
                          <a:ea typeface="+mn-ea"/>
                          <a:cs typeface="+mn-cs"/>
                        </a:rPr>
                        <a:t>Closed</a:t>
                      </a:r>
                    </a:p>
                  </a:txBody>
                  <a:tcPr marL="110642" marR="110642" anchor="ctr">
                    <a:solidFill>
                      <a:schemeClr val="bg1">
                        <a:lumMod val="85000"/>
                      </a:schemeClr>
                    </a:solidFill>
                  </a:tcPr>
                </a:tc>
                <a:extLst>
                  <a:ext uri="{0D108BD9-81ED-4DB2-BD59-A6C34878D82A}">
                    <a16:rowId xmlns:a16="http://schemas.microsoft.com/office/drawing/2014/main" val="3319725507"/>
                  </a:ext>
                </a:extLst>
              </a:tr>
              <a:tr h="1000338">
                <a:tc>
                  <a:txBody>
                    <a:bodyPr/>
                    <a:lstStyle/>
                    <a:p>
                      <a:pPr algn="l" fontAlgn="ctr">
                        <a:buNone/>
                      </a:pPr>
                      <a:r>
                        <a:rPr lang="en-US" sz="1000" b="1" i="0" u="none" strike="noStrike" dirty="0">
                          <a:solidFill>
                            <a:srgbClr val="000000"/>
                          </a:solidFill>
                          <a:effectLst/>
                          <a:latin typeface="Aptos Narrow" panose="020B0004020202020204" pitchFamily="34" charset="0"/>
                        </a:rPr>
                        <a:t>Hospital-Owned ASC Viability</a:t>
                      </a: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Hospital-Owned ASCs (e.g., IU Health) may not be ideal long-term partners given risk of insourcing anesthesia</a:t>
                      </a: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Providers typically prefer either ASC or hospital settings, limiting cross-coverage potential.  ASC scheduling needs vary widely and require a deep bench of providers, making insourcing cost-prohibitive for hospitals</a:t>
                      </a: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Supports thesis that staffing remains outsourced across ownership models. Underwriting does not rely on hospital system wins given prevalence of </a:t>
                      </a:r>
                      <a:r>
                        <a:rPr lang="en-US" sz="950" kern="1200" dirty="0" err="1">
                          <a:solidFill>
                            <a:schemeClr val="dk1"/>
                          </a:solidFill>
                          <a:latin typeface="+mn-lt"/>
                          <a:ea typeface="+mn-ea"/>
                          <a:cs typeface="+mn-cs"/>
                        </a:rPr>
                        <a:t>indep</a:t>
                      </a:r>
                      <a:r>
                        <a:rPr lang="en-US" sz="950" kern="1200" dirty="0">
                          <a:solidFill>
                            <a:schemeClr val="dk1"/>
                          </a:solidFill>
                          <a:latin typeface="+mn-lt"/>
                          <a:ea typeface="+mn-ea"/>
                          <a:cs typeface="+mn-cs"/>
                        </a:rPr>
                        <a:t>. and </a:t>
                      </a:r>
                      <a:r>
                        <a:rPr lang="en-US" sz="950" kern="1200" dirty="0" err="1">
                          <a:solidFill>
                            <a:schemeClr val="dk1"/>
                          </a:solidFill>
                          <a:latin typeface="+mn-lt"/>
                          <a:ea typeface="+mn-ea"/>
                          <a:cs typeface="+mn-cs"/>
                        </a:rPr>
                        <a:t>mgmt</a:t>
                      </a:r>
                      <a:r>
                        <a:rPr lang="en-US" sz="950" kern="1200" dirty="0">
                          <a:solidFill>
                            <a:schemeClr val="dk1"/>
                          </a:solidFill>
                          <a:latin typeface="+mn-lt"/>
                          <a:ea typeface="+mn-ea"/>
                          <a:cs typeface="+mn-cs"/>
                        </a:rPr>
                        <a:t> co.-owned ASCs</a:t>
                      </a:r>
                    </a:p>
                  </a:txBody>
                  <a:tcPr marL="110642" marR="110642" anchor="ctr">
                    <a:solidFill>
                      <a:schemeClr val="bg1">
                        <a:lumMod val="9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prstClr val="black"/>
                          </a:solidFill>
                          <a:effectLst/>
                          <a:uLnTx/>
                          <a:uFillTx/>
                          <a:latin typeface="Aptos" panose="02110004020202020204"/>
                          <a:ea typeface="+mn-ea"/>
                          <a:cs typeface="+mn-cs"/>
                        </a:rPr>
                        <a:t>Closed</a:t>
                      </a:r>
                    </a:p>
                  </a:txBody>
                  <a:tcPr marL="110642" marR="110642" anchor="ctr">
                    <a:solidFill>
                      <a:schemeClr val="bg1">
                        <a:lumMod val="95000"/>
                      </a:schemeClr>
                    </a:solidFill>
                  </a:tcPr>
                </a:tc>
                <a:extLst>
                  <a:ext uri="{0D108BD9-81ED-4DB2-BD59-A6C34878D82A}">
                    <a16:rowId xmlns:a16="http://schemas.microsoft.com/office/drawing/2014/main" val="2169564543"/>
                  </a:ext>
                </a:extLst>
              </a:tr>
              <a:tr h="1075187">
                <a:tc>
                  <a:txBody>
                    <a:bodyPr/>
                    <a:lstStyle/>
                    <a:p>
                      <a:pPr algn="l" fontAlgn="ctr">
                        <a:buNone/>
                      </a:pPr>
                      <a:r>
                        <a:rPr lang="en-US" sz="1000" b="1" i="0" u="none" strike="noStrike" dirty="0">
                          <a:solidFill>
                            <a:srgbClr val="000000"/>
                          </a:solidFill>
                          <a:effectLst/>
                          <a:latin typeface="Aptos Narrow" panose="020B0004020202020204" pitchFamily="34" charset="0"/>
                        </a:rPr>
                        <a:t>1099 to W2 Conversion</a:t>
                      </a:r>
                    </a:p>
                  </a:txBody>
                  <a:tcPr marL="110642" marR="110642" anchor="ctr">
                    <a:solidFill>
                      <a:schemeClr val="bg1">
                        <a:lumMod val="8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~40 AAS employees were non-compliantly classified as 1099 and must be converted to W2 pre-closing</a:t>
                      </a:r>
                    </a:p>
                  </a:txBody>
                  <a:tcPr marL="110642" marR="110642" anchor="ctr">
                    <a:solidFill>
                      <a:schemeClr val="bg1">
                        <a:lumMod val="8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Conversion is complete, with all prior full-time 1099 providers converted to W2</a:t>
                      </a:r>
                    </a:p>
                  </a:txBody>
                  <a:tcPr marL="110642" marR="110642" anchor="ctr">
                    <a:solidFill>
                      <a:schemeClr val="bg1">
                        <a:lumMod val="8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950" kern="1200" dirty="0">
                          <a:solidFill>
                            <a:schemeClr val="dk1"/>
                          </a:solidFill>
                          <a:latin typeface="+mn-lt"/>
                          <a:ea typeface="+mn-ea"/>
                          <a:cs typeface="+mn-cs"/>
                        </a:rPr>
                        <a:t>Net impact is a $54K benefit to the Company as of latest modeling</a:t>
                      </a:r>
                    </a:p>
                  </a:txBody>
                  <a:tcPr marL="110642" marR="110642" anchor="ctr">
                    <a:solidFill>
                      <a:schemeClr val="bg1">
                        <a:lumMod val="8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prstClr val="black"/>
                          </a:solidFill>
                          <a:effectLst/>
                          <a:uLnTx/>
                          <a:uFillTx/>
                          <a:latin typeface="Aptos" panose="02110004020202020204"/>
                          <a:ea typeface="+mn-ea"/>
                          <a:cs typeface="+mn-cs"/>
                        </a:rPr>
                        <a:t>Closed</a:t>
                      </a:r>
                    </a:p>
                  </a:txBody>
                  <a:tcPr marL="110642" marR="110642" anchor="ctr">
                    <a:solidFill>
                      <a:schemeClr val="bg1">
                        <a:lumMod val="85000"/>
                      </a:schemeClr>
                    </a:solidFill>
                  </a:tcPr>
                </a:tc>
                <a:extLst>
                  <a:ext uri="{0D108BD9-81ED-4DB2-BD59-A6C34878D82A}">
                    <a16:rowId xmlns:a16="http://schemas.microsoft.com/office/drawing/2014/main" val="4115207246"/>
                  </a:ext>
                </a:extLst>
              </a:tr>
              <a:tr h="1000338">
                <a:tc>
                  <a:txBody>
                    <a:bodyPr/>
                    <a:lstStyle/>
                    <a:p>
                      <a:pPr algn="l" fontAlgn="ctr">
                        <a:buNone/>
                      </a:pPr>
                      <a:r>
                        <a:rPr lang="en-US" sz="1000" b="1" i="0" u="none" strike="noStrike" dirty="0">
                          <a:solidFill>
                            <a:srgbClr val="000000"/>
                          </a:solidFill>
                          <a:effectLst/>
                          <a:latin typeface="Aptos Narrow" panose="020B0004020202020204" pitchFamily="34" charset="0"/>
                        </a:rPr>
                        <a:t>Anesthesia Staffing Market Perception</a:t>
                      </a: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Risk that ASCs view anesthesia groups as temporary staffing stop gaps</a:t>
                      </a: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Research (Chartis, management meetings, expert calls) suggest this is not the case – groups are viewed as strategic partners where exclusivity is contractual</a:t>
                      </a:r>
                    </a:p>
                  </a:txBody>
                  <a:tcPr marL="110642" marR="110642" anchor="ctr">
                    <a:solidFill>
                      <a:schemeClr val="bg1">
                        <a:lumMod val="9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950" kern="1200" dirty="0">
                          <a:solidFill>
                            <a:schemeClr val="dk1"/>
                          </a:solidFill>
                          <a:latin typeface="+mn-lt"/>
                          <a:ea typeface="+mn-ea"/>
                          <a:cs typeface="+mn-cs"/>
                        </a:rPr>
                        <a:t>Supports durability of ASC relationships and validates thesis</a:t>
                      </a:r>
                    </a:p>
                  </a:txBody>
                  <a:tcPr marL="110642" marR="110642" anchor="ctr">
                    <a:solidFill>
                      <a:schemeClr val="bg1">
                        <a:lumMod val="9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prstClr val="black"/>
                          </a:solidFill>
                          <a:effectLst/>
                          <a:uLnTx/>
                          <a:uFillTx/>
                          <a:latin typeface="Aptos" panose="02110004020202020204"/>
                          <a:ea typeface="+mn-ea"/>
                          <a:cs typeface="+mn-cs"/>
                        </a:rPr>
                        <a:t>Closed</a:t>
                      </a:r>
                    </a:p>
                  </a:txBody>
                  <a:tcPr marL="110642" marR="110642" anchor="ctr">
                    <a:solidFill>
                      <a:schemeClr val="bg1">
                        <a:lumMod val="95000"/>
                      </a:schemeClr>
                    </a:solidFill>
                  </a:tcPr>
                </a:tc>
                <a:extLst>
                  <a:ext uri="{0D108BD9-81ED-4DB2-BD59-A6C34878D82A}">
                    <a16:rowId xmlns:a16="http://schemas.microsoft.com/office/drawing/2014/main" val="1416044750"/>
                  </a:ext>
                </a:extLst>
              </a:tr>
            </a:tbl>
          </a:graphicData>
        </a:graphic>
      </p:graphicFrame>
    </p:spTree>
    <p:extLst>
      <p:ext uri="{BB962C8B-B14F-4D97-AF65-F5344CB8AC3E}">
        <p14:creationId xmlns:p14="http://schemas.microsoft.com/office/powerpoint/2010/main" val="25511090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16D81-F63B-059D-BA96-19413BEB6B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1D1132-CA85-56AF-3384-487CF30A0AAF}"/>
              </a:ext>
            </a:extLst>
          </p:cNvPr>
          <p:cNvSpPr>
            <a:spLocks noGrp="1"/>
          </p:cNvSpPr>
          <p:nvPr>
            <p:ph type="title"/>
          </p:nvPr>
        </p:nvSpPr>
        <p:spPr/>
        <p:txBody>
          <a:bodyPr>
            <a:normAutofit/>
          </a:bodyPr>
          <a:lstStyle/>
          <a:p>
            <a:r>
              <a:rPr lang="en-US" dirty="0"/>
              <a:t>Key Diligence Issues &amp; Outcomes (Cont’d)</a:t>
            </a:r>
          </a:p>
        </p:txBody>
      </p:sp>
      <p:sp>
        <p:nvSpPr>
          <p:cNvPr id="9" name="Slide Number Placeholder 8">
            <a:extLst>
              <a:ext uri="{FF2B5EF4-FFF2-40B4-BE49-F238E27FC236}">
                <a16:creationId xmlns:a16="http://schemas.microsoft.com/office/drawing/2014/main" id="{FF3E8C0D-85F1-75E1-A0A6-6CBC18F0F82F}"/>
              </a:ext>
            </a:extLst>
          </p:cNvPr>
          <p:cNvSpPr>
            <a:spLocks noGrp="1"/>
          </p:cNvSpPr>
          <p:nvPr>
            <p:ph type="sldNum" sz="quarter" idx="12"/>
          </p:nvPr>
        </p:nvSpPr>
        <p:spPr/>
        <p:txBody>
          <a:bodyPr/>
          <a:lstStyle/>
          <a:p>
            <a:fld id="{F8DDDAE5-3BDD-4D78-843B-A22FA78305BB}" type="slidenum">
              <a:rPr lang="en-US" smtClean="0"/>
              <a:t>47</a:t>
            </a:fld>
            <a:endParaRPr lang="en-US" dirty="0"/>
          </a:p>
        </p:txBody>
      </p:sp>
      <p:graphicFrame>
        <p:nvGraphicFramePr>
          <p:cNvPr id="7" name="Table 6">
            <a:extLst>
              <a:ext uri="{FF2B5EF4-FFF2-40B4-BE49-F238E27FC236}">
                <a16:creationId xmlns:a16="http://schemas.microsoft.com/office/drawing/2014/main" id="{595B1B9F-0296-3064-484E-3E3C9E50BB43}"/>
              </a:ext>
            </a:extLst>
          </p:cNvPr>
          <p:cNvGraphicFramePr>
            <a:graphicFrameLocks noGrp="1"/>
          </p:cNvGraphicFramePr>
          <p:nvPr>
            <p:extLst>
              <p:ext uri="{D42A27DB-BD31-4B8C-83A1-F6EECF244321}">
                <p14:modId xmlns:p14="http://schemas.microsoft.com/office/powerpoint/2010/main" val="2762571074"/>
              </p:ext>
            </p:extLst>
          </p:nvPr>
        </p:nvGraphicFramePr>
        <p:xfrm>
          <a:off x="182880" y="905124"/>
          <a:ext cx="8777462" cy="2595339"/>
        </p:xfrm>
        <a:graphic>
          <a:graphicData uri="http://schemas.openxmlformats.org/drawingml/2006/table">
            <a:tbl>
              <a:tblPr firstRow="1" bandRow="1">
                <a:tableStyleId>{5C22544A-7EE6-4342-B048-85BDC9FD1C3A}</a:tableStyleId>
              </a:tblPr>
              <a:tblGrid>
                <a:gridCol w="1000978">
                  <a:extLst>
                    <a:ext uri="{9D8B030D-6E8A-4147-A177-3AD203B41FA5}">
                      <a16:colId xmlns:a16="http://schemas.microsoft.com/office/drawing/2014/main" val="2013788962"/>
                    </a:ext>
                  </a:extLst>
                </a:gridCol>
                <a:gridCol w="1854363">
                  <a:extLst>
                    <a:ext uri="{9D8B030D-6E8A-4147-A177-3AD203B41FA5}">
                      <a16:colId xmlns:a16="http://schemas.microsoft.com/office/drawing/2014/main" val="3716730001"/>
                    </a:ext>
                  </a:extLst>
                </a:gridCol>
                <a:gridCol w="2439020">
                  <a:extLst>
                    <a:ext uri="{9D8B030D-6E8A-4147-A177-3AD203B41FA5}">
                      <a16:colId xmlns:a16="http://schemas.microsoft.com/office/drawing/2014/main" val="584997788"/>
                    </a:ext>
                  </a:extLst>
                </a:gridCol>
                <a:gridCol w="2568701">
                  <a:extLst>
                    <a:ext uri="{9D8B030D-6E8A-4147-A177-3AD203B41FA5}">
                      <a16:colId xmlns:a16="http://schemas.microsoft.com/office/drawing/2014/main" val="191570869"/>
                    </a:ext>
                  </a:extLst>
                </a:gridCol>
                <a:gridCol w="914400">
                  <a:extLst>
                    <a:ext uri="{9D8B030D-6E8A-4147-A177-3AD203B41FA5}">
                      <a16:colId xmlns:a16="http://schemas.microsoft.com/office/drawing/2014/main" val="2934890927"/>
                    </a:ext>
                  </a:extLst>
                </a:gridCol>
              </a:tblGrid>
              <a:tr h="415252">
                <a:tc>
                  <a:txBody>
                    <a:bodyPr/>
                    <a:lstStyle/>
                    <a:p>
                      <a:pPr algn="ctr"/>
                      <a:r>
                        <a:rPr lang="en-US" sz="1100" dirty="0">
                          <a:solidFill>
                            <a:schemeClr val="bg1"/>
                          </a:solidFill>
                        </a:rPr>
                        <a:t>Diligence Topic</a:t>
                      </a:r>
                    </a:p>
                  </a:txBody>
                  <a:tcPr marL="110642" marR="110642" marT="28388" marB="28388" anchor="ctr">
                    <a:lnT w="3175" cap="flat" cmpd="sng" algn="ctr">
                      <a:solidFill>
                        <a:schemeClr val="bg1"/>
                      </a:solidFill>
                      <a:prstDash val="solid"/>
                      <a:round/>
                      <a:headEnd type="none" w="med" len="med"/>
                      <a:tailEnd type="none" w="med" len="med"/>
                    </a:lnT>
                    <a:solidFill>
                      <a:schemeClr val="accent1">
                        <a:lumMod val="50000"/>
                      </a:schemeClr>
                    </a:solidFill>
                  </a:tcPr>
                </a:tc>
                <a:tc>
                  <a:txBody>
                    <a:bodyPr/>
                    <a:lstStyle/>
                    <a:p>
                      <a:pPr algn="ctr"/>
                      <a:r>
                        <a:rPr lang="en-US" sz="1100" dirty="0">
                          <a:solidFill>
                            <a:schemeClr val="bg1"/>
                          </a:solidFill>
                        </a:rPr>
                        <a:t>Description</a:t>
                      </a:r>
                    </a:p>
                  </a:txBody>
                  <a:tcPr marL="110642" marR="110642" marT="28388" marB="28388" anchor="ctr">
                    <a:lnT w="3175" cap="flat" cmpd="sng" algn="ctr">
                      <a:solidFill>
                        <a:schemeClr val="bg1"/>
                      </a:solidFill>
                      <a:prstDash val="solid"/>
                      <a:round/>
                      <a:headEnd type="none" w="med" len="med"/>
                      <a:tailEnd type="none" w="med" len="med"/>
                    </a:lnT>
                    <a:solidFill>
                      <a:schemeClr val="accent1">
                        <a:lumMod val="50000"/>
                      </a:schemeClr>
                    </a:solidFill>
                  </a:tcPr>
                </a:tc>
                <a:tc>
                  <a:txBody>
                    <a:bodyPr/>
                    <a:lstStyle/>
                    <a:p>
                      <a:pPr algn="ctr"/>
                      <a:r>
                        <a:rPr lang="en-US" sz="1100" dirty="0">
                          <a:solidFill>
                            <a:schemeClr val="bg1"/>
                          </a:solidFill>
                        </a:rPr>
                        <a:t>Status / Resolution</a:t>
                      </a:r>
                    </a:p>
                  </a:txBody>
                  <a:tcPr marL="110642" marR="110642" marT="28388" marB="28388" anchor="ctr">
                    <a:lnT w="3175" cap="flat" cmpd="sng" algn="ctr">
                      <a:solidFill>
                        <a:schemeClr val="bg1"/>
                      </a:solidFill>
                      <a:prstDash val="solid"/>
                      <a:round/>
                      <a:headEnd type="none" w="med" len="med"/>
                      <a:tailEnd type="none" w="med" len="med"/>
                    </a:lnT>
                    <a:solidFill>
                      <a:schemeClr val="accent1">
                        <a:lumMod val="50000"/>
                      </a:schemeClr>
                    </a:solidFill>
                  </a:tcPr>
                </a:tc>
                <a:tc>
                  <a:txBody>
                    <a:bodyPr/>
                    <a:lstStyle/>
                    <a:p>
                      <a:pPr algn="ctr"/>
                      <a:r>
                        <a:rPr lang="en-US" sz="1100" dirty="0">
                          <a:solidFill>
                            <a:schemeClr val="bg1"/>
                          </a:solidFill>
                        </a:rPr>
                        <a:t>Impact on Investment Thesis</a:t>
                      </a:r>
                    </a:p>
                  </a:txBody>
                  <a:tcPr marL="110642" marR="110642" marT="28388" marB="28388" anchor="ctr">
                    <a:lnT w="3175" cap="flat" cmpd="sng" algn="ctr">
                      <a:solidFill>
                        <a:schemeClr val="bg1"/>
                      </a:solidFill>
                      <a:prstDash val="solid"/>
                      <a:round/>
                      <a:headEnd type="none" w="med" len="med"/>
                      <a:tailEnd type="none" w="med" len="med"/>
                    </a:lnT>
                    <a:solidFill>
                      <a:schemeClr val="accent1">
                        <a:lumMod val="50000"/>
                      </a:schemeClr>
                    </a:solidFill>
                  </a:tcPr>
                </a:tc>
                <a:tc>
                  <a:txBody>
                    <a:bodyPr/>
                    <a:lstStyle/>
                    <a:p>
                      <a:pPr algn="ctr"/>
                      <a:r>
                        <a:rPr lang="en-US" sz="1100" dirty="0">
                          <a:solidFill>
                            <a:schemeClr val="bg1"/>
                          </a:solidFill>
                        </a:rPr>
                        <a:t>Status</a:t>
                      </a:r>
                    </a:p>
                  </a:txBody>
                  <a:tcPr marL="110642" marR="110642" marT="28388" marB="28388" anchor="ctr">
                    <a:lnT w="3175" cap="flat" cmpd="sng" algn="ctr">
                      <a:solidFill>
                        <a:schemeClr val="bg1"/>
                      </a:solidFill>
                      <a:prstDash val="solid"/>
                      <a:round/>
                      <a:headEnd type="none" w="med" len="med"/>
                      <a:tailEnd type="none" w="med" len="med"/>
                    </a:lnT>
                    <a:solidFill>
                      <a:schemeClr val="accent1">
                        <a:lumMod val="50000"/>
                      </a:schemeClr>
                    </a:solidFill>
                  </a:tcPr>
                </a:tc>
                <a:extLst>
                  <a:ext uri="{0D108BD9-81ED-4DB2-BD59-A6C34878D82A}">
                    <a16:rowId xmlns:a16="http://schemas.microsoft.com/office/drawing/2014/main" val="2007875439"/>
                  </a:ext>
                </a:extLst>
              </a:tr>
              <a:tr h="1075187">
                <a:tc>
                  <a:txBody>
                    <a:bodyPr/>
                    <a:lstStyle/>
                    <a:p>
                      <a:pPr algn="l" fontAlgn="ctr">
                        <a:buNone/>
                      </a:pPr>
                      <a:r>
                        <a:rPr lang="en-US" sz="1000" b="1" i="0" u="none" strike="noStrike" dirty="0">
                          <a:solidFill>
                            <a:srgbClr val="000000"/>
                          </a:solidFill>
                          <a:effectLst/>
                          <a:latin typeface="Aptos Narrow" panose="020B0004020202020204" pitchFamily="34" charset="0"/>
                        </a:rPr>
                        <a:t>SCA / IU JV</a:t>
                      </a: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Could there be potential risk in center loss if SCA or IU were to acquire 100% of the JV centers outright?</a:t>
                      </a: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There are no change-of-control provisions in any of the contracts for IU / SCA centers, and the contracts are directly with the center themselves</a:t>
                      </a:r>
                    </a:p>
                  </a:txBody>
                  <a:tcPr marL="110642" marR="110642" anchor="ctr">
                    <a:solidFill>
                      <a:schemeClr val="bg1">
                        <a:lumMod val="9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950" kern="1200" dirty="0">
                          <a:solidFill>
                            <a:schemeClr val="dk1"/>
                          </a:solidFill>
                          <a:latin typeface="+mn-lt"/>
                          <a:ea typeface="+mn-ea"/>
                          <a:cs typeface="+mn-cs"/>
                        </a:rPr>
                        <a:t>No incremental impact to thesis, confirms that centers are sticky customers with contractual obligations</a:t>
                      </a:r>
                    </a:p>
                  </a:txBody>
                  <a:tcPr marL="110642" marR="110642" anchor="ctr">
                    <a:solidFill>
                      <a:schemeClr val="bg1">
                        <a:lumMod val="9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prstClr val="black"/>
                          </a:solidFill>
                          <a:effectLst/>
                          <a:uLnTx/>
                          <a:uFillTx/>
                          <a:latin typeface="Aptos" panose="02110004020202020204"/>
                          <a:ea typeface="+mn-ea"/>
                          <a:cs typeface="+mn-cs"/>
                        </a:rPr>
                        <a:t>Closed</a:t>
                      </a:r>
                    </a:p>
                  </a:txBody>
                  <a:tcPr marL="110642" marR="110642" anchor="ctr">
                    <a:solidFill>
                      <a:schemeClr val="bg1">
                        <a:lumMod val="95000"/>
                      </a:schemeClr>
                    </a:solidFill>
                  </a:tcPr>
                </a:tc>
                <a:extLst>
                  <a:ext uri="{0D108BD9-81ED-4DB2-BD59-A6C34878D82A}">
                    <a16:rowId xmlns:a16="http://schemas.microsoft.com/office/drawing/2014/main" val="714419499"/>
                  </a:ext>
                </a:extLst>
              </a:tr>
              <a:tr h="1000338">
                <a:tc>
                  <a:txBody>
                    <a:bodyPr/>
                    <a:lstStyle/>
                    <a:p>
                      <a:pPr algn="l" fontAlgn="ctr">
                        <a:buNone/>
                      </a:pPr>
                      <a:r>
                        <a:rPr lang="en-US" sz="1000" b="1" i="0" u="none" strike="noStrike" dirty="0">
                          <a:solidFill>
                            <a:srgbClr val="000000"/>
                          </a:solidFill>
                          <a:effectLst/>
                          <a:latin typeface="Aptos Narrow" panose="020B0004020202020204" pitchFamily="34" charset="0"/>
                        </a:rPr>
                        <a:t>New ASC Delay</a:t>
                      </a:r>
                    </a:p>
                  </a:txBody>
                  <a:tcPr marL="110642" marR="110642" anchor="ctr">
                    <a:solidFill>
                      <a:schemeClr val="bg1">
                        <a:lumMod val="8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American Pain Consortium (5.2 FTE across 4 centers) and Westfield Surgery Center (5 FTE) have been delayed to November and December starts from October and August, respectively</a:t>
                      </a:r>
                    </a:p>
                  </a:txBody>
                  <a:tcPr marL="110642" marR="110642" anchor="ctr">
                    <a:solidFill>
                      <a:schemeClr val="bg1">
                        <a:lumMod val="85000"/>
                      </a:schemeClr>
                    </a:solidFill>
                  </a:tcPr>
                </a:tc>
                <a:tc>
                  <a:txBody>
                    <a:bodyPr/>
                    <a:lstStyle/>
                    <a:p>
                      <a:pPr marL="0" algn="just" defTabSz="914400" rtl="0" eaLnBrk="1" fontAlgn="ctr" latinLnBrk="0" hangingPunct="1">
                        <a:buNone/>
                      </a:pPr>
                      <a:r>
                        <a:rPr lang="en-US" sz="950" kern="1200" dirty="0">
                          <a:solidFill>
                            <a:schemeClr val="dk1"/>
                          </a:solidFill>
                          <a:latin typeface="+mn-lt"/>
                          <a:ea typeface="+mn-ea"/>
                          <a:cs typeface="+mn-cs"/>
                        </a:rPr>
                        <a:t>Westfield has been delayed due to flooding damage during renovations and is purely a timing delay; APC is waiting for the head of operations to return from maternity leave and provide a start date</a:t>
                      </a:r>
                    </a:p>
                  </a:txBody>
                  <a:tcPr marL="110642" marR="110642" anchor="ctr">
                    <a:solidFill>
                      <a:schemeClr val="bg1">
                        <a:lumMod val="8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Both delays impact 2025 performance but should not have any impact on 2026 revenue or Gross Profit</a:t>
                      </a:r>
                    </a:p>
                  </a:txBody>
                  <a:tcPr marL="110642" marR="110642" anchor="ctr">
                    <a:solidFill>
                      <a:schemeClr val="bg1">
                        <a:lumMod val="8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prstClr val="black"/>
                          </a:solidFill>
                          <a:effectLst/>
                          <a:uLnTx/>
                          <a:uFillTx/>
                          <a:latin typeface="Aptos" panose="02110004020202020204"/>
                          <a:ea typeface="+mn-ea"/>
                          <a:cs typeface="+mn-cs"/>
                        </a:rPr>
                        <a:t>Closed</a:t>
                      </a:r>
                    </a:p>
                  </a:txBody>
                  <a:tcPr marL="110642" marR="110642" anchor="ctr">
                    <a:solidFill>
                      <a:schemeClr val="bg1">
                        <a:lumMod val="85000"/>
                      </a:schemeClr>
                    </a:solidFill>
                  </a:tcPr>
                </a:tc>
                <a:extLst>
                  <a:ext uri="{0D108BD9-81ED-4DB2-BD59-A6C34878D82A}">
                    <a16:rowId xmlns:a16="http://schemas.microsoft.com/office/drawing/2014/main" val="3319725507"/>
                  </a:ext>
                </a:extLst>
              </a:tr>
            </a:tbl>
          </a:graphicData>
        </a:graphic>
      </p:graphicFrame>
    </p:spTree>
    <p:extLst>
      <p:ext uri="{BB962C8B-B14F-4D97-AF65-F5344CB8AC3E}">
        <p14:creationId xmlns:p14="http://schemas.microsoft.com/office/powerpoint/2010/main" val="24903967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882B9-EEF5-C611-FD8C-3D4281E682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662FEB-D6DA-41A1-E264-3758EA8439C0}"/>
              </a:ext>
            </a:extLst>
          </p:cNvPr>
          <p:cNvSpPr>
            <a:spLocks noGrp="1"/>
          </p:cNvSpPr>
          <p:nvPr>
            <p:ph type="title"/>
          </p:nvPr>
        </p:nvSpPr>
        <p:spPr/>
        <p:txBody>
          <a:bodyPr>
            <a:normAutofit/>
          </a:bodyPr>
          <a:lstStyle/>
          <a:p>
            <a:r>
              <a:rPr lang="en-US" dirty="0"/>
              <a:t>Material Legal Points</a:t>
            </a:r>
          </a:p>
        </p:txBody>
      </p:sp>
      <p:sp>
        <p:nvSpPr>
          <p:cNvPr id="9" name="Slide Number Placeholder 8">
            <a:extLst>
              <a:ext uri="{FF2B5EF4-FFF2-40B4-BE49-F238E27FC236}">
                <a16:creationId xmlns:a16="http://schemas.microsoft.com/office/drawing/2014/main" id="{3CDF9A0B-A8F9-0CC1-80C5-F1571E39B266}"/>
              </a:ext>
            </a:extLst>
          </p:cNvPr>
          <p:cNvSpPr>
            <a:spLocks noGrp="1"/>
          </p:cNvSpPr>
          <p:nvPr>
            <p:ph type="sldNum" sz="quarter" idx="12"/>
          </p:nvPr>
        </p:nvSpPr>
        <p:spPr/>
        <p:txBody>
          <a:bodyPr/>
          <a:lstStyle/>
          <a:p>
            <a:fld id="{F8DDDAE5-3BDD-4D78-843B-A22FA78305BB}" type="slidenum">
              <a:rPr lang="en-US" smtClean="0"/>
              <a:t>48</a:t>
            </a:fld>
            <a:endParaRPr lang="en-US" dirty="0"/>
          </a:p>
        </p:txBody>
      </p:sp>
      <p:graphicFrame>
        <p:nvGraphicFramePr>
          <p:cNvPr id="3" name="Table 2">
            <a:extLst>
              <a:ext uri="{FF2B5EF4-FFF2-40B4-BE49-F238E27FC236}">
                <a16:creationId xmlns:a16="http://schemas.microsoft.com/office/drawing/2014/main" id="{D42D6C68-79C2-F1EB-FD14-585598A28D36}"/>
              </a:ext>
            </a:extLst>
          </p:cNvPr>
          <p:cNvGraphicFramePr>
            <a:graphicFrameLocks noGrp="1"/>
          </p:cNvGraphicFramePr>
          <p:nvPr>
            <p:extLst>
              <p:ext uri="{D42A27DB-BD31-4B8C-83A1-F6EECF244321}">
                <p14:modId xmlns:p14="http://schemas.microsoft.com/office/powerpoint/2010/main" val="2470739261"/>
              </p:ext>
            </p:extLst>
          </p:nvPr>
        </p:nvGraphicFramePr>
        <p:xfrm>
          <a:off x="182880" y="905124"/>
          <a:ext cx="8778238" cy="5678692"/>
        </p:xfrm>
        <a:graphic>
          <a:graphicData uri="http://schemas.openxmlformats.org/drawingml/2006/table">
            <a:tbl>
              <a:tblPr firstRow="1" bandRow="1">
                <a:tableStyleId>{5C22544A-7EE6-4342-B048-85BDC9FD1C3A}</a:tableStyleId>
              </a:tblPr>
              <a:tblGrid>
                <a:gridCol w="912589">
                  <a:extLst>
                    <a:ext uri="{9D8B030D-6E8A-4147-A177-3AD203B41FA5}">
                      <a16:colId xmlns:a16="http://schemas.microsoft.com/office/drawing/2014/main" val="2013788962"/>
                    </a:ext>
                  </a:extLst>
                </a:gridCol>
                <a:gridCol w="1041149">
                  <a:extLst>
                    <a:ext uri="{9D8B030D-6E8A-4147-A177-3AD203B41FA5}">
                      <a16:colId xmlns:a16="http://schemas.microsoft.com/office/drawing/2014/main" val="3716730001"/>
                    </a:ext>
                  </a:extLst>
                </a:gridCol>
                <a:gridCol w="1457608">
                  <a:extLst>
                    <a:ext uri="{9D8B030D-6E8A-4147-A177-3AD203B41FA5}">
                      <a16:colId xmlns:a16="http://schemas.microsoft.com/office/drawing/2014/main" val="584997788"/>
                    </a:ext>
                  </a:extLst>
                </a:gridCol>
                <a:gridCol w="1855960">
                  <a:extLst>
                    <a:ext uri="{9D8B030D-6E8A-4147-A177-3AD203B41FA5}">
                      <a16:colId xmlns:a16="http://schemas.microsoft.com/office/drawing/2014/main" val="3828439599"/>
                    </a:ext>
                  </a:extLst>
                </a:gridCol>
                <a:gridCol w="1376127">
                  <a:extLst>
                    <a:ext uri="{9D8B030D-6E8A-4147-A177-3AD203B41FA5}">
                      <a16:colId xmlns:a16="http://schemas.microsoft.com/office/drawing/2014/main" val="1628870004"/>
                    </a:ext>
                  </a:extLst>
                </a:gridCol>
                <a:gridCol w="1321806">
                  <a:extLst>
                    <a:ext uri="{9D8B030D-6E8A-4147-A177-3AD203B41FA5}">
                      <a16:colId xmlns:a16="http://schemas.microsoft.com/office/drawing/2014/main" val="204393158"/>
                    </a:ext>
                  </a:extLst>
                </a:gridCol>
                <a:gridCol w="812999">
                  <a:extLst>
                    <a:ext uri="{9D8B030D-6E8A-4147-A177-3AD203B41FA5}">
                      <a16:colId xmlns:a16="http://schemas.microsoft.com/office/drawing/2014/main" val="2332390476"/>
                    </a:ext>
                  </a:extLst>
                </a:gridCol>
              </a:tblGrid>
              <a:tr h="346543">
                <a:tc>
                  <a:txBody>
                    <a:bodyPr/>
                    <a:lstStyle/>
                    <a:p>
                      <a:pPr algn="ctr"/>
                      <a:r>
                        <a:rPr lang="en-US" sz="1100" dirty="0">
                          <a:solidFill>
                            <a:schemeClr val="bg1"/>
                          </a:solidFill>
                        </a:rPr>
                        <a:t>Document</a:t>
                      </a:r>
                    </a:p>
                  </a:txBody>
                  <a:tcPr marL="110642" marR="110642" marT="28388" marB="28388" anchor="ctr">
                    <a:lnT w="3175" cap="flat" cmpd="sng" algn="ctr">
                      <a:solidFill>
                        <a:schemeClr val="bg1"/>
                      </a:solidFill>
                      <a:prstDash val="solid"/>
                      <a:round/>
                      <a:headEnd type="none" w="med" len="med"/>
                      <a:tailEnd type="none" w="med" len="med"/>
                    </a:lnT>
                    <a:solidFill>
                      <a:schemeClr val="accent1">
                        <a:lumMod val="50000"/>
                      </a:schemeClr>
                    </a:solidFill>
                  </a:tcPr>
                </a:tc>
                <a:tc>
                  <a:txBody>
                    <a:bodyPr/>
                    <a:lstStyle/>
                    <a:p>
                      <a:pPr algn="ctr"/>
                      <a:r>
                        <a:rPr lang="en-US" sz="1100" dirty="0">
                          <a:solidFill>
                            <a:schemeClr val="bg1"/>
                          </a:solidFill>
                        </a:rPr>
                        <a:t>Point</a:t>
                      </a:r>
                    </a:p>
                  </a:txBody>
                  <a:tcPr marL="110642" marR="110642" marT="28388" marB="28388" anchor="ctr">
                    <a:lnT w="3175" cap="flat" cmpd="sng" algn="ctr">
                      <a:solidFill>
                        <a:schemeClr val="bg1"/>
                      </a:solidFill>
                      <a:prstDash val="solid"/>
                      <a:round/>
                      <a:headEnd type="none" w="med" len="med"/>
                      <a:tailEnd type="none" w="med" len="med"/>
                    </a:lnT>
                    <a:solidFill>
                      <a:schemeClr val="accent1">
                        <a:lumMod val="50000"/>
                      </a:schemeClr>
                    </a:solidFill>
                  </a:tcPr>
                </a:tc>
                <a:tc>
                  <a:txBody>
                    <a:bodyPr/>
                    <a:lstStyle/>
                    <a:p>
                      <a:pPr algn="ctr"/>
                      <a:r>
                        <a:rPr lang="en-US" sz="1100" dirty="0">
                          <a:solidFill>
                            <a:schemeClr val="bg1"/>
                          </a:solidFill>
                        </a:rPr>
                        <a:t>Proposal</a:t>
                      </a:r>
                    </a:p>
                  </a:txBody>
                  <a:tcPr marL="110642" marR="110642" marT="28388" marB="28388" anchor="ctr">
                    <a:lnT w="3175" cap="flat" cmpd="sng" algn="ctr">
                      <a:solidFill>
                        <a:schemeClr val="bg1"/>
                      </a:solidFill>
                      <a:prstDash val="solid"/>
                      <a:round/>
                      <a:headEnd type="none" w="med" len="med"/>
                      <a:tailEnd type="none" w="med" len="med"/>
                    </a:lnT>
                    <a:solidFill>
                      <a:schemeClr val="accent1">
                        <a:lumMod val="50000"/>
                      </a:schemeClr>
                    </a:solidFill>
                  </a:tcPr>
                </a:tc>
                <a:tc>
                  <a:txBody>
                    <a:bodyPr/>
                    <a:lstStyle/>
                    <a:p>
                      <a:pPr algn="ctr"/>
                      <a:r>
                        <a:rPr lang="en-US" sz="1100" dirty="0">
                          <a:solidFill>
                            <a:schemeClr val="bg1"/>
                          </a:solidFill>
                        </a:rPr>
                        <a:t>Counter #1</a:t>
                      </a:r>
                    </a:p>
                  </a:txBody>
                  <a:tcPr marL="110642" marR="110642" marT="28388" marB="28388" anchor="ctr">
                    <a:lnT w="3175" cap="flat" cmpd="sng" algn="ctr">
                      <a:solidFill>
                        <a:schemeClr val="bg1"/>
                      </a:solidFill>
                      <a:prstDash val="solid"/>
                      <a:round/>
                      <a:headEnd type="none" w="med" len="med"/>
                      <a:tailEnd type="none" w="med" len="med"/>
                    </a:lnT>
                    <a:solidFill>
                      <a:schemeClr val="accent1">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bg1"/>
                          </a:solidFill>
                        </a:rPr>
                        <a:t>Counter #2</a:t>
                      </a:r>
                    </a:p>
                  </a:txBody>
                  <a:tcPr marL="110642" marR="110642" marT="28388" marB="28388" anchor="ctr">
                    <a:lnT w="3175" cap="flat" cmpd="sng" algn="ctr">
                      <a:solidFill>
                        <a:schemeClr val="bg1"/>
                      </a:solidFill>
                      <a:prstDash val="solid"/>
                      <a:round/>
                      <a:headEnd type="none" w="med" len="med"/>
                      <a:tailEnd type="none" w="med" len="med"/>
                    </a:lnT>
                    <a:solidFill>
                      <a:schemeClr val="accent1">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bg1"/>
                          </a:solidFill>
                        </a:rPr>
                        <a:t>Counter #3</a:t>
                      </a:r>
                    </a:p>
                  </a:txBody>
                  <a:tcPr marL="110642" marR="110642" marT="28388" marB="28388" anchor="ctr">
                    <a:lnT w="3175" cap="flat" cmpd="sng" algn="ctr">
                      <a:solidFill>
                        <a:schemeClr val="bg1"/>
                      </a:solidFill>
                      <a:prstDash val="solid"/>
                      <a:round/>
                      <a:headEnd type="none" w="med" len="med"/>
                      <a:tailEnd type="none" w="med" len="med"/>
                    </a:lnT>
                    <a:solidFill>
                      <a:schemeClr val="accent1">
                        <a:lumMod val="50000"/>
                      </a:schemeClr>
                    </a:solidFill>
                  </a:tcPr>
                </a:tc>
                <a:tc>
                  <a:txBody>
                    <a:bodyPr/>
                    <a:lstStyle/>
                    <a:p>
                      <a:pPr algn="ctr"/>
                      <a:r>
                        <a:rPr lang="en-US" sz="1100" dirty="0">
                          <a:solidFill>
                            <a:schemeClr val="bg1"/>
                          </a:solidFill>
                        </a:rPr>
                        <a:t>Closed / Open</a:t>
                      </a:r>
                    </a:p>
                  </a:txBody>
                  <a:tcPr marL="110642" marR="110642" marT="28388" marB="28388" anchor="ctr">
                    <a:lnT w="3175" cap="flat" cmpd="sng" algn="ctr">
                      <a:solidFill>
                        <a:schemeClr val="bg1"/>
                      </a:solidFill>
                      <a:prstDash val="solid"/>
                      <a:round/>
                      <a:headEnd type="none" w="med" len="med"/>
                      <a:tailEnd type="none" w="med" len="med"/>
                    </a:lnT>
                    <a:solidFill>
                      <a:schemeClr val="accent1">
                        <a:lumMod val="50000"/>
                      </a:schemeClr>
                    </a:solidFill>
                  </a:tcPr>
                </a:tc>
                <a:extLst>
                  <a:ext uri="{0D108BD9-81ED-4DB2-BD59-A6C34878D82A}">
                    <a16:rowId xmlns:a16="http://schemas.microsoft.com/office/drawing/2014/main" val="2007875439"/>
                  </a:ext>
                </a:extLst>
              </a:tr>
              <a:tr h="976634">
                <a:tc>
                  <a:txBody>
                    <a:bodyPr/>
                    <a:lstStyle/>
                    <a:p>
                      <a:pPr algn="l" fontAlgn="ctr">
                        <a:buNone/>
                      </a:pPr>
                      <a:r>
                        <a:rPr lang="en-US" sz="1000" b="1" i="0" u="none" strike="noStrike" dirty="0">
                          <a:solidFill>
                            <a:srgbClr val="000000"/>
                          </a:solidFill>
                          <a:effectLst/>
                          <a:latin typeface="Aptos Narrow" panose="020B0004020202020204" pitchFamily="34" charset="0"/>
                        </a:rPr>
                        <a:t>Purchase Agreement</a:t>
                      </a: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Definition of Growth Capital</a:t>
                      </a: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b="0" kern="1200" dirty="0">
                          <a:solidFill>
                            <a:schemeClr val="dk1"/>
                          </a:solidFill>
                          <a:latin typeface="+mn-lt"/>
                          <a:ea typeface="+mn-ea"/>
                          <a:cs typeface="+mn-cs"/>
                        </a:rPr>
                        <a:t>Sellers proposed that growth capital exclude management fees and interest payments</a:t>
                      </a: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b="0" kern="1200" dirty="0">
                          <a:solidFill>
                            <a:schemeClr val="dk1"/>
                          </a:solidFill>
                          <a:latin typeface="+mn-lt"/>
                          <a:ea typeface="+mn-ea"/>
                          <a:cs typeface="+mn-cs"/>
                        </a:rPr>
                        <a:t>NSC included language that growth capital</a:t>
                      </a:r>
                      <a:r>
                        <a:rPr lang="en-US" sz="950" b="0" u="none" kern="1200" dirty="0">
                          <a:solidFill>
                            <a:schemeClr val="dk1"/>
                          </a:solidFill>
                          <a:latin typeface="+mn-lt"/>
                          <a:ea typeface="+mn-ea"/>
                          <a:cs typeface="+mn-cs"/>
                        </a:rPr>
                        <a:t> is </a:t>
                      </a:r>
                      <a:r>
                        <a:rPr lang="en-US" sz="950" b="0" u="sng" kern="1200" dirty="0">
                          <a:solidFill>
                            <a:schemeClr val="dk1"/>
                          </a:solidFill>
                          <a:latin typeface="+mn-lt"/>
                          <a:ea typeface="+mn-ea"/>
                          <a:cs typeface="+mn-cs"/>
                        </a:rPr>
                        <a:t>intended to be used for general corporate growth</a:t>
                      </a:r>
                      <a:r>
                        <a:rPr lang="en-US" sz="950" b="0" u="none" kern="1200" dirty="0">
                          <a:solidFill>
                            <a:schemeClr val="dk1"/>
                          </a:solidFill>
                          <a:latin typeface="+mn-lt"/>
                          <a:ea typeface="+mn-ea"/>
                          <a:cs typeface="+mn-cs"/>
                        </a:rPr>
                        <a:t> and that it is </a:t>
                      </a:r>
                      <a:r>
                        <a:rPr lang="en-US" sz="950" b="0" u="sng" kern="1200" dirty="0">
                          <a:solidFill>
                            <a:schemeClr val="dk1"/>
                          </a:solidFill>
                          <a:latin typeface="+mn-lt"/>
                          <a:ea typeface="+mn-ea"/>
                          <a:cs typeface="+mn-cs"/>
                        </a:rPr>
                        <a:t>not intended to be used for management fees </a:t>
                      </a:r>
                      <a:r>
                        <a:rPr lang="en-US" sz="950" b="0" u="none" kern="1200" dirty="0">
                          <a:solidFill>
                            <a:schemeClr val="dk1"/>
                          </a:solidFill>
                          <a:latin typeface="+mn-lt"/>
                          <a:ea typeface="+mn-ea"/>
                          <a:cs typeface="+mn-cs"/>
                        </a:rPr>
                        <a:t>(struck interest payments)</a:t>
                      </a:r>
                      <a:endParaRPr lang="en-US" sz="950" b="0" u="sng" kern="1200" dirty="0">
                        <a:solidFill>
                          <a:schemeClr val="dk1"/>
                        </a:solidFill>
                        <a:latin typeface="+mn-lt"/>
                        <a:ea typeface="+mn-ea"/>
                        <a:cs typeface="+mn-cs"/>
                      </a:endParaRP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b="0" kern="1200" dirty="0">
                          <a:solidFill>
                            <a:schemeClr val="dk1"/>
                          </a:solidFill>
                          <a:latin typeface="+mn-lt"/>
                          <a:ea typeface="+mn-ea"/>
                          <a:cs typeface="+mn-cs"/>
                        </a:rPr>
                        <a:t>NA</a:t>
                      </a:r>
                    </a:p>
                  </a:txBody>
                  <a:tcPr marL="110642" marR="110642" anchor="ctr">
                    <a:solidFill>
                      <a:schemeClr val="bg1">
                        <a:lumMod val="95000"/>
                      </a:schemeClr>
                    </a:solidFill>
                  </a:tcPr>
                </a:tc>
                <a:tc>
                  <a:txBody>
                    <a:bodyPr/>
                    <a:lstStyle/>
                    <a:p>
                      <a:pPr marL="0" algn="l" defTabSz="914400" rtl="0" eaLnBrk="1" fontAlgn="ctr" latinLnBrk="0" hangingPunct="1">
                        <a:buNone/>
                      </a:pPr>
                      <a:endParaRPr lang="en-US" sz="950" b="0" kern="1200" dirty="0">
                        <a:solidFill>
                          <a:schemeClr val="dk1"/>
                        </a:solidFill>
                        <a:latin typeface="+mn-lt"/>
                        <a:ea typeface="+mn-ea"/>
                        <a:cs typeface="+mn-cs"/>
                      </a:endParaRP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Closed</a:t>
                      </a:r>
                    </a:p>
                  </a:txBody>
                  <a:tcPr marL="110642" marR="110642" anchor="ctr">
                    <a:solidFill>
                      <a:schemeClr val="bg1">
                        <a:lumMod val="95000"/>
                      </a:schemeClr>
                    </a:solidFill>
                  </a:tcPr>
                </a:tc>
                <a:extLst>
                  <a:ext uri="{0D108BD9-81ED-4DB2-BD59-A6C34878D82A}">
                    <a16:rowId xmlns:a16="http://schemas.microsoft.com/office/drawing/2014/main" val="714419499"/>
                  </a:ext>
                </a:extLst>
              </a:tr>
              <a:tr h="592716">
                <a:tc>
                  <a:txBody>
                    <a:bodyPr/>
                    <a:lstStyle/>
                    <a:p>
                      <a:pPr algn="l" fontAlgn="ctr">
                        <a:buNone/>
                      </a:pPr>
                      <a:r>
                        <a:rPr lang="en-US" sz="1000" b="1" i="0" u="none" strike="noStrike" dirty="0">
                          <a:solidFill>
                            <a:srgbClr val="000000"/>
                          </a:solidFill>
                          <a:effectLst/>
                          <a:latin typeface="Aptos Narrow" panose="020B0004020202020204" pitchFamily="34" charset="0"/>
                        </a:rPr>
                        <a:t>Purchase Agreement</a:t>
                      </a:r>
                    </a:p>
                  </a:txBody>
                  <a:tcPr marL="110642" marR="110642" anchor="ctr">
                    <a:solidFill>
                      <a:schemeClr val="bg1">
                        <a:lumMod val="8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Earnout</a:t>
                      </a:r>
                    </a:p>
                  </a:txBody>
                  <a:tcPr marL="110642" marR="110642" anchor="ctr">
                    <a:solidFill>
                      <a:schemeClr val="bg1">
                        <a:lumMod val="85000"/>
                      </a:schemeClr>
                    </a:solidFill>
                  </a:tcP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n-US" sz="950" b="0" kern="1200" dirty="0">
                          <a:solidFill>
                            <a:schemeClr val="dk1"/>
                          </a:solidFill>
                          <a:latin typeface="+mn-lt"/>
                          <a:ea typeface="+mn-ea"/>
                          <a:cs typeface="+mn-cs"/>
                        </a:rPr>
                        <a:t>NSC proposed 85% of earnout targets as a minimum threshold for participation</a:t>
                      </a:r>
                    </a:p>
                  </a:txBody>
                  <a:tcPr marL="110642" marR="110642" anchor="ctr">
                    <a:solidFill>
                      <a:schemeClr val="bg1">
                        <a:lumMod val="85000"/>
                      </a:schemeClr>
                    </a:solidFill>
                  </a:tcP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n-US" sz="950" b="0" kern="1200" dirty="0">
                          <a:solidFill>
                            <a:schemeClr val="dk1"/>
                          </a:solidFill>
                          <a:latin typeface="+mn-lt"/>
                          <a:ea typeface="+mn-ea"/>
                          <a:cs typeface="+mn-cs"/>
                        </a:rPr>
                        <a:t>Sellers viewed 85% as a threshold for catch up</a:t>
                      </a:r>
                    </a:p>
                  </a:txBody>
                  <a:tcPr marL="110642" marR="110642" anchor="ctr">
                    <a:solidFill>
                      <a:schemeClr val="bg1">
                        <a:lumMod val="85000"/>
                      </a:schemeClr>
                    </a:solidFill>
                  </a:tcPr>
                </a:tc>
                <a:tc>
                  <a:txBody>
                    <a:bodyPr/>
                    <a:lstStyle/>
                    <a:p>
                      <a:pPr marL="0" algn="just" defTabSz="914400" rtl="0" eaLnBrk="1" fontAlgn="ctr" latinLnBrk="0" hangingPunct="1">
                        <a:buNone/>
                      </a:pPr>
                      <a:r>
                        <a:rPr lang="en-US" sz="950" b="0" kern="1200" dirty="0">
                          <a:solidFill>
                            <a:schemeClr val="dk1"/>
                          </a:solidFill>
                          <a:latin typeface="+mn-lt"/>
                          <a:ea typeface="+mn-ea"/>
                          <a:cs typeface="+mn-cs"/>
                        </a:rPr>
                        <a:t>NSC countered with 20% floor at 85% of target or 95% floor at 95% of target</a:t>
                      </a:r>
                    </a:p>
                  </a:txBody>
                  <a:tcPr marL="110642" marR="110642" anchor="ctr">
                    <a:solidFill>
                      <a:schemeClr val="bg1">
                        <a:lumMod val="85000"/>
                      </a:schemeClr>
                    </a:solidFill>
                  </a:tcP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n-US" sz="950" b="0" kern="1200" dirty="0">
                          <a:solidFill>
                            <a:schemeClr val="dk1"/>
                          </a:solidFill>
                          <a:latin typeface="+mn-lt"/>
                          <a:ea typeface="+mn-ea"/>
                          <a:cs typeface="+mn-cs"/>
                        </a:rPr>
                        <a:t>Sellers re-countered at 25% floor at 85% of target</a:t>
                      </a:r>
                    </a:p>
                  </a:txBody>
                  <a:tcPr marL="110642" marR="110642" anchor="ctr">
                    <a:solidFill>
                      <a:schemeClr val="bg1">
                        <a:lumMod val="85000"/>
                      </a:schemeClr>
                    </a:solidFill>
                  </a:tcPr>
                </a:tc>
                <a:tc>
                  <a:txBody>
                    <a:bodyPr/>
                    <a:lstStyle/>
                    <a:p>
                      <a:pPr marL="0" algn="just" defTabSz="914400" rtl="0" eaLnBrk="1" fontAlgn="ctr" latinLnBrk="0" hangingPunct="1">
                        <a:buNone/>
                      </a:pPr>
                      <a:r>
                        <a:rPr lang="en-US" sz="950" kern="1200" dirty="0">
                          <a:solidFill>
                            <a:schemeClr val="dk1"/>
                          </a:solidFill>
                          <a:latin typeface="+mn-lt"/>
                          <a:ea typeface="+mn-ea"/>
                          <a:cs typeface="+mn-cs"/>
                        </a:rPr>
                        <a:t>Closed</a:t>
                      </a:r>
                    </a:p>
                  </a:txBody>
                  <a:tcPr marL="110642" marR="110642" anchor="ctr">
                    <a:solidFill>
                      <a:schemeClr val="bg1">
                        <a:lumMod val="85000"/>
                      </a:schemeClr>
                    </a:solidFill>
                  </a:tcPr>
                </a:tc>
                <a:extLst>
                  <a:ext uri="{0D108BD9-81ED-4DB2-BD59-A6C34878D82A}">
                    <a16:rowId xmlns:a16="http://schemas.microsoft.com/office/drawing/2014/main" val="3319725507"/>
                  </a:ext>
                </a:extLst>
              </a:tr>
              <a:tr h="592716">
                <a:tc>
                  <a:txBody>
                    <a:bodyPr/>
                    <a:lstStyle/>
                    <a:p>
                      <a:pPr algn="l" fontAlgn="ctr">
                        <a:buNone/>
                      </a:pPr>
                      <a:r>
                        <a:rPr lang="en-US" sz="1000" b="1" i="0" u="none" strike="noStrike" dirty="0">
                          <a:solidFill>
                            <a:srgbClr val="000000"/>
                          </a:solidFill>
                          <a:effectLst/>
                          <a:latin typeface="Aptos Narrow" panose="020B0004020202020204" pitchFamily="34" charset="0"/>
                        </a:rPr>
                        <a:t>Employment Agreement</a:t>
                      </a: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Salary</a:t>
                      </a: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b="0" kern="1200" dirty="0">
                          <a:solidFill>
                            <a:schemeClr val="dk1"/>
                          </a:solidFill>
                          <a:latin typeface="+mn-lt"/>
                          <a:ea typeface="+mn-ea"/>
                          <a:cs typeface="+mn-cs"/>
                        </a:rPr>
                        <a:t>NSC proposed keeping salaries consistent with </a:t>
                      </a:r>
                      <a:r>
                        <a:rPr lang="en-US" sz="950" b="0" kern="1200" dirty="0" err="1">
                          <a:solidFill>
                            <a:schemeClr val="dk1"/>
                          </a:solidFill>
                          <a:latin typeface="+mn-lt"/>
                          <a:ea typeface="+mn-ea"/>
                          <a:cs typeface="+mn-cs"/>
                        </a:rPr>
                        <a:t>QofE</a:t>
                      </a:r>
                      <a:r>
                        <a:rPr lang="en-US" sz="950" b="0" kern="1200" dirty="0">
                          <a:solidFill>
                            <a:schemeClr val="dk1"/>
                          </a:solidFill>
                          <a:latin typeface="+mn-lt"/>
                          <a:ea typeface="+mn-ea"/>
                          <a:cs typeface="+mn-cs"/>
                        </a:rPr>
                        <a:t> adjustment at $200K and $150K</a:t>
                      </a:r>
                    </a:p>
                  </a:txBody>
                  <a:tcPr marL="110642" marR="110642" anchor="ctr">
                    <a:solidFill>
                      <a:schemeClr val="bg1">
                        <a:lumMod val="95000"/>
                      </a:schemeClr>
                    </a:solidFill>
                  </a:tcPr>
                </a:tc>
                <a:tc>
                  <a:txBody>
                    <a:bodyPr/>
                    <a:lstStyle/>
                    <a:p>
                      <a:pPr marL="0" algn="l" defTabSz="914400" rtl="0" eaLnBrk="1" fontAlgn="ctr" latinLnBrk="0" hangingPunct="1">
                        <a:buNone/>
                      </a:pPr>
                      <a:endParaRPr lang="en-US" sz="950" b="0" kern="1200" dirty="0">
                        <a:solidFill>
                          <a:schemeClr val="dk1"/>
                        </a:solidFill>
                        <a:latin typeface="+mn-lt"/>
                        <a:ea typeface="+mn-ea"/>
                        <a:cs typeface="+mn-cs"/>
                      </a:endParaRPr>
                    </a:p>
                  </a:txBody>
                  <a:tcPr marL="110642" marR="110642" anchor="ctr">
                    <a:solidFill>
                      <a:schemeClr val="bg1">
                        <a:lumMod val="95000"/>
                      </a:schemeClr>
                    </a:solidFill>
                  </a:tcPr>
                </a:tc>
                <a:tc>
                  <a:txBody>
                    <a:bodyPr/>
                    <a:lstStyle/>
                    <a:p>
                      <a:pPr marL="0" algn="l" defTabSz="914400" rtl="0" eaLnBrk="1" fontAlgn="ctr" latinLnBrk="0" hangingPunct="1">
                        <a:buNone/>
                      </a:pPr>
                      <a:endParaRPr lang="en-US" sz="950" b="0" kern="1200" dirty="0">
                        <a:solidFill>
                          <a:schemeClr val="dk1"/>
                        </a:solidFill>
                        <a:latin typeface="+mn-lt"/>
                        <a:ea typeface="+mn-ea"/>
                        <a:cs typeface="+mn-cs"/>
                      </a:endParaRPr>
                    </a:p>
                  </a:txBody>
                  <a:tcPr marL="110642" marR="110642" anchor="ctr">
                    <a:solidFill>
                      <a:schemeClr val="bg1">
                        <a:lumMod val="95000"/>
                      </a:schemeClr>
                    </a:solidFill>
                  </a:tcPr>
                </a:tc>
                <a:tc>
                  <a:txBody>
                    <a:bodyPr/>
                    <a:lstStyle/>
                    <a:p>
                      <a:pPr marL="0" algn="l" defTabSz="914400" rtl="0" eaLnBrk="1" fontAlgn="ctr" latinLnBrk="0" hangingPunct="1">
                        <a:buNone/>
                      </a:pPr>
                      <a:endParaRPr lang="en-US" sz="950" b="0" kern="1200" dirty="0">
                        <a:solidFill>
                          <a:schemeClr val="dk1"/>
                        </a:solidFill>
                        <a:latin typeface="+mn-lt"/>
                        <a:ea typeface="+mn-ea"/>
                        <a:cs typeface="+mn-cs"/>
                      </a:endParaRP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Closed</a:t>
                      </a:r>
                    </a:p>
                  </a:txBody>
                  <a:tcPr marL="110642" marR="110642" anchor="ctr">
                    <a:solidFill>
                      <a:schemeClr val="bg1">
                        <a:lumMod val="95000"/>
                      </a:schemeClr>
                    </a:solidFill>
                  </a:tcPr>
                </a:tc>
                <a:extLst>
                  <a:ext uri="{0D108BD9-81ED-4DB2-BD59-A6C34878D82A}">
                    <a16:rowId xmlns:a16="http://schemas.microsoft.com/office/drawing/2014/main" val="2169564543"/>
                  </a:ext>
                </a:extLst>
              </a:tr>
              <a:tr h="464743">
                <a:tc>
                  <a:txBody>
                    <a:bodyPr/>
                    <a:lstStyle/>
                    <a:p>
                      <a:pPr algn="l" fontAlgn="ctr">
                        <a:buNone/>
                      </a:pPr>
                      <a:r>
                        <a:rPr lang="en-US" sz="1000" b="1" i="0" u="none" strike="noStrike" dirty="0">
                          <a:solidFill>
                            <a:srgbClr val="000000"/>
                          </a:solidFill>
                          <a:effectLst/>
                          <a:latin typeface="Aptos Narrow" panose="020B0004020202020204" pitchFamily="34" charset="0"/>
                        </a:rPr>
                        <a:t>Employment Agreement</a:t>
                      </a:r>
                    </a:p>
                  </a:txBody>
                  <a:tcPr marL="110642" marR="110642" anchor="ctr">
                    <a:solidFill>
                      <a:schemeClr val="bg1">
                        <a:lumMod val="8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Bonus</a:t>
                      </a:r>
                    </a:p>
                  </a:txBody>
                  <a:tcPr marL="110642" marR="110642" anchor="ctr">
                    <a:solidFill>
                      <a:schemeClr val="bg1">
                        <a:lumMod val="85000"/>
                      </a:schemeClr>
                    </a:solidFill>
                  </a:tcPr>
                </a:tc>
                <a:tc>
                  <a:txBody>
                    <a:bodyPr/>
                    <a:lstStyle/>
                    <a:p>
                      <a:pPr marL="0" algn="l" defTabSz="914400" rtl="0" eaLnBrk="1" fontAlgn="ctr" latinLnBrk="0" hangingPunct="1">
                        <a:buNone/>
                      </a:pPr>
                      <a:r>
                        <a:rPr lang="en-US" sz="950" b="0" kern="1200" dirty="0">
                          <a:solidFill>
                            <a:schemeClr val="dk1"/>
                          </a:solidFill>
                          <a:latin typeface="+mn-lt"/>
                          <a:ea typeface="+mn-ea"/>
                          <a:cs typeface="+mn-cs"/>
                        </a:rPr>
                        <a:t>Sellers proposed NSC include some bonus amount</a:t>
                      </a:r>
                    </a:p>
                  </a:txBody>
                  <a:tcPr marL="110642" marR="110642" anchor="ctr">
                    <a:solidFill>
                      <a:schemeClr val="bg1">
                        <a:lumMod val="85000"/>
                      </a:schemeClr>
                    </a:solidFill>
                  </a:tcPr>
                </a:tc>
                <a:tc>
                  <a:txBody>
                    <a:bodyPr/>
                    <a:lstStyle/>
                    <a:p>
                      <a:pPr marL="0" algn="l" defTabSz="914400" rtl="0" eaLnBrk="1" fontAlgn="ctr" latinLnBrk="0" hangingPunct="1">
                        <a:buNone/>
                      </a:pPr>
                      <a:r>
                        <a:rPr lang="en-US" sz="950" b="0" kern="1200" dirty="0">
                          <a:solidFill>
                            <a:schemeClr val="dk1"/>
                          </a:solidFill>
                          <a:latin typeface="+mn-lt"/>
                          <a:ea typeface="+mn-ea"/>
                          <a:cs typeface="+mn-cs"/>
                        </a:rPr>
                        <a:t>NSC included 50% bonus targets</a:t>
                      </a:r>
                    </a:p>
                  </a:txBody>
                  <a:tcPr marL="110642" marR="110642" anchor="ctr">
                    <a:solidFill>
                      <a:schemeClr val="bg1">
                        <a:lumMod val="85000"/>
                      </a:schemeClr>
                    </a:solidFill>
                  </a:tcPr>
                </a:tc>
                <a:tc>
                  <a:txBody>
                    <a:bodyPr/>
                    <a:lstStyle/>
                    <a:p>
                      <a:pPr marL="0" algn="l" defTabSz="914400" rtl="0" eaLnBrk="1" fontAlgn="ctr" latinLnBrk="0" hangingPunct="1">
                        <a:buNone/>
                      </a:pPr>
                      <a:endParaRPr lang="en-US" sz="950" b="0" kern="1200" dirty="0">
                        <a:solidFill>
                          <a:schemeClr val="dk1"/>
                        </a:solidFill>
                        <a:latin typeface="+mn-lt"/>
                        <a:ea typeface="+mn-ea"/>
                        <a:cs typeface="+mn-cs"/>
                      </a:endParaRPr>
                    </a:p>
                  </a:txBody>
                  <a:tcPr marL="110642" marR="110642" anchor="ctr">
                    <a:solidFill>
                      <a:schemeClr val="bg1">
                        <a:lumMod val="85000"/>
                      </a:schemeClr>
                    </a:solidFill>
                  </a:tcPr>
                </a:tc>
                <a:tc>
                  <a:txBody>
                    <a:bodyPr/>
                    <a:lstStyle/>
                    <a:p>
                      <a:pPr marL="0" algn="l" defTabSz="914400" rtl="0" eaLnBrk="1" fontAlgn="ctr" latinLnBrk="0" hangingPunct="1">
                        <a:buNone/>
                      </a:pPr>
                      <a:endParaRPr lang="en-US" sz="950" b="0" kern="1200" dirty="0">
                        <a:solidFill>
                          <a:schemeClr val="dk1"/>
                        </a:solidFill>
                        <a:latin typeface="+mn-lt"/>
                        <a:ea typeface="+mn-ea"/>
                        <a:cs typeface="+mn-cs"/>
                      </a:endParaRPr>
                    </a:p>
                  </a:txBody>
                  <a:tcPr marL="110642" marR="110642" anchor="ctr">
                    <a:solidFill>
                      <a:schemeClr val="bg1">
                        <a:lumMod val="8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Closed</a:t>
                      </a:r>
                    </a:p>
                  </a:txBody>
                  <a:tcPr marL="110642" marR="110642" anchor="ctr">
                    <a:solidFill>
                      <a:schemeClr val="bg1">
                        <a:lumMod val="85000"/>
                      </a:schemeClr>
                    </a:solidFill>
                  </a:tcPr>
                </a:tc>
                <a:extLst>
                  <a:ext uri="{0D108BD9-81ED-4DB2-BD59-A6C34878D82A}">
                    <a16:rowId xmlns:a16="http://schemas.microsoft.com/office/drawing/2014/main" val="1712833676"/>
                  </a:ext>
                </a:extLst>
              </a:tr>
              <a:tr h="464743">
                <a:tc>
                  <a:txBody>
                    <a:bodyPr/>
                    <a:lstStyle/>
                    <a:p>
                      <a:pPr algn="l" fontAlgn="ctr">
                        <a:buNone/>
                      </a:pPr>
                      <a:r>
                        <a:rPr lang="en-US" sz="1000" b="1" i="0" u="none" strike="noStrike" dirty="0">
                          <a:solidFill>
                            <a:srgbClr val="000000"/>
                          </a:solidFill>
                          <a:effectLst/>
                          <a:latin typeface="Aptos Narrow" panose="020B0004020202020204" pitchFamily="34" charset="0"/>
                        </a:rPr>
                        <a:t>Employment Agreement</a:t>
                      </a: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Vacation</a:t>
                      </a: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b="0" kern="1200" dirty="0">
                          <a:solidFill>
                            <a:schemeClr val="dk1"/>
                          </a:solidFill>
                          <a:latin typeface="+mn-lt"/>
                          <a:ea typeface="+mn-ea"/>
                          <a:cs typeface="+mn-cs"/>
                        </a:rPr>
                        <a:t>NSC proposed 4 weeks of vacation</a:t>
                      </a: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b="0" kern="1200" dirty="0">
                          <a:solidFill>
                            <a:schemeClr val="dk1"/>
                          </a:solidFill>
                          <a:latin typeface="+mn-lt"/>
                          <a:ea typeface="+mn-ea"/>
                          <a:cs typeface="+mn-cs"/>
                        </a:rPr>
                        <a:t>Sellers countered with 10 weeks</a:t>
                      </a: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b="0" kern="1200" dirty="0">
                          <a:solidFill>
                            <a:schemeClr val="dk1"/>
                          </a:solidFill>
                          <a:latin typeface="+mn-lt"/>
                          <a:ea typeface="+mn-ea"/>
                          <a:cs typeface="+mn-cs"/>
                        </a:rPr>
                        <a:t>NSC responded with 6 weeks, sellers proposed 8</a:t>
                      </a: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b="0" kern="1200" dirty="0">
                          <a:solidFill>
                            <a:schemeClr val="dk1"/>
                          </a:solidFill>
                          <a:latin typeface="+mn-lt"/>
                          <a:ea typeface="+mn-ea"/>
                          <a:cs typeface="+mn-cs"/>
                        </a:rPr>
                        <a:t>NSC resolved with unlimited PTO</a:t>
                      </a: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Closed </a:t>
                      </a:r>
                    </a:p>
                  </a:txBody>
                  <a:tcPr marL="110642" marR="110642" anchor="ctr">
                    <a:solidFill>
                      <a:schemeClr val="bg1">
                        <a:lumMod val="95000"/>
                      </a:schemeClr>
                    </a:solidFill>
                  </a:tcPr>
                </a:tc>
                <a:extLst>
                  <a:ext uri="{0D108BD9-81ED-4DB2-BD59-A6C34878D82A}">
                    <a16:rowId xmlns:a16="http://schemas.microsoft.com/office/drawing/2014/main" val="933940670"/>
                  </a:ext>
                </a:extLst>
              </a:tr>
              <a:tr h="592716">
                <a:tc>
                  <a:txBody>
                    <a:bodyPr/>
                    <a:lstStyle/>
                    <a:p>
                      <a:pPr algn="l" fontAlgn="ctr">
                        <a:buNone/>
                      </a:pPr>
                      <a:r>
                        <a:rPr lang="en-US" sz="1000" b="1" i="0" u="none" strike="noStrike" dirty="0">
                          <a:solidFill>
                            <a:srgbClr val="000000"/>
                          </a:solidFill>
                          <a:effectLst/>
                          <a:latin typeface="Aptos Narrow" panose="020B0004020202020204" pitchFamily="34" charset="0"/>
                        </a:rPr>
                        <a:t>Employment Agreement</a:t>
                      </a:r>
                    </a:p>
                  </a:txBody>
                  <a:tcPr marL="110642" marR="110642" anchor="ctr">
                    <a:solidFill>
                      <a:schemeClr val="bg1">
                        <a:lumMod val="8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Non-Compete</a:t>
                      </a:r>
                    </a:p>
                  </a:txBody>
                  <a:tcPr marL="110642" marR="110642" anchor="ctr">
                    <a:solidFill>
                      <a:schemeClr val="bg1">
                        <a:lumMod val="85000"/>
                      </a:schemeClr>
                    </a:solidFill>
                  </a:tcPr>
                </a:tc>
                <a:tc>
                  <a:txBody>
                    <a:bodyPr/>
                    <a:lstStyle/>
                    <a:p>
                      <a:pPr marL="0" algn="l" defTabSz="914400" rtl="0" eaLnBrk="1" fontAlgn="ctr" latinLnBrk="0" hangingPunct="1">
                        <a:buNone/>
                      </a:pPr>
                      <a:r>
                        <a:rPr lang="en-US" sz="950" b="0" kern="1200" dirty="0">
                          <a:solidFill>
                            <a:schemeClr val="dk1"/>
                          </a:solidFill>
                          <a:latin typeface="+mn-lt"/>
                          <a:ea typeface="+mn-ea"/>
                          <a:cs typeface="+mn-cs"/>
                        </a:rPr>
                        <a:t>NSC proposed 2 year non-compete with geographic scope of entire U.S.</a:t>
                      </a:r>
                    </a:p>
                  </a:txBody>
                  <a:tcPr marL="110642" marR="110642" anchor="ctr">
                    <a:solidFill>
                      <a:schemeClr val="bg1">
                        <a:lumMod val="85000"/>
                      </a:schemeClr>
                    </a:solidFill>
                  </a:tcPr>
                </a:tc>
                <a:tc>
                  <a:txBody>
                    <a:bodyPr/>
                    <a:lstStyle/>
                    <a:p>
                      <a:pPr marL="0" algn="l" defTabSz="914400" rtl="0" eaLnBrk="1" fontAlgn="ctr" latinLnBrk="0" hangingPunct="1">
                        <a:buNone/>
                      </a:pPr>
                      <a:r>
                        <a:rPr lang="en-US" sz="950" b="0" kern="1200" dirty="0">
                          <a:solidFill>
                            <a:schemeClr val="dk1"/>
                          </a:solidFill>
                          <a:latin typeface="+mn-lt"/>
                          <a:ea typeface="+mn-ea"/>
                          <a:cs typeface="+mn-cs"/>
                        </a:rPr>
                        <a:t>Sellers countered with 1 year and 20-mile radius</a:t>
                      </a:r>
                    </a:p>
                  </a:txBody>
                  <a:tcPr marL="110642" marR="110642" anchor="ctr">
                    <a:solidFill>
                      <a:schemeClr val="bg1">
                        <a:lumMod val="85000"/>
                      </a:schemeClr>
                    </a:solidFill>
                  </a:tcPr>
                </a:tc>
                <a:tc>
                  <a:txBody>
                    <a:bodyPr/>
                    <a:lstStyle/>
                    <a:p>
                      <a:pPr marL="0" algn="l" defTabSz="914400" rtl="0" eaLnBrk="1" fontAlgn="ctr" latinLnBrk="0" hangingPunct="1">
                        <a:buNone/>
                      </a:pPr>
                      <a:r>
                        <a:rPr lang="en-US" sz="950" b="0" kern="1200" dirty="0">
                          <a:solidFill>
                            <a:schemeClr val="dk1"/>
                          </a:solidFill>
                          <a:latin typeface="+mn-lt"/>
                          <a:ea typeface="+mn-ea"/>
                          <a:cs typeface="+mn-cs"/>
                        </a:rPr>
                        <a:t>NSC responded with 2 years and all states where the Company provides services</a:t>
                      </a:r>
                    </a:p>
                  </a:txBody>
                  <a:tcPr marL="110642" marR="110642" anchor="ctr">
                    <a:solidFill>
                      <a:schemeClr val="bg1">
                        <a:lumMod val="85000"/>
                      </a:schemeClr>
                    </a:solidFill>
                  </a:tcPr>
                </a:tc>
                <a:tc>
                  <a:txBody>
                    <a:bodyPr/>
                    <a:lstStyle/>
                    <a:p>
                      <a:pPr marL="0" algn="l" defTabSz="914400" rtl="0" eaLnBrk="1" fontAlgn="ctr" latinLnBrk="0" hangingPunct="1">
                        <a:buNone/>
                      </a:pPr>
                      <a:r>
                        <a:rPr lang="en-US" sz="950" b="0" kern="1200" dirty="0">
                          <a:solidFill>
                            <a:schemeClr val="dk1"/>
                          </a:solidFill>
                          <a:latin typeface="+mn-lt"/>
                          <a:ea typeface="+mn-ea"/>
                          <a:cs typeface="+mn-cs"/>
                        </a:rPr>
                        <a:t>Sellers agreed to 2 years, and 75-mile radius</a:t>
                      </a:r>
                    </a:p>
                  </a:txBody>
                  <a:tcPr marL="110642" marR="110642" anchor="ctr">
                    <a:solidFill>
                      <a:schemeClr val="bg1">
                        <a:lumMod val="8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Closed</a:t>
                      </a:r>
                    </a:p>
                  </a:txBody>
                  <a:tcPr marL="110642" marR="110642" anchor="ctr">
                    <a:solidFill>
                      <a:schemeClr val="bg1">
                        <a:lumMod val="85000"/>
                      </a:schemeClr>
                    </a:solidFill>
                  </a:tcPr>
                </a:tc>
                <a:extLst>
                  <a:ext uri="{0D108BD9-81ED-4DB2-BD59-A6C34878D82A}">
                    <a16:rowId xmlns:a16="http://schemas.microsoft.com/office/drawing/2014/main" val="2991515285"/>
                  </a:ext>
                </a:extLst>
              </a:tr>
              <a:tr h="464743">
                <a:tc>
                  <a:txBody>
                    <a:bodyPr/>
                    <a:lstStyle/>
                    <a:p>
                      <a:pPr algn="l" fontAlgn="ctr">
                        <a:buNone/>
                      </a:pPr>
                      <a:r>
                        <a:rPr lang="en-US" sz="1000" b="1" i="0" u="none" strike="noStrike" dirty="0">
                          <a:solidFill>
                            <a:srgbClr val="000000"/>
                          </a:solidFill>
                          <a:effectLst/>
                          <a:latin typeface="Aptos Narrow" panose="020B0004020202020204" pitchFamily="34" charset="0"/>
                        </a:rPr>
                        <a:t>Employment Agreement</a:t>
                      </a: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Shift Compensation</a:t>
                      </a: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b="0" kern="1200" dirty="0">
                          <a:solidFill>
                            <a:schemeClr val="dk1"/>
                          </a:solidFill>
                          <a:latin typeface="+mn-lt"/>
                          <a:ea typeface="+mn-ea"/>
                          <a:cs typeface="+mn-cs"/>
                        </a:rPr>
                        <a:t>Sellers proposed payment for shifts performed</a:t>
                      </a: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b="0" kern="1200" dirty="0">
                          <a:solidFill>
                            <a:schemeClr val="dk1"/>
                          </a:solidFill>
                          <a:latin typeface="+mn-lt"/>
                          <a:ea typeface="+mn-ea"/>
                          <a:cs typeface="+mn-cs"/>
                        </a:rPr>
                        <a:t>NSC pushed back with no shift compensation (required to pay min. wage)</a:t>
                      </a:r>
                    </a:p>
                  </a:txBody>
                  <a:tcPr marL="110642" marR="110642" anchor="ctr">
                    <a:solidFill>
                      <a:schemeClr val="bg1">
                        <a:lumMod val="95000"/>
                      </a:schemeClr>
                    </a:solidFill>
                  </a:tcPr>
                </a:tc>
                <a:tc>
                  <a:txBody>
                    <a:bodyPr/>
                    <a:lstStyle/>
                    <a:p>
                      <a:pPr marL="0" algn="l" defTabSz="914400" rtl="0" eaLnBrk="1" fontAlgn="ctr" latinLnBrk="0" hangingPunct="1">
                        <a:buNone/>
                      </a:pPr>
                      <a:endParaRPr lang="en-US" sz="950" b="0" kern="1200" dirty="0">
                        <a:solidFill>
                          <a:schemeClr val="dk1"/>
                        </a:solidFill>
                        <a:latin typeface="+mn-lt"/>
                        <a:ea typeface="+mn-ea"/>
                        <a:cs typeface="+mn-cs"/>
                      </a:endParaRPr>
                    </a:p>
                  </a:txBody>
                  <a:tcPr marL="110642" marR="110642" anchor="ctr">
                    <a:solidFill>
                      <a:schemeClr val="bg1">
                        <a:lumMod val="95000"/>
                      </a:schemeClr>
                    </a:solidFill>
                  </a:tcPr>
                </a:tc>
                <a:tc>
                  <a:txBody>
                    <a:bodyPr/>
                    <a:lstStyle/>
                    <a:p>
                      <a:pPr marL="0" algn="l" defTabSz="914400" rtl="0" eaLnBrk="1" fontAlgn="ctr" latinLnBrk="0" hangingPunct="1">
                        <a:buNone/>
                      </a:pPr>
                      <a:endParaRPr lang="en-US" sz="950" b="0" kern="1200" dirty="0">
                        <a:solidFill>
                          <a:schemeClr val="dk1"/>
                        </a:solidFill>
                        <a:latin typeface="+mn-lt"/>
                        <a:ea typeface="+mn-ea"/>
                        <a:cs typeface="+mn-cs"/>
                      </a:endParaRPr>
                    </a:p>
                  </a:txBody>
                  <a:tcPr marL="110642" marR="110642" anchor="ctr">
                    <a:solidFill>
                      <a:schemeClr val="bg1">
                        <a:lumMod val="9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Closed</a:t>
                      </a:r>
                    </a:p>
                  </a:txBody>
                  <a:tcPr marL="110642" marR="110642" anchor="ctr">
                    <a:solidFill>
                      <a:schemeClr val="bg1">
                        <a:lumMod val="95000"/>
                      </a:schemeClr>
                    </a:solidFill>
                  </a:tcPr>
                </a:tc>
                <a:extLst>
                  <a:ext uri="{0D108BD9-81ED-4DB2-BD59-A6C34878D82A}">
                    <a16:rowId xmlns:a16="http://schemas.microsoft.com/office/drawing/2014/main" val="416991834"/>
                  </a:ext>
                </a:extLst>
              </a:tr>
              <a:tr h="592716">
                <a:tc>
                  <a:txBody>
                    <a:bodyPr/>
                    <a:lstStyle/>
                    <a:p>
                      <a:pPr algn="l" fontAlgn="ctr">
                        <a:buNone/>
                      </a:pPr>
                      <a:r>
                        <a:rPr lang="en-US" sz="1000" b="1" i="0" u="none" strike="noStrike" dirty="0">
                          <a:solidFill>
                            <a:srgbClr val="000000"/>
                          </a:solidFill>
                          <a:effectLst/>
                          <a:latin typeface="Aptos Narrow" panose="020B0004020202020204" pitchFamily="34" charset="0"/>
                        </a:rPr>
                        <a:t>Credit Agreement</a:t>
                      </a:r>
                    </a:p>
                  </a:txBody>
                  <a:tcPr marL="110642" marR="110642" anchor="ctr">
                    <a:solidFill>
                      <a:schemeClr val="bg1">
                        <a:lumMod val="8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Covenants</a:t>
                      </a:r>
                    </a:p>
                  </a:txBody>
                  <a:tcPr marL="110642" marR="110642" anchor="ctr">
                    <a:solidFill>
                      <a:schemeClr val="bg1">
                        <a:lumMod val="85000"/>
                      </a:schemeClr>
                    </a:solidFill>
                  </a:tcPr>
                </a:tc>
                <a:tc>
                  <a:txBody>
                    <a:bodyPr/>
                    <a:lstStyle/>
                    <a:p>
                      <a:pPr marL="0" algn="l" defTabSz="914400" rtl="0" eaLnBrk="1" fontAlgn="ctr" latinLnBrk="0" hangingPunct="1">
                        <a:buNone/>
                      </a:pPr>
                      <a:r>
                        <a:rPr lang="en-US" sz="950" b="0" kern="1200" dirty="0">
                          <a:solidFill>
                            <a:schemeClr val="dk1"/>
                          </a:solidFill>
                          <a:latin typeface="+mn-lt"/>
                          <a:ea typeface="+mn-ea"/>
                          <a:cs typeface="+mn-cs"/>
                        </a:rPr>
                        <a:t>NSC proposed 35%+ cushion (see next page)</a:t>
                      </a:r>
                    </a:p>
                  </a:txBody>
                  <a:tcPr marL="110642" marR="110642" anchor="ctr">
                    <a:solidFill>
                      <a:schemeClr val="bg1">
                        <a:lumMod val="85000"/>
                      </a:schemeClr>
                    </a:solidFill>
                  </a:tcPr>
                </a:tc>
                <a:tc>
                  <a:txBody>
                    <a:bodyPr/>
                    <a:lstStyle/>
                    <a:p>
                      <a:pPr marL="0" algn="l" defTabSz="914400" rtl="0" eaLnBrk="1" fontAlgn="ctr" latinLnBrk="0" hangingPunct="1">
                        <a:buNone/>
                      </a:pPr>
                      <a:r>
                        <a:rPr lang="en-US" sz="950" b="0" kern="1200" dirty="0">
                          <a:solidFill>
                            <a:schemeClr val="dk1"/>
                          </a:solidFill>
                          <a:latin typeface="+mn-lt"/>
                          <a:ea typeface="+mn-ea"/>
                          <a:cs typeface="+mn-cs"/>
                        </a:rPr>
                        <a:t>Lenders agreed with covenants but proposed max leverage at 4.5x vs 5.0x out of the gate</a:t>
                      </a:r>
                    </a:p>
                  </a:txBody>
                  <a:tcPr marL="110642" marR="110642" anchor="ctr">
                    <a:solidFill>
                      <a:schemeClr val="bg1">
                        <a:lumMod val="85000"/>
                      </a:schemeClr>
                    </a:solidFill>
                  </a:tcPr>
                </a:tc>
                <a:tc>
                  <a:txBody>
                    <a:bodyPr/>
                    <a:lstStyle/>
                    <a:p>
                      <a:pPr marL="0" algn="l" defTabSz="914400" rtl="0" eaLnBrk="1" fontAlgn="ctr" latinLnBrk="0" hangingPunct="1">
                        <a:buNone/>
                      </a:pPr>
                      <a:endParaRPr lang="en-US" sz="950" b="0" kern="1200" dirty="0">
                        <a:solidFill>
                          <a:schemeClr val="dk1"/>
                        </a:solidFill>
                        <a:latin typeface="+mn-lt"/>
                        <a:ea typeface="+mn-ea"/>
                        <a:cs typeface="+mn-cs"/>
                      </a:endParaRPr>
                    </a:p>
                  </a:txBody>
                  <a:tcPr marL="110642" marR="110642" anchor="ctr">
                    <a:solidFill>
                      <a:schemeClr val="bg1">
                        <a:lumMod val="85000"/>
                      </a:schemeClr>
                    </a:solidFill>
                  </a:tcPr>
                </a:tc>
                <a:tc>
                  <a:txBody>
                    <a:bodyPr/>
                    <a:lstStyle/>
                    <a:p>
                      <a:pPr marL="0" algn="l" defTabSz="914400" rtl="0" eaLnBrk="1" fontAlgn="ctr" latinLnBrk="0" hangingPunct="1">
                        <a:buNone/>
                      </a:pPr>
                      <a:endParaRPr lang="en-US" sz="950" b="0" kern="1200" dirty="0">
                        <a:solidFill>
                          <a:schemeClr val="dk1"/>
                        </a:solidFill>
                        <a:latin typeface="+mn-lt"/>
                        <a:ea typeface="+mn-ea"/>
                        <a:cs typeface="+mn-cs"/>
                      </a:endParaRPr>
                    </a:p>
                  </a:txBody>
                  <a:tcPr marL="110642" marR="110642" anchor="ctr">
                    <a:solidFill>
                      <a:schemeClr val="bg1">
                        <a:lumMod val="85000"/>
                      </a:schemeClr>
                    </a:solidFill>
                  </a:tcPr>
                </a:tc>
                <a:tc>
                  <a:txBody>
                    <a:bodyPr/>
                    <a:lstStyle/>
                    <a:p>
                      <a:pPr marL="0" algn="l" defTabSz="914400" rtl="0" eaLnBrk="1" fontAlgn="ctr" latinLnBrk="0" hangingPunct="1">
                        <a:buNone/>
                      </a:pPr>
                      <a:r>
                        <a:rPr lang="en-US" sz="950" kern="1200" dirty="0">
                          <a:solidFill>
                            <a:schemeClr val="dk1"/>
                          </a:solidFill>
                          <a:latin typeface="+mn-lt"/>
                          <a:ea typeface="+mn-ea"/>
                          <a:cs typeface="+mn-cs"/>
                        </a:rPr>
                        <a:t>Closed</a:t>
                      </a:r>
                    </a:p>
                  </a:txBody>
                  <a:tcPr marL="110642" marR="110642" anchor="ctr">
                    <a:solidFill>
                      <a:schemeClr val="bg1">
                        <a:lumMod val="85000"/>
                      </a:schemeClr>
                    </a:solidFill>
                  </a:tcPr>
                </a:tc>
                <a:extLst>
                  <a:ext uri="{0D108BD9-81ED-4DB2-BD59-A6C34878D82A}">
                    <a16:rowId xmlns:a16="http://schemas.microsoft.com/office/drawing/2014/main" val="2927036010"/>
                  </a:ext>
                </a:extLst>
              </a:tr>
            </a:tbl>
          </a:graphicData>
        </a:graphic>
      </p:graphicFrame>
    </p:spTree>
    <p:extLst>
      <p:ext uri="{BB962C8B-B14F-4D97-AF65-F5344CB8AC3E}">
        <p14:creationId xmlns:p14="http://schemas.microsoft.com/office/powerpoint/2010/main" val="4189676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4EE2B-3DA4-C2D7-9FC1-03EFEF78B5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E026F3-221F-E3EE-8E9C-2F638DFA2AD7}"/>
              </a:ext>
            </a:extLst>
          </p:cNvPr>
          <p:cNvSpPr>
            <a:spLocks noGrp="1"/>
          </p:cNvSpPr>
          <p:nvPr>
            <p:ph type="title"/>
          </p:nvPr>
        </p:nvSpPr>
        <p:spPr/>
        <p:txBody>
          <a:bodyPr>
            <a:normAutofit/>
          </a:bodyPr>
          <a:lstStyle/>
          <a:p>
            <a:r>
              <a:rPr lang="en-US" dirty="0"/>
              <a:t>Covenant Proposal</a:t>
            </a:r>
          </a:p>
        </p:txBody>
      </p:sp>
      <p:sp>
        <p:nvSpPr>
          <p:cNvPr id="9" name="Slide Number Placeholder 8">
            <a:extLst>
              <a:ext uri="{FF2B5EF4-FFF2-40B4-BE49-F238E27FC236}">
                <a16:creationId xmlns:a16="http://schemas.microsoft.com/office/drawing/2014/main" id="{DF20BADF-FC4E-B170-7244-432E43E6DDCE}"/>
              </a:ext>
            </a:extLst>
          </p:cNvPr>
          <p:cNvSpPr>
            <a:spLocks noGrp="1"/>
          </p:cNvSpPr>
          <p:nvPr>
            <p:ph type="sldNum" sz="quarter" idx="12"/>
          </p:nvPr>
        </p:nvSpPr>
        <p:spPr/>
        <p:txBody>
          <a:bodyPr/>
          <a:lstStyle/>
          <a:p>
            <a:fld id="{F8DDDAE5-3BDD-4D78-843B-A22FA78305BB}" type="slidenum">
              <a:rPr lang="en-US" smtClean="0"/>
              <a:t>49</a:t>
            </a:fld>
            <a:endParaRPr lang="en-US" dirty="0"/>
          </a:p>
        </p:txBody>
      </p:sp>
      <p:pic>
        <p:nvPicPr>
          <p:cNvPr id="5" name="Picture 4">
            <a:extLst>
              <a:ext uri="{FF2B5EF4-FFF2-40B4-BE49-F238E27FC236}">
                <a16:creationId xmlns:a16="http://schemas.microsoft.com/office/drawing/2014/main" id="{EDE43044-CA16-B037-1B70-C62030E613EF}"/>
              </a:ext>
            </a:extLst>
          </p:cNvPr>
          <p:cNvPicPr>
            <a:picLocks noChangeAspect="1"/>
          </p:cNvPicPr>
          <p:nvPr/>
        </p:nvPicPr>
        <p:blipFill>
          <a:blip r:embed="rId2"/>
          <a:stretch>
            <a:fillRect/>
          </a:stretch>
        </p:blipFill>
        <p:spPr>
          <a:xfrm>
            <a:off x="182880" y="1293029"/>
            <a:ext cx="8778240" cy="5214948"/>
          </a:xfrm>
          <a:prstGeom prst="rect">
            <a:avLst/>
          </a:prstGeom>
          <a:ln w="6350">
            <a:solidFill>
              <a:schemeClr val="tx1"/>
            </a:solidFill>
          </a:ln>
        </p:spPr>
      </p:pic>
      <p:sp>
        <p:nvSpPr>
          <p:cNvPr id="6" name="Rectangle: Diagonal Corners Snipped 5">
            <a:extLst>
              <a:ext uri="{FF2B5EF4-FFF2-40B4-BE49-F238E27FC236}">
                <a16:creationId xmlns:a16="http://schemas.microsoft.com/office/drawing/2014/main" id="{E8AE8C4D-1798-B0BD-8CE5-0D11A8741F10}"/>
              </a:ext>
            </a:extLst>
          </p:cNvPr>
          <p:cNvSpPr/>
          <p:nvPr/>
        </p:nvSpPr>
        <p:spPr>
          <a:xfrm>
            <a:off x="182880" y="927422"/>
            <a:ext cx="8778240"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2025 – 2028 Leverage Covenants</a:t>
            </a:r>
            <a:endParaRPr lang="en-US" sz="1400" b="1" baseline="30000" dirty="0">
              <a:solidFill>
                <a:schemeClr val="bg1"/>
              </a:solidFill>
            </a:endParaRPr>
          </a:p>
        </p:txBody>
      </p:sp>
    </p:spTree>
    <p:extLst>
      <p:ext uri="{BB962C8B-B14F-4D97-AF65-F5344CB8AC3E}">
        <p14:creationId xmlns:p14="http://schemas.microsoft.com/office/powerpoint/2010/main" val="10481480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3B185-CA10-9D82-6917-38D647ED70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B8DD48-2890-76F3-D165-DA35017C8B4D}"/>
              </a:ext>
            </a:extLst>
          </p:cNvPr>
          <p:cNvSpPr>
            <a:spLocks noGrp="1"/>
          </p:cNvSpPr>
          <p:nvPr>
            <p:ph type="title"/>
          </p:nvPr>
        </p:nvSpPr>
        <p:spPr/>
        <p:txBody>
          <a:bodyPr>
            <a:normAutofit/>
          </a:bodyPr>
          <a:lstStyle/>
          <a:p>
            <a:r>
              <a:rPr lang="en-US" dirty="0"/>
              <a:t>Growing Anesthesiologist Shortage</a:t>
            </a:r>
          </a:p>
        </p:txBody>
      </p:sp>
      <p:sp>
        <p:nvSpPr>
          <p:cNvPr id="17" name="Rectangle: Diagonal Corners Snipped 16">
            <a:extLst>
              <a:ext uri="{FF2B5EF4-FFF2-40B4-BE49-F238E27FC236}">
                <a16:creationId xmlns:a16="http://schemas.microsoft.com/office/drawing/2014/main" id="{F4660DE2-49BE-E6D6-FB14-7C81FD06F44C}"/>
              </a:ext>
            </a:extLst>
          </p:cNvPr>
          <p:cNvSpPr/>
          <p:nvPr/>
        </p:nvSpPr>
        <p:spPr>
          <a:xfrm>
            <a:off x="176305" y="1260986"/>
            <a:ext cx="4261223"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Projected U.S. MDA Supply/Demand Imbalance</a:t>
            </a:r>
            <a:endParaRPr lang="en-US" sz="1400" b="1" baseline="30000" dirty="0">
              <a:solidFill>
                <a:schemeClr val="bg1"/>
              </a:solidFill>
            </a:endParaRPr>
          </a:p>
        </p:txBody>
      </p:sp>
      <p:sp>
        <p:nvSpPr>
          <p:cNvPr id="21" name="TextBox 20">
            <a:extLst>
              <a:ext uri="{FF2B5EF4-FFF2-40B4-BE49-F238E27FC236}">
                <a16:creationId xmlns:a16="http://schemas.microsoft.com/office/drawing/2014/main" id="{670D7874-B55E-0AD6-C862-FEF2D509628C}"/>
              </a:ext>
            </a:extLst>
          </p:cNvPr>
          <p:cNvSpPr txBox="1"/>
          <p:nvPr/>
        </p:nvSpPr>
        <p:spPr>
          <a:xfrm>
            <a:off x="4706471" y="1622329"/>
            <a:ext cx="4261223" cy="2144177"/>
          </a:xfrm>
          <a:prstGeom prst="rect">
            <a:avLst/>
          </a:prstGeom>
          <a:noFill/>
        </p:spPr>
        <p:txBody>
          <a:bodyPr wrap="square" rtlCol="0">
            <a:spAutoFit/>
          </a:bodyPr>
          <a:lstStyle/>
          <a:p>
            <a:pPr marL="171450" indent="-171450" algn="just">
              <a:spcBef>
                <a:spcPts val="200"/>
              </a:spcBef>
              <a:spcAft>
                <a:spcPts val="200"/>
              </a:spcAft>
              <a:buFont typeface="Arial" panose="020B0604020202020204" pitchFamily="34" charset="0"/>
              <a:buChar char="•"/>
            </a:pPr>
            <a:r>
              <a:rPr lang="en-US" sz="1000" dirty="0"/>
              <a:t>The U.S. Anesthesia market is forecasted to reach a </a:t>
            </a:r>
            <a:r>
              <a:rPr lang="en-US" sz="1000" b="1" dirty="0"/>
              <a:t>shortage of ~6,300 anesthesiologists by 2036</a:t>
            </a:r>
            <a:r>
              <a:rPr lang="en-US" sz="1000" dirty="0"/>
              <a:t>, primarily driven by:</a:t>
            </a:r>
          </a:p>
          <a:p>
            <a:pPr marL="628650" lvl="1" indent="-171450" algn="just">
              <a:spcBef>
                <a:spcPts val="200"/>
              </a:spcBef>
              <a:spcAft>
                <a:spcPts val="200"/>
              </a:spcAft>
              <a:buFont typeface="Arial" panose="020B0604020202020204" pitchFamily="34" charset="0"/>
              <a:buChar char="•"/>
            </a:pPr>
            <a:r>
              <a:rPr lang="en-US" sz="1000" b="1" dirty="0"/>
              <a:t>Surgical Demand: </a:t>
            </a:r>
            <a:r>
              <a:rPr lang="en-US" sz="1000" dirty="0"/>
              <a:t>surgical services are expected to continue growing at 2-3% p.a. over the next decade</a:t>
            </a:r>
          </a:p>
          <a:p>
            <a:pPr marL="628650" lvl="1" indent="-171450" algn="just">
              <a:spcBef>
                <a:spcPts val="200"/>
              </a:spcBef>
              <a:spcAft>
                <a:spcPts val="200"/>
              </a:spcAft>
              <a:buFont typeface="Arial" panose="020B0604020202020204" pitchFamily="34" charset="0"/>
              <a:buChar char="•"/>
            </a:pPr>
            <a:r>
              <a:rPr lang="en-US" sz="1000" b="1" dirty="0"/>
              <a:t>Provider Burnout: </a:t>
            </a:r>
            <a:r>
              <a:rPr lang="en-US" sz="1000" dirty="0"/>
              <a:t>nearly half of anesthesiologists report burnout, with 61% open to reducing pay for improved work-life balance</a:t>
            </a:r>
          </a:p>
          <a:p>
            <a:pPr marL="628650" lvl="1" indent="-171450" algn="just">
              <a:spcBef>
                <a:spcPts val="200"/>
              </a:spcBef>
              <a:spcAft>
                <a:spcPts val="200"/>
              </a:spcAft>
              <a:buFont typeface="Arial" panose="020B0604020202020204" pitchFamily="34" charset="0"/>
              <a:buChar char="•"/>
            </a:pPr>
            <a:r>
              <a:rPr lang="en-US" sz="1000" b="1" dirty="0"/>
              <a:t>Top-of-Funnel Limitations: </a:t>
            </a:r>
            <a:r>
              <a:rPr lang="en-US" sz="1000" dirty="0"/>
              <a:t>In 2024, only 1,695 positions were available for anesthesia residency</a:t>
            </a:r>
            <a:endParaRPr lang="en-US" sz="1000" b="1" dirty="0"/>
          </a:p>
          <a:p>
            <a:pPr marL="628650" lvl="1" indent="-171450" algn="just">
              <a:spcBef>
                <a:spcPts val="200"/>
              </a:spcBef>
              <a:spcAft>
                <a:spcPts val="200"/>
              </a:spcAft>
              <a:buFont typeface="Arial" panose="020B0604020202020204" pitchFamily="34" charset="0"/>
              <a:buChar char="•"/>
            </a:pPr>
            <a:r>
              <a:rPr lang="en-US" sz="1000" b="1" dirty="0"/>
              <a:t>Aging Workforce: </a:t>
            </a:r>
            <a:r>
              <a:rPr lang="en-US" sz="1000" dirty="0"/>
              <a:t>38% of anesthesiologists are 55 or older, and the cohort of 65+ providers is projected to grow 30% by 2035</a:t>
            </a:r>
            <a:endParaRPr lang="en-US" sz="1000" b="1" dirty="0"/>
          </a:p>
        </p:txBody>
      </p:sp>
      <p:sp>
        <p:nvSpPr>
          <p:cNvPr id="24" name="Rectangle: Diagonal Corners Snipped 23">
            <a:extLst>
              <a:ext uri="{FF2B5EF4-FFF2-40B4-BE49-F238E27FC236}">
                <a16:creationId xmlns:a16="http://schemas.microsoft.com/office/drawing/2014/main" id="{E7E1CFD0-F6A2-8ABD-E36A-CC901D8185E7}"/>
              </a:ext>
            </a:extLst>
          </p:cNvPr>
          <p:cNvSpPr/>
          <p:nvPr/>
        </p:nvSpPr>
        <p:spPr>
          <a:xfrm>
            <a:off x="176305" y="3771820"/>
            <a:ext cx="4261223"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2025 State-Level Staffing Shortage</a:t>
            </a:r>
            <a:endParaRPr lang="en-US" sz="1400" b="1" baseline="30000" dirty="0">
              <a:solidFill>
                <a:schemeClr val="bg1"/>
              </a:solidFill>
            </a:endParaRPr>
          </a:p>
        </p:txBody>
      </p:sp>
      <p:sp>
        <p:nvSpPr>
          <p:cNvPr id="26" name="Rectangle: Diagonal Corners Snipped 25">
            <a:extLst>
              <a:ext uri="{FF2B5EF4-FFF2-40B4-BE49-F238E27FC236}">
                <a16:creationId xmlns:a16="http://schemas.microsoft.com/office/drawing/2014/main" id="{3ABC6324-ED1B-C526-2007-E2FDF7B08FEB}"/>
              </a:ext>
            </a:extLst>
          </p:cNvPr>
          <p:cNvSpPr/>
          <p:nvPr/>
        </p:nvSpPr>
        <p:spPr>
          <a:xfrm>
            <a:off x="4706472" y="1260986"/>
            <a:ext cx="4261223"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Market Drivers</a:t>
            </a:r>
            <a:endParaRPr lang="en-US" sz="1400" b="1" baseline="30000" dirty="0">
              <a:solidFill>
                <a:schemeClr val="bg1"/>
              </a:solidFill>
            </a:endParaRPr>
          </a:p>
        </p:txBody>
      </p:sp>
      <p:sp>
        <p:nvSpPr>
          <p:cNvPr id="27" name="Rectangle: Diagonal Corners Snipped 26">
            <a:extLst>
              <a:ext uri="{FF2B5EF4-FFF2-40B4-BE49-F238E27FC236}">
                <a16:creationId xmlns:a16="http://schemas.microsoft.com/office/drawing/2014/main" id="{1D201FB5-0ED2-AB19-1EA8-1981620949D4}"/>
              </a:ext>
            </a:extLst>
          </p:cNvPr>
          <p:cNvSpPr/>
          <p:nvPr/>
        </p:nvSpPr>
        <p:spPr>
          <a:xfrm>
            <a:off x="4706472" y="3771820"/>
            <a:ext cx="4261223"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Market Drivers</a:t>
            </a:r>
            <a:endParaRPr lang="en-US" sz="1400" b="1" baseline="30000" dirty="0">
              <a:solidFill>
                <a:schemeClr val="bg1"/>
              </a:solidFill>
            </a:endParaRPr>
          </a:p>
        </p:txBody>
      </p:sp>
      <p:sp>
        <p:nvSpPr>
          <p:cNvPr id="9" name="TextBox 8">
            <a:extLst>
              <a:ext uri="{FF2B5EF4-FFF2-40B4-BE49-F238E27FC236}">
                <a16:creationId xmlns:a16="http://schemas.microsoft.com/office/drawing/2014/main" id="{999A1EC3-7906-92A1-CD76-CC4C09ADA49D}"/>
              </a:ext>
            </a:extLst>
          </p:cNvPr>
          <p:cNvSpPr txBox="1"/>
          <p:nvPr/>
        </p:nvSpPr>
        <p:spPr>
          <a:xfrm>
            <a:off x="4706470" y="4123662"/>
            <a:ext cx="4261223" cy="1785104"/>
          </a:xfrm>
          <a:prstGeom prst="rect">
            <a:avLst/>
          </a:prstGeom>
          <a:noFill/>
        </p:spPr>
        <p:txBody>
          <a:bodyPr wrap="square" rtlCol="0">
            <a:spAutoFit/>
          </a:bodyPr>
          <a:lstStyle/>
          <a:p>
            <a:pPr marL="171450" indent="-171450" algn="just">
              <a:spcBef>
                <a:spcPts val="200"/>
              </a:spcBef>
              <a:spcAft>
                <a:spcPts val="200"/>
              </a:spcAft>
              <a:buFont typeface="Arial" panose="020B0604020202020204" pitchFamily="34" charset="0"/>
              <a:buChar char="•"/>
            </a:pPr>
            <a:r>
              <a:rPr lang="en-US" sz="1000" dirty="0"/>
              <a:t>There is a shortage of ~3,000 anesthesiologists nationwide, with Texas, Florida, North Carolina, and Georgia exhibiting the largest supply shortage</a:t>
            </a:r>
          </a:p>
          <a:p>
            <a:pPr marL="171450" indent="-171450" algn="just">
              <a:spcBef>
                <a:spcPts val="200"/>
              </a:spcBef>
              <a:spcAft>
                <a:spcPts val="200"/>
              </a:spcAft>
              <a:buFont typeface="Arial" panose="020B0604020202020204" pitchFamily="34" charset="0"/>
              <a:buChar char="•"/>
            </a:pPr>
            <a:r>
              <a:rPr lang="en-US" sz="1000" dirty="0"/>
              <a:t>Physician staffing demand relative to need is appropriately aligned in Indiana and Michigan, with Ohio and Illinois showing a slight oversupply </a:t>
            </a:r>
          </a:p>
          <a:p>
            <a:pPr marL="171450" indent="-171450" algn="just">
              <a:spcBef>
                <a:spcPts val="200"/>
              </a:spcBef>
              <a:spcAft>
                <a:spcPts val="200"/>
              </a:spcAft>
              <a:buFont typeface="Arial" panose="020B0604020202020204" pitchFamily="34" charset="0"/>
              <a:buChar char="•"/>
            </a:pPr>
            <a:r>
              <a:rPr lang="en-US" sz="1000" dirty="0"/>
              <a:t>Within Midwest states, Minnesota has growing physician supply shortages relative to need</a:t>
            </a:r>
          </a:p>
          <a:p>
            <a:pPr marL="171450" indent="-171450" algn="just">
              <a:spcBef>
                <a:spcPts val="200"/>
              </a:spcBef>
              <a:spcAft>
                <a:spcPts val="200"/>
              </a:spcAft>
              <a:buFont typeface="Arial" panose="020B0604020202020204" pitchFamily="34" charset="0"/>
              <a:buChar char="•"/>
            </a:pPr>
            <a:r>
              <a:rPr lang="en-US" sz="1000" dirty="0"/>
              <a:t>The Southeast region has growing demand needs. Aligned with a potential AAS playbook to enter new markets, the Southeast may be suitable given growing imbalance</a:t>
            </a:r>
          </a:p>
        </p:txBody>
      </p:sp>
      <p:sp>
        <p:nvSpPr>
          <p:cNvPr id="4" name="Slide Number Placeholder 3">
            <a:extLst>
              <a:ext uri="{FF2B5EF4-FFF2-40B4-BE49-F238E27FC236}">
                <a16:creationId xmlns:a16="http://schemas.microsoft.com/office/drawing/2014/main" id="{708BA1B4-7BF9-E440-5FF5-F5A3E9CFAEFB}"/>
              </a:ext>
            </a:extLst>
          </p:cNvPr>
          <p:cNvSpPr>
            <a:spLocks noGrp="1"/>
          </p:cNvSpPr>
          <p:nvPr>
            <p:ph type="sldNum" sz="quarter" idx="12"/>
          </p:nvPr>
        </p:nvSpPr>
        <p:spPr/>
        <p:txBody>
          <a:bodyPr/>
          <a:lstStyle/>
          <a:p>
            <a:fld id="{F8DDDAE5-3BDD-4D78-843B-A22FA78305BB}" type="slidenum">
              <a:rPr lang="en-US" smtClean="0"/>
              <a:t>50</a:t>
            </a:fld>
            <a:endParaRPr lang="en-US" dirty="0"/>
          </a:p>
        </p:txBody>
      </p:sp>
      <p:pic>
        <p:nvPicPr>
          <p:cNvPr id="14" name="Picture 13">
            <a:extLst>
              <a:ext uri="{FF2B5EF4-FFF2-40B4-BE49-F238E27FC236}">
                <a16:creationId xmlns:a16="http://schemas.microsoft.com/office/drawing/2014/main" id="{41ABE09B-A398-BB53-7F51-3A7F0BFD35E8}"/>
              </a:ext>
            </a:extLst>
          </p:cNvPr>
          <p:cNvPicPr>
            <a:picLocks noChangeAspect="1"/>
          </p:cNvPicPr>
          <p:nvPr/>
        </p:nvPicPr>
        <p:blipFill>
          <a:blip r:embed="rId2"/>
          <a:stretch>
            <a:fillRect/>
          </a:stretch>
        </p:blipFill>
        <p:spPr>
          <a:xfrm>
            <a:off x="323708" y="1712859"/>
            <a:ext cx="3966417" cy="1887945"/>
          </a:xfrm>
          <a:prstGeom prst="rect">
            <a:avLst/>
          </a:prstGeom>
        </p:spPr>
      </p:pic>
      <p:pic>
        <p:nvPicPr>
          <p:cNvPr id="16" name="Picture 15">
            <a:extLst>
              <a:ext uri="{FF2B5EF4-FFF2-40B4-BE49-F238E27FC236}">
                <a16:creationId xmlns:a16="http://schemas.microsoft.com/office/drawing/2014/main" id="{E65896A6-BF1D-0056-B81C-F100F61EFEE9}"/>
              </a:ext>
            </a:extLst>
          </p:cNvPr>
          <p:cNvPicPr>
            <a:picLocks noChangeAspect="1"/>
          </p:cNvPicPr>
          <p:nvPr/>
        </p:nvPicPr>
        <p:blipFill>
          <a:blip r:embed="rId3"/>
          <a:stretch>
            <a:fillRect/>
          </a:stretch>
        </p:blipFill>
        <p:spPr>
          <a:xfrm>
            <a:off x="367942" y="4177989"/>
            <a:ext cx="3877949" cy="2622497"/>
          </a:xfrm>
          <a:prstGeom prst="rect">
            <a:avLst/>
          </a:prstGeom>
        </p:spPr>
      </p:pic>
      <p:sp>
        <p:nvSpPr>
          <p:cNvPr id="6" name="TextBox 5">
            <a:extLst>
              <a:ext uri="{FF2B5EF4-FFF2-40B4-BE49-F238E27FC236}">
                <a16:creationId xmlns:a16="http://schemas.microsoft.com/office/drawing/2014/main" id="{D1D97232-6A95-A4D3-8E3D-F9FAA6600A98}"/>
              </a:ext>
            </a:extLst>
          </p:cNvPr>
          <p:cNvSpPr txBox="1"/>
          <p:nvPr/>
        </p:nvSpPr>
        <p:spPr>
          <a:xfrm>
            <a:off x="873" y="6586525"/>
            <a:ext cx="2468880" cy="215444"/>
          </a:xfrm>
          <a:prstGeom prst="rect">
            <a:avLst/>
          </a:prstGeom>
          <a:solidFill>
            <a:schemeClr val="bg1"/>
          </a:solidFill>
        </p:spPr>
        <p:txBody>
          <a:bodyPr wrap="square" rtlCol="0">
            <a:spAutoFit/>
          </a:bodyPr>
          <a:lstStyle/>
          <a:p>
            <a:r>
              <a:rPr lang="en-US" sz="800" dirty="0"/>
              <a:t>Sources: Chartis Market Study</a:t>
            </a:r>
          </a:p>
        </p:txBody>
      </p:sp>
      <p:sp>
        <p:nvSpPr>
          <p:cNvPr id="7" name="TextBox 6">
            <a:extLst>
              <a:ext uri="{FF2B5EF4-FFF2-40B4-BE49-F238E27FC236}">
                <a16:creationId xmlns:a16="http://schemas.microsoft.com/office/drawing/2014/main" id="{DD355ECB-3755-1417-65D5-35517FF3025B}"/>
              </a:ext>
            </a:extLst>
          </p:cNvPr>
          <p:cNvSpPr txBox="1"/>
          <p:nvPr/>
        </p:nvSpPr>
        <p:spPr>
          <a:xfrm>
            <a:off x="228600" y="936524"/>
            <a:ext cx="8686800" cy="276999"/>
          </a:xfrm>
          <a:prstGeom prst="rect">
            <a:avLst/>
          </a:prstGeom>
          <a:noFill/>
        </p:spPr>
        <p:txBody>
          <a:bodyPr wrap="square" rtlCol="0">
            <a:spAutoFit/>
          </a:bodyPr>
          <a:lstStyle/>
          <a:p>
            <a:pPr>
              <a:spcBef>
                <a:spcPts val="300"/>
              </a:spcBef>
              <a:spcAft>
                <a:spcPts val="300"/>
              </a:spcAft>
            </a:pPr>
            <a:r>
              <a:rPr lang="en-US" sz="1200" dirty="0"/>
              <a:t>AAS is well-positioned to maintain / take share of MDA supply given exceptional culture and above market (~60-65 percentile) pay</a:t>
            </a:r>
          </a:p>
        </p:txBody>
      </p:sp>
    </p:spTree>
    <p:extLst>
      <p:ext uri="{BB962C8B-B14F-4D97-AF65-F5344CB8AC3E}">
        <p14:creationId xmlns:p14="http://schemas.microsoft.com/office/powerpoint/2010/main" val="3131750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B71E8-8C1F-9831-C5C4-3B01FCBB9E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3EB131-5640-F8F7-4C3F-75B0834D6CDA}"/>
              </a:ext>
            </a:extLst>
          </p:cNvPr>
          <p:cNvSpPr>
            <a:spLocks noGrp="1"/>
          </p:cNvSpPr>
          <p:nvPr>
            <p:ph type="title"/>
          </p:nvPr>
        </p:nvSpPr>
        <p:spPr/>
        <p:txBody>
          <a:bodyPr>
            <a:normAutofit/>
          </a:bodyPr>
          <a:lstStyle/>
          <a:p>
            <a:r>
              <a:rPr lang="en-US" dirty="0"/>
              <a:t>ASC Expansion in Existing States</a:t>
            </a:r>
          </a:p>
        </p:txBody>
      </p:sp>
      <p:sp>
        <p:nvSpPr>
          <p:cNvPr id="17" name="Rectangle: Diagonal Corners Snipped 16">
            <a:extLst>
              <a:ext uri="{FF2B5EF4-FFF2-40B4-BE49-F238E27FC236}">
                <a16:creationId xmlns:a16="http://schemas.microsoft.com/office/drawing/2014/main" id="{910E54D8-4353-8510-6636-29AF986B14B3}"/>
              </a:ext>
            </a:extLst>
          </p:cNvPr>
          <p:cNvSpPr/>
          <p:nvPr/>
        </p:nvSpPr>
        <p:spPr>
          <a:xfrm>
            <a:off x="176305" y="927422"/>
            <a:ext cx="4261223"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Indiana ASC Landscape</a:t>
            </a:r>
            <a:endParaRPr lang="en-US" sz="1400" b="1" baseline="30000" dirty="0">
              <a:solidFill>
                <a:schemeClr val="bg1"/>
              </a:solidFill>
            </a:endParaRPr>
          </a:p>
        </p:txBody>
      </p:sp>
      <p:sp>
        <p:nvSpPr>
          <p:cNvPr id="21" name="TextBox 20">
            <a:extLst>
              <a:ext uri="{FF2B5EF4-FFF2-40B4-BE49-F238E27FC236}">
                <a16:creationId xmlns:a16="http://schemas.microsoft.com/office/drawing/2014/main" id="{B0D95804-32DA-7DE0-F1CB-8E52EBF10504}"/>
              </a:ext>
            </a:extLst>
          </p:cNvPr>
          <p:cNvSpPr txBox="1"/>
          <p:nvPr/>
        </p:nvSpPr>
        <p:spPr>
          <a:xfrm>
            <a:off x="176305" y="5590694"/>
            <a:ext cx="4261223" cy="964367"/>
          </a:xfrm>
          <a:prstGeom prst="rect">
            <a:avLst/>
          </a:prstGeom>
          <a:noFill/>
        </p:spPr>
        <p:txBody>
          <a:bodyPr wrap="square" rtlCol="0">
            <a:spAutoFit/>
          </a:bodyPr>
          <a:lstStyle/>
          <a:p>
            <a:pPr marL="171450" indent="-171450" algn="just">
              <a:spcBef>
                <a:spcPts val="400"/>
              </a:spcBef>
              <a:spcAft>
                <a:spcPts val="400"/>
              </a:spcAft>
              <a:buFont typeface="Arial" panose="020B0604020202020204" pitchFamily="34" charset="0"/>
              <a:buChar char="•"/>
            </a:pPr>
            <a:r>
              <a:rPr lang="en-US" sz="1000" dirty="0"/>
              <a:t>AAS already has a foothold in Indianapolis and Fort Wayne – adding density would enhance staffing efficiency</a:t>
            </a:r>
          </a:p>
          <a:p>
            <a:pPr marL="171450" indent="-171450" algn="just">
              <a:spcBef>
                <a:spcPts val="400"/>
              </a:spcBef>
              <a:spcAft>
                <a:spcPts val="400"/>
              </a:spcAft>
              <a:buFont typeface="Arial" panose="020B0604020202020204" pitchFamily="34" charset="0"/>
              <a:buChar char="•"/>
            </a:pPr>
            <a:r>
              <a:rPr lang="en-US" sz="1000" dirty="0"/>
              <a:t>USPI is a dominant player making system-wide partnership a potential if AAS can land and expand, however the market remains fragmented with 124 ASCs without a management company</a:t>
            </a:r>
          </a:p>
        </p:txBody>
      </p:sp>
      <p:sp>
        <p:nvSpPr>
          <p:cNvPr id="26" name="Rectangle: Diagonal Corners Snipped 25">
            <a:extLst>
              <a:ext uri="{FF2B5EF4-FFF2-40B4-BE49-F238E27FC236}">
                <a16:creationId xmlns:a16="http://schemas.microsoft.com/office/drawing/2014/main" id="{AA0E960B-53D4-CF33-0441-D8B11AF29747}"/>
              </a:ext>
            </a:extLst>
          </p:cNvPr>
          <p:cNvSpPr/>
          <p:nvPr/>
        </p:nvSpPr>
        <p:spPr>
          <a:xfrm>
            <a:off x="4706472" y="927422"/>
            <a:ext cx="4261223"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Michigan ASC Landscape</a:t>
            </a:r>
            <a:endParaRPr lang="en-US" sz="1400" b="1" baseline="30000" dirty="0">
              <a:solidFill>
                <a:schemeClr val="bg1"/>
              </a:solidFill>
            </a:endParaRPr>
          </a:p>
        </p:txBody>
      </p:sp>
      <p:sp>
        <p:nvSpPr>
          <p:cNvPr id="4" name="Slide Number Placeholder 3">
            <a:extLst>
              <a:ext uri="{FF2B5EF4-FFF2-40B4-BE49-F238E27FC236}">
                <a16:creationId xmlns:a16="http://schemas.microsoft.com/office/drawing/2014/main" id="{4D17F705-A750-284A-8AAF-4AF4EA84A334}"/>
              </a:ext>
            </a:extLst>
          </p:cNvPr>
          <p:cNvSpPr>
            <a:spLocks noGrp="1"/>
          </p:cNvSpPr>
          <p:nvPr>
            <p:ph type="sldNum" sz="quarter" idx="12"/>
          </p:nvPr>
        </p:nvSpPr>
        <p:spPr/>
        <p:txBody>
          <a:bodyPr/>
          <a:lstStyle/>
          <a:p>
            <a:fld id="{F8DDDAE5-3BDD-4D78-843B-A22FA78305BB}" type="slidenum">
              <a:rPr lang="en-US" smtClean="0"/>
              <a:t>51</a:t>
            </a:fld>
            <a:endParaRPr lang="en-US" dirty="0"/>
          </a:p>
        </p:txBody>
      </p:sp>
      <p:pic>
        <p:nvPicPr>
          <p:cNvPr id="5" name="Picture 4">
            <a:extLst>
              <a:ext uri="{FF2B5EF4-FFF2-40B4-BE49-F238E27FC236}">
                <a16:creationId xmlns:a16="http://schemas.microsoft.com/office/drawing/2014/main" id="{DAD97F70-2FA2-2FC7-3EE3-A36033629C52}"/>
              </a:ext>
            </a:extLst>
          </p:cNvPr>
          <p:cNvPicPr>
            <a:picLocks noChangeAspect="1"/>
          </p:cNvPicPr>
          <p:nvPr/>
        </p:nvPicPr>
        <p:blipFill>
          <a:blip r:embed="rId2"/>
          <a:stretch>
            <a:fillRect/>
          </a:stretch>
        </p:blipFill>
        <p:spPr>
          <a:xfrm>
            <a:off x="176305" y="1339440"/>
            <a:ext cx="1515440" cy="2746456"/>
          </a:xfrm>
          <a:prstGeom prst="rect">
            <a:avLst/>
          </a:prstGeom>
          <a:ln w="6350">
            <a:solidFill>
              <a:schemeClr val="tx1"/>
            </a:solidFill>
          </a:ln>
        </p:spPr>
      </p:pic>
      <p:pic>
        <p:nvPicPr>
          <p:cNvPr id="8" name="Picture 7">
            <a:extLst>
              <a:ext uri="{FF2B5EF4-FFF2-40B4-BE49-F238E27FC236}">
                <a16:creationId xmlns:a16="http://schemas.microsoft.com/office/drawing/2014/main" id="{234B5345-CD91-FC16-E12A-CE8AC39F022D}"/>
              </a:ext>
            </a:extLst>
          </p:cNvPr>
          <p:cNvPicPr>
            <a:picLocks noChangeAspect="1"/>
          </p:cNvPicPr>
          <p:nvPr/>
        </p:nvPicPr>
        <p:blipFill>
          <a:blip r:embed="rId3"/>
          <a:stretch>
            <a:fillRect/>
          </a:stretch>
        </p:blipFill>
        <p:spPr>
          <a:xfrm>
            <a:off x="1773361" y="1339439"/>
            <a:ext cx="2664168" cy="2453627"/>
          </a:xfrm>
          <a:prstGeom prst="rect">
            <a:avLst/>
          </a:prstGeom>
          <a:ln w="6350">
            <a:solidFill>
              <a:schemeClr val="tx1"/>
            </a:solidFill>
          </a:ln>
        </p:spPr>
      </p:pic>
      <p:cxnSp>
        <p:nvCxnSpPr>
          <p:cNvPr id="12" name="Connector: Elbow 11">
            <a:extLst>
              <a:ext uri="{FF2B5EF4-FFF2-40B4-BE49-F238E27FC236}">
                <a16:creationId xmlns:a16="http://schemas.microsoft.com/office/drawing/2014/main" id="{0BF8C989-BF3D-D2D4-24FC-9C2417A1969D}"/>
              </a:ext>
            </a:extLst>
          </p:cNvPr>
          <p:cNvCxnSpPr>
            <a:cxnSpLocks/>
            <a:endCxn id="8" idx="2"/>
          </p:cNvCxnSpPr>
          <p:nvPr/>
        </p:nvCxnSpPr>
        <p:spPr>
          <a:xfrm flipV="1">
            <a:off x="1691745" y="3793066"/>
            <a:ext cx="1413700" cy="671489"/>
          </a:xfrm>
          <a:prstGeom prst="bentConnector2">
            <a:avLst/>
          </a:prstGeom>
          <a:ln>
            <a:solidFill>
              <a:srgbClr val="008AEF"/>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2096DDBE-FA45-0A04-2A7D-5D59E963EE3C}"/>
              </a:ext>
            </a:extLst>
          </p:cNvPr>
          <p:cNvSpPr txBox="1"/>
          <p:nvPr/>
        </p:nvSpPr>
        <p:spPr>
          <a:xfrm>
            <a:off x="2284002" y="4125389"/>
            <a:ext cx="1642887" cy="661154"/>
          </a:xfrm>
          <a:prstGeom prst="snip2DiagRect">
            <a:avLst/>
          </a:prstGeom>
          <a:solidFill>
            <a:srgbClr val="143F6A"/>
          </a:solidFill>
        </p:spPr>
        <p:txBody>
          <a:bodyPr wrap="square" rtlCol="0" anchor="ctr">
            <a:spAutoFit/>
          </a:bodyPr>
          <a:lstStyle/>
          <a:p>
            <a:pPr algn="ctr">
              <a:spcBef>
                <a:spcPts val="200"/>
              </a:spcBef>
              <a:spcAft>
                <a:spcPts val="200"/>
              </a:spcAft>
            </a:pPr>
            <a:r>
              <a:rPr lang="en-US" sz="1000" b="1" dirty="0">
                <a:solidFill>
                  <a:schemeClr val="bg1"/>
                </a:solidFill>
              </a:rPr>
              <a:t>USPI Represents an Attractive Partnership Opportunity for AAS</a:t>
            </a:r>
          </a:p>
        </p:txBody>
      </p:sp>
      <p:cxnSp>
        <p:nvCxnSpPr>
          <p:cNvPr id="22" name="Straight Connector 21">
            <a:extLst>
              <a:ext uri="{FF2B5EF4-FFF2-40B4-BE49-F238E27FC236}">
                <a16:creationId xmlns:a16="http://schemas.microsoft.com/office/drawing/2014/main" id="{63BE0DAE-D826-5C15-2C4C-273FCC861BF3}"/>
              </a:ext>
            </a:extLst>
          </p:cNvPr>
          <p:cNvCxnSpPr>
            <a:cxnSpLocks/>
          </p:cNvCxnSpPr>
          <p:nvPr/>
        </p:nvCxnSpPr>
        <p:spPr>
          <a:xfrm>
            <a:off x="4572000" y="927422"/>
            <a:ext cx="0" cy="5790249"/>
          </a:xfrm>
          <a:prstGeom prst="line">
            <a:avLst/>
          </a:prstGeom>
          <a:ln>
            <a:solidFill>
              <a:srgbClr val="143F6A"/>
            </a:solidFill>
            <a:prstDash val="dash"/>
          </a:ln>
        </p:spPr>
        <p:style>
          <a:lnRef idx="2">
            <a:schemeClr val="accent1"/>
          </a:lnRef>
          <a:fillRef idx="0">
            <a:schemeClr val="accent1"/>
          </a:fillRef>
          <a:effectRef idx="1">
            <a:schemeClr val="accent1"/>
          </a:effectRef>
          <a:fontRef idx="minor">
            <a:schemeClr val="tx1"/>
          </a:fontRef>
        </p:style>
      </p:cxnSp>
      <p:pic>
        <p:nvPicPr>
          <p:cNvPr id="30" name="Picture 29">
            <a:extLst>
              <a:ext uri="{FF2B5EF4-FFF2-40B4-BE49-F238E27FC236}">
                <a16:creationId xmlns:a16="http://schemas.microsoft.com/office/drawing/2014/main" id="{C993144E-0E99-3769-CF97-5B364C7B8AB5}"/>
              </a:ext>
            </a:extLst>
          </p:cNvPr>
          <p:cNvPicPr>
            <a:picLocks noChangeAspect="1"/>
          </p:cNvPicPr>
          <p:nvPr/>
        </p:nvPicPr>
        <p:blipFill>
          <a:blip r:embed="rId4"/>
          <a:stretch>
            <a:fillRect/>
          </a:stretch>
        </p:blipFill>
        <p:spPr>
          <a:xfrm>
            <a:off x="4706472" y="1339440"/>
            <a:ext cx="2462183" cy="2746456"/>
          </a:xfrm>
          <a:prstGeom prst="rect">
            <a:avLst/>
          </a:prstGeom>
          <a:ln w="6350">
            <a:solidFill>
              <a:schemeClr val="tx1"/>
            </a:solidFill>
          </a:ln>
        </p:spPr>
      </p:pic>
      <p:pic>
        <p:nvPicPr>
          <p:cNvPr id="31" name="Picture 30">
            <a:extLst>
              <a:ext uri="{FF2B5EF4-FFF2-40B4-BE49-F238E27FC236}">
                <a16:creationId xmlns:a16="http://schemas.microsoft.com/office/drawing/2014/main" id="{CDDAFA0C-9CFE-913D-4D68-56C7267E5D82}"/>
              </a:ext>
            </a:extLst>
          </p:cNvPr>
          <p:cNvPicPr>
            <a:picLocks noChangeAspect="1"/>
          </p:cNvPicPr>
          <p:nvPr/>
        </p:nvPicPr>
        <p:blipFill>
          <a:blip r:embed="rId5"/>
          <a:stretch>
            <a:fillRect/>
          </a:stretch>
        </p:blipFill>
        <p:spPr>
          <a:xfrm>
            <a:off x="176305" y="4144044"/>
            <a:ext cx="1517904" cy="874313"/>
          </a:xfrm>
          <a:prstGeom prst="rect">
            <a:avLst/>
          </a:prstGeom>
          <a:ln w="6350">
            <a:solidFill>
              <a:schemeClr val="tx1"/>
            </a:solidFill>
          </a:ln>
        </p:spPr>
      </p:pic>
      <p:pic>
        <p:nvPicPr>
          <p:cNvPr id="34" name="Picture 33">
            <a:extLst>
              <a:ext uri="{FF2B5EF4-FFF2-40B4-BE49-F238E27FC236}">
                <a16:creationId xmlns:a16="http://schemas.microsoft.com/office/drawing/2014/main" id="{E6D6BD12-8651-F63B-03C1-1ADF44047D24}"/>
              </a:ext>
            </a:extLst>
          </p:cNvPr>
          <p:cNvPicPr>
            <a:picLocks noChangeAspect="1"/>
          </p:cNvPicPr>
          <p:nvPr/>
        </p:nvPicPr>
        <p:blipFill>
          <a:blip r:embed="rId6"/>
          <a:stretch>
            <a:fillRect/>
          </a:stretch>
        </p:blipFill>
        <p:spPr>
          <a:xfrm>
            <a:off x="4706472" y="4144044"/>
            <a:ext cx="1517904" cy="874313"/>
          </a:xfrm>
          <a:prstGeom prst="rect">
            <a:avLst/>
          </a:prstGeom>
          <a:ln w="6350">
            <a:solidFill>
              <a:schemeClr val="tx1"/>
            </a:solidFill>
          </a:ln>
        </p:spPr>
      </p:pic>
      <p:pic>
        <p:nvPicPr>
          <p:cNvPr id="39" name="Picture 38">
            <a:extLst>
              <a:ext uri="{FF2B5EF4-FFF2-40B4-BE49-F238E27FC236}">
                <a16:creationId xmlns:a16="http://schemas.microsoft.com/office/drawing/2014/main" id="{7C3B6D45-9D62-EB2F-11C1-E5E2905B827B}"/>
              </a:ext>
            </a:extLst>
          </p:cNvPr>
          <p:cNvPicPr>
            <a:picLocks noChangeAspect="1"/>
          </p:cNvPicPr>
          <p:nvPr/>
        </p:nvPicPr>
        <p:blipFill>
          <a:blip r:embed="rId7"/>
          <a:stretch>
            <a:fillRect/>
          </a:stretch>
        </p:blipFill>
        <p:spPr>
          <a:xfrm>
            <a:off x="7253899" y="1339439"/>
            <a:ext cx="1714224" cy="479835"/>
          </a:xfrm>
          <a:prstGeom prst="rect">
            <a:avLst/>
          </a:prstGeom>
          <a:ln w="6350">
            <a:solidFill>
              <a:schemeClr val="tx1"/>
            </a:solidFill>
          </a:ln>
        </p:spPr>
      </p:pic>
      <p:pic>
        <p:nvPicPr>
          <p:cNvPr id="46" name="Picture 45">
            <a:extLst>
              <a:ext uri="{FF2B5EF4-FFF2-40B4-BE49-F238E27FC236}">
                <a16:creationId xmlns:a16="http://schemas.microsoft.com/office/drawing/2014/main" id="{2E3EFB61-0DFE-4580-6C45-2BC3D7ECC68F}"/>
              </a:ext>
            </a:extLst>
          </p:cNvPr>
          <p:cNvPicPr>
            <a:picLocks noChangeAspect="1"/>
          </p:cNvPicPr>
          <p:nvPr/>
        </p:nvPicPr>
        <p:blipFill>
          <a:blip r:embed="rId8"/>
          <a:stretch>
            <a:fillRect/>
          </a:stretch>
        </p:blipFill>
        <p:spPr>
          <a:xfrm>
            <a:off x="7249051" y="2687236"/>
            <a:ext cx="1719072" cy="664855"/>
          </a:xfrm>
          <a:prstGeom prst="rect">
            <a:avLst/>
          </a:prstGeom>
          <a:ln w="6350">
            <a:solidFill>
              <a:schemeClr val="tx1"/>
            </a:solidFill>
          </a:ln>
        </p:spPr>
      </p:pic>
      <p:sp>
        <p:nvSpPr>
          <p:cNvPr id="47" name="TextBox 46">
            <a:extLst>
              <a:ext uri="{FF2B5EF4-FFF2-40B4-BE49-F238E27FC236}">
                <a16:creationId xmlns:a16="http://schemas.microsoft.com/office/drawing/2014/main" id="{D5B37492-DAC2-91A7-38AD-A1C92C6958B7}"/>
              </a:ext>
            </a:extLst>
          </p:cNvPr>
          <p:cNvSpPr txBox="1"/>
          <p:nvPr/>
        </p:nvSpPr>
        <p:spPr>
          <a:xfrm>
            <a:off x="7248622" y="1944713"/>
            <a:ext cx="1719072" cy="500875"/>
          </a:xfrm>
          <a:prstGeom prst="snip2DiagRect">
            <a:avLst/>
          </a:prstGeom>
          <a:solidFill>
            <a:srgbClr val="143F6A"/>
          </a:solidFill>
        </p:spPr>
        <p:txBody>
          <a:bodyPr wrap="square" rtlCol="0" anchor="ctr">
            <a:spAutoFit/>
          </a:bodyPr>
          <a:lstStyle/>
          <a:p>
            <a:pPr algn="ctr">
              <a:spcBef>
                <a:spcPts val="200"/>
              </a:spcBef>
              <a:spcAft>
                <a:spcPts val="200"/>
              </a:spcAft>
            </a:pPr>
            <a:r>
              <a:rPr lang="en-US" sz="900" b="1" dirty="0">
                <a:solidFill>
                  <a:schemeClr val="bg1"/>
                </a:solidFill>
              </a:rPr>
              <a:t>Significant Runway Exists to Increase Density in AAS Existing Markets</a:t>
            </a:r>
          </a:p>
        </p:txBody>
      </p:sp>
      <p:sp>
        <p:nvSpPr>
          <p:cNvPr id="48" name="TextBox 47">
            <a:extLst>
              <a:ext uri="{FF2B5EF4-FFF2-40B4-BE49-F238E27FC236}">
                <a16:creationId xmlns:a16="http://schemas.microsoft.com/office/drawing/2014/main" id="{1A40D07D-DE57-2EF3-1878-AAED3DD42574}"/>
              </a:ext>
            </a:extLst>
          </p:cNvPr>
          <p:cNvSpPr txBox="1"/>
          <p:nvPr/>
        </p:nvSpPr>
        <p:spPr>
          <a:xfrm>
            <a:off x="7248622" y="3479838"/>
            <a:ext cx="1719072" cy="606058"/>
          </a:xfrm>
          <a:prstGeom prst="snip2DiagRect">
            <a:avLst/>
          </a:prstGeom>
          <a:solidFill>
            <a:srgbClr val="143F6A"/>
          </a:solidFill>
        </p:spPr>
        <p:txBody>
          <a:bodyPr wrap="square" rtlCol="0" anchor="ctr">
            <a:spAutoFit/>
          </a:bodyPr>
          <a:lstStyle/>
          <a:p>
            <a:pPr algn="ctr">
              <a:spcBef>
                <a:spcPts val="200"/>
              </a:spcBef>
              <a:spcAft>
                <a:spcPts val="200"/>
              </a:spcAft>
            </a:pPr>
            <a:r>
              <a:rPr lang="en-US" sz="900" b="1" dirty="0">
                <a:solidFill>
                  <a:schemeClr val="bg1"/>
                </a:solidFill>
              </a:rPr>
              <a:t>While West Michigan Presents Opportunity to Expand Michigan Footprint</a:t>
            </a:r>
          </a:p>
        </p:txBody>
      </p:sp>
      <p:sp>
        <p:nvSpPr>
          <p:cNvPr id="3" name="Rectangle: Diagonal Corners Snipped 2">
            <a:extLst>
              <a:ext uri="{FF2B5EF4-FFF2-40B4-BE49-F238E27FC236}">
                <a16:creationId xmlns:a16="http://schemas.microsoft.com/office/drawing/2014/main" id="{6BD5FF79-93E4-42FC-8666-003BF93C2AEB}"/>
              </a:ext>
            </a:extLst>
          </p:cNvPr>
          <p:cNvSpPr/>
          <p:nvPr/>
        </p:nvSpPr>
        <p:spPr>
          <a:xfrm>
            <a:off x="176305" y="5193626"/>
            <a:ext cx="4261223"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Implications for AAS</a:t>
            </a:r>
            <a:endParaRPr lang="en-US" sz="1400" b="1" baseline="30000" dirty="0">
              <a:solidFill>
                <a:schemeClr val="bg1"/>
              </a:solidFill>
            </a:endParaRPr>
          </a:p>
        </p:txBody>
      </p:sp>
      <p:sp>
        <p:nvSpPr>
          <p:cNvPr id="7" name="TextBox 6">
            <a:extLst>
              <a:ext uri="{FF2B5EF4-FFF2-40B4-BE49-F238E27FC236}">
                <a16:creationId xmlns:a16="http://schemas.microsoft.com/office/drawing/2014/main" id="{22E4D119-C139-17ED-7178-EC1FF02EB067}"/>
              </a:ext>
            </a:extLst>
          </p:cNvPr>
          <p:cNvSpPr txBox="1"/>
          <p:nvPr/>
        </p:nvSpPr>
        <p:spPr>
          <a:xfrm>
            <a:off x="4706472" y="5590694"/>
            <a:ext cx="4261223" cy="707886"/>
          </a:xfrm>
          <a:prstGeom prst="rect">
            <a:avLst/>
          </a:prstGeom>
          <a:noFill/>
        </p:spPr>
        <p:txBody>
          <a:bodyPr wrap="square" rtlCol="0">
            <a:spAutoFit/>
          </a:bodyPr>
          <a:lstStyle/>
          <a:p>
            <a:pPr marL="171450" indent="-171450" algn="just">
              <a:spcBef>
                <a:spcPts val="400"/>
              </a:spcBef>
              <a:spcAft>
                <a:spcPts val="400"/>
              </a:spcAft>
              <a:buFont typeface="Arial" panose="020B0604020202020204" pitchFamily="34" charset="0"/>
              <a:buChar char="•"/>
            </a:pPr>
            <a:r>
              <a:rPr lang="en-US" sz="1000" dirty="0"/>
              <a:t>West Michigan is less consolidated than Metro Detroit and represents a potential expansion opportunity, as Corewell Health recently transitioned away from its prior anesthesia partner and is currently relying on Locums for interim coverage</a:t>
            </a:r>
          </a:p>
        </p:txBody>
      </p:sp>
      <p:sp>
        <p:nvSpPr>
          <p:cNvPr id="9" name="Rectangle: Diagonal Corners Snipped 8">
            <a:extLst>
              <a:ext uri="{FF2B5EF4-FFF2-40B4-BE49-F238E27FC236}">
                <a16:creationId xmlns:a16="http://schemas.microsoft.com/office/drawing/2014/main" id="{DF3916F0-AC56-4EE0-16F9-5872145A395B}"/>
              </a:ext>
            </a:extLst>
          </p:cNvPr>
          <p:cNvSpPr/>
          <p:nvPr/>
        </p:nvSpPr>
        <p:spPr>
          <a:xfrm>
            <a:off x="4706472" y="5193626"/>
            <a:ext cx="4261223"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Key Commentary</a:t>
            </a:r>
            <a:endParaRPr lang="en-US" sz="1400" b="1" baseline="30000" dirty="0">
              <a:solidFill>
                <a:schemeClr val="bg1"/>
              </a:solidFill>
            </a:endParaRPr>
          </a:p>
        </p:txBody>
      </p:sp>
      <p:sp>
        <p:nvSpPr>
          <p:cNvPr id="10" name="TextBox 9">
            <a:extLst>
              <a:ext uri="{FF2B5EF4-FFF2-40B4-BE49-F238E27FC236}">
                <a16:creationId xmlns:a16="http://schemas.microsoft.com/office/drawing/2014/main" id="{828EB7B9-8D73-E4CC-4ABD-0D974DE70F3D}"/>
              </a:ext>
            </a:extLst>
          </p:cNvPr>
          <p:cNvSpPr txBox="1"/>
          <p:nvPr/>
        </p:nvSpPr>
        <p:spPr>
          <a:xfrm>
            <a:off x="873" y="6586525"/>
            <a:ext cx="2468880" cy="215444"/>
          </a:xfrm>
          <a:prstGeom prst="rect">
            <a:avLst/>
          </a:prstGeom>
          <a:solidFill>
            <a:schemeClr val="bg1"/>
          </a:solidFill>
        </p:spPr>
        <p:txBody>
          <a:bodyPr wrap="square" rtlCol="0">
            <a:spAutoFit/>
          </a:bodyPr>
          <a:lstStyle/>
          <a:p>
            <a:r>
              <a:rPr lang="en-US" sz="800" dirty="0"/>
              <a:t>Sources: Chartis Market Study</a:t>
            </a:r>
          </a:p>
        </p:txBody>
      </p:sp>
    </p:spTree>
    <p:extLst>
      <p:ext uri="{BB962C8B-B14F-4D97-AF65-F5344CB8AC3E}">
        <p14:creationId xmlns:p14="http://schemas.microsoft.com/office/powerpoint/2010/main" val="38047013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C497F-6208-7639-C703-81BDC99008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FE1671-24CF-D0B2-BD7C-52E57C519B0F}"/>
              </a:ext>
            </a:extLst>
          </p:cNvPr>
          <p:cNvSpPr>
            <a:spLocks noGrp="1"/>
          </p:cNvSpPr>
          <p:nvPr>
            <p:ph type="title"/>
          </p:nvPr>
        </p:nvSpPr>
        <p:spPr/>
        <p:txBody>
          <a:bodyPr>
            <a:normAutofit/>
          </a:bodyPr>
          <a:lstStyle/>
          <a:p>
            <a:r>
              <a:rPr lang="en-US" dirty="0"/>
              <a:t>New Geography Expansion Scorecard</a:t>
            </a:r>
          </a:p>
        </p:txBody>
      </p:sp>
      <p:sp>
        <p:nvSpPr>
          <p:cNvPr id="4" name="Slide Number Placeholder 3">
            <a:extLst>
              <a:ext uri="{FF2B5EF4-FFF2-40B4-BE49-F238E27FC236}">
                <a16:creationId xmlns:a16="http://schemas.microsoft.com/office/drawing/2014/main" id="{333EEF14-D6D1-E694-B9C6-EB58A634A6C7}"/>
              </a:ext>
            </a:extLst>
          </p:cNvPr>
          <p:cNvSpPr>
            <a:spLocks noGrp="1"/>
          </p:cNvSpPr>
          <p:nvPr>
            <p:ph type="sldNum" sz="quarter" idx="12"/>
          </p:nvPr>
        </p:nvSpPr>
        <p:spPr/>
        <p:txBody>
          <a:bodyPr/>
          <a:lstStyle/>
          <a:p>
            <a:fld id="{F8DDDAE5-3BDD-4D78-843B-A22FA78305BB}" type="slidenum">
              <a:rPr lang="en-US" smtClean="0"/>
              <a:t>52</a:t>
            </a:fld>
            <a:endParaRPr lang="en-US" dirty="0"/>
          </a:p>
        </p:txBody>
      </p:sp>
      <p:pic>
        <p:nvPicPr>
          <p:cNvPr id="5" name="Picture 4">
            <a:extLst>
              <a:ext uri="{FF2B5EF4-FFF2-40B4-BE49-F238E27FC236}">
                <a16:creationId xmlns:a16="http://schemas.microsoft.com/office/drawing/2014/main" id="{93020FF2-0674-C638-A6A2-660F0FB6EB5E}"/>
              </a:ext>
            </a:extLst>
          </p:cNvPr>
          <p:cNvPicPr>
            <a:picLocks noChangeAspect="1"/>
          </p:cNvPicPr>
          <p:nvPr/>
        </p:nvPicPr>
        <p:blipFill>
          <a:blip r:embed="rId2"/>
          <a:stretch>
            <a:fillRect/>
          </a:stretch>
        </p:blipFill>
        <p:spPr>
          <a:xfrm>
            <a:off x="324200" y="1786723"/>
            <a:ext cx="3965433" cy="4356019"/>
          </a:xfrm>
          <a:prstGeom prst="rect">
            <a:avLst/>
          </a:prstGeom>
          <a:ln w="6350">
            <a:solidFill>
              <a:schemeClr val="tx1"/>
            </a:solidFill>
          </a:ln>
        </p:spPr>
      </p:pic>
      <p:sp>
        <p:nvSpPr>
          <p:cNvPr id="7" name="Rectangle: Diagonal Corners Snipped 6">
            <a:extLst>
              <a:ext uri="{FF2B5EF4-FFF2-40B4-BE49-F238E27FC236}">
                <a16:creationId xmlns:a16="http://schemas.microsoft.com/office/drawing/2014/main" id="{8A14C888-6B2B-42A4-701E-3D7025749636}"/>
              </a:ext>
            </a:extLst>
          </p:cNvPr>
          <p:cNvSpPr/>
          <p:nvPr/>
        </p:nvSpPr>
        <p:spPr>
          <a:xfrm>
            <a:off x="176305" y="1394906"/>
            <a:ext cx="4261223"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New ASC Market Opportunity</a:t>
            </a:r>
            <a:endParaRPr lang="en-US" sz="1400" b="1" baseline="30000" dirty="0">
              <a:solidFill>
                <a:schemeClr val="bg1"/>
              </a:solidFill>
            </a:endParaRPr>
          </a:p>
        </p:txBody>
      </p:sp>
      <p:sp>
        <p:nvSpPr>
          <p:cNvPr id="8" name="Rectangle 7">
            <a:extLst>
              <a:ext uri="{FF2B5EF4-FFF2-40B4-BE49-F238E27FC236}">
                <a16:creationId xmlns:a16="http://schemas.microsoft.com/office/drawing/2014/main" id="{4578D377-275C-FC60-0AF9-C5A93866B1FA}"/>
              </a:ext>
            </a:extLst>
          </p:cNvPr>
          <p:cNvSpPr/>
          <p:nvPr/>
        </p:nvSpPr>
        <p:spPr>
          <a:xfrm>
            <a:off x="240810" y="1999571"/>
            <a:ext cx="4132213" cy="1645920"/>
          </a:xfrm>
          <a:prstGeom prst="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46BA9E65-0F0F-2118-41F9-263182F792A3}"/>
              </a:ext>
            </a:extLst>
          </p:cNvPr>
          <p:cNvSpPr/>
          <p:nvPr/>
        </p:nvSpPr>
        <p:spPr>
          <a:xfrm>
            <a:off x="176305" y="6274353"/>
            <a:ext cx="534155" cy="213881"/>
          </a:xfrm>
          <a:prstGeom prst="rect">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DE59B2F9-141D-D73D-BCF6-52797D16A4EE}"/>
              </a:ext>
            </a:extLst>
          </p:cNvPr>
          <p:cNvSpPr/>
          <p:nvPr/>
        </p:nvSpPr>
        <p:spPr>
          <a:xfrm>
            <a:off x="710460" y="6142742"/>
            <a:ext cx="3727068" cy="504320"/>
          </a:xfrm>
          <a:prstGeom prst="rect">
            <a:avLst/>
          </a:prstGeom>
          <a:noFill/>
          <a:ln w="285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50" dirty="0">
                <a:solidFill>
                  <a:schemeClr val="tx1"/>
                </a:solidFill>
              </a:rPr>
              <a:t>Represents top 10 most attractive states, calculated by equal weighting to reimbursement rate and difficulty to enter market (min 50 ASC in given state)</a:t>
            </a:r>
          </a:p>
        </p:txBody>
      </p:sp>
      <p:pic>
        <p:nvPicPr>
          <p:cNvPr id="13" name="Picture 12">
            <a:extLst>
              <a:ext uri="{FF2B5EF4-FFF2-40B4-BE49-F238E27FC236}">
                <a16:creationId xmlns:a16="http://schemas.microsoft.com/office/drawing/2014/main" id="{6435DC89-8F25-44A7-0CAF-C5FEF0B1BD65}"/>
              </a:ext>
            </a:extLst>
          </p:cNvPr>
          <p:cNvPicPr>
            <a:picLocks noChangeAspect="1"/>
          </p:cNvPicPr>
          <p:nvPr/>
        </p:nvPicPr>
        <p:blipFill>
          <a:blip r:embed="rId3"/>
          <a:stretch>
            <a:fillRect/>
          </a:stretch>
        </p:blipFill>
        <p:spPr>
          <a:xfrm>
            <a:off x="5200846" y="1786723"/>
            <a:ext cx="3272475" cy="2214705"/>
          </a:xfrm>
          <a:prstGeom prst="rect">
            <a:avLst/>
          </a:prstGeom>
          <a:ln w="6350">
            <a:solidFill>
              <a:schemeClr val="tx1"/>
            </a:solidFill>
          </a:ln>
        </p:spPr>
      </p:pic>
      <p:sp>
        <p:nvSpPr>
          <p:cNvPr id="14" name="Rectangle: Diagonal Corners Snipped 13">
            <a:extLst>
              <a:ext uri="{FF2B5EF4-FFF2-40B4-BE49-F238E27FC236}">
                <a16:creationId xmlns:a16="http://schemas.microsoft.com/office/drawing/2014/main" id="{9D24550D-03F1-9E5F-5287-5B5756E91818}"/>
              </a:ext>
            </a:extLst>
          </p:cNvPr>
          <p:cNvSpPr/>
          <p:nvPr/>
        </p:nvSpPr>
        <p:spPr>
          <a:xfrm>
            <a:off x="4706472" y="1394906"/>
            <a:ext cx="4261223"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Commercial Reimbursement Rates by State</a:t>
            </a:r>
            <a:endParaRPr lang="en-US" sz="1400" b="1" baseline="30000" dirty="0">
              <a:solidFill>
                <a:schemeClr val="bg1"/>
              </a:solidFill>
            </a:endParaRPr>
          </a:p>
        </p:txBody>
      </p:sp>
      <p:sp>
        <p:nvSpPr>
          <p:cNvPr id="15" name="Rectangle: Diagonal Corners Snipped 14">
            <a:extLst>
              <a:ext uri="{FF2B5EF4-FFF2-40B4-BE49-F238E27FC236}">
                <a16:creationId xmlns:a16="http://schemas.microsoft.com/office/drawing/2014/main" id="{5DCE92D7-A46A-2C8F-7F15-152D3962606C}"/>
              </a:ext>
            </a:extLst>
          </p:cNvPr>
          <p:cNvSpPr/>
          <p:nvPr/>
        </p:nvSpPr>
        <p:spPr>
          <a:xfrm>
            <a:off x="4706472" y="4108345"/>
            <a:ext cx="4261223"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Anesthesia Consolidator Market Share by State</a:t>
            </a:r>
            <a:endParaRPr lang="en-US" sz="1400" b="1" baseline="30000" dirty="0">
              <a:solidFill>
                <a:schemeClr val="bg1"/>
              </a:solidFill>
            </a:endParaRPr>
          </a:p>
        </p:txBody>
      </p:sp>
      <p:pic>
        <p:nvPicPr>
          <p:cNvPr id="20" name="Picture 19">
            <a:extLst>
              <a:ext uri="{FF2B5EF4-FFF2-40B4-BE49-F238E27FC236}">
                <a16:creationId xmlns:a16="http://schemas.microsoft.com/office/drawing/2014/main" id="{5957C904-74DC-B773-C3B4-3E3FF6208609}"/>
              </a:ext>
            </a:extLst>
          </p:cNvPr>
          <p:cNvPicPr>
            <a:picLocks noChangeAspect="1"/>
          </p:cNvPicPr>
          <p:nvPr/>
        </p:nvPicPr>
        <p:blipFill>
          <a:blip r:embed="rId4"/>
          <a:stretch>
            <a:fillRect/>
          </a:stretch>
        </p:blipFill>
        <p:spPr>
          <a:xfrm>
            <a:off x="5200987" y="4500432"/>
            <a:ext cx="3272192" cy="2157189"/>
          </a:xfrm>
          <a:prstGeom prst="rect">
            <a:avLst/>
          </a:prstGeom>
          <a:ln w="6350">
            <a:solidFill>
              <a:schemeClr val="tx1"/>
            </a:solidFill>
          </a:ln>
        </p:spPr>
      </p:pic>
      <p:sp>
        <p:nvSpPr>
          <p:cNvPr id="22" name="TextBox 21">
            <a:extLst>
              <a:ext uri="{FF2B5EF4-FFF2-40B4-BE49-F238E27FC236}">
                <a16:creationId xmlns:a16="http://schemas.microsoft.com/office/drawing/2014/main" id="{8ED7F486-2CEA-08FE-D3E2-4CE6253A52FD}"/>
              </a:ext>
            </a:extLst>
          </p:cNvPr>
          <p:cNvSpPr txBox="1"/>
          <p:nvPr/>
        </p:nvSpPr>
        <p:spPr>
          <a:xfrm>
            <a:off x="873" y="6586525"/>
            <a:ext cx="2468880" cy="215444"/>
          </a:xfrm>
          <a:prstGeom prst="rect">
            <a:avLst/>
          </a:prstGeom>
          <a:solidFill>
            <a:schemeClr val="bg1"/>
          </a:solidFill>
        </p:spPr>
        <p:txBody>
          <a:bodyPr wrap="square" rtlCol="0">
            <a:spAutoFit/>
          </a:bodyPr>
          <a:lstStyle/>
          <a:p>
            <a:r>
              <a:rPr lang="en-US" sz="800" dirty="0"/>
              <a:t>Sources: Chartis Market Study</a:t>
            </a:r>
          </a:p>
        </p:txBody>
      </p:sp>
      <p:sp>
        <p:nvSpPr>
          <p:cNvPr id="24" name="TextBox 23">
            <a:extLst>
              <a:ext uri="{FF2B5EF4-FFF2-40B4-BE49-F238E27FC236}">
                <a16:creationId xmlns:a16="http://schemas.microsoft.com/office/drawing/2014/main" id="{D22A9336-4D5C-D6A7-215D-BD657D78309B}"/>
              </a:ext>
            </a:extLst>
          </p:cNvPr>
          <p:cNvSpPr txBox="1"/>
          <p:nvPr/>
        </p:nvSpPr>
        <p:spPr>
          <a:xfrm>
            <a:off x="228600" y="909365"/>
            <a:ext cx="8686800" cy="461665"/>
          </a:xfrm>
          <a:prstGeom prst="rect">
            <a:avLst/>
          </a:prstGeom>
          <a:noFill/>
        </p:spPr>
        <p:txBody>
          <a:bodyPr wrap="square" rtlCol="0">
            <a:spAutoFit/>
          </a:bodyPr>
          <a:lstStyle/>
          <a:p>
            <a:pPr>
              <a:spcBef>
                <a:spcPts val="300"/>
              </a:spcBef>
              <a:spcAft>
                <a:spcPts val="300"/>
              </a:spcAft>
            </a:pPr>
            <a:r>
              <a:rPr lang="en-US" sz="1200" dirty="0"/>
              <a:t>Leveraging Chartis data, California and Oregon represent the most attractive expansion states, based on equal weighting of commercial reimbursement rates, market entrance difficulty, and a minimum of 50 ASCs per state</a:t>
            </a:r>
          </a:p>
        </p:txBody>
      </p:sp>
    </p:spTree>
    <p:extLst>
      <p:ext uri="{BB962C8B-B14F-4D97-AF65-F5344CB8AC3E}">
        <p14:creationId xmlns:p14="http://schemas.microsoft.com/office/powerpoint/2010/main" val="28918033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E7F4A-AE61-FE37-878E-7314A7655A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883357-72AC-009F-F841-4EB1E5F5F3B3}"/>
              </a:ext>
            </a:extLst>
          </p:cNvPr>
          <p:cNvSpPr>
            <a:spLocks noGrp="1"/>
          </p:cNvSpPr>
          <p:nvPr>
            <p:ph type="title"/>
          </p:nvPr>
        </p:nvSpPr>
        <p:spPr/>
        <p:txBody>
          <a:bodyPr>
            <a:normAutofit/>
          </a:bodyPr>
          <a:lstStyle/>
          <a:p>
            <a:r>
              <a:rPr lang="en-US" sz="3150" dirty="0"/>
              <a:t>New Geography Expansion Scorecard (Cont’d)</a:t>
            </a:r>
          </a:p>
        </p:txBody>
      </p:sp>
      <p:sp>
        <p:nvSpPr>
          <p:cNvPr id="4" name="Slide Number Placeholder 3">
            <a:extLst>
              <a:ext uri="{FF2B5EF4-FFF2-40B4-BE49-F238E27FC236}">
                <a16:creationId xmlns:a16="http://schemas.microsoft.com/office/drawing/2014/main" id="{A745ABBD-99B0-DBD0-525A-EAC88544EFE5}"/>
              </a:ext>
            </a:extLst>
          </p:cNvPr>
          <p:cNvSpPr>
            <a:spLocks noGrp="1"/>
          </p:cNvSpPr>
          <p:nvPr>
            <p:ph type="sldNum" sz="quarter" idx="12"/>
          </p:nvPr>
        </p:nvSpPr>
        <p:spPr/>
        <p:txBody>
          <a:bodyPr/>
          <a:lstStyle/>
          <a:p>
            <a:fld id="{F8DDDAE5-3BDD-4D78-843B-A22FA78305BB}" type="slidenum">
              <a:rPr lang="en-US" smtClean="0"/>
              <a:t>53</a:t>
            </a:fld>
            <a:endParaRPr lang="en-US" dirty="0"/>
          </a:p>
        </p:txBody>
      </p:sp>
      <p:sp>
        <p:nvSpPr>
          <p:cNvPr id="22" name="TextBox 21">
            <a:extLst>
              <a:ext uri="{FF2B5EF4-FFF2-40B4-BE49-F238E27FC236}">
                <a16:creationId xmlns:a16="http://schemas.microsoft.com/office/drawing/2014/main" id="{D143BB37-31DF-9971-0D26-C109A197DAF9}"/>
              </a:ext>
            </a:extLst>
          </p:cNvPr>
          <p:cNvSpPr txBox="1"/>
          <p:nvPr/>
        </p:nvSpPr>
        <p:spPr>
          <a:xfrm>
            <a:off x="873" y="6586525"/>
            <a:ext cx="2468880" cy="215444"/>
          </a:xfrm>
          <a:prstGeom prst="rect">
            <a:avLst/>
          </a:prstGeom>
          <a:solidFill>
            <a:schemeClr val="bg1"/>
          </a:solidFill>
        </p:spPr>
        <p:txBody>
          <a:bodyPr wrap="square" rtlCol="0">
            <a:spAutoFit/>
          </a:bodyPr>
          <a:lstStyle/>
          <a:p>
            <a:r>
              <a:rPr lang="en-US" sz="800" dirty="0"/>
              <a:t>Sources: Chartis Market Study</a:t>
            </a:r>
          </a:p>
        </p:txBody>
      </p:sp>
      <p:sp>
        <p:nvSpPr>
          <p:cNvPr id="24" name="TextBox 23">
            <a:extLst>
              <a:ext uri="{FF2B5EF4-FFF2-40B4-BE49-F238E27FC236}">
                <a16:creationId xmlns:a16="http://schemas.microsoft.com/office/drawing/2014/main" id="{8243B3F1-E118-7F43-5AC4-524473DD4ECB}"/>
              </a:ext>
            </a:extLst>
          </p:cNvPr>
          <p:cNvSpPr txBox="1"/>
          <p:nvPr/>
        </p:nvSpPr>
        <p:spPr>
          <a:xfrm>
            <a:off x="228600" y="1339440"/>
            <a:ext cx="8686800" cy="4739759"/>
          </a:xfrm>
          <a:prstGeom prst="rect">
            <a:avLst/>
          </a:prstGeom>
          <a:noFill/>
        </p:spPr>
        <p:txBody>
          <a:bodyPr wrap="square" rtlCol="0">
            <a:spAutoFit/>
          </a:bodyPr>
          <a:lstStyle/>
          <a:p>
            <a:pPr>
              <a:spcBef>
                <a:spcPts val="600"/>
              </a:spcBef>
              <a:spcAft>
                <a:spcPts val="600"/>
              </a:spcAft>
            </a:pPr>
            <a:r>
              <a:rPr lang="en-US" sz="1400" dirty="0"/>
              <a:t>The scope of the new geography scorecard was limited to only 2 variables – </a:t>
            </a:r>
            <a:r>
              <a:rPr lang="en-US" sz="1400" u="sng" dirty="0"/>
              <a:t>reimbursement rates and market saturation of existing consolidators</a:t>
            </a:r>
            <a:r>
              <a:rPr lang="en-US" sz="1400" dirty="0"/>
              <a:t>. Relevant follow-on considerations include:</a:t>
            </a:r>
          </a:p>
          <a:p>
            <a:pPr marL="628650" lvl="1" indent="-171450">
              <a:spcBef>
                <a:spcPts val="600"/>
              </a:spcBef>
              <a:spcAft>
                <a:spcPts val="600"/>
              </a:spcAft>
              <a:buFont typeface="Arial" panose="020B0604020202020204" pitchFamily="34" charset="0"/>
              <a:buChar char="•"/>
            </a:pPr>
            <a:r>
              <a:rPr lang="en-US" sz="1400" b="1" dirty="0"/>
              <a:t>Minimum ASCs</a:t>
            </a:r>
            <a:r>
              <a:rPr lang="en-US" sz="1400" dirty="0"/>
              <a:t>: The previous analysis screened for states with at least 50 ASCs, however distribution within a state likely is more important than raw count as distribution may be uneven across individual markets. Expansion is most viable where there is a meaningful cluster within driving distance for provider scheduling efficiency</a:t>
            </a:r>
          </a:p>
          <a:p>
            <a:pPr marL="628650" lvl="1" indent="-171450">
              <a:spcBef>
                <a:spcPts val="600"/>
              </a:spcBef>
              <a:spcAft>
                <a:spcPts val="600"/>
              </a:spcAft>
              <a:buFont typeface="Arial" panose="020B0604020202020204" pitchFamily="34" charset="0"/>
              <a:buChar char="•"/>
            </a:pPr>
            <a:r>
              <a:rPr lang="en-US" sz="1400" b="1" dirty="0"/>
              <a:t>Regulatory Dynamics</a:t>
            </a:r>
            <a:r>
              <a:rPr lang="en-US" sz="1400" dirty="0"/>
              <a:t>: Licensing requirements, CRNA supervision requirements, and anesthesia scope of practice rules all vary by state. States that restrict Independent CRNA practice, for example, generally drive higher staffing costs and reduce flexibility</a:t>
            </a:r>
          </a:p>
          <a:p>
            <a:pPr marL="628650" lvl="1" indent="-171450">
              <a:spcBef>
                <a:spcPts val="600"/>
              </a:spcBef>
              <a:spcAft>
                <a:spcPts val="600"/>
              </a:spcAft>
              <a:buFont typeface="Arial" panose="020B0604020202020204" pitchFamily="34" charset="0"/>
              <a:buChar char="•"/>
            </a:pPr>
            <a:r>
              <a:rPr lang="en-US" sz="1400" b="1" dirty="0"/>
              <a:t>Payor Concentration</a:t>
            </a:r>
            <a:r>
              <a:rPr lang="en-US" sz="1400" dirty="0"/>
              <a:t>: States where 1-3 payors dominate commercial market share introduces leverage against anesthesia providers, limiting reimbursement upside and increasing contract concentration risk</a:t>
            </a:r>
          </a:p>
          <a:p>
            <a:pPr marL="628650" lvl="1" indent="-171450">
              <a:spcBef>
                <a:spcPts val="600"/>
              </a:spcBef>
              <a:spcAft>
                <a:spcPts val="600"/>
              </a:spcAft>
              <a:buFont typeface="Arial" panose="020B0604020202020204" pitchFamily="34" charset="0"/>
              <a:buChar char="•"/>
            </a:pPr>
            <a:r>
              <a:rPr lang="en-US" sz="1400" b="1" dirty="0"/>
              <a:t>Anesthesia Supply / Demand</a:t>
            </a:r>
            <a:r>
              <a:rPr lang="en-US" sz="1400" dirty="0"/>
              <a:t>: Provider shortages may present unique opportunities for entry, but may also introduce escalated staffing costs and potential coverage unreliability. States with deeper anesthesia pools may be more structurally favorable</a:t>
            </a:r>
          </a:p>
          <a:p>
            <a:pPr marL="628650" lvl="1" indent="-171450">
              <a:spcBef>
                <a:spcPts val="600"/>
              </a:spcBef>
              <a:spcAft>
                <a:spcPts val="600"/>
              </a:spcAft>
              <a:buFont typeface="Arial" panose="020B0604020202020204" pitchFamily="34" charset="0"/>
              <a:buChar char="•"/>
            </a:pPr>
            <a:r>
              <a:rPr lang="en-US" sz="1400" b="1" dirty="0"/>
              <a:t>Certificate of Need (“CON”) Laws for ASC development</a:t>
            </a:r>
            <a:r>
              <a:rPr lang="en-US" sz="1400" dirty="0"/>
              <a:t>: CON requirements restrict new ASC development, making growth reliant on acquiring existing centers and stealing share. Non-CON states support more robust de novo growth opportunities</a:t>
            </a:r>
          </a:p>
        </p:txBody>
      </p:sp>
      <p:sp>
        <p:nvSpPr>
          <p:cNvPr id="3" name="Rectangle: Diagonal Corners Snipped 2">
            <a:extLst>
              <a:ext uri="{FF2B5EF4-FFF2-40B4-BE49-F238E27FC236}">
                <a16:creationId xmlns:a16="http://schemas.microsoft.com/office/drawing/2014/main" id="{A55CE95D-6343-CFA2-17A8-5E7C77ED17B1}"/>
              </a:ext>
            </a:extLst>
          </p:cNvPr>
          <p:cNvSpPr/>
          <p:nvPr/>
        </p:nvSpPr>
        <p:spPr>
          <a:xfrm>
            <a:off x="200296" y="927422"/>
            <a:ext cx="8743408"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Key Considerations</a:t>
            </a:r>
          </a:p>
        </p:txBody>
      </p:sp>
    </p:spTree>
    <p:extLst>
      <p:ext uri="{BB962C8B-B14F-4D97-AF65-F5344CB8AC3E}">
        <p14:creationId xmlns:p14="http://schemas.microsoft.com/office/powerpoint/2010/main" val="34034898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C7011-ED11-45FC-8460-65EEDF82BD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A1CF2D-A71E-CFA8-629F-5361CA09F11F}"/>
              </a:ext>
            </a:extLst>
          </p:cNvPr>
          <p:cNvSpPr>
            <a:spLocks noGrp="1"/>
          </p:cNvSpPr>
          <p:nvPr>
            <p:ph type="title"/>
          </p:nvPr>
        </p:nvSpPr>
        <p:spPr>
          <a:xfrm>
            <a:off x="221942" y="218485"/>
            <a:ext cx="8697771" cy="664684"/>
          </a:xfrm>
        </p:spPr>
        <p:txBody>
          <a:bodyPr>
            <a:normAutofit/>
          </a:bodyPr>
          <a:lstStyle/>
          <a:p>
            <a:r>
              <a:rPr lang="en-US" dirty="0" err="1"/>
              <a:t>ConnectTeam</a:t>
            </a:r>
            <a:r>
              <a:rPr lang="en-US" dirty="0"/>
              <a:t> Staffing Levels</a:t>
            </a:r>
          </a:p>
        </p:txBody>
      </p:sp>
      <p:sp>
        <p:nvSpPr>
          <p:cNvPr id="8" name="Slide Number Placeholder 7">
            <a:extLst>
              <a:ext uri="{FF2B5EF4-FFF2-40B4-BE49-F238E27FC236}">
                <a16:creationId xmlns:a16="http://schemas.microsoft.com/office/drawing/2014/main" id="{88CF43AD-718C-8B94-9433-407DF1EFEAA9}"/>
              </a:ext>
            </a:extLst>
          </p:cNvPr>
          <p:cNvSpPr>
            <a:spLocks noGrp="1"/>
          </p:cNvSpPr>
          <p:nvPr>
            <p:ph type="sldNum" sz="quarter" idx="12"/>
          </p:nvPr>
        </p:nvSpPr>
        <p:spPr/>
        <p:txBody>
          <a:bodyPr/>
          <a:lstStyle/>
          <a:p>
            <a:fld id="{F8DDDAE5-3BDD-4D78-843B-A22FA78305BB}" type="slidenum">
              <a:rPr lang="en-US" smtClean="0"/>
              <a:t>54</a:t>
            </a:fld>
            <a:endParaRPr lang="en-US" dirty="0"/>
          </a:p>
        </p:txBody>
      </p:sp>
      <p:sp>
        <p:nvSpPr>
          <p:cNvPr id="16" name="Rectangle: Diagonal Corners Snipped 15">
            <a:extLst>
              <a:ext uri="{FF2B5EF4-FFF2-40B4-BE49-F238E27FC236}">
                <a16:creationId xmlns:a16="http://schemas.microsoft.com/office/drawing/2014/main" id="{0CAC5BA7-A272-8FDE-F425-9E7DAF5B5685}"/>
              </a:ext>
            </a:extLst>
          </p:cNvPr>
          <p:cNvSpPr/>
          <p:nvPr/>
        </p:nvSpPr>
        <p:spPr>
          <a:xfrm>
            <a:off x="176305" y="927422"/>
            <a:ext cx="8791389"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April 2025 – September 2025 Monthly Staffing</a:t>
            </a:r>
          </a:p>
        </p:txBody>
      </p:sp>
      <p:pic>
        <p:nvPicPr>
          <p:cNvPr id="3" name="Picture 2">
            <a:extLst>
              <a:ext uri="{FF2B5EF4-FFF2-40B4-BE49-F238E27FC236}">
                <a16:creationId xmlns:a16="http://schemas.microsoft.com/office/drawing/2014/main" id="{239D990E-ED84-CB66-42AB-CD28A4C5D10D}"/>
              </a:ext>
            </a:extLst>
          </p:cNvPr>
          <p:cNvPicPr>
            <a:picLocks noChangeAspect="1"/>
          </p:cNvPicPr>
          <p:nvPr/>
        </p:nvPicPr>
        <p:blipFill>
          <a:blip r:embed="rId2"/>
          <a:stretch>
            <a:fillRect/>
          </a:stretch>
        </p:blipFill>
        <p:spPr>
          <a:xfrm>
            <a:off x="581891" y="1370952"/>
            <a:ext cx="7980218" cy="4454940"/>
          </a:xfrm>
          <a:prstGeom prst="rect">
            <a:avLst/>
          </a:prstGeom>
          <a:ln w="6350">
            <a:solidFill>
              <a:schemeClr val="tx1"/>
            </a:solidFill>
          </a:ln>
        </p:spPr>
      </p:pic>
      <p:sp>
        <p:nvSpPr>
          <p:cNvPr id="28" name="Rectangle 27">
            <a:extLst>
              <a:ext uri="{FF2B5EF4-FFF2-40B4-BE49-F238E27FC236}">
                <a16:creationId xmlns:a16="http://schemas.microsoft.com/office/drawing/2014/main" id="{21202BEC-52B9-AC17-F3E4-2AE6EDC02EB4}"/>
              </a:ext>
            </a:extLst>
          </p:cNvPr>
          <p:cNvSpPr/>
          <p:nvPr/>
        </p:nvSpPr>
        <p:spPr>
          <a:xfrm>
            <a:off x="6483927" y="5322998"/>
            <a:ext cx="2078182" cy="156378"/>
          </a:xfrm>
          <a:prstGeom prst="rect">
            <a:avLst/>
          </a:prstGeom>
          <a:noFill/>
          <a:ln w="19050">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42AB0A03-F265-8045-79DC-820EC4A226E0}"/>
              </a:ext>
            </a:extLst>
          </p:cNvPr>
          <p:cNvSpPr/>
          <p:nvPr/>
        </p:nvSpPr>
        <p:spPr>
          <a:xfrm>
            <a:off x="7206554" y="4989473"/>
            <a:ext cx="1355555" cy="156378"/>
          </a:xfrm>
          <a:prstGeom prst="rect">
            <a:avLst/>
          </a:prstGeom>
          <a:noFill/>
          <a:ln w="19050">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FB34218E-837E-E480-BB0D-C630D92D385D}"/>
              </a:ext>
            </a:extLst>
          </p:cNvPr>
          <p:cNvSpPr/>
          <p:nvPr/>
        </p:nvSpPr>
        <p:spPr>
          <a:xfrm>
            <a:off x="6528775" y="4500434"/>
            <a:ext cx="2033334" cy="156378"/>
          </a:xfrm>
          <a:prstGeom prst="rect">
            <a:avLst/>
          </a:prstGeom>
          <a:noFill/>
          <a:ln w="19050">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B7C1D9FF-DF36-740A-A22A-0B4C1CEBC7B8}"/>
              </a:ext>
            </a:extLst>
          </p:cNvPr>
          <p:cNvSpPr/>
          <p:nvPr/>
        </p:nvSpPr>
        <p:spPr>
          <a:xfrm>
            <a:off x="7206554" y="4004036"/>
            <a:ext cx="1355555" cy="156378"/>
          </a:xfrm>
          <a:prstGeom prst="rect">
            <a:avLst/>
          </a:prstGeom>
          <a:noFill/>
          <a:ln w="19050">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25D24E68-BFFC-B36F-3D75-5C722A8FC85F}"/>
              </a:ext>
            </a:extLst>
          </p:cNvPr>
          <p:cNvSpPr txBox="1"/>
          <p:nvPr/>
        </p:nvSpPr>
        <p:spPr>
          <a:xfrm>
            <a:off x="221942" y="5859529"/>
            <a:ext cx="8686800" cy="907941"/>
          </a:xfrm>
          <a:prstGeom prst="rect">
            <a:avLst/>
          </a:prstGeom>
          <a:noFill/>
        </p:spPr>
        <p:txBody>
          <a:bodyPr wrap="square" rtlCol="0">
            <a:spAutoFit/>
          </a:bodyPr>
          <a:lstStyle/>
          <a:p>
            <a:pPr marL="228600" indent="-228600">
              <a:spcBef>
                <a:spcPts val="100"/>
              </a:spcBef>
              <a:spcAft>
                <a:spcPts val="100"/>
              </a:spcAft>
              <a:buFont typeface="Arial" panose="020B0604020202020204" pitchFamily="34" charset="0"/>
              <a:buChar char="•"/>
            </a:pPr>
            <a:r>
              <a:rPr lang="en-US" sz="1200" u="sng" dirty="0"/>
              <a:t>Commentary</a:t>
            </a:r>
            <a:r>
              <a:rPr lang="en-US" sz="1200" dirty="0"/>
              <a:t>: </a:t>
            </a:r>
          </a:p>
          <a:p>
            <a:pPr marL="685800" lvl="1" indent="-228600">
              <a:spcBef>
                <a:spcPts val="100"/>
              </a:spcBef>
              <a:spcAft>
                <a:spcPts val="100"/>
              </a:spcAft>
              <a:buFont typeface="Arial" panose="020B0604020202020204" pitchFamily="34" charset="0"/>
              <a:buChar char="•"/>
            </a:pPr>
            <a:r>
              <a:rPr lang="en-US" sz="1200" dirty="0"/>
              <a:t>East Washington &amp; South are experiencing temporary declines in nursing and ancillary staff at the facility level</a:t>
            </a:r>
          </a:p>
          <a:p>
            <a:pPr marL="685800" lvl="1" indent="-228600">
              <a:spcBef>
                <a:spcPts val="100"/>
              </a:spcBef>
              <a:spcAft>
                <a:spcPts val="100"/>
              </a:spcAft>
              <a:buFont typeface="Arial" panose="020B0604020202020204" pitchFamily="34" charset="0"/>
              <a:buChar char="•"/>
            </a:pPr>
            <a:r>
              <a:rPr lang="en-US" sz="1200" dirty="0"/>
              <a:t>EEC 12 Mile had an Endo surgeon out on medical leave but has since returned</a:t>
            </a:r>
          </a:p>
          <a:p>
            <a:pPr marL="685800" lvl="1" indent="-228600">
              <a:spcBef>
                <a:spcPts val="100"/>
              </a:spcBef>
              <a:spcAft>
                <a:spcPts val="100"/>
              </a:spcAft>
              <a:buFont typeface="Arial" panose="020B0604020202020204" pitchFamily="34" charset="0"/>
              <a:buChar char="•"/>
            </a:pPr>
            <a:r>
              <a:rPr lang="en-US" sz="1200" dirty="0"/>
              <a:t>IU HTS has returned to stabilized levels of 1.4 FTE starting 10/27/2025</a:t>
            </a:r>
          </a:p>
        </p:txBody>
      </p:sp>
    </p:spTree>
    <p:extLst>
      <p:ext uri="{BB962C8B-B14F-4D97-AF65-F5344CB8AC3E}">
        <p14:creationId xmlns:p14="http://schemas.microsoft.com/office/powerpoint/2010/main" val="36453117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747F-DBF3-7CCD-7C09-805B47D9B7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47726C-984E-68EB-F9DD-1BA44205DDAE}"/>
              </a:ext>
            </a:extLst>
          </p:cNvPr>
          <p:cNvSpPr>
            <a:spLocks noGrp="1"/>
          </p:cNvSpPr>
          <p:nvPr>
            <p:ph type="title"/>
          </p:nvPr>
        </p:nvSpPr>
        <p:spPr>
          <a:xfrm>
            <a:off x="221942" y="218485"/>
            <a:ext cx="8697771" cy="664684"/>
          </a:xfrm>
        </p:spPr>
        <p:txBody>
          <a:bodyPr>
            <a:normAutofit/>
          </a:bodyPr>
          <a:lstStyle/>
          <a:p>
            <a:r>
              <a:rPr lang="en-US" dirty="0"/>
              <a:t>Reimbursement Data vs Chartis</a:t>
            </a:r>
          </a:p>
        </p:txBody>
      </p:sp>
      <p:sp>
        <p:nvSpPr>
          <p:cNvPr id="8" name="Slide Number Placeholder 7">
            <a:extLst>
              <a:ext uri="{FF2B5EF4-FFF2-40B4-BE49-F238E27FC236}">
                <a16:creationId xmlns:a16="http://schemas.microsoft.com/office/drawing/2014/main" id="{E434E247-73F5-CF17-05D2-EEB1419AF406}"/>
              </a:ext>
            </a:extLst>
          </p:cNvPr>
          <p:cNvSpPr>
            <a:spLocks noGrp="1"/>
          </p:cNvSpPr>
          <p:nvPr>
            <p:ph type="sldNum" sz="quarter" idx="12"/>
          </p:nvPr>
        </p:nvSpPr>
        <p:spPr/>
        <p:txBody>
          <a:bodyPr/>
          <a:lstStyle/>
          <a:p>
            <a:fld id="{F8DDDAE5-3BDD-4D78-843B-A22FA78305BB}" type="slidenum">
              <a:rPr lang="en-US" smtClean="0"/>
              <a:t>55</a:t>
            </a:fld>
            <a:endParaRPr lang="en-US" dirty="0"/>
          </a:p>
        </p:txBody>
      </p:sp>
      <p:sp>
        <p:nvSpPr>
          <p:cNvPr id="16" name="Rectangle: Diagonal Corners Snipped 15">
            <a:extLst>
              <a:ext uri="{FF2B5EF4-FFF2-40B4-BE49-F238E27FC236}">
                <a16:creationId xmlns:a16="http://schemas.microsoft.com/office/drawing/2014/main" id="{2BF50A97-BB81-745B-A613-4DB6BE674084}"/>
              </a:ext>
            </a:extLst>
          </p:cNvPr>
          <p:cNvSpPr/>
          <p:nvPr/>
        </p:nvSpPr>
        <p:spPr>
          <a:xfrm>
            <a:off x="4961299" y="927422"/>
            <a:ext cx="4006395"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Indiana Reimbursement</a:t>
            </a:r>
          </a:p>
        </p:txBody>
      </p:sp>
      <p:pic>
        <p:nvPicPr>
          <p:cNvPr id="4" name="Picture 3">
            <a:extLst>
              <a:ext uri="{FF2B5EF4-FFF2-40B4-BE49-F238E27FC236}">
                <a16:creationId xmlns:a16="http://schemas.microsoft.com/office/drawing/2014/main" id="{DE2AAC88-C1A2-739D-D5B9-F15D4F484C80}"/>
              </a:ext>
            </a:extLst>
          </p:cNvPr>
          <p:cNvPicPr>
            <a:picLocks noChangeAspect="1"/>
          </p:cNvPicPr>
          <p:nvPr/>
        </p:nvPicPr>
        <p:blipFill>
          <a:blip r:embed="rId2"/>
          <a:stretch>
            <a:fillRect/>
          </a:stretch>
        </p:blipFill>
        <p:spPr>
          <a:xfrm>
            <a:off x="350702" y="1293057"/>
            <a:ext cx="3657600" cy="4595973"/>
          </a:xfrm>
          <a:prstGeom prst="rect">
            <a:avLst/>
          </a:prstGeom>
          <a:ln w="6350">
            <a:solidFill>
              <a:schemeClr val="tx1"/>
            </a:solidFill>
          </a:ln>
        </p:spPr>
      </p:pic>
      <p:pic>
        <p:nvPicPr>
          <p:cNvPr id="6" name="Picture 5">
            <a:extLst>
              <a:ext uri="{FF2B5EF4-FFF2-40B4-BE49-F238E27FC236}">
                <a16:creationId xmlns:a16="http://schemas.microsoft.com/office/drawing/2014/main" id="{5C968DEB-7451-E6BB-A19F-7C8BD10D508D}"/>
              </a:ext>
            </a:extLst>
          </p:cNvPr>
          <p:cNvPicPr>
            <a:picLocks noChangeAspect="1"/>
          </p:cNvPicPr>
          <p:nvPr/>
        </p:nvPicPr>
        <p:blipFill>
          <a:blip r:embed="rId3"/>
          <a:stretch>
            <a:fillRect/>
          </a:stretch>
        </p:blipFill>
        <p:spPr>
          <a:xfrm>
            <a:off x="5135696" y="1293057"/>
            <a:ext cx="3657600" cy="4753510"/>
          </a:xfrm>
          <a:prstGeom prst="rect">
            <a:avLst/>
          </a:prstGeom>
          <a:ln w="6350">
            <a:solidFill>
              <a:schemeClr val="tx1"/>
            </a:solidFill>
          </a:ln>
        </p:spPr>
      </p:pic>
      <p:sp>
        <p:nvSpPr>
          <p:cNvPr id="7" name="Rectangle: Diagonal Corners Snipped 6">
            <a:extLst>
              <a:ext uri="{FF2B5EF4-FFF2-40B4-BE49-F238E27FC236}">
                <a16:creationId xmlns:a16="http://schemas.microsoft.com/office/drawing/2014/main" id="{B464AAC7-A334-971D-91CC-98256F3984EF}"/>
              </a:ext>
            </a:extLst>
          </p:cNvPr>
          <p:cNvSpPr/>
          <p:nvPr/>
        </p:nvSpPr>
        <p:spPr>
          <a:xfrm>
            <a:off x="176305" y="927422"/>
            <a:ext cx="4006395"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Michigan Reimbursement </a:t>
            </a:r>
          </a:p>
        </p:txBody>
      </p:sp>
      <p:sp>
        <p:nvSpPr>
          <p:cNvPr id="9" name="Rectangle 8">
            <a:extLst>
              <a:ext uri="{FF2B5EF4-FFF2-40B4-BE49-F238E27FC236}">
                <a16:creationId xmlns:a16="http://schemas.microsoft.com/office/drawing/2014/main" id="{225FE2F6-3745-0C4C-225F-9191FE6BCF85}"/>
              </a:ext>
            </a:extLst>
          </p:cNvPr>
          <p:cNvSpPr/>
          <p:nvPr/>
        </p:nvSpPr>
        <p:spPr>
          <a:xfrm>
            <a:off x="7885736" y="5875869"/>
            <a:ext cx="907560" cy="183524"/>
          </a:xfrm>
          <a:prstGeom prst="rect">
            <a:avLst/>
          </a:prstGeom>
          <a:noFill/>
          <a:ln w="19050">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E5AF6CD-E925-0608-4E4D-534B034CF22E}"/>
              </a:ext>
            </a:extLst>
          </p:cNvPr>
          <p:cNvSpPr txBox="1"/>
          <p:nvPr/>
        </p:nvSpPr>
        <p:spPr>
          <a:xfrm>
            <a:off x="176306" y="6165299"/>
            <a:ext cx="8791388" cy="330577"/>
          </a:xfrm>
          <a:prstGeom prst="snip2DiagRect">
            <a:avLst/>
          </a:prstGeom>
          <a:solidFill>
            <a:srgbClr val="143F6A"/>
          </a:solidFill>
        </p:spPr>
        <p:txBody>
          <a:bodyPr wrap="square" rtlCol="0">
            <a:spAutoFit/>
          </a:bodyPr>
          <a:lstStyle/>
          <a:p>
            <a:pPr algn="ctr">
              <a:spcBef>
                <a:spcPts val="200"/>
              </a:spcBef>
              <a:spcAft>
                <a:spcPts val="200"/>
              </a:spcAft>
            </a:pPr>
            <a:r>
              <a:rPr lang="en-US" sz="1200" b="1" dirty="0">
                <a:solidFill>
                  <a:schemeClr val="bg1"/>
                </a:solidFill>
              </a:rPr>
              <a:t>Michigan reimbursement rates are on par with the Chartis data, while Indiana shows significant room for growth</a:t>
            </a:r>
          </a:p>
        </p:txBody>
      </p:sp>
    </p:spTree>
    <p:extLst>
      <p:ext uri="{BB962C8B-B14F-4D97-AF65-F5344CB8AC3E}">
        <p14:creationId xmlns:p14="http://schemas.microsoft.com/office/powerpoint/2010/main" val="39161992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4EC72-90AB-B8ED-076C-3184B62D05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EA1E1E-CC5E-0F43-E310-BED6707732FF}"/>
              </a:ext>
            </a:extLst>
          </p:cNvPr>
          <p:cNvSpPr>
            <a:spLocks noGrp="1"/>
          </p:cNvSpPr>
          <p:nvPr>
            <p:ph type="title"/>
          </p:nvPr>
        </p:nvSpPr>
        <p:spPr>
          <a:xfrm>
            <a:off x="221942" y="218485"/>
            <a:ext cx="8697771" cy="664684"/>
          </a:xfrm>
        </p:spPr>
        <p:txBody>
          <a:bodyPr>
            <a:normAutofit/>
          </a:bodyPr>
          <a:lstStyle/>
          <a:p>
            <a:r>
              <a:rPr lang="en-US" noProof="0" dirty="0"/>
              <a:t>Key Value Creation Pillars</a:t>
            </a:r>
          </a:p>
        </p:txBody>
      </p:sp>
      <p:sp>
        <p:nvSpPr>
          <p:cNvPr id="4" name="Slide Number Placeholder 8">
            <a:extLst>
              <a:ext uri="{FF2B5EF4-FFF2-40B4-BE49-F238E27FC236}">
                <a16:creationId xmlns:a16="http://schemas.microsoft.com/office/drawing/2014/main" id="{99FF0A0D-ACB5-8A0E-8960-403D79F106B4}"/>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56</a:t>
            </a:fld>
            <a:endParaRPr lang="en-US" dirty="0"/>
          </a:p>
        </p:txBody>
      </p:sp>
      <p:cxnSp>
        <p:nvCxnSpPr>
          <p:cNvPr id="8" name="Straight Connector 7">
            <a:extLst>
              <a:ext uri="{FF2B5EF4-FFF2-40B4-BE49-F238E27FC236}">
                <a16:creationId xmlns:a16="http://schemas.microsoft.com/office/drawing/2014/main" id="{BD1CC3BB-1001-0B88-1546-C6CF7BB68481}"/>
              </a:ext>
            </a:extLst>
          </p:cNvPr>
          <p:cNvCxnSpPr>
            <a:cxnSpLocks/>
          </p:cNvCxnSpPr>
          <p:nvPr/>
        </p:nvCxnSpPr>
        <p:spPr>
          <a:xfrm>
            <a:off x="221942" y="1322969"/>
            <a:ext cx="221284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5" name="Rectangle: Diagonal Corners Snipped 4">
            <a:extLst>
              <a:ext uri="{FF2B5EF4-FFF2-40B4-BE49-F238E27FC236}">
                <a16:creationId xmlns:a16="http://schemas.microsoft.com/office/drawing/2014/main" id="{C287276B-4EEB-1C28-44EF-9FE95FE76752}"/>
              </a:ext>
            </a:extLst>
          </p:cNvPr>
          <p:cNvSpPr/>
          <p:nvPr/>
        </p:nvSpPr>
        <p:spPr>
          <a:xfrm>
            <a:off x="221942" y="1503788"/>
            <a:ext cx="2216458" cy="1554480"/>
          </a:xfrm>
          <a:prstGeom prst="snip2DiagRect">
            <a:avLst/>
          </a:prstGeom>
          <a:solidFill>
            <a:srgbClr val="143F6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Mitigate Contract Churn</a:t>
            </a:r>
          </a:p>
        </p:txBody>
      </p:sp>
      <p:sp>
        <p:nvSpPr>
          <p:cNvPr id="6" name="Rectangle: Diagonal Corners Snipped 5">
            <a:extLst>
              <a:ext uri="{FF2B5EF4-FFF2-40B4-BE49-F238E27FC236}">
                <a16:creationId xmlns:a16="http://schemas.microsoft.com/office/drawing/2014/main" id="{919B172F-0E33-1E11-B2A6-335FB7C55829}"/>
              </a:ext>
            </a:extLst>
          </p:cNvPr>
          <p:cNvSpPr/>
          <p:nvPr/>
        </p:nvSpPr>
        <p:spPr>
          <a:xfrm>
            <a:off x="221942" y="3294412"/>
            <a:ext cx="2216458" cy="1554480"/>
          </a:xfrm>
          <a:prstGeom prst="snip2DiagRect">
            <a:avLst/>
          </a:prstGeom>
          <a:solidFill>
            <a:srgbClr val="143F6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Grow ASC Portfolio</a:t>
            </a:r>
          </a:p>
        </p:txBody>
      </p:sp>
      <p:sp>
        <p:nvSpPr>
          <p:cNvPr id="7" name="Rectangle: Diagonal Corners Snipped 6">
            <a:extLst>
              <a:ext uri="{FF2B5EF4-FFF2-40B4-BE49-F238E27FC236}">
                <a16:creationId xmlns:a16="http://schemas.microsoft.com/office/drawing/2014/main" id="{AB3A8720-1E17-14CE-4DB2-B7B81ABDB295}"/>
              </a:ext>
            </a:extLst>
          </p:cNvPr>
          <p:cNvSpPr/>
          <p:nvPr/>
        </p:nvSpPr>
        <p:spPr>
          <a:xfrm>
            <a:off x="221942" y="5085035"/>
            <a:ext cx="2216458" cy="1554480"/>
          </a:xfrm>
          <a:prstGeom prst="snip2DiagRect">
            <a:avLst/>
          </a:prstGeom>
          <a:solidFill>
            <a:srgbClr val="143F6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Expand Margin Profile</a:t>
            </a:r>
          </a:p>
        </p:txBody>
      </p:sp>
      <p:sp>
        <p:nvSpPr>
          <p:cNvPr id="9" name="Rectangle 8">
            <a:extLst>
              <a:ext uri="{FF2B5EF4-FFF2-40B4-BE49-F238E27FC236}">
                <a16:creationId xmlns:a16="http://schemas.microsoft.com/office/drawing/2014/main" id="{A2C5DED3-3AE8-A59E-8399-0625572709E7}"/>
              </a:ext>
            </a:extLst>
          </p:cNvPr>
          <p:cNvSpPr/>
          <p:nvPr/>
        </p:nvSpPr>
        <p:spPr>
          <a:xfrm>
            <a:off x="221942" y="922919"/>
            <a:ext cx="2216458" cy="45820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Key Pillars</a:t>
            </a:r>
          </a:p>
        </p:txBody>
      </p:sp>
      <p:cxnSp>
        <p:nvCxnSpPr>
          <p:cNvPr id="11" name="Straight Connector 10">
            <a:extLst>
              <a:ext uri="{FF2B5EF4-FFF2-40B4-BE49-F238E27FC236}">
                <a16:creationId xmlns:a16="http://schemas.microsoft.com/office/drawing/2014/main" id="{22E45B36-CE51-2247-D818-73D45EED50FE}"/>
              </a:ext>
            </a:extLst>
          </p:cNvPr>
          <p:cNvCxnSpPr>
            <a:cxnSpLocks/>
          </p:cNvCxnSpPr>
          <p:nvPr/>
        </p:nvCxnSpPr>
        <p:spPr>
          <a:xfrm>
            <a:off x="221942" y="3176340"/>
            <a:ext cx="8778240" cy="0"/>
          </a:xfrm>
          <a:prstGeom prst="line">
            <a:avLst/>
          </a:prstGeom>
          <a:ln w="19050">
            <a:solidFill>
              <a:schemeClr val="bg1">
                <a:lumMod val="7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7B40B735-286D-CD67-C3FE-85DECF4EE904}"/>
              </a:ext>
            </a:extLst>
          </p:cNvPr>
          <p:cNvCxnSpPr>
            <a:cxnSpLocks/>
          </p:cNvCxnSpPr>
          <p:nvPr/>
        </p:nvCxnSpPr>
        <p:spPr>
          <a:xfrm>
            <a:off x="221942" y="4966964"/>
            <a:ext cx="8778240" cy="0"/>
          </a:xfrm>
          <a:prstGeom prst="line">
            <a:avLst/>
          </a:prstGeom>
          <a:ln w="19050">
            <a:solidFill>
              <a:schemeClr val="bg1">
                <a:lumMod val="75000"/>
              </a:schemeClr>
            </a:solidFill>
            <a:prstDash val="dash"/>
          </a:ln>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02DDE113-46BD-0EF2-112A-EFCD72EEBD42}"/>
              </a:ext>
            </a:extLst>
          </p:cNvPr>
          <p:cNvSpPr/>
          <p:nvPr/>
        </p:nvSpPr>
        <p:spPr>
          <a:xfrm>
            <a:off x="49369" y="2108901"/>
            <a:ext cx="345147" cy="344255"/>
          </a:xfrm>
          <a:prstGeom prst="ellipse">
            <a:avLst/>
          </a:prstGeom>
          <a:solidFill>
            <a:srgbClr val="143F6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1</a:t>
            </a:r>
          </a:p>
        </p:txBody>
      </p:sp>
      <p:sp>
        <p:nvSpPr>
          <p:cNvPr id="15" name="Oval 14">
            <a:extLst>
              <a:ext uri="{FF2B5EF4-FFF2-40B4-BE49-F238E27FC236}">
                <a16:creationId xmlns:a16="http://schemas.microsoft.com/office/drawing/2014/main" id="{782E2943-9732-FEC4-571F-819CAD1090F5}"/>
              </a:ext>
            </a:extLst>
          </p:cNvPr>
          <p:cNvSpPr/>
          <p:nvPr/>
        </p:nvSpPr>
        <p:spPr>
          <a:xfrm>
            <a:off x="49369" y="3899525"/>
            <a:ext cx="345147" cy="344255"/>
          </a:xfrm>
          <a:prstGeom prst="ellipse">
            <a:avLst/>
          </a:prstGeom>
          <a:solidFill>
            <a:srgbClr val="143F6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sp>
        <p:nvSpPr>
          <p:cNvPr id="18" name="Oval 17">
            <a:extLst>
              <a:ext uri="{FF2B5EF4-FFF2-40B4-BE49-F238E27FC236}">
                <a16:creationId xmlns:a16="http://schemas.microsoft.com/office/drawing/2014/main" id="{5FBD0163-08D9-AE22-B2A3-94879EB6ED44}"/>
              </a:ext>
            </a:extLst>
          </p:cNvPr>
          <p:cNvSpPr/>
          <p:nvPr/>
        </p:nvSpPr>
        <p:spPr>
          <a:xfrm>
            <a:off x="49369" y="5690148"/>
            <a:ext cx="345147" cy="344255"/>
          </a:xfrm>
          <a:prstGeom prst="ellipse">
            <a:avLst/>
          </a:prstGeom>
          <a:solidFill>
            <a:srgbClr val="143F6A"/>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3</a:t>
            </a:r>
          </a:p>
        </p:txBody>
      </p:sp>
      <p:sp>
        <p:nvSpPr>
          <p:cNvPr id="19" name="Rectangle 18">
            <a:extLst>
              <a:ext uri="{FF2B5EF4-FFF2-40B4-BE49-F238E27FC236}">
                <a16:creationId xmlns:a16="http://schemas.microsoft.com/office/drawing/2014/main" id="{A2105553-7E65-C400-1B58-0D4D899DCA44}"/>
              </a:ext>
            </a:extLst>
          </p:cNvPr>
          <p:cNvSpPr/>
          <p:nvPr/>
        </p:nvSpPr>
        <p:spPr>
          <a:xfrm>
            <a:off x="2543174" y="1503788"/>
            <a:ext cx="3981451" cy="15544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3736" indent="-173736">
              <a:spcBef>
                <a:spcPts val="300"/>
              </a:spcBef>
              <a:spcAft>
                <a:spcPts val="300"/>
              </a:spcAft>
              <a:buFont typeface="Arial" panose="020B0604020202020204" pitchFamily="34" charset="0"/>
              <a:buChar char="•"/>
            </a:pPr>
            <a:r>
              <a:rPr lang="en-US" sz="1200" dirty="0">
                <a:solidFill>
                  <a:schemeClr val="tx1"/>
                </a:solidFill>
              </a:rPr>
              <a:t>Strengthen partner satisfaction and create structure around relationship management</a:t>
            </a:r>
          </a:p>
          <a:p>
            <a:pPr marL="173736" indent="-173736">
              <a:spcBef>
                <a:spcPts val="300"/>
              </a:spcBef>
              <a:spcAft>
                <a:spcPts val="300"/>
              </a:spcAft>
              <a:buFont typeface="Arial" panose="020B0604020202020204" pitchFamily="34" charset="0"/>
              <a:buChar char="•"/>
            </a:pPr>
            <a:r>
              <a:rPr lang="en-US" sz="1200" dirty="0">
                <a:solidFill>
                  <a:schemeClr val="tx1"/>
                </a:solidFill>
              </a:rPr>
              <a:t>Improve collection performance to reduce ASC subsidies</a:t>
            </a:r>
          </a:p>
          <a:p>
            <a:pPr marL="173736" indent="-173736">
              <a:spcBef>
                <a:spcPts val="300"/>
              </a:spcBef>
              <a:spcAft>
                <a:spcPts val="300"/>
              </a:spcAft>
              <a:buFont typeface="Arial" panose="020B0604020202020204" pitchFamily="34" charset="0"/>
              <a:buChar char="•"/>
            </a:pPr>
            <a:r>
              <a:rPr lang="en-US" sz="1200" dirty="0">
                <a:solidFill>
                  <a:schemeClr val="tx1"/>
                </a:solidFill>
              </a:rPr>
              <a:t>Maintain reliable, high-quality staffing coverage</a:t>
            </a:r>
          </a:p>
        </p:txBody>
      </p:sp>
      <p:sp>
        <p:nvSpPr>
          <p:cNvPr id="21" name="Rectangle 20">
            <a:extLst>
              <a:ext uri="{FF2B5EF4-FFF2-40B4-BE49-F238E27FC236}">
                <a16:creationId xmlns:a16="http://schemas.microsoft.com/office/drawing/2014/main" id="{C1CDABA9-455F-9F31-7596-729E7D57B291}"/>
              </a:ext>
            </a:extLst>
          </p:cNvPr>
          <p:cNvSpPr/>
          <p:nvPr/>
        </p:nvSpPr>
        <p:spPr>
          <a:xfrm>
            <a:off x="2543174" y="5085035"/>
            <a:ext cx="3981451" cy="15544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3736" indent="-173736">
              <a:spcBef>
                <a:spcPts val="200"/>
              </a:spcBef>
              <a:spcAft>
                <a:spcPts val="200"/>
              </a:spcAft>
              <a:buFont typeface="Arial" panose="020B0604020202020204" pitchFamily="34" charset="0"/>
              <a:buChar char="•"/>
            </a:pPr>
            <a:r>
              <a:rPr lang="en-US" sz="1200" dirty="0">
                <a:solidFill>
                  <a:schemeClr val="tx1"/>
                </a:solidFill>
              </a:rPr>
              <a:t>Improve RCM performance collections above labor floor</a:t>
            </a:r>
          </a:p>
          <a:p>
            <a:pPr marL="173736" indent="-173736">
              <a:spcBef>
                <a:spcPts val="200"/>
              </a:spcBef>
              <a:spcAft>
                <a:spcPts val="200"/>
              </a:spcAft>
              <a:buFont typeface="Arial" panose="020B0604020202020204" pitchFamily="34" charset="0"/>
              <a:buChar char="•"/>
            </a:pPr>
            <a:r>
              <a:rPr lang="en-US" sz="1200" dirty="0">
                <a:solidFill>
                  <a:schemeClr val="tx1"/>
                </a:solidFill>
              </a:rPr>
              <a:t>Optimize contract pricing and structure (i.e., true-ups) to capture upside</a:t>
            </a:r>
          </a:p>
          <a:p>
            <a:pPr marL="173736" indent="-173736">
              <a:spcBef>
                <a:spcPts val="200"/>
              </a:spcBef>
              <a:spcAft>
                <a:spcPts val="200"/>
              </a:spcAft>
              <a:buFont typeface="Arial" panose="020B0604020202020204" pitchFamily="34" charset="0"/>
              <a:buChar char="•"/>
            </a:pPr>
            <a:r>
              <a:rPr lang="en-US" sz="1200" dirty="0">
                <a:solidFill>
                  <a:schemeClr val="tx1"/>
                </a:solidFill>
              </a:rPr>
              <a:t>Drive density in existing and new markets, achieving sufficient scale to negotiate favorable rates with payors</a:t>
            </a:r>
          </a:p>
          <a:p>
            <a:pPr marL="173736" indent="-173736">
              <a:spcBef>
                <a:spcPts val="200"/>
              </a:spcBef>
              <a:spcAft>
                <a:spcPts val="200"/>
              </a:spcAft>
              <a:buFont typeface="Arial" panose="020B0604020202020204" pitchFamily="34" charset="0"/>
              <a:buChar char="•"/>
            </a:pPr>
            <a:r>
              <a:rPr lang="en-US" sz="1200" dirty="0">
                <a:solidFill>
                  <a:schemeClr val="tx1"/>
                </a:solidFill>
              </a:rPr>
              <a:t>Expand into higher reimbursement rate states with favorable payor mixes</a:t>
            </a:r>
          </a:p>
        </p:txBody>
      </p:sp>
      <p:sp>
        <p:nvSpPr>
          <p:cNvPr id="20" name="Rectangle 19">
            <a:extLst>
              <a:ext uri="{FF2B5EF4-FFF2-40B4-BE49-F238E27FC236}">
                <a16:creationId xmlns:a16="http://schemas.microsoft.com/office/drawing/2014/main" id="{0F1A7ADF-F27A-BF1C-0743-75AEAC0FDB63}"/>
              </a:ext>
            </a:extLst>
          </p:cNvPr>
          <p:cNvSpPr/>
          <p:nvPr/>
        </p:nvSpPr>
        <p:spPr>
          <a:xfrm>
            <a:off x="2543174" y="3294413"/>
            <a:ext cx="3981451" cy="15544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3736" indent="-173736">
              <a:spcBef>
                <a:spcPts val="300"/>
              </a:spcBef>
              <a:spcAft>
                <a:spcPts val="300"/>
              </a:spcAft>
              <a:buFont typeface="Arial" panose="020B0604020202020204" pitchFamily="34" charset="0"/>
              <a:buChar char="•"/>
            </a:pPr>
            <a:r>
              <a:rPr lang="en-US" sz="1200" dirty="0">
                <a:solidFill>
                  <a:schemeClr val="tx1"/>
                </a:solidFill>
              </a:rPr>
              <a:t>Improved top-of-funnel activity (increased RFPs and referrals)</a:t>
            </a:r>
          </a:p>
          <a:p>
            <a:pPr marL="173736" indent="-173736">
              <a:spcBef>
                <a:spcPts val="300"/>
              </a:spcBef>
              <a:spcAft>
                <a:spcPts val="300"/>
              </a:spcAft>
              <a:buFont typeface="Arial" panose="020B0604020202020204" pitchFamily="34" charset="0"/>
              <a:buChar char="•"/>
            </a:pPr>
            <a:r>
              <a:rPr lang="en-US" sz="1200" dirty="0">
                <a:solidFill>
                  <a:schemeClr val="tx1"/>
                </a:solidFill>
              </a:rPr>
              <a:t>Improved conversion from RFP to signed contract</a:t>
            </a:r>
          </a:p>
          <a:p>
            <a:pPr marL="173736" indent="-173736">
              <a:spcBef>
                <a:spcPts val="300"/>
              </a:spcBef>
              <a:spcAft>
                <a:spcPts val="300"/>
              </a:spcAft>
              <a:buFont typeface="Arial" panose="020B0604020202020204" pitchFamily="34" charset="0"/>
              <a:buChar char="•"/>
            </a:pPr>
            <a:r>
              <a:rPr lang="en-US" sz="1200" dirty="0">
                <a:solidFill>
                  <a:schemeClr val="tx1"/>
                </a:solidFill>
              </a:rPr>
              <a:t>Expanding into new markets</a:t>
            </a:r>
          </a:p>
          <a:p>
            <a:pPr marL="173736" indent="-173736">
              <a:spcBef>
                <a:spcPts val="300"/>
              </a:spcBef>
              <a:spcAft>
                <a:spcPts val="300"/>
              </a:spcAft>
              <a:buFont typeface="Arial" panose="020B0604020202020204" pitchFamily="34" charset="0"/>
              <a:buChar char="•"/>
            </a:pPr>
            <a:r>
              <a:rPr lang="en-US" sz="1200" dirty="0">
                <a:solidFill>
                  <a:schemeClr val="tx1"/>
                </a:solidFill>
              </a:rPr>
              <a:t>Partnering with management companies as they build and acquire new ASCs</a:t>
            </a:r>
          </a:p>
        </p:txBody>
      </p:sp>
      <p:grpSp>
        <p:nvGrpSpPr>
          <p:cNvPr id="26" name="Group 25">
            <a:extLst>
              <a:ext uri="{FF2B5EF4-FFF2-40B4-BE49-F238E27FC236}">
                <a16:creationId xmlns:a16="http://schemas.microsoft.com/office/drawing/2014/main" id="{6D75C0FA-836F-B24A-FE52-42387C357790}"/>
              </a:ext>
            </a:extLst>
          </p:cNvPr>
          <p:cNvGrpSpPr/>
          <p:nvPr/>
        </p:nvGrpSpPr>
        <p:grpSpPr>
          <a:xfrm>
            <a:off x="2543175" y="922919"/>
            <a:ext cx="3981450" cy="458205"/>
            <a:chOff x="2543175" y="922919"/>
            <a:chExt cx="3981450" cy="458205"/>
          </a:xfrm>
        </p:grpSpPr>
        <p:sp>
          <p:nvSpPr>
            <p:cNvPr id="22" name="Rectangle 21">
              <a:extLst>
                <a:ext uri="{FF2B5EF4-FFF2-40B4-BE49-F238E27FC236}">
                  <a16:creationId xmlns:a16="http://schemas.microsoft.com/office/drawing/2014/main" id="{40E249E5-F3A0-3899-DC41-10D7A777A26C}"/>
                </a:ext>
              </a:extLst>
            </p:cNvPr>
            <p:cNvSpPr/>
            <p:nvPr/>
          </p:nvSpPr>
          <p:spPr>
            <a:xfrm>
              <a:off x="2543175" y="922919"/>
              <a:ext cx="3981450" cy="45820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Key Levers</a:t>
              </a:r>
            </a:p>
          </p:txBody>
        </p:sp>
        <p:cxnSp>
          <p:nvCxnSpPr>
            <p:cNvPr id="23" name="Straight Connector 22">
              <a:extLst>
                <a:ext uri="{FF2B5EF4-FFF2-40B4-BE49-F238E27FC236}">
                  <a16:creationId xmlns:a16="http://schemas.microsoft.com/office/drawing/2014/main" id="{5A09CE00-B9EA-051E-A092-1C0684F327CB}"/>
                </a:ext>
              </a:extLst>
            </p:cNvPr>
            <p:cNvCxnSpPr>
              <a:cxnSpLocks/>
            </p:cNvCxnSpPr>
            <p:nvPr/>
          </p:nvCxnSpPr>
          <p:spPr>
            <a:xfrm>
              <a:off x="2543175" y="1322969"/>
              <a:ext cx="3981450"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3" name="Group 2">
            <a:extLst>
              <a:ext uri="{FF2B5EF4-FFF2-40B4-BE49-F238E27FC236}">
                <a16:creationId xmlns:a16="http://schemas.microsoft.com/office/drawing/2014/main" id="{3CEF32FC-4193-C076-BC68-92B2DE91ABF5}"/>
              </a:ext>
            </a:extLst>
          </p:cNvPr>
          <p:cNvGrpSpPr/>
          <p:nvPr/>
        </p:nvGrpSpPr>
        <p:grpSpPr>
          <a:xfrm>
            <a:off x="6514883" y="922919"/>
            <a:ext cx="2519344" cy="458205"/>
            <a:chOff x="6514883" y="922919"/>
            <a:chExt cx="2519344" cy="458205"/>
          </a:xfrm>
        </p:grpSpPr>
        <p:sp>
          <p:nvSpPr>
            <p:cNvPr id="28" name="Rectangle 27">
              <a:extLst>
                <a:ext uri="{FF2B5EF4-FFF2-40B4-BE49-F238E27FC236}">
                  <a16:creationId xmlns:a16="http://schemas.microsoft.com/office/drawing/2014/main" id="{87EB0F20-77B4-E3CE-F588-11B8440BC2C6}"/>
                </a:ext>
              </a:extLst>
            </p:cNvPr>
            <p:cNvSpPr/>
            <p:nvPr/>
          </p:nvSpPr>
          <p:spPr>
            <a:xfrm>
              <a:off x="6514883" y="922919"/>
              <a:ext cx="2519344" cy="45820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Ex. Metrics &amp; Tactics</a:t>
              </a:r>
            </a:p>
          </p:txBody>
        </p:sp>
        <p:cxnSp>
          <p:nvCxnSpPr>
            <p:cNvPr id="29" name="Straight Connector 28">
              <a:extLst>
                <a:ext uri="{FF2B5EF4-FFF2-40B4-BE49-F238E27FC236}">
                  <a16:creationId xmlns:a16="http://schemas.microsoft.com/office/drawing/2014/main" id="{18E5D22D-F850-93E7-826E-791CB6E068B1}"/>
                </a:ext>
              </a:extLst>
            </p:cNvPr>
            <p:cNvCxnSpPr>
              <a:cxnSpLocks/>
            </p:cNvCxnSpPr>
            <p:nvPr/>
          </p:nvCxnSpPr>
          <p:spPr>
            <a:xfrm>
              <a:off x="6629399" y="1322969"/>
              <a:ext cx="2290314"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31" name="Rectangle 30">
            <a:extLst>
              <a:ext uri="{FF2B5EF4-FFF2-40B4-BE49-F238E27FC236}">
                <a16:creationId xmlns:a16="http://schemas.microsoft.com/office/drawing/2014/main" id="{3F161906-8D5D-E772-20EC-AF7D80A7AFA5}"/>
              </a:ext>
            </a:extLst>
          </p:cNvPr>
          <p:cNvSpPr/>
          <p:nvPr/>
        </p:nvSpPr>
        <p:spPr>
          <a:xfrm>
            <a:off x="6629398" y="1503788"/>
            <a:ext cx="2290314" cy="15544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3736" indent="-173736">
              <a:spcBef>
                <a:spcPts val="300"/>
              </a:spcBef>
              <a:spcAft>
                <a:spcPts val="300"/>
              </a:spcAft>
              <a:buFont typeface="Arial" panose="020B0604020202020204" pitchFamily="34" charset="0"/>
              <a:buChar char="•"/>
            </a:pPr>
            <a:r>
              <a:rPr lang="en-US" sz="1200" dirty="0">
                <a:solidFill>
                  <a:schemeClr val="tx1"/>
                </a:solidFill>
              </a:rPr>
              <a:t>Administer center satisfaction scorecard</a:t>
            </a:r>
          </a:p>
          <a:p>
            <a:pPr marL="173736" indent="-173736">
              <a:spcBef>
                <a:spcPts val="300"/>
              </a:spcBef>
              <a:spcAft>
                <a:spcPts val="300"/>
              </a:spcAft>
              <a:buFont typeface="Arial" panose="020B0604020202020204" pitchFamily="34" charset="0"/>
              <a:buChar char="•"/>
            </a:pPr>
            <a:r>
              <a:rPr lang="en-US" sz="1200" dirty="0">
                <a:solidFill>
                  <a:schemeClr val="tx1"/>
                </a:solidFill>
              </a:rPr>
              <a:t>Implement account management strategy</a:t>
            </a:r>
          </a:p>
          <a:p>
            <a:pPr marL="173736" indent="-173736">
              <a:spcBef>
                <a:spcPts val="300"/>
              </a:spcBef>
              <a:spcAft>
                <a:spcPts val="300"/>
              </a:spcAft>
              <a:buFont typeface="Arial" panose="020B0604020202020204" pitchFamily="34" charset="0"/>
              <a:buChar char="•"/>
            </a:pPr>
            <a:r>
              <a:rPr lang="en-US" sz="1200" dirty="0">
                <a:solidFill>
                  <a:schemeClr val="tx1"/>
                </a:solidFill>
              </a:rPr>
              <a:t>Track monthly subsidizing coverage by center</a:t>
            </a:r>
          </a:p>
          <a:p>
            <a:pPr marL="173736" indent="-173736">
              <a:spcBef>
                <a:spcPts val="300"/>
              </a:spcBef>
              <a:spcAft>
                <a:spcPts val="300"/>
              </a:spcAft>
              <a:buFont typeface="Arial" panose="020B0604020202020204" pitchFamily="34" charset="0"/>
              <a:buChar char="•"/>
            </a:pPr>
            <a:r>
              <a:rPr lang="en-US" sz="1200" dirty="0">
                <a:solidFill>
                  <a:schemeClr val="tx1"/>
                </a:solidFill>
              </a:rPr>
              <a:t>Track provider retention and on-time coverage rate</a:t>
            </a:r>
          </a:p>
        </p:txBody>
      </p:sp>
      <p:sp>
        <p:nvSpPr>
          <p:cNvPr id="32" name="Rectangle 31">
            <a:extLst>
              <a:ext uri="{FF2B5EF4-FFF2-40B4-BE49-F238E27FC236}">
                <a16:creationId xmlns:a16="http://schemas.microsoft.com/office/drawing/2014/main" id="{D3175DCD-061B-F217-7813-D82F9F61B6D9}"/>
              </a:ext>
            </a:extLst>
          </p:cNvPr>
          <p:cNvSpPr/>
          <p:nvPr/>
        </p:nvSpPr>
        <p:spPr>
          <a:xfrm>
            <a:off x="6629398" y="5085035"/>
            <a:ext cx="2290314" cy="15544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3736" indent="-173736">
              <a:spcBef>
                <a:spcPts val="200"/>
              </a:spcBef>
              <a:spcAft>
                <a:spcPts val="200"/>
              </a:spcAft>
              <a:buFont typeface="Arial" panose="020B0604020202020204" pitchFamily="34" charset="0"/>
              <a:buChar char="•"/>
            </a:pPr>
            <a:r>
              <a:rPr lang="en-US" sz="1200" dirty="0">
                <a:solidFill>
                  <a:schemeClr val="tx1"/>
                </a:solidFill>
              </a:rPr>
              <a:t>Track Gross Margin by ASC</a:t>
            </a:r>
          </a:p>
          <a:p>
            <a:pPr marL="173736" indent="-173736">
              <a:spcBef>
                <a:spcPts val="200"/>
              </a:spcBef>
              <a:spcAft>
                <a:spcPts val="200"/>
              </a:spcAft>
              <a:buFont typeface="Arial" panose="020B0604020202020204" pitchFamily="34" charset="0"/>
              <a:buChar char="•"/>
            </a:pPr>
            <a:r>
              <a:rPr lang="en-US" sz="1200" dirty="0">
                <a:solidFill>
                  <a:schemeClr val="tx1"/>
                </a:solidFill>
              </a:rPr>
              <a:t>Track % contracts above floor</a:t>
            </a:r>
          </a:p>
          <a:p>
            <a:pPr marL="173736" indent="-173736">
              <a:spcBef>
                <a:spcPts val="200"/>
              </a:spcBef>
              <a:spcAft>
                <a:spcPts val="200"/>
              </a:spcAft>
              <a:buFont typeface="Arial" panose="020B0604020202020204" pitchFamily="34" charset="0"/>
              <a:buChar char="•"/>
            </a:pPr>
            <a:r>
              <a:rPr lang="en-US" sz="1200" dirty="0">
                <a:solidFill>
                  <a:schemeClr val="tx1"/>
                </a:solidFill>
              </a:rPr>
              <a:t>Calculate weighted average reimbursement rate by payor</a:t>
            </a:r>
          </a:p>
        </p:txBody>
      </p:sp>
      <p:sp>
        <p:nvSpPr>
          <p:cNvPr id="33" name="Rectangle 32">
            <a:extLst>
              <a:ext uri="{FF2B5EF4-FFF2-40B4-BE49-F238E27FC236}">
                <a16:creationId xmlns:a16="http://schemas.microsoft.com/office/drawing/2014/main" id="{95C72B7A-AFA3-030A-EBF1-F9D3338F25F2}"/>
              </a:ext>
            </a:extLst>
          </p:cNvPr>
          <p:cNvSpPr/>
          <p:nvPr/>
        </p:nvSpPr>
        <p:spPr>
          <a:xfrm>
            <a:off x="6629398" y="3294413"/>
            <a:ext cx="2290314" cy="15544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3736" indent="-173736">
              <a:spcBef>
                <a:spcPts val="300"/>
              </a:spcBef>
              <a:spcAft>
                <a:spcPts val="300"/>
              </a:spcAft>
              <a:buFont typeface="Arial" panose="020B0604020202020204" pitchFamily="34" charset="0"/>
              <a:buChar char="•"/>
            </a:pPr>
            <a:r>
              <a:rPr lang="en-US" sz="1200" dirty="0">
                <a:solidFill>
                  <a:schemeClr val="tx1"/>
                </a:solidFill>
              </a:rPr>
              <a:t>Examine pipeline tracking process and determine if it a CRM is needed</a:t>
            </a:r>
          </a:p>
          <a:p>
            <a:pPr marL="173736" indent="-173736">
              <a:spcBef>
                <a:spcPts val="300"/>
              </a:spcBef>
              <a:spcAft>
                <a:spcPts val="300"/>
              </a:spcAft>
              <a:buFont typeface="Arial" panose="020B0604020202020204" pitchFamily="34" charset="0"/>
              <a:buChar char="•"/>
            </a:pPr>
            <a:r>
              <a:rPr lang="en-US" sz="1200" dirty="0">
                <a:solidFill>
                  <a:schemeClr val="tx1"/>
                </a:solidFill>
              </a:rPr>
              <a:t>Create incentive structure for ASC referrals by providers</a:t>
            </a:r>
          </a:p>
          <a:p>
            <a:pPr marL="173736" indent="-173736">
              <a:spcBef>
                <a:spcPts val="300"/>
              </a:spcBef>
              <a:spcAft>
                <a:spcPts val="300"/>
              </a:spcAft>
              <a:buFont typeface="Arial" panose="020B0604020202020204" pitchFamily="34" charset="0"/>
              <a:buChar char="•"/>
            </a:pPr>
            <a:r>
              <a:rPr lang="en-US" sz="1200" dirty="0">
                <a:solidFill>
                  <a:schemeClr val="tx1"/>
                </a:solidFill>
              </a:rPr>
              <a:t>Create scorecard for new market attractiveness</a:t>
            </a:r>
          </a:p>
        </p:txBody>
      </p:sp>
    </p:spTree>
    <p:extLst>
      <p:ext uri="{BB962C8B-B14F-4D97-AF65-F5344CB8AC3E}">
        <p14:creationId xmlns:p14="http://schemas.microsoft.com/office/powerpoint/2010/main" val="1295218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14E12-B213-B9B0-3DC1-4B5FF4C938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23AD1D-78C9-27B5-FBF8-33AA86DBD047}"/>
              </a:ext>
            </a:extLst>
          </p:cNvPr>
          <p:cNvSpPr>
            <a:spLocks noGrp="1"/>
          </p:cNvSpPr>
          <p:nvPr>
            <p:ph type="title"/>
          </p:nvPr>
        </p:nvSpPr>
        <p:spPr/>
        <p:txBody>
          <a:bodyPr>
            <a:normAutofit/>
          </a:bodyPr>
          <a:lstStyle/>
          <a:p>
            <a:r>
              <a:rPr lang="en-US" dirty="0"/>
              <a:t>Historical Centers Added and Lost</a:t>
            </a:r>
          </a:p>
        </p:txBody>
      </p:sp>
      <p:sp>
        <p:nvSpPr>
          <p:cNvPr id="9" name="Slide Number Placeholder 8">
            <a:extLst>
              <a:ext uri="{FF2B5EF4-FFF2-40B4-BE49-F238E27FC236}">
                <a16:creationId xmlns:a16="http://schemas.microsoft.com/office/drawing/2014/main" id="{F28CF0C3-9EDE-5436-3A99-DA5F111CF5B0}"/>
              </a:ext>
            </a:extLst>
          </p:cNvPr>
          <p:cNvSpPr>
            <a:spLocks noGrp="1"/>
          </p:cNvSpPr>
          <p:nvPr>
            <p:ph type="sldNum" sz="quarter" idx="12"/>
          </p:nvPr>
        </p:nvSpPr>
        <p:spPr/>
        <p:txBody>
          <a:bodyPr/>
          <a:lstStyle/>
          <a:p>
            <a:fld id="{F8DDDAE5-3BDD-4D78-843B-A22FA78305BB}" type="slidenum">
              <a:rPr lang="en-US" smtClean="0"/>
              <a:t>57</a:t>
            </a:fld>
            <a:endParaRPr lang="en-US" dirty="0"/>
          </a:p>
        </p:txBody>
      </p:sp>
      <p:sp>
        <p:nvSpPr>
          <p:cNvPr id="20" name="TextBox 19">
            <a:extLst>
              <a:ext uri="{FF2B5EF4-FFF2-40B4-BE49-F238E27FC236}">
                <a16:creationId xmlns:a16="http://schemas.microsoft.com/office/drawing/2014/main" id="{38E4D7A4-F2CC-8E34-4C0E-FB1454D23ADC}"/>
              </a:ext>
            </a:extLst>
          </p:cNvPr>
          <p:cNvSpPr txBox="1"/>
          <p:nvPr/>
        </p:nvSpPr>
        <p:spPr>
          <a:xfrm>
            <a:off x="228600" y="936524"/>
            <a:ext cx="8686800" cy="276999"/>
          </a:xfrm>
          <a:prstGeom prst="rect">
            <a:avLst/>
          </a:prstGeom>
          <a:noFill/>
        </p:spPr>
        <p:txBody>
          <a:bodyPr wrap="square" rtlCol="0">
            <a:spAutoFit/>
          </a:bodyPr>
          <a:lstStyle/>
          <a:p>
            <a:pPr>
              <a:spcBef>
                <a:spcPts val="300"/>
              </a:spcBef>
              <a:spcAft>
                <a:spcPts val="300"/>
              </a:spcAft>
            </a:pPr>
            <a:r>
              <a:rPr lang="en-US" sz="1200" dirty="0"/>
              <a:t>AAS has experienced rapid growth, adding 1 new ASC per year in 2020 and 2021, to 7 new ASCs added in 2025 alone</a:t>
            </a:r>
          </a:p>
        </p:txBody>
      </p:sp>
      <p:sp>
        <p:nvSpPr>
          <p:cNvPr id="4" name="Rectangle: Diagonal Corners Snipped 3">
            <a:extLst>
              <a:ext uri="{FF2B5EF4-FFF2-40B4-BE49-F238E27FC236}">
                <a16:creationId xmlns:a16="http://schemas.microsoft.com/office/drawing/2014/main" id="{44290BA6-6C11-9C66-E61B-0D923184D599}"/>
              </a:ext>
            </a:extLst>
          </p:cNvPr>
          <p:cNvSpPr/>
          <p:nvPr/>
        </p:nvSpPr>
        <p:spPr>
          <a:xfrm>
            <a:off x="182880" y="1474858"/>
            <a:ext cx="8778240"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ASC Rollforward</a:t>
            </a:r>
          </a:p>
        </p:txBody>
      </p:sp>
      <p:sp>
        <p:nvSpPr>
          <p:cNvPr id="10" name="TextBox 9">
            <a:extLst>
              <a:ext uri="{FF2B5EF4-FFF2-40B4-BE49-F238E27FC236}">
                <a16:creationId xmlns:a16="http://schemas.microsoft.com/office/drawing/2014/main" id="{FF3F54EC-76FF-7C52-44E2-93E097332EE0}"/>
              </a:ext>
            </a:extLst>
          </p:cNvPr>
          <p:cNvSpPr txBox="1"/>
          <p:nvPr/>
        </p:nvSpPr>
        <p:spPr>
          <a:xfrm>
            <a:off x="873" y="6586525"/>
            <a:ext cx="7315200" cy="215444"/>
          </a:xfrm>
          <a:prstGeom prst="rect">
            <a:avLst/>
          </a:prstGeom>
          <a:solidFill>
            <a:schemeClr val="bg1"/>
          </a:solidFill>
        </p:spPr>
        <p:txBody>
          <a:bodyPr wrap="square" rtlCol="0">
            <a:spAutoFit/>
          </a:bodyPr>
          <a:lstStyle/>
          <a:p>
            <a:r>
              <a:rPr lang="en-US" sz="800" dirty="0"/>
              <a:t>Note: 2025 adds exclude the 4 APC centers as the start date is not yet confirmed; also excludes Atlas (Livonia) which is a 2026 start</a:t>
            </a:r>
          </a:p>
        </p:txBody>
      </p:sp>
      <p:pic>
        <p:nvPicPr>
          <p:cNvPr id="5" name="Picture 4">
            <a:extLst>
              <a:ext uri="{FF2B5EF4-FFF2-40B4-BE49-F238E27FC236}">
                <a16:creationId xmlns:a16="http://schemas.microsoft.com/office/drawing/2014/main" id="{BBC27DBE-AC4C-4BD4-7C0C-66FF46A82599}"/>
              </a:ext>
            </a:extLst>
          </p:cNvPr>
          <p:cNvPicPr>
            <a:picLocks noChangeAspect="1"/>
          </p:cNvPicPr>
          <p:nvPr/>
        </p:nvPicPr>
        <p:blipFill>
          <a:blip r:embed="rId2"/>
          <a:stretch>
            <a:fillRect/>
          </a:stretch>
        </p:blipFill>
        <p:spPr>
          <a:xfrm>
            <a:off x="182880" y="1846479"/>
            <a:ext cx="8778240" cy="3439991"/>
          </a:xfrm>
          <a:prstGeom prst="rect">
            <a:avLst/>
          </a:prstGeom>
          <a:ln w="6350">
            <a:solidFill>
              <a:schemeClr val="tx1"/>
            </a:solidFill>
          </a:ln>
        </p:spPr>
      </p:pic>
    </p:spTree>
    <p:extLst>
      <p:ext uri="{BB962C8B-B14F-4D97-AF65-F5344CB8AC3E}">
        <p14:creationId xmlns:p14="http://schemas.microsoft.com/office/powerpoint/2010/main" val="8269418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DC835-4EFC-E9BC-D703-E47617AF34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6D0CED-8139-AB84-2F41-37871AED1853}"/>
              </a:ext>
            </a:extLst>
          </p:cNvPr>
          <p:cNvSpPr>
            <a:spLocks noGrp="1"/>
          </p:cNvSpPr>
          <p:nvPr>
            <p:ph type="title"/>
          </p:nvPr>
        </p:nvSpPr>
        <p:spPr/>
        <p:txBody>
          <a:bodyPr>
            <a:normAutofit/>
          </a:bodyPr>
          <a:lstStyle/>
          <a:p>
            <a:r>
              <a:rPr lang="en-US" dirty="0"/>
              <a:t>Competitive Landscape</a:t>
            </a:r>
          </a:p>
        </p:txBody>
      </p:sp>
      <p:sp>
        <p:nvSpPr>
          <p:cNvPr id="9" name="Slide Number Placeholder 8">
            <a:extLst>
              <a:ext uri="{FF2B5EF4-FFF2-40B4-BE49-F238E27FC236}">
                <a16:creationId xmlns:a16="http://schemas.microsoft.com/office/drawing/2014/main" id="{C9E4B588-CEA5-C800-2EB4-4A967690BC66}"/>
              </a:ext>
            </a:extLst>
          </p:cNvPr>
          <p:cNvSpPr>
            <a:spLocks noGrp="1"/>
          </p:cNvSpPr>
          <p:nvPr>
            <p:ph type="sldNum" sz="quarter" idx="12"/>
          </p:nvPr>
        </p:nvSpPr>
        <p:spPr/>
        <p:txBody>
          <a:bodyPr/>
          <a:lstStyle/>
          <a:p>
            <a:fld id="{F8DDDAE5-3BDD-4D78-843B-A22FA78305BB}" type="slidenum">
              <a:rPr lang="en-US" smtClean="0"/>
              <a:t>58</a:t>
            </a:fld>
            <a:endParaRPr lang="en-US" dirty="0"/>
          </a:p>
        </p:txBody>
      </p:sp>
      <p:graphicFrame>
        <p:nvGraphicFramePr>
          <p:cNvPr id="7" name="Table 6">
            <a:extLst>
              <a:ext uri="{FF2B5EF4-FFF2-40B4-BE49-F238E27FC236}">
                <a16:creationId xmlns:a16="http://schemas.microsoft.com/office/drawing/2014/main" id="{D945542F-88F2-E676-62A7-2E4453D7F1FD}"/>
              </a:ext>
            </a:extLst>
          </p:cNvPr>
          <p:cNvGraphicFramePr>
            <a:graphicFrameLocks noGrp="1"/>
          </p:cNvGraphicFramePr>
          <p:nvPr/>
        </p:nvGraphicFramePr>
        <p:xfrm>
          <a:off x="178308" y="927422"/>
          <a:ext cx="8787385" cy="3161552"/>
        </p:xfrm>
        <a:graphic>
          <a:graphicData uri="http://schemas.openxmlformats.org/drawingml/2006/table">
            <a:tbl>
              <a:tblPr firstRow="1" bandRow="1">
                <a:tableStyleId>{5C22544A-7EE6-4342-B048-85BDC9FD1C3A}</a:tableStyleId>
              </a:tblPr>
              <a:tblGrid>
                <a:gridCol w="1757477">
                  <a:extLst>
                    <a:ext uri="{9D8B030D-6E8A-4147-A177-3AD203B41FA5}">
                      <a16:colId xmlns:a16="http://schemas.microsoft.com/office/drawing/2014/main" val="2013788962"/>
                    </a:ext>
                  </a:extLst>
                </a:gridCol>
                <a:gridCol w="1757477">
                  <a:extLst>
                    <a:ext uri="{9D8B030D-6E8A-4147-A177-3AD203B41FA5}">
                      <a16:colId xmlns:a16="http://schemas.microsoft.com/office/drawing/2014/main" val="3716730001"/>
                    </a:ext>
                  </a:extLst>
                </a:gridCol>
                <a:gridCol w="1757477">
                  <a:extLst>
                    <a:ext uri="{9D8B030D-6E8A-4147-A177-3AD203B41FA5}">
                      <a16:colId xmlns:a16="http://schemas.microsoft.com/office/drawing/2014/main" val="584997788"/>
                    </a:ext>
                  </a:extLst>
                </a:gridCol>
                <a:gridCol w="1757477">
                  <a:extLst>
                    <a:ext uri="{9D8B030D-6E8A-4147-A177-3AD203B41FA5}">
                      <a16:colId xmlns:a16="http://schemas.microsoft.com/office/drawing/2014/main" val="191570869"/>
                    </a:ext>
                  </a:extLst>
                </a:gridCol>
                <a:gridCol w="1757477">
                  <a:extLst>
                    <a:ext uri="{9D8B030D-6E8A-4147-A177-3AD203B41FA5}">
                      <a16:colId xmlns:a16="http://schemas.microsoft.com/office/drawing/2014/main" val="3835713385"/>
                    </a:ext>
                  </a:extLst>
                </a:gridCol>
              </a:tblGrid>
              <a:tr h="217462">
                <a:tc gridSpan="5">
                  <a:txBody>
                    <a:bodyPr/>
                    <a:lstStyle/>
                    <a:p>
                      <a:pPr algn="ctr"/>
                      <a:r>
                        <a:rPr lang="en-US" sz="1200" dirty="0">
                          <a:solidFill>
                            <a:schemeClr val="bg1"/>
                          </a:solidFill>
                        </a:rPr>
                        <a:t>Indiana</a:t>
                      </a:r>
                    </a:p>
                  </a:txBody>
                  <a:tcPr marL="110642" marR="110642" marT="28388" marB="28388" anchor="ctr">
                    <a:lnB w="3175" cap="flat" cmpd="sng" algn="ctr">
                      <a:solidFill>
                        <a:schemeClr val="bg1"/>
                      </a:solidFill>
                      <a:prstDash val="solid"/>
                      <a:round/>
                      <a:headEnd type="none" w="med" len="med"/>
                      <a:tailEnd type="none" w="med" len="med"/>
                    </a:lnB>
                    <a:solidFill>
                      <a:schemeClr val="accent1">
                        <a:lumMod val="50000"/>
                      </a:schemeClr>
                    </a:solidFill>
                  </a:tcPr>
                </a:tc>
                <a:tc hMerge="1">
                  <a:txBody>
                    <a:bodyPr/>
                    <a:lstStyle/>
                    <a:p>
                      <a:pPr algn="ctr"/>
                      <a:endParaRPr lang="en-US" sz="1000" dirty="0">
                        <a:solidFill>
                          <a:schemeClr val="bg1"/>
                        </a:solidFill>
                      </a:endParaRPr>
                    </a:p>
                  </a:txBody>
                  <a:tcPr marL="110642" marR="110642" marT="28388" marB="28388" anchor="ctr">
                    <a:solidFill>
                      <a:schemeClr val="accent1">
                        <a:lumMod val="50000"/>
                      </a:schemeClr>
                    </a:solidFill>
                  </a:tcPr>
                </a:tc>
                <a:tc hMerge="1">
                  <a:txBody>
                    <a:bodyPr/>
                    <a:lstStyle/>
                    <a:p>
                      <a:pPr algn="ctr"/>
                      <a:endParaRPr lang="en-US" sz="1000" dirty="0">
                        <a:solidFill>
                          <a:schemeClr val="bg1"/>
                        </a:solidFill>
                      </a:endParaRPr>
                    </a:p>
                  </a:txBody>
                  <a:tcPr marL="110642" marR="110642" marT="28388" marB="28388" anchor="ctr">
                    <a:solidFill>
                      <a:schemeClr val="accent1">
                        <a:lumMod val="50000"/>
                      </a:schemeClr>
                    </a:solidFill>
                  </a:tcPr>
                </a:tc>
                <a:tc hMerge="1">
                  <a:txBody>
                    <a:bodyPr/>
                    <a:lstStyle/>
                    <a:p>
                      <a:pPr algn="ctr"/>
                      <a:endParaRPr lang="en-US" sz="1000" dirty="0">
                        <a:solidFill>
                          <a:schemeClr val="bg1"/>
                        </a:solidFill>
                      </a:endParaRPr>
                    </a:p>
                  </a:txBody>
                  <a:tcPr marL="110642" marR="110642" marT="28388" marB="28388" anchor="ctr">
                    <a:solidFill>
                      <a:schemeClr val="accent1">
                        <a:lumMod val="50000"/>
                      </a:schemeClr>
                    </a:solidFill>
                  </a:tcPr>
                </a:tc>
                <a:tc hMerge="1">
                  <a:txBody>
                    <a:bodyPr/>
                    <a:lstStyle/>
                    <a:p>
                      <a:pPr algn="ctr"/>
                      <a:endParaRPr lang="en-US" sz="1000" dirty="0">
                        <a:solidFill>
                          <a:schemeClr val="bg1"/>
                        </a:solidFill>
                      </a:endParaRPr>
                    </a:p>
                  </a:txBody>
                  <a:tcPr marL="110642" marR="110642" marT="28388" marB="28388" anchor="ctr">
                    <a:solidFill>
                      <a:schemeClr val="accent1">
                        <a:lumMod val="50000"/>
                      </a:schemeClr>
                    </a:solidFill>
                  </a:tcPr>
                </a:tc>
                <a:extLst>
                  <a:ext uri="{0D108BD9-81ED-4DB2-BD59-A6C34878D82A}">
                    <a16:rowId xmlns:a16="http://schemas.microsoft.com/office/drawing/2014/main" val="1310104948"/>
                  </a:ext>
                </a:extLst>
              </a:tr>
              <a:tr h="217462">
                <a:tc>
                  <a:txBody>
                    <a:bodyPr/>
                    <a:lstStyle/>
                    <a:p>
                      <a:pPr algn="ctr"/>
                      <a:r>
                        <a:rPr lang="en-US" sz="1000" dirty="0">
                          <a:solidFill>
                            <a:schemeClr val="bg1"/>
                          </a:solidFill>
                        </a:rPr>
                        <a:t>Company</a:t>
                      </a:r>
                    </a:p>
                  </a:txBody>
                  <a:tcPr marL="110642" marR="110642" marT="28388" marB="28388" anchor="ctr">
                    <a:lnT w="3175" cap="flat" cmpd="sng" algn="ctr">
                      <a:solidFill>
                        <a:schemeClr val="bg1"/>
                      </a:solidFill>
                      <a:prstDash val="solid"/>
                      <a:round/>
                      <a:headEnd type="none" w="med" len="med"/>
                      <a:tailEnd type="none" w="med" len="med"/>
                    </a:lnT>
                    <a:solidFill>
                      <a:schemeClr val="accent1">
                        <a:lumMod val="50000"/>
                      </a:schemeClr>
                    </a:solidFill>
                  </a:tcPr>
                </a:tc>
                <a:tc>
                  <a:txBody>
                    <a:bodyPr/>
                    <a:lstStyle/>
                    <a:p>
                      <a:pPr algn="ctr"/>
                      <a:r>
                        <a:rPr lang="en-US" sz="1000" dirty="0">
                          <a:solidFill>
                            <a:schemeClr val="bg1"/>
                          </a:solidFill>
                        </a:rPr>
                        <a:t>Locations Served</a:t>
                      </a:r>
                    </a:p>
                  </a:txBody>
                  <a:tcPr marL="110642" marR="110642" marT="28388" marB="28388" anchor="ctr">
                    <a:lnT w="3175" cap="flat" cmpd="sng" algn="ctr">
                      <a:solidFill>
                        <a:schemeClr val="bg1"/>
                      </a:solidFill>
                      <a:prstDash val="solid"/>
                      <a:round/>
                      <a:headEnd type="none" w="med" len="med"/>
                      <a:tailEnd type="none" w="med" len="med"/>
                    </a:lnT>
                    <a:solidFill>
                      <a:schemeClr val="accent1">
                        <a:lumMod val="50000"/>
                      </a:schemeClr>
                    </a:solidFill>
                  </a:tcPr>
                </a:tc>
                <a:tc>
                  <a:txBody>
                    <a:bodyPr/>
                    <a:lstStyle/>
                    <a:p>
                      <a:pPr algn="ctr"/>
                      <a:r>
                        <a:rPr lang="en-US" sz="1000" dirty="0">
                          <a:solidFill>
                            <a:schemeClr val="bg1"/>
                          </a:solidFill>
                        </a:rPr>
                        <a:t># of Clinicians (Est.)</a:t>
                      </a:r>
                    </a:p>
                  </a:txBody>
                  <a:tcPr marL="110642" marR="110642" marT="28388" marB="28388" anchor="ctr">
                    <a:lnT w="3175" cap="flat" cmpd="sng" algn="ctr">
                      <a:solidFill>
                        <a:schemeClr val="bg1"/>
                      </a:solidFill>
                      <a:prstDash val="solid"/>
                      <a:round/>
                      <a:headEnd type="none" w="med" len="med"/>
                      <a:tailEnd type="none" w="med" len="med"/>
                    </a:lnT>
                    <a:solidFill>
                      <a:schemeClr val="accent1">
                        <a:lumMod val="50000"/>
                      </a:schemeClr>
                    </a:solidFill>
                  </a:tcPr>
                </a:tc>
                <a:tc>
                  <a:txBody>
                    <a:bodyPr/>
                    <a:lstStyle/>
                    <a:p>
                      <a:pPr algn="ctr"/>
                      <a:r>
                        <a:rPr lang="en-US" sz="1000" dirty="0">
                          <a:solidFill>
                            <a:schemeClr val="bg1"/>
                          </a:solidFill>
                        </a:rPr>
                        <a:t>Client Type / Notable Clients</a:t>
                      </a:r>
                    </a:p>
                  </a:txBody>
                  <a:tcPr marL="110642" marR="110642" marT="28388" marB="28388" anchor="ctr">
                    <a:lnT w="3175" cap="flat" cmpd="sng" algn="ctr">
                      <a:solidFill>
                        <a:schemeClr val="bg1"/>
                      </a:solidFill>
                      <a:prstDash val="solid"/>
                      <a:round/>
                      <a:headEnd type="none" w="med" len="med"/>
                      <a:tailEnd type="none" w="med" len="med"/>
                    </a:lnT>
                    <a:solidFill>
                      <a:schemeClr val="accent1">
                        <a:lumMod val="50000"/>
                      </a:schemeClr>
                    </a:solidFill>
                  </a:tcPr>
                </a:tc>
                <a:tc>
                  <a:txBody>
                    <a:bodyPr/>
                    <a:lstStyle/>
                    <a:p>
                      <a:pPr algn="ctr"/>
                      <a:r>
                        <a:rPr lang="en-US" sz="1000" dirty="0">
                          <a:solidFill>
                            <a:schemeClr val="bg1"/>
                          </a:solidFill>
                        </a:rPr>
                        <a:t>Ownership</a:t>
                      </a:r>
                    </a:p>
                  </a:txBody>
                  <a:tcPr marL="110642" marR="110642" marT="28388" marB="28388" anchor="ctr">
                    <a:lnT w="3175" cap="flat" cmpd="sng" algn="ctr">
                      <a:solidFill>
                        <a:schemeClr val="bg1"/>
                      </a:solidFill>
                      <a:prstDash val="solid"/>
                      <a:round/>
                      <a:headEnd type="none" w="med" len="med"/>
                      <a:tailEnd type="none" w="med" len="med"/>
                    </a:lnT>
                    <a:solidFill>
                      <a:schemeClr val="accent1">
                        <a:lumMod val="50000"/>
                      </a:schemeClr>
                    </a:solidFill>
                  </a:tcPr>
                </a:tc>
                <a:extLst>
                  <a:ext uri="{0D108BD9-81ED-4DB2-BD59-A6C34878D82A}">
                    <a16:rowId xmlns:a16="http://schemas.microsoft.com/office/drawing/2014/main" val="2007875439"/>
                  </a:ext>
                </a:extLst>
              </a:tr>
              <a:tr h="365760">
                <a:tc>
                  <a:txBody>
                    <a:bodyPr/>
                    <a:lstStyle/>
                    <a:p>
                      <a:pPr algn="l" fontAlgn="ctr">
                        <a:buNone/>
                      </a:pPr>
                      <a:r>
                        <a:rPr lang="en-US" sz="900" b="0" i="0" u="none" strike="noStrike" dirty="0">
                          <a:solidFill>
                            <a:srgbClr val="000000"/>
                          </a:solidFill>
                          <a:effectLst/>
                          <a:latin typeface="Aptos Narrow" panose="020B0004020202020204" pitchFamily="34" charset="0"/>
                        </a:rPr>
                        <a:t>Anesthesia Services for Indiana</a:t>
                      </a:r>
                    </a:p>
                  </a:txBody>
                  <a:tcPr marL="110642" marR="110642" anchor="ctr">
                    <a:solidFill>
                      <a:schemeClr val="bg1">
                        <a:lumMod val="85000"/>
                      </a:schemeClr>
                    </a:solidFill>
                  </a:tcPr>
                </a:tc>
                <a:tc>
                  <a:txBody>
                    <a:bodyPr/>
                    <a:lstStyle/>
                    <a:p>
                      <a:pPr algn="l" fontAlgn="ctr">
                        <a:buNone/>
                      </a:pPr>
                      <a:r>
                        <a:rPr kumimoji="0" lang="en-US" sz="9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Indiana</a:t>
                      </a:r>
                      <a:endParaRPr lang="en-US" sz="900" b="0" i="0" u="none" strike="noStrike" dirty="0">
                        <a:solidFill>
                          <a:srgbClr val="000000"/>
                        </a:solidFill>
                        <a:effectLst/>
                        <a:latin typeface="Aptos Narrow" panose="020B0004020202020204" pitchFamily="34" charset="0"/>
                      </a:endParaRPr>
                    </a:p>
                  </a:txBody>
                  <a:tcPr marL="110642" marR="110642"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&lt;100</a:t>
                      </a:r>
                    </a:p>
                  </a:txBody>
                  <a:tcPr marL="110642" marR="110642"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N/A</a:t>
                      </a:r>
                    </a:p>
                  </a:txBody>
                  <a:tcPr marL="110642" marR="110642"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Physician-owned</a:t>
                      </a:r>
                    </a:p>
                  </a:txBody>
                  <a:tcPr marL="110642" marR="110642" anchor="ctr">
                    <a:solidFill>
                      <a:schemeClr val="bg1">
                        <a:lumMod val="85000"/>
                      </a:schemeClr>
                    </a:solidFill>
                  </a:tcPr>
                </a:tc>
                <a:extLst>
                  <a:ext uri="{0D108BD9-81ED-4DB2-BD59-A6C34878D82A}">
                    <a16:rowId xmlns:a16="http://schemas.microsoft.com/office/drawing/2014/main" val="2169564543"/>
                  </a:ext>
                </a:extLst>
              </a:tr>
              <a:tr h="365760">
                <a:tc>
                  <a:txBody>
                    <a:bodyPr/>
                    <a:lstStyle/>
                    <a:p>
                      <a:pPr algn="l" fontAlgn="ctr">
                        <a:buNone/>
                      </a:pPr>
                      <a:r>
                        <a:rPr lang="en-US" sz="900" b="0" i="0" u="none" strike="noStrike" dirty="0">
                          <a:solidFill>
                            <a:srgbClr val="000000"/>
                          </a:solidFill>
                          <a:effectLst/>
                          <a:latin typeface="Aptos Narrow" panose="020B0004020202020204" pitchFamily="34" charset="0"/>
                        </a:rPr>
                        <a:t>Indiana Anesthesia Solutions</a:t>
                      </a:r>
                    </a:p>
                  </a:txBody>
                  <a:tcPr marL="110642" marR="110642" anchor="ctr">
                    <a:solidFill>
                      <a:schemeClr val="bg1">
                        <a:lumMod val="95000"/>
                      </a:schemeClr>
                    </a:solidFill>
                  </a:tcPr>
                </a:tc>
                <a:tc>
                  <a:txBody>
                    <a:bodyPr/>
                    <a:lstStyle/>
                    <a:p>
                      <a:pPr algn="l" fontAlgn="ctr">
                        <a:buNone/>
                      </a:pPr>
                      <a:r>
                        <a:rPr kumimoji="0" lang="en-US" sz="9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Indiana</a:t>
                      </a:r>
                      <a:endParaRPr lang="en-US" sz="900" b="0" i="0" u="none" strike="noStrike" dirty="0">
                        <a:solidFill>
                          <a:srgbClr val="000000"/>
                        </a:solidFill>
                        <a:effectLst/>
                        <a:latin typeface="Aptos Narrow" panose="020B0004020202020204" pitchFamily="34" charset="0"/>
                      </a:endParaRPr>
                    </a:p>
                  </a:txBody>
                  <a:tcPr marL="110642" marR="110642"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&lt;100</a:t>
                      </a:r>
                    </a:p>
                  </a:txBody>
                  <a:tcPr marL="110642" marR="110642"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Hospitals and ASCs </a:t>
                      </a:r>
                    </a:p>
                  </a:txBody>
                  <a:tcPr marL="110642" marR="110642"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Physician-owned</a:t>
                      </a:r>
                    </a:p>
                  </a:txBody>
                  <a:tcPr marL="110642" marR="110642" anchor="ctr">
                    <a:solidFill>
                      <a:schemeClr val="bg1">
                        <a:lumMod val="95000"/>
                      </a:schemeClr>
                    </a:solidFill>
                  </a:tcPr>
                </a:tc>
                <a:extLst>
                  <a:ext uri="{0D108BD9-81ED-4DB2-BD59-A6C34878D82A}">
                    <a16:rowId xmlns:a16="http://schemas.microsoft.com/office/drawing/2014/main" val="4115207246"/>
                  </a:ext>
                </a:extLst>
              </a:tr>
              <a:tr h="365760">
                <a:tc>
                  <a:txBody>
                    <a:bodyPr/>
                    <a:lstStyle/>
                    <a:p>
                      <a:pPr algn="l" fontAlgn="ctr">
                        <a:buNone/>
                      </a:pPr>
                      <a:r>
                        <a:rPr lang="en-US" sz="900" b="0" i="0" u="none" strike="noStrike" dirty="0">
                          <a:solidFill>
                            <a:srgbClr val="000000"/>
                          </a:solidFill>
                          <a:effectLst/>
                          <a:latin typeface="Aptos Narrow" panose="020B0004020202020204" pitchFamily="34" charset="0"/>
                        </a:rPr>
                        <a:t>Lakeshore Anesthesia</a:t>
                      </a:r>
                    </a:p>
                  </a:txBody>
                  <a:tcPr marL="110642" marR="110642" anchor="ctr">
                    <a:solidFill>
                      <a:schemeClr val="bg1">
                        <a:lumMod val="85000"/>
                      </a:schemeClr>
                    </a:solidFill>
                  </a:tcPr>
                </a:tc>
                <a:tc>
                  <a:txBody>
                    <a:bodyPr/>
                    <a:lstStyle/>
                    <a:p>
                      <a:pPr algn="l" fontAlgn="ctr">
                        <a:buNone/>
                      </a:pPr>
                      <a:r>
                        <a:rPr kumimoji="0" lang="en-US" sz="9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Northern Indiana</a:t>
                      </a:r>
                      <a:endParaRPr lang="en-US" sz="900" b="0" i="0" u="none" strike="noStrike" dirty="0">
                        <a:solidFill>
                          <a:srgbClr val="000000"/>
                        </a:solidFill>
                        <a:effectLst/>
                        <a:latin typeface="Aptos Narrow" panose="020B0004020202020204" pitchFamily="34" charset="0"/>
                      </a:endParaRPr>
                    </a:p>
                  </a:txBody>
                  <a:tcPr marL="110642" marR="110642"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30+</a:t>
                      </a:r>
                    </a:p>
                  </a:txBody>
                  <a:tcPr marL="110642" marR="110642" anchor="ctr">
                    <a:solidFill>
                      <a:schemeClr val="bg1">
                        <a:lumMod val="8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Aptos Narrow" panose="020B0004020202020204" pitchFamily="34" charset="0"/>
                        </a:rPr>
                        <a:t>Hospitals and ASCs / Powers Health, Lutheran affiliates</a:t>
                      </a:r>
                    </a:p>
                  </a:txBody>
                  <a:tcPr marL="110642" marR="110642"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Physician-owned</a:t>
                      </a:r>
                    </a:p>
                  </a:txBody>
                  <a:tcPr marL="110642" marR="110642" anchor="ctr">
                    <a:solidFill>
                      <a:schemeClr val="bg1">
                        <a:lumMod val="85000"/>
                      </a:schemeClr>
                    </a:solidFill>
                  </a:tcPr>
                </a:tc>
                <a:extLst>
                  <a:ext uri="{0D108BD9-81ED-4DB2-BD59-A6C34878D82A}">
                    <a16:rowId xmlns:a16="http://schemas.microsoft.com/office/drawing/2014/main" val="1416044750"/>
                  </a:ext>
                </a:extLst>
              </a:tr>
              <a:tr h="365760">
                <a:tc>
                  <a:txBody>
                    <a:bodyPr/>
                    <a:lstStyle/>
                    <a:p>
                      <a:pPr algn="l" fontAlgn="ctr">
                        <a:buNone/>
                      </a:pPr>
                      <a:r>
                        <a:rPr lang="en-US" sz="900" b="0" i="0" u="none" strike="noStrike" dirty="0">
                          <a:solidFill>
                            <a:srgbClr val="000000"/>
                          </a:solidFill>
                          <a:effectLst/>
                          <a:latin typeface="Aptos Narrow" panose="020B0004020202020204" pitchFamily="34" charset="0"/>
                        </a:rPr>
                        <a:t>Northside Anesthesia Services</a:t>
                      </a:r>
                    </a:p>
                  </a:txBody>
                  <a:tcPr marL="110642" marR="110642" anchor="ctr">
                    <a:solidFill>
                      <a:schemeClr val="bg1">
                        <a:lumMod val="95000"/>
                      </a:schemeClr>
                    </a:solidFill>
                  </a:tcPr>
                </a:tc>
                <a:tc>
                  <a:txBody>
                    <a:bodyPr/>
                    <a:lstStyle/>
                    <a:p>
                      <a:pPr algn="l" fontAlgn="ctr">
                        <a:buNone/>
                      </a:pPr>
                      <a:r>
                        <a:rPr kumimoji="0" lang="en-US" sz="9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Indiana</a:t>
                      </a:r>
                      <a:endParaRPr lang="en-US" sz="900" b="0" i="0" u="none" strike="noStrike" dirty="0">
                        <a:solidFill>
                          <a:srgbClr val="000000"/>
                        </a:solidFill>
                        <a:effectLst/>
                        <a:latin typeface="Aptos Narrow" panose="020B0004020202020204" pitchFamily="34" charset="0"/>
                      </a:endParaRPr>
                    </a:p>
                  </a:txBody>
                  <a:tcPr marL="110642" marR="110642"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100+</a:t>
                      </a:r>
                    </a:p>
                  </a:txBody>
                  <a:tcPr marL="110642" marR="110642" anchor="ctr">
                    <a:solidFill>
                      <a:schemeClr val="bg1">
                        <a:lumMod val="9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Aptos Narrow" panose="020B0004020202020204" pitchFamily="34" charset="0"/>
                        </a:rPr>
                        <a:t>Hospitals and ASCs / Ascension St. Vincent affiliates</a:t>
                      </a:r>
                    </a:p>
                  </a:txBody>
                  <a:tcPr marL="110642" marR="110642"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Physician-owned</a:t>
                      </a:r>
                    </a:p>
                  </a:txBody>
                  <a:tcPr marL="110642" marR="110642" anchor="ctr">
                    <a:solidFill>
                      <a:schemeClr val="bg1">
                        <a:lumMod val="95000"/>
                      </a:schemeClr>
                    </a:solidFill>
                  </a:tcPr>
                </a:tc>
                <a:extLst>
                  <a:ext uri="{0D108BD9-81ED-4DB2-BD59-A6C34878D82A}">
                    <a16:rowId xmlns:a16="http://schemas.microsoft.com/office/drawing/2014/main" val="1892124027"/>
                  </a:ext>
                </a:extLst>
              </a:tr>
              <a:tr h="365760">
                <a:tc>
                  <a:txBody>
                    <a:bodyPr/>
                    <a:lstStyle/>
                    <a:p>
                      <a:pPr algn="l" fontAlgn="ctr">
                        <a:buNone/>
                      </a:pPr>
                      <a:r>
                        <a:rPr lang="en-US" sz="900" b="0" i="0" u="none" strike="noStrike" dirty="0">
                          <a:solidFill>
                            <a:srgbClr val="000000"/>
                          </a:solidFill>
                          <a:effectLst/>
                          <a:latin typeface="Aptos Narrow" panose="020B0004020202020204" pitchFamily="34" charset="0"/>
                        </a:rPr>
                        <a:t>NorthStar Anesthesia</a:t>
                      </a:r>
                    </a:p>
                  </a:txBody>
                  <a:tcPr marL="110642" marR="110642" anchor="ctr">
                    <a:solidFill>
                      <a:schemeClr val="bg1">
                        <a:lumMod val="85000"/>
                      </a:schemeClr>
                    </a:solidFill>
                  </a:tcPr>
                </a:tc>
                <a:tc>
                  <a:txBody>
                    <a:bodyPr/>
                    <a:lstStyle/>
                    <a:p>
                      <a:pPr algn="l" fontAlgn="ctr">
                        <a:buNone/>
                      </a:pPr>
                      <a:r>
                        <a:rPr kumimoji="0" lang="en-US" sz="9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National, including Indiana</a:t>
                      </a:r>
                      <a:endParaRPr lang="en-US" sz="900" b="0" i="0" u="none" strike="noStrike" dirty="0">
                        <a:solidFill>
                          <a:srgbClr val="000000"/>
                        </a:solidFill>
                        <a:effectLst/>
                        <a:latin typeface="Aptos Narrow" panose="020B0004020202020204" pitchFamily="34" charset="0"/>
                      </a:endParaRPr>
                    </a:p>
                  </a:txBody>
                  <a:tcPr marL="110642" marR="110642"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4,000+</a:t>
                      </a:r>
                    </a:p>
                  </a:txBody>
                  <a:tcPr marL="110642" marR="110642" anchor="ctr">
                    <a:solidFill>
                      <a:schemeClr val="bg1">
                        <a:lumMod val="8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Aptos Narrow" panose="020B0004020202020204" pitchFamily="34" charset="0"/>
                        </a:rPr>
                        <a:t>Hospitals and ASCs / Baptist Health and Franciscan affiliates</a:t>
                      </a:r>
                    </a:p>
                  </a:txBody>
                  <a:tcPr marL="110642" marR="110642"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The Cranemere Group</a:t>
                      </a:r>
                    </a:p>
                  </a:txBody>
                  <a:tcPr marL="110642" marR="110642" anchor="ctr">
                    <a:solidFill>
                      <a:schemeClr val="bg1">
                        <a:lumMod val="85000"/>
                      </a:schemeClr>
                    </a:solidFill>
                  </a:tcPr>
                </a:tc>
                <a:extLst>
                  <a:ext uri="{0D108BD9-81ED-4DB2-BD59-A6C34878D82A}">
                    <a16:rowId xmlns:a16="http://schemas.microsoft.com/office/drawing/2014/main" val="3154590518"/>
                  </a:ext>
                </a:extLst>
              </a:tr>
              <a:tr h="365760">
                <a:tc>
                  <a:txBody>
                    <a:bodyPr/>
                    <a:lstStyle/>
                    <a:p>
                      <a:pPr algn="l" fontAlgn="ctr">
                        <a:buNone/>
                      </a:pPr>
                      <a:r>
                        <a:rPr lang="en-US" sz="900" b="0" i="0" u="none" strike="noStrike" dirty="0">
                          <a:solidFill>
                            <a:srgbClr val="000000"/>
                          </a:solidFill>
                          <a:effectLst/>
                          <a:latin typeface="Aptos Narrow" panose="020B0004020202020204" pitchFamily="34" charset="0"/>
                        </a:rPr>
                        <a:t>US Anesthesia Partners</a:t>
                      </a:r>
                    </a:p>
                  </a:txBody>
                  <a:tcPr marL="110642" marR="110642" anchor="ctr">
                    <a:solidFill>
                      <a:schemeClr val="bg1">
                        <a:lumMod val="95000"/>
                      </a:schemeClr>
                    </a:solidFill>
                  </a:tcPr>
                </a:tc>
                <a:tc>
                  <a:txBody>
                    <a:bodyPr/>
                    <a:lstStyle/>
                    <a:p>
                      <a:pPr algn="l" fontAlgn="ctr">
                        <a:buNone/>
                      </a:pPr>
                      <a:r>
                        <a:rPr kumimoji="0" lang="en-US" sz="9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National, including Indiana</a:t>
                      </a:r>
                      <a:endParaRPr lang="en-US" sz="900" b="0" i="0" u="none" strike="noStrike" dirty="0">
                        <a:solidFill>
                          <a:srgbClr val="000000"/>
                        </a:solidFill>
                        <a:effectLst/>
                        <a:latin typeface="Aptos Narrow" panose="020B0004020202020204" pitchFamily="34" charset="0"/>
                      </a:endParaRPr>
                    </a:p>
                  </a:txBody>
                  <a:tcPr marL="110642" marR="110642"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5,000+</a:t>
                      </a:r>
                    </a:p>
                  </a:txBody>
                  <a:tcPr marL="110642" marR="110642" anchor="ctr">
                    <a:solidFill>
                      <a:schemeClr val="bg1">
                        <a:lumMod val="9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Aptos Narrow" panose="020B0004020202020204" pitchFamily="34" charset="0"/>
                        </a:rPr>
                        <a:t>Hospitals and ASCs / Lutheran and Parkview affiliates</a:t>
                      </a:r>
                    </a:p>
                  </a:txBody>
                  <a:tcPr marL="110642" marR="110642"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Welsh Carson Anderson &amp; Stowe</a:t>
                      </a:r>
                    </a:p>
                  </a:txBody>
                  <a:tcPr marL="110642" marR="110642" anchor="ctr">
                    <a:solidFill>
                      <a:schemeClr val="bg1">
                        <a:lumMod val="95000"/>
                      </a:schemeClr>
                    </a:solidFill>
                  </a:tcPr>
                </a:tc>
                <a:extLst>
                  <a:ext uri="{0D108BD9-81ED-4DB2-BD59-A6C34878D82A}">
                    <a16:rowId xmlns:a16="http://schemas.microsoft.com/office/drawing/2014/main" val="1458436082"/>
                  </a:ext>
                </a:extLst>
              </a:tr>
              <a:tr h="365760">
                <a:tc>
                  <a:txBody>
                    <a:bodyPr/>
                    <a:lstStyle/>
                    <a:p>
                      <a:pPr algn="l" fontAlgn="ctr">
                        <a:buNone/>
                      </a:pPr>
                      <a:r>
                        <a:rPr lang="en-US" sz="900" b="0" i="0" u="none" strike="noStrike" dirty="0">
                          <a:solidFill>
                            <a:srgbClr val="000000"/>
                          </a:solidFill>
                          <a:effectLst/>
                          <a:latin typeface="Aptos Narrow" panose="020B0004020202020204" pitchFamily="34" charset="0"/>
                        </a:rPr>
                        <a:t>Windy City Anesthesia</a:t>
                      </a:r>
                    </a:p>
                  </a:txBody>
                  <a:tcPr marL="110642" marR="110642" anchor="ctr">
                    <a:solidFill>
                      <a:schemeClr val="bg1">
                        <a:lumMod val="85000"/>
                      </a:schemeClr>
                    </a:solidFill>
                  </a:tcPr>
                </a:tc>
                <a:tc>
                  <a:txBody>
                    <a:bodyPr/>
                    <a:lstStyle/>
                    <a:p>
                      <a:pPr algn="l" fontAlgn="ctr">
                        <a:buNone/>
                      </a:pPr>
                      <a:r>
                        <a:rPr kumimoji="0" lang="en-US" sz="9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IN, IL, WI, IA, NE, MO, MI, FL</a:t>
                      </a:r>
                      <a:endParaRPr lang="en-US" sz="900" b="0" i="0" u="none" strike="noStrike" dirty="0">
                        <a:solidFill>
                          <a:srgbClr val="000000"/>
                        </a:solidFill>
                        <a:effectLst/>
                        <a:latin typeface="Aptos Narrow" panose="020B0004020202020204" pitchFamily="34" charset="0"/>
                      </a:endParaRPr>
                    </a:p>
                  </a:txBody>
                  <a:tcPr marL="110642" marR="110642"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&lt;100</a:t>
                      </a:r>
                    </a:p>
                  </a:txBody>
                  <a:tcPr marL="110642" marR="110642" anchor="ctr">
                    <a:solidFill>
                      <a:schemeClr val="bg1">
                        <a:lumMod val="8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Aptos Narrow" panose="020B0004020202020204" pitchFamily="34" charset="0"/>
                        </a:rPr>
                        <a:t>ASCs and office-based</a:t>
                      </a:r>
                    </a:p>
                  </a:txBody>
                  <a:tcPr marL="110642" marR="110642"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Physician-owned</a:t>
                      </a:r>
                    </a:p>
                  </a:txBody>
                  <a:tcPr marL="110642" marR="110642" anchor="ctr">
                    <a:solidFill>
                      <a:schemeClr val="bg1">
                        <a:lumMod val="85000"/>
                      </a:schemeClr>
                    </a:solidFill>
                  </a:tcPr>
                </a:tc>
                <a:extLst>
                  <a:ext uri="{0D108BD9-81ED-4DB2-BD59-A6C34878D82A}">
                    <a16:rowId xmlns:a16="http://schemas.microsoft.com/office/drawing/2014/main" val="3484326436"/>
                  </a:ext>
                </a:extLst>
              </a:tr>
            </a:tbl>
          </a:graphicData>
        </a:graphic>
      </p:graphicFrame>
      <p:graphicFrame>
        <p:nvGraphicFramePr>
          <p:cNvPr id="8" name="Table 7">
            <a:extLst>
              <a:ext uri="{FF2B5EF4-FFF2-40B4-BE49-F238E27FC236}">
                <a16:creationId xmlns:a16="http://schemas.microsoft.com/office/drawing/2014/main" id="{CB260120-612C-983F-97C7-647C0B63416A}"/>
              </a:ext>
            </a:extLst>
          </p:cNvPr>
          <p:cNvGraphicFramePr>
            <a:graphicFrameLocks noGrp="1"/>
          </p:cNvGraphicFramePr>
          <p:nvPr/>
        </p:nvGraphicFramePr>
        <p:xfrm>
          <a:off x="178308" y="4146831"/>
          <a:ext cx="8787385" cy="2430032"/>
        </p:xfrm>
        <a:graphic>
          <a:graphicData uri="http://schemas.openxmlformats.org/drawingml/2006/table">
            <a:tbl>
              <a:tblPr firstRow="1" bandRow="1">
                <a:tableStyleId>{5C22544A-7EE6-4342-B048-85BDC9FD1C3A}</a:tableStyleId>
              </a:tblPr>
              <a:tblGrid>
                <a:gridCol w="1757477">
                  <a:extLst>
                    <a:ext uri="{9D8B030D-6E8A-4147-A177-3AD203B41FA5}">
                      <a16:colId xmlns:a16="http://schemas.microsoft.com/office/drawing/2014/main" val="2013788962"/>
                    </a:ext>
                  </a:extLst>
                </a:gridCol>
                <a:gridCol w="1757477">
                  <a:extLst>
                    <a:ext uri="{9D8B030D-6E8A-4147-A177-3AD203B41FA5}">
                      <a16:colId xmlns:a16="http://schemas.microsoft.com/office/drawing/2014/main" val="3716730001"/>
                    </a:ext>
                  </a:extLst>
                </a:gridCol>
                <a:gridCol w="1757477">
                  <a:extLst>
                    <a:ext uri="{9D8B030D-6E8A-4147-A177-3AD203B41FA5}">
                      <a16:colId xmlns:a16="http://schemas.microsoft.com/office/drawing/2014/main" val="584997788"/>
                    </a:ext>
                  </a:extLst>
                </a:gridCol>
                <a:gridCol w="1757477">
                  <a:extLst>
                    <a:ext uri="{9D8B030D-6E8A-4147-A177-3AD203B41FA5}">
                      <a16:colId xmlns:a16="http://schemas.microsoft.com/office/drawing/2014/main" val="191570869"/>
                    </a:ext>
                  </a:extLst>
                </a:gridCol>
                <a:gridCol w="1757477">
                  <a:extLst>
                    <a:ext uri="{9D8B030D-6E8A-4147-A177-3AD203B41FA5}">
                      <a16:colId xmlns:a16="http://schemas.microsoft.com/office/drawing/2014/main" val="3835713385"/>
                    </a:ext>
                  </a:extLst>
                </a:gridCol>
              </a:tblGrid>
              <a:tr h="218721">
                <a:tc>
                  <a:txBody>
                    <a:bodyPr/>
                    <a:lstStyle/>
                    <a:p>
                      <a:pPr algn="ctr"/>
                      <a:endParaRPr lang="en-US" sz="1000" dirty="0">
                        <a:solidFill>
                          <a:schemeClr val="bg1"/>
                        </a:solidFill>
                      </a:endParaRPr>
                    </a:p>
                  </a:txBody>
                  <a:tcPr marL="110642" marR="110642" marT="28388" marB="28388" anchor="ctr">
                    <a:lnL w="12700" cmpd="sng">
                      <a:noFill/>
                    </a:lnL>
                    <a:lnR w="12700" cmpd="sng">
                      <a:noFill/>
                    </a:lnR>
                    <a:lnT w="12700" cmpd="sng">
                      <a:noFill/>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43F6A"/>
                    </a:solidFill>
                  </a:tcPr>
                </a:tc>
                <a:tc>
                  <a:txBody>
                    <a:bodyPr/>
                    <a:lstStyle/>
                    <a:p>
                      <a:pPr algn="ctr"/>
                      <a:endParaRPr lang="en-US" sz="1000" dirty="0">
                        <a:solidFill>
                          <a:schemeClr val="bg1"/>
                        </a:solidFill>
                      </a:endParaRPr>
                    </a:p>
                  </a:txBody>
                  <a:tcPr marL="110642" marR="110642" marT="28388" marB="28388" anchor="ctr">
                    <a:lnL w="12700" cmpd="sng">
                      <a:noFill/>
                    </a:lnL>
                    <a:lnR w="12700" cmpd="sng">
                      <a:noFill/>
                    </a:lnR>
                    <a:lnT w="12700" cmpd="sng">
                      <a:noFill/>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43F6A"/>
                    </a:solidFill>
                  </a:tcPr>
                </a:tc>
                <a:tc>
                  <a:txBody>
                    <a:bodyPr/>
                    <a:lstStyle/>
                    <a:p>
                      <a:pPr algn="ctr"/>
                      <a:r>
                        <a:rPr lang="en-US" sz="1200" dirty="0">
                          <a:solidFill>
                            <a:schemeClr val="bg1"/>
                          </a:solidFill>
                        </a:rPr>
                        <a:t>Michigan</a:t>
                      </a:r>
                    </a:p>
                  </a:txBody>
                  <a:tcPr marL="110642" marR="110642" marT="28388" marB="28388" anchor="ctr">
                    <a:lnL w="12700" cmpd="sng">
                      <a:noFill/>
                    </a:lnL>
                    <a:lnR w="12700" cmpd="sng">
                      <a:noFill/>
                    </a:lnR>
                    <a:lnT w="12700" cmpd="sng">
                      <a:noFill/>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43F6A"/>
                    </a:solidFill>
                  </a:tcPr>
                </a:tc>
                <a:tc>
                  <a:txBody>
                    <a:bodyPr/>
                    <a:lstStyle/>
                    <a:p>
                      <a:pPr algn="ctr"/>
                      <a:endParaRPr lang="en-US" sz="1000" dirty="0">
                        <a:solidFill>
                          <a:schemeClr val="bg1"/>
                        </a:solidFill>
                      </a:endParaRPr>
                    </a:p>
                  </a:txBody>
                  <a:tcPr marL="110642" marR="110642" marT="28388" marB="28388" anchor="ctr">
                    <a:lnL w="12700" cmpd="sng">
                      <a:noFill/>
                    </a:lnL>
                    <a:lnR w="12700" cmpd="sng">
                      <a:noFill/>
                    </a:lnR>
                    <a:lnT w="12700" cmpd="sng">
                      <a:noFill/>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43F6A"/>
                    </a:solidFill>
                  </a:tcPr>
                </a:tc>
                <a:tc>
                  <a:txBody>
                    <a:bodyPr/>
                    <a:lstStyle/>
                    <a:p>
                      <a:pPr algn="ctr"/>
                      <a:endParaRPr lang="en-US" sz="1000" dirty="0">
                        <a:solidFill>
                          <a:schemeClr val="bg1"/>
                        </a:solidFill>
                      </a:endParaRPr>
                    </a:p>
                  </a:txBody>
                  <a:tcPr marL="110642" marR="110642" marT="28388" marB="28388" anchor="ctr">
                    <a:lnL w="12700" cmpd="sng">
                      <a:noFill/>
                    </a:lnL>
                    <a:lnR w="12700" cmpd="sng">
                      <a:noFill/>
                    </a:lnR>
                    <a:lnT w="12700" cmpd="sng">
                      <a:noFill/>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143F6A"/>
                    </a:solidFill>
                  </a:tcPr>
                </a:tc>
                <a:extLst>
                  <a:ext uri="{0D108BD9-81ED-4DB2-BD59-A6C34878D82A}">
                    <a16:rowId xmlns:a16="http://schemas.microsoft.com/office/drawing/2014/main" val="2223377351"/>
                  </a:ext>
                </a:extLst>
              </a:tr>
              <a:tr h="329990">
                <a:tc>
                  <a:txBody>
                    <a:bodyPr/>
                    <a:lstStyle/>
                    <a:p>
                      <a:pPr algn="ctr"/>
                      <a:r>
                        <a:rPr lang="en-US" sz="1000" dirty="0">
                          <a:solidFill>
                            <a:schemeClr val="bg1"/>
                          </a:solidFill>
                        </a:rPr>
                        <a:t>Company</a:t>
                      </a:r>
                    </a:p>
                  </a:txBody>
                  <a:tcPr marL="110642" marR="110642" marT="28388" marB="28388" anchor="ctr">
                    <a:lnT w="3175" cap="flat" cmpd="sng" algn="ctr">
                      <a:solidFill>
                        <a:schemeClr val="bg1"/>
                      </a:solidFill>
                      <a:prstDash val="solid"/>
                      <a:round/>
                      <a:headEnd type="none" w="med" len="med"/>
                      <a:tailEnd type="none" w="med" len="med"/>
                    </a:lnT>
                    <a:solidFill>
                      <a:srgbClr val="143F6A"/>
                    </a:solidFill>
                  </a:tcPr>
                </a:tc>
                <a:tc>
                  <a:txBody>
                    <a:bodyPr/>
                    <a:lstStyle/>
                    <a:p>
                      <a:pPr algn="ctr"/>
                      <a:r>
                        <a:rPr lang="en-US" sz="1000" dirty="0">
                          <a:solidFill>
                            <a:schemeClr val="bg1"/>
                          </a:solidFill>
                        </a:rPr>
                        <a:t>Locations Served</a:t>
                      </a:r>
                    </a:p>
                  </a:txBody>
                  <a:tcPr marL="110642" marR="110642" marT="28388" marB="28388" anchor="ctr">
                    <a:lnT w="3175" cap="flat" cmpd="sng" algn="ctr">
                      <a:solidFill>
                        <a:schemeClr val="bg1"/>
                      </a:solidFill>
                      <a:prstDash val="solid"/>
                      <a:round/>
                      <a:headEnd type="none" w="med" len="med"/>
                      <a:tailEnd type="none" w="med" len="med"/>
                    </a:lnT>
                    <a:solidFill>
                      <a:srgbClr val="143F6A"/>
                    </a:solidFill>
                  </a:tcPr>
                </a:tc>
                <a:tc>
                  <a:txBody>
                    <a:bodyPr/>
                    <a:lstStyle/>
                    <a:p>
                      <a:pPr algn="ctr"/>
                      <a:r>
                        <a:rPr lang="en-US" sz="1000" dirty="0">
                          <a:solidFill>
                            <a:schemeClr val="bg1"/>
                          </a:solidFill>
                        </a:rPr>
                        <a:t># of Clinicians (Est.)</a:t>
                      </a:r>
                    </a:p>
                  </a:txBody>
                  <a:tcPr marL="110642" marR="110642" marT="28388" marB="28388" anchor="ctr">
                    <a:lnT w="3175" cap="flat" cmpd="sng" algn="ctr">
                      <a:solidFill>
                        <a:schemeClr val="bg1"/>
                      </a:solidFill>
                      <a:prstDash val="solid"/>
                      <a:round/>
                      <a:headEnd type="none" w="med" len="med"/>
                      <a:tailEnd type="none" w="med" len="med"/>
                    </a:lnT>
                    <a:solidFill>
                      <a:srgbClr val="143F6A"/>
                    </a:solidFill>
                  </a:tcPr>
                </a:tc>
                <a:tc>
                  <a:txBody>
                    <a:bodyPr/>
                    <a:lstStyle/>
                    <a:p>
                      <a:pPr algn="ctr"/>
                      <a:r>
                        <a:rPr lang="en-US" sz="1000" dirty="0">
                          <a:solidFill>
                            <a:schemeClr val="bg1"/>
                          </a:solidFill>
                        </a:rPr>
                        <a:t>Client Type / Notable Clients</a:t>
                      </a:r>
                    </a:p>
                  </a:txBody>
                  <a:tcPr marL="110642" marR="110642" marT="28388" marB="28388" anchor="ctr">
                    <a:lnT w="3175" cap="flat" cmpd="sng" algn="ctr">
                      <a:solidFill>
                        <a:schemeClr val="bg1"/>
                      </a:solidFill>
                      <a:prstDash val="solid"/>
                      <a:round/>
                      <a:headEnd type="none" w="med" len="med"/>
                      <a:tailEnd type="none" w="med" len="med"/>
                    </a:lnT>
                    <a:solidFill>
                      <a:srgbClr val="143F6A"/>
                    </a:solidFill>
                  </a:tcPr>
                </a:tc>
                <a:tc>
                  <a:txBody>
                    <a:bodyPr/>
                    <a:lstStyle/>
                    <a:p>
                      <a:pPr algn="ctr"/>
                      <a:r>
                        <a:rPr lang="en-US" sz="1000" dirty="0">
                          <a:solidFill>
                            <a:schemeClr val="bg1"/>
                          </a:solidFill>
                        </a:rPr>
                        <a:t>Ownership</a:t>
                      </a:r>
                    </a:p>
                  </a:txBody>
                  <a:tcPr marL="110642" marR="110642" marT="28388" marB="28388" anchor="ctr">
                    <a:lnT w="3175" cap="flat" cmpd="sng" algn="ctr">
                      <a:solidFill>
                        <a:schemeClr val="bg1"/>
                      </a:solidFill>
                      <a:prstDash val="solid"/>
                      <a:round/>
                      <a:headEnd type="none" w="med" len="med"/>
                      <a:tailEnd type="none" w="med" len="med"/>
                    </a:lnT>
                    <a:solidFill>
                      <a:srgbClr val="143F6A"/>
                    </a:solidFill>
                  </a:tcPr>
                </a:tc>
                <a:extLst>
                  <a:ext uri="{0D108BD9-81ED-4DB2-BD59-A6C34878D82A}">
                    <a16:rowId xmlns:a16="http://schemas.microsoft.com/office/drawing/2014/main" val="2007875439"/>
                  </a:ext>
                </a:extLst>
              </a:tr>
              <a:tr h="365760">
                <a:tc>
                  <a:txBody>
                    <a:bodyPr/>
                    <a:lstStyle/>
                    <a:p>
                      <a:pPr algn="l" fontAlgn="ctr">
                        <a:buNone/>
                      </a:pPr>
                      <a:r>
                        <a:rPr lang="en-US" sz="900" b="0" i="0" u="none" strike="noStrike" dirty="0">
                          <a:solidFill>
                            <a:srgbClr val="000000"/>
                          </a:solidFill>
                          <a:effectLst/>
                          <a:latin typeface="Aptos Narrow" panose="020B0004020202020204" pitchFamily="34" charset="0"/>
                        </a:rPr>
                        <a:t>Anesthesia Associates of Ann Arbor</a:t>
                      </a:r>
                    </a:p>
                  </a:txBody>
                  <a:tcPr marL="110642" marR="110642" anchor="ctr">
                    <a:solidFill>
                      <a:schemeClr val="bg1">
                        <a:lumMod val="85000"/>
                      </a:schemeClr>
                    </a:solidFill>
                  </a:tcPr>
                </a:tc>
                <a:tc>
                  <a:txBody>
                    <a:bodyPr/>
                    <a:lstStyle/>
                    <a:p>
                      <a:pPr algn="l" fontAlgn="ctr">
                        <a:buNone/>
                      </a:pPr>
                      <a:r>
                        <a:rPr kumimoji="0" lang="en-US" sz="9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Michigan &amp; Ohio</a:t>
                      </a:r>
                      <a:endParaRPr lang="en-US" sz="900" b="0" i="0" u="none" strike="noStrike" dirty="0">
                        <a:solidFill>
                          <a:srgbClr val="000000"/>
                        </a:solidFill>
                        <a:effectLst/>
                        <a:latin typeface="Aptos Narrow" panose="020B0004020202020204" pitchFamily="34" charset="0"/>
                      </a:endParaRPr>
                    </a:p>
                  </a:txBody>
                  <a:tcPr marL="110642" marR="110642"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100+</a:t>
                      </a:r>
                    </a:p>
                  </a:txBody>
                  <a:tcPr marL="110642" marR="110642"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Hospitals and ASCs / Mclaren &amp; Trinity Health</a:t>
                      </a:r>
                    </a:p>
                  </a:txBody>
                  <a:tcPr marL="110642" marR="110642"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Siromed / Prospect Hill Growth Partners</a:t>
                      </a:r>
                    </a:p>
                  </a:txBody>
                  <a:tcPr marL="110642" marR="110642" anchor="ctr">
                    <a:solidFill>
                      <a:schemeClr val="bg1">
                        <a:lumMod val="85000"/>
                      </a:schemeClr>
                    </a:solidFill>
                  </a:tcPr>
                </a:tc>
                <a:extLst>
                  <a:ext uri="{0D108BD9-81ED-4DB2-BD59-A6C34878D82A}">
                    <a16:rowId xmlns:a16="http://schemas.microsoft.com/office/drawing/2014/main" val="2169564543"/>
                  </a:ext>
                </a:extLst>
              </a:tr>
              <a:tr h="365760">
                <a:tc>
                  <a:txBody>
                    <a:bodyPr/>
                    <a:lstStyle/>
                    <a:p>
                      <a:pPr algn="l" fontAlgn="ctr">
                        <a:buNone/>
                      </a:pPr>
                      <a:r>
                        <a:rPr lang="en-US" sz="900" b="0" i="0" u="none" strike="noStrike" dirty="0">
                          <a:solidFill>
                            <a:srgbClr val="000000"/>
                          </a:solidFill>
                          <a:effectLst/>
                          <a:latin typeface="Aptos Narrow" panose="020B0004020202020204" pitchFamily="34" charset="0"/>
                        </a:rPr>
                        <a:t>Anesthesia Management Services</a:t>
                      </a:r>
                    </a:p>
                  </a:txBody>
                  <a:tcPr marL="110642" marR="110642" anchor="ctr">
                    <a:solidFill>
                      <a:schemeClr val="bg1">
                        <a:lumMod val="95000"/>
                      </a:schemeClr>
                    </a:solidFill>
                  </a:tcPr>
                </a:tc>
                <a:tc>
                  <a:txBody>
                    <a:bodyPr/>
                    <a:lstStyle/>
                    <a:p>
                      <a:pPr algn="l" fontAlgn="ctr">
                        <a:buNone/>
                      </a:pPr>
                      <a:r>
                        <a:rPr kumimoji="0" lang="en-US" sz="9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Metro Detroit</a:t>
                      </a:r>
                      <a:endParaRPr lang="en-US" sz="900" b="0" i="0" u="none" strike="noStrike" dirty="0">
                        <a:solidFill>
                          <a:srgbClr val="000000"/>
                        </a:solidFill>
                        <a:effectLst/>
                        <a:latin typeface="Aptos Narrow" panose="020B0004020202020204" pitchFamily="34" charset="0"/>
                      </a:endParaRPr>
                    </a:p>
                  </a:txBody>
                  <a:tcPr marL="110642" marR="110642"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200+</a:t>
                      </a:r>
                    </a:p>
                  </a:txBody>
                  <a:tcPr marL="110642" marR="110642"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Hospitals and ASCs / Mclaren and Henry Ford</a:t>
                      </a:r>
                    </a:p>
                  </a:txBody>
                  <a:tcPr marL="110642" marR="110642"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Physician-owned</a:t>
                      </a:r>
                    </a:p>
                  </a:txBody>
                  <a:tcPr marL="110642" marR="110642" anchor="ctr">
                    <a:solidFill>
                      <a:schemeClr val="bg1">
                        <a:lumMod val="95000"/>
                      </a:schemeClr>
                    </a:solidFill>
                  </a:tcPr>
                </a:tc>
                <a:extLst>
                  <a:ext uri="{0D108BD9-81ED-4DB2-BD59-A6C34878D82A}">
                    <a16:rowId xmlns:a16="http://schemas.microsoft.com/office/drawing/2014/main" val="4115207246"/>
                  </a:ext>
                </a:extLst>
              </a:tr>
              <a:tr h="365760">
                <a:tc>
                  <a:txBody>
                    <a:bodyPr/>
                    <a:lstStyle/>
                    <a:p>
                      <a:pPr algn="l" fontAlgn="ctr">
                        <a:buNone/>
                      </a:pPr>
                      <a:r>
                        <a:rPr lang="en-US" sz="900" b="0" i="0" u="none" strike="noStrike" dirty="0">
                          <a:solidFill>
                            <a:srgbClr val="000000"/>
                          </a:solidFill>
                          <a:effectLst/>
                          <a:latin typeface="Aptos Narrow" panose="020B0004020202020204" pitchFamily="34" charset="0"/>
                        </a:rPr>
                        <a:t>Anesthesia Practice Consultants</a:t>
                      </a:r>
                    </a:p>
                  </a:txBody>
                  <a:tcPr marL="110642" marR="110642" anchor="ctr">
                    <a:solidFill>
                      <a:schemeClr val="bg1">
                        <a:lumMod val="85000"/>
                      </a:schemeClr>
                    </a:solidFill>
                  </a:tcPr>
                </a:tc>
                <a:tc>
                  <a:txBody>
                    <a:bodyPr/>
                    <a:lstStyle/>
                    <a:p>
                      <a:pPr algn="l" fontAlgn="ctr">
                        <a:buNone/>
                      </a:pPr>
                      <a:r>
                        <a:rPr kumimoji="0" lang="en-US" sz="9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Western Michigan</a:t>
                      </a:r>
                      <a:endParaRPr lang="en-US" sz="900" b="0" i="0" u="none" strike="noStrike" dirty="0">
                        <a:solidFill>
                          <a:srgbClr val="000000"/>
                        </a:solidFill>
                        <a:effectLst/>
                        <a:latin typeface="Aptos Narrow" panose="020B0004020202020204" pitchFamily="34" charset="0"/>
                      </a:endParaRPr>
                    </a:p>
                  </a:txBody>
                  <a:tcPr marL="110642" marR="110642"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200+</a:t>
                      </a:r>
                    </a:p>
                  </a:txBody>
                  <a:tcPr marL="110642" marR="110642" anchor="ctr">
                    <a:solidFill>
                      <a:schemeClr val="bg1">
                        <a:lumMod val="8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Aptos Narrow" panose="020B0004020202020204" pitchFamily="34" charset="0"/>
                        </a:rPr>
                        <a:t>Hospitals and ASCs</a:t>
                      </a:r>
                    </a:p>
                  </a:txBody>
                  <a:tcPr marL="110642" marR="110642"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Physician-owned</a:t>
                      </a:r>
                    </a:p>
                  </a:txBody>
                  <a:tcPr marL="110642" marR="110642" anchor="ctr">
                    <a:solidFill>
                      <a:schemeClr val="bg1">
                        <a:lumMod val="85000"/>
                      </a:schemeClr>
                    </a:solidFill>
                  </a:tcPr>
                </a:tc>
                <a:extLst>
                  <a:ext uri="{0D108BD9-81ED-4DB2-BD59-A6C34878D82A}">
                    <a16:rowId xmlns:a16="http://schemas.microsoft.com/office/drawing/2014/main" val="1416044750"/>
                  </a:ext>
                </a:extLst>
              </a:tr>
              <a:tr h="365760">
                <a:tc>
                  <a:txBody>
                    <a:bodyPr/>
                    <a:lstStyle/>
                    <a:p>
                      <a:pPr algn="l" fontAlgn="ctr">
                        <a:buNone/>
                      </a:pPr>
                      <a:r>
                        <a:rPr lang="en-US" sz="900" b="0" i="0" u="none" strike="noStrike" dirty="0">
                          <a:solidFill>
                            <a:srgbClr val="000000"/>
                          </a:solidFill>
                          <a:effectLst/>
                          <a:latin typeface="Aptos Narrow" panose="020B0004020202020204" pitchFamily="34" charset="0"/>
                        </a:rPr>
                        <a:t>NorthStar Anesthesia</a:t>
                      </a:r>
                    </a:p>
                  </a:txBody>
                  <a:tcPr marL="110642" marR="110642" anchor="ctr">
                    <a:solidFill>
                      <a:schemeClr val="bg1">
                        <a:lumMod val="95000"/>
                      </a:schemeClr>
                    </a:solidFill>
                  </a:tcPr>
                </a:tc>
                <a:tc>
                  <a:txBody>
                    <a:bodyPr/>
                    <a:lstStyle/>
                    <a:p>
                      <a:pPr algn="l" fontAlgn="ctr">
                        <a:buNone/>
                      </a:pPr>
                      <a:r>
                        <a:rPr kumimoji="0" lang="en-US" sz="9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National, including Michigan</a:t>
                      </a:r>
                      <a:endParaRPr lang="en-US" sz="900" b="0" i="0" u="none" strike="noStrike" dirty="0">
                        <a:solidFill>
                          <a:srgbClr val="000000"/>
                        </a:solidFill>
                        <a:effectLst/>
                        <a:latin typeface="Aptos Narrow" panose="020B0004020202020204" pitchFamily="34" charset="0"/>
                      </a:endParaRPr>
                    </a:p>
                  </a:txBody>
                  <a:tcPr marL="110642" marR="110642"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4,000+</a:t>
                      </a:r>
                    </a:p>
                  </a:txBody>
                  <a:tcPr marL="110642" marR="110642" anchor="ctr">
                    <a:solidFill>
                      <a:schemeClr val="bg1">
                        <a:lumMod val="9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Aptos Narrow" panose="020B0004020202020204" pitchFamily="34" charset="0"/>
                        </a:rPr>
                        <a:t>Hospitals and ASCs / Baptist Health and Franciscan affiliates</a:t>
                      </a:r>
                    </a:p>
                  </a:txBody>
                  <a:tcPr marL="110642" marR="110642"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The Cranemere Group</a:t>
                      </a:r>
                    </a:p>
                  </a:txBody>
                  <a:tcPr marL="110642" marR="110642" anchor="ctr">
                    <a:solidFill>
                      <a:schemeClr val="bg1">
                        <a:lumMod val="95000"/>
                      </a:schemeClr>
                    </a:solidFill>
                  </a:tcPr>
                </a:tc>
                <a:extLst>
                  <a:ext uri="{0D108BD9-81ED-4DB2-BD59-A6C34878D82A}">
                    <a16:rowId xmlns:a16="http://schemas.microsoft.com/office/drawing/2014/main" val="3154590518"/>
                  </a:ext>
                </a:extLst>
              </a:tr>
              <a:tr h="365760">
                <a:tc>
                  <a:txBody>
                    <a:bodyPr/>
                    <a:lstStyle/>
                    <a:p>
                      <a:pPr algn="l" fontAlgn="ctr">
                        <a:buNone/>
                      </a:pPr>
                      <a:r>
                        <a:rPr lang="en-US" sz="900" b="0" i="0" u="none" strike="noStrike" dirty="0">
                          <a:solidFill>
                            <a:srgbClr val="000000"/>
                          </a:solidFill>
                          <a:effectLst/>
                          <a:latin typeface="Aptos Narrow" panose="020B0004020202020204" pitchFamily="34" charset="0"/>
                        </a:rPr>
                        <a:t>Radius Anesthesia of Michigan</a:t>
                      </a:r>
                    </a:p>
                  </a:txBody>
                  <a:tcPr marL="110642" marR="110642" anchor="ctr">
                    <a:solidFill>
                      <a:schemeClr val="bg1">
                        <a:lumMod val="85000"/>
                      </a:schemeClr>
                    </a:solidFill>
                  </a:tcPr>
                </a:tc>
                <a:tc>
                  <a:txBody>
                    <a:bodyPr/>
                    <a:lstStyle/>
                    <a:p>
                      <a:pPr algn="l" fontAlgn="ctr">
                        <a:buNone/>
                      </a:pPr>
                      <a:r>
                        <a:rPr kumimoji="0" lang="en-US" sz="9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Michigan</a:t>
                      </a:r>
                      <a:endParaRPr lang="en-US" sz="900" b="0" i="0" u="none" strike="noStrike" dirty="0">
                        <a:solidFill>
                          <a:srgbClr val="000000"/>
                        </a:solidFill>
                        <a:effectLst/>
                        <a:latin typeface="Aptos Narrow" panose="020B0004020202020204" pitchFamily="34" charset="0"/>
                      </a:endParaRPr>
                    </a:p>
                  </a:txBody>
                  <a:tcPr marL="110642" marR="110642"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200+</a:t>
                      </a:r>
                    </a:p>
                  </a:txBody>
                  <a:tcPr marL="110642" marR="110642" anchor="ctr">
                    <a:solidFill>
                      <a:schemeClr val="bg1">
                        <a:lumMod val="8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Aptos Narrow" panose="020B0004020202020204" pitchFamily="34" charset="0"/>
                        </a:rPr>
                        <a:t>ASCs and office-based</a:t>
                      </a:r>
                    </a:p>
                  </a:txBody>
                  <a:tcPr marL="110642" marR="110642"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Physician-owned</a:t>
                      </a:r>
                    </a:p>
                  </a:txBody>
                  <a:tcPr marL="110642" marR="110642" anchor="ctr">
                    <a:solidFill>
                      <a:schemeClr val="bg1">
                        <a:lumMod val="85000"/>
                      </a:schemeClr>
                    </a:solidFill>
                  </a:tcPr>
                </a:tc>
                <a:extLst>
                  <a:ext uri="{0D108BD9-81ED-4DB2-BD59-A6C34878D82A}">
                    <a16:rowId xmlns:a16="http://schemas.microsoft.com/office/drawing/2014/main" val="3484326436"/>
                  </a:ext>
                </a:extLst>
              </a:tr>
            </a:tbl>
          </a:graphicData>
        </a:graphic>
      </p:graphicFrame>
      <p:sp>
        <p:nvSpPr>
          <p:cNvPr id="3" name="TextBox 2">
            <a:extLst>
              <a:ext uri="{FF2B5EF4-FFF2-40B4-BE49-F238E27FC236}">
                <a16:creationId xmlns:a16="http://schemas.microsoft.com/office/drawing/2014/main" id="{623E1012-A982-C861-CBB3-B1FFCADF9E8A}"/>
              </a:ext>
            </a:extLst>
          </p:cNvPr>
          <p:cNvSpPr txBox="1"/>
          <p:nvPr/>
        </p:nvSpPr>
        <p:spPr>
          <a:xfrm>
            <a:off x="873" y="6586525"/>
            <a:ext cx="2468880" cy="215444"/>
          </a:xfrm>
          <a:prstGeom prst="rect">
            <a:avLst/>
          </a:prstGeom>
          <a:solidFill>
            <a:schemeClr val="bg1"/>
          </a:solidFill>
        </p:spPr>
        <p:txBody>
          <a:bodyPr wrap="square" rtlCol="0">
            <a:spAutoFit/>
          </a:bodyPr>
          <a:lstStyle/>
          <a:p>
            <a:r>
              <a:rPr lang="en-US" sz="800" dirty="0"/>
              <a:t>Sources: Chartis Market Study</a:t>
            </a:r>
          </a:p>
        </p:txBody>
      </p:sp>
    </p:spTree>
    <p:extLst>
      <p:ext uri="{BB962C8B-B14F-4D97-AF65-F5344CB8AC3E}">
        <p14:creationId xmlns:p14="http://schemas.microsoft.com/office/powerpoint/2010/main" val="21368713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C5668-697B-5141-DCBF-ADA281F969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429A32-FD7C-688D-12CF-344EE19E5EF1}"/>
              </a:ext>
            </a:extLst>
          </p:cNvPr>
          <p:cNvSpPr>
            <a:spLocks noGrp="1"/>
          </p:cNvSpPr>
          <p:nvPr>
            <p:ph type="title"/>
          </p:nvPr>
        </p:nvSpPr>
        <p:spPr>
          <a:xfrm>
            <a:off x="221943" y="218485"/>
            <a:ext cx="7535710" cy="664684"/>
          </a:xfrm>
        </p:spPr>
        <p:txBody>
          <a:bodyPr>
            <a:noAutofit/>
          </a:bodyPr>
          <a:lstStyle/>
          <a:p>
            <a:r>
              <a:rPr lang="en-US" dirty="0"/>
              <a:t>Expert Call Transcripts</a:t>
            </a:r>
          </a:p>
        </p:txBody>
      </p:sp>
      <p:sp>
        <p:nvSpPr>
          <p:cNvPr id="9" name="Slide Number Placeholder 8">
            <a:extLst>
              <a:ext uri="{FF2B5EF4-FFF2-40B4-BE49-F238E27FC236}">
                <a16:creationId xmlns:a16="http://schemas.microsoft.com/office/drawing/2014/main" id="{7160C065-F5E2-E9AB-DE3F-B93BFAF6510A}"/>
              </a:ext>
            </a:extLst>
          </p:cNvPr>
          <p:cNvSpPr>
            <a:spLocks noGrp="1"/>
          </p:cNvSpPr>
          <p:nvPr>
            <p:ph type="sldNum" sz="quarter" idx="12"/>
          </p:nvPr>
        </p:nvSpPr>
        <p:spPr/>
        <p:txBody>
          <a:bodyPr/>
          <a:lstStyle/>
          <a:p>
            <a:fld id="{F8DDDAE5-3BDD-4D78-843B-A22FA78305BB}" type="slidenum">
              <a:rPr lang="en-US" smtClean="0"/>
              <a:t>59</a:t>
            </a:fld>
            <a:endParaRPr lang="en-US" dirty="0"/>
          </a:p>
        </p:txBody>
      </p:sp>
      <p:sp>
        <p:nvSpPr>
          <p:cNvPr id="15" name="Rectangle: Diagonal Corners Snipped 14">
            <a:extLst>
              <a:ext uri="{FF2B5EF4-FFF2-40B4-BE49-F238E27FC236}">
                <a16:creationId xmlns:a16="http://schemas.microsoft.com/office/drawing/2014/main" id="{FDBB26BB-8645-06D9-F020-18F7194AC253}"/>
              </a:ext>
            </a:extLst>
          </p:cNvPr>
          <p:cNvSpPr/>
          <p:nvPr/>
        </p:nvSpPr>
        <p:spPr>
          <a:xfrm>
            <a:off x="176305" y="927422"/>
            <a:ext cx="8791389"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Relevant Quotes</a:t>
            </a:r>
          </a:p>
        </p:txBody>
      </p:sp>
      <p:sp>
        <p:nvSpPr>
          <p:cNvPr id="4" name="TextBox 3">
            <a:extLst>
              <a:ext uri="{FF2B5EF4-FFF2-40B4-BE49-F238E27FC236}">
                <a16:creationId xmlns:a16="http://schemas.microsoft.com/office/drawing/2014/main" id="{0FB66C77-6E7D-8039-431C-1933FC810B4D}"/>
              </a:ext>
            </a:extLst>
          </p:cNvPr>
          <p:cNvSpPr txBox="1"/>
          <p:nvPr/>
        </p:nvSpPr>
        <p:spPr>
          <a:xfrm>
            <a:off x="171924" y="1339440"/>
            <a:ext cx="8791389" cy="4324261"/>
          </a:xfrm>
          <a:prstGeom prst="rect">
            <a:avLst/>
          </a:prstGeom>
          <a:noFill/>
        </p:spPr>
        <p:txBody>
          <a:bodyPr wrap="square" rtlCol="0">
            <a:spAutoFit/>
          </a:bodyPr>
          <a:lstStyle/>
          <a:p>
            <a:pPr marL="171450" indent="-171450">
              <a:spcBef>
                <a:spcPts val="300"/>
              </a:spcBef>
              <a:spcAft>
                <a:spcPts val="300"/>
              </a:spcAft>
              <a:buFont typeface="Arial" panose="020B0604020202020204" pitchFamily="34" charset="0"/>
              <a:buChar char="•"/>
            </a:pPr>
            <a:r>
              <a:rPr lang="en-US" sz="1200" dirty="0"/>
              <a:t>Former Tenet Healthcare Competitor Thinks Ambulatory Surgery Centers Tend to Outsource – 08/19/2024</a:t>
            </a:r>
          </a:p>
          <a:p>
            <a:pPr marL="628650" lvl="1" indent="-171450">
              <a:spcBef>
                <a:spcPts val="300"/>
              </a:spcBef>
              <a:spcAft>
                <a:spcPts val="300"/>
              </a:spcAft>
              <a:buFont typeface="Arial" panose="020B0604020202020204" pitchFamily="34" charset="0"/>
              <a:buChar char="•"/>
            </a:pPr>
            <a:r>
              <a:rPr lang="en-US" sz="1200" dirty="0"/>
              <a:t>Q: “What about the ambulatory surgery centers? Are they more likely to outsource or to have their people in-house, especially given the fact that they tend to have very consistent hours?”</a:t>
            </a:r>
          </a:p>
          <a:p>
            <a:pPr marL="628650" lvl="1" indent="-171450">
              <a:spcBef>
                <a:spcPts val="300"/>
              </a:spcBef>
              <a:spcAft>
                <a:spcPts val="300"/>
              </a:spcAft>
              <a:buFont typeface="Arial" panose="020B0604020202020204" pitchFamily="34" charset="0"/>
              <a:buChar char="•"/>
            </a:pPr>
            <a:r>
              <a:rPr lang="en-US" sz="1200" dirty="0"/>
              <a:t>A: “I hate to use that term, </a:t>
            </a:r>
            <a:r>
              <a:rPr lang="en-US" sz="1200" b="1" dirty="0"/>
              <a:t>but they're the kings of outsourcing</a:t>
            </a:r>
            <a:r>
              <a:rPr lang="en-US" sz="1200" dirty="0"/>
              <a:t>. The outsourcing started with the ambulatory surgery centers. Because they function in a manner that may be very limited, so they bring in people when they need them. That makes sense to them.”</a:t>
            </a:r>
          </a:p>
          <a:p>
            <a:pPr marL="171450" indent="-171450">
              <a:spcBef>
                <a:spcPts val="300"/>
              </a:spcBef>
              <a:spcAft>
                <a:spcPts val="300"/>
              </a:spcAft>
              <a:buFont typeface="Arial" panose="020B0604020202020204" pitchFamily="34" charset="0"/>
              <a:buChar char="•"/>
            </a:pPr>
            <a:r>
              <a:rPr lang="en-US" sz="1200" dirty="0"/>
              <a:t>Former CIO of U.S. Anesthesia Partners Thinks the Industry’s Facing a Coming Shortage of Anesthesiologists – 05/11/2023 </a:t>
            </a:r>
          </a:p>
          <a:p>
            <a:pPr marL="628650" lvl="1" indent="-171450">
              <a:spcBef>
                <a:spcPts val="300"/>
              </a:spcBef>
              <a:spcAft>
                <a:spcPts val="300"/>
              </a:spcAft>
              <a:buFont typeface="Arial" panose="020B0604020202020204" pitchFamily="34" charset="0"/>
              <a:buChar char="•"/>
            </a:pPr>
            <a:r>
              <a:rPr lang="en-US" sz="1200" dirty="0"/>
              <a:t>Q: “Why is anesthesiology different? For instance, if you're a hospital, you have the capability to hire doctors, nurses, orderlies, technicians, radiologists, janitors, receptionists. Hospitals hire a wide variety of people with a wide variety of skills and they do that themselves. Why is anesthesiology different? Why do the hospitals have difficulty doing this themselves and why are they going to an outside agency instead of staffing up themselves?”</a:t>
            </a:r>
          </a:p>
          <a:p>
            <a:pPr marL="628650" lvl="1" indent="-171450">
              <a:spcBef>
                <a:spcPts val="300"/>
              </a:spcBef>
              <a:spcAft>
                <a:spcPts val="300"/>
              </a:spcAft>
              <a:buFont typeface="Arial" panose="020B0604020202020204" pitchFamily="34" charset="0"/>
              <a:buChar char="•"/>
            </a:pPr>
            <a:r>
              <a:rPr lang="en-US" sz="1200" dirty="0"/>
              <a:t>A: “Yeah. </a:t>
            </a:r>
            <a:r>
              <a:rPr lang="en-US" sz="1200" b="1" dirty="0"/>
              <a:t>Staffing up themselves is one option, but I think the hospitals that have tried that have gotten themselves into trouble in a couple of areas</a:t>
            </a:r>
            <a:r>
              <a:rPr lang="en-US" sz="1200" dirty="0"/>
              <a:t>. One, it's just having the right number of staff and people that are available to cover the different OR rooms. For a health system, the OR is the most profitable area, that's where they make the most money, and having staff anesthesiologists to cover those, because obviously you can't perform in OR if you don't have them, and what I've come to realize is, over my last couple of years, how important the anesthesiologist is to the surgery…”</a:t>
            </a:r>
          </a:p>
          <a:p>
            <a:pPr marL="628650" lvl="1" indent="-171450">
              <a:spcBef>
                <a:spcPts val="300"/>
              </a:spcBef>
              <a:spcAft>
                <a:spcPts val="300"/>
              </a:spcAft>
              <a:buFont typeface="Arial" panose="020B0604020202020204" pitchFamily="34" charset="0"/>
              <a:buChar char="•"/>
            </a:pPr>
            <a:r>
              <a:rPr lang="en-US" sz="1200" dirty="0"/>
              <a:t>“Basically, if you staff your hospital for max capacity OR, you got a lot of anesthesiologists sitting around doing nothing. If you staff for minimum, you have everyone else who can't do their job. </a:t>
            </a:r>
            <a:r>
              <a:rPr lang="en-US" sz="1200" b="1" dirty="0"/>
              <a:t>Basically, the issue isn't that the hospitals can't do it. It's that demand fluctuates so wildly that it's difficult to have that particular group of people on staff full-time.</a:t>
            </a:r>
            <a:r>
              <a:rPr lang="en-US" sz="1200" dirty="0"/>
              <a:t>”</a:t>
            </a:r>
          </a:p>
          <a:p>
            <a:pPr marL="628650" lvl="1" indent="-171450">
              <a:spcBef>
                <a:spcPts val="300"/>
              </a:spcBef>
              <a:spcAft>
                <a:spcPts val="300"/>
              </a:spcAft>
              <a:buFont typeface="Arial" panose="020B0604020202020204" pitchFamily="34" charset="0"/>
              <a:buChar char="•"/>
            </a:pPr>
            <a:endParaRPr lang="en-US" sz="1200" dirty="0"/>
          </a:p>
        </p:txBody>
      </p:sp>
      <p:sp>
        <p:nvSpPr>
          <p:cNvPr id="3" name="TextBox 2">
            <a:extLst>
              <a:ext uri="{FF2B5EF4-FFF2-40B4-BE49-F238E27FC236}">
                <a16:creationId xmlns:a16="http://schemas.microsoft.com/office/drawing/2014/main" id="{809F6A6D-A122-81C6-8044-840D50DA1FD3}"/>
              </a:ext>
            </a:extLst>
          </p:cNvPr>
          <p:cNvSpPr txBox="1"/>
          <p:nvPr/>
        </p:nvSpPr>
        <p:spPr>
          <a:xfrm>
            <a:off x="873" y="6586525"/>
            <a:ext cx="2468880" cy="215444"/>
          </a:xfrm>
          <a:prstGeom prst="rect">
            <a:avLst/>
          </a:prstGeom>
          <a:solidFill>
            <a:schemeClr val="bg1"/>
          </a:solidFill>
        </p:spPr>
        <p:txBody>
          <a:bodyPr wrap="square" rtlCol="0">
            <a:spAutoFit/>
          </a:bodyPr>
          <a:lstStyle/>
          <a:p>
            <a:r>
              <a:rPr lang="en-US" sz="800" dirty="0"/>
              <a:t>Sources: AlphaSense Expert Call Transcripts</a:t>
            </a:r>
          </a:p>
        </p:txBody>
      </p:sp>
    </p:spTree>
    <p:extLst>
      <p:ext uri="{BB962C8B-B14F-4D97-AF65-F5344CB8AC3E}">
        <p14:creationId xmlns:p14="http://schemas.microsoft.com/office/powerpoint/2010/main" val="3191500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69A6E-4413-48BB-48B8-49CA831EE1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89C079-9E9E-8A85-73C4-820D2967714D}"/>
              </a:ext>
            </a:extLst>
          </p:cNvPr>
          <p:cNvSpPr>
            <a:spLocks noGrp="1"/>
          </p:cNvSpPr>
          <p:nvPr>
            <p:ph type="title"/>
          </p:nvPr>
        </p:nvSpPr>
        <p:spPr/>
        <p:txBody>
          <a:bodyPr>
            <a:normAutofit/>
          </a:bodyPr>
          <a:lstStyle/>
          <a:p>
            <a:r>
              <a:rPr lang="en-US" dirty="0"/>
              <a:t>IT Diligence / Technology Stack</a:t>
            </a:r>
          </a:p>
        </p:txBody>
      </p:sp>
      <p:sp>
        <p:nvSpPr>
          <p:cNvPr id="9" name="Slide Number Placeholder 8">
            <a:extLst>
              <a:ext uri="{FF2B5EF4-FFF2-40B4-BE49-F238E27FC236}">
                <a16:creationId xmlns:a16="http://schemas.microsoft.com/office/drawing/2014/main" id="{1B691B4D-7F4C-8AEC-5674-16C99E717A67}"/>
              </a:ext>
            </a:extLst>
          </p:cNvPr>
          <p:cNvSpPr>
            <a:spLocks noGrp="1"/>
          </p:cNvSpPr>
          <p:nvPr>
            <p:ph type="sldNum" sz="quarter" idx="12"/>
          </p:nvPr>
        </p:nvSpPr>
        <p:spPr/>
        <p:txBody>
          <a:bodyPr/>
          <a:lstStyle/>
          <a:p>
            <a:fld id="{F8DDDAE5-3BDD-4D78-843B-A22FA78305BB}" type="slidenum">
              <a:rPr lang="en-US" smtClean="0"/>
              <a:t>60</a:t>
            </a:fld>
            <a:endParaRPr lang="en-US" dirty="0"/>
          </a:p>
        </p:txBody>
      </p:sp>
      <p:graphicFrame>
        <p:nvGraphicFramePr>
          <p:cNvPr id="7" name="Table 6">
            <a:extLst>
              <a:ext uri="{FF2B5EF4-FFF2-40B4-BE49-F238E27FC236}">
                <a16:creationId xmlns:a16="http://schemas.microsoft.com/office/drawing/2014/main" id="{936BBF12-F22D-66A2-2471-1CE71954BBA1}"/>
              </a:ext>
            </a:extLst>
          </p:cNvPr>
          <p:cNvGraphicFramePr>
            <a:graphicFrameLocks noGrp="1"/>
          </p:cNvGraphicFramePr>
          <p:nvPr>
            <p:extLst>
              <p:ext uri="{D42A27DB-BD31-4B8C-83A1-F6EECF244321}">
                <p14:modId xmlns:p14="http://schemas.microsoft.com/office/powerpoint/2010/main" val="1766256855"/>
              </p:ext>
            </p:extLst>
          </p:nvPr>
        </p:nvGraphicFramePr>
        <p:xfrm>
          <a:off x="178497" y="938995"/>
          <a:ext cx="8787006" cy="5573131"/>
        </p:xfrm>
        <a:graphic>
          <a:graphicData uri="http://schemas.openxmlformats.org/drawingml/2006/table">
            <a:tbl>
              <a:tblPr firstRow="1" bandRow="1">
                <a:tableStyleId>{5C22544A-7EE6-4342-B048-85BDC9FD1C3A}</a:tableStyleId>
              </a:tblPr>
              <a:tblGrid>
                <a:gridCol w="1464501">
                  <a:extLst>
                    <a:ext uri="{9D8B030D-6E8A-4147-A177-3AD203B41FA5}">
                      <a16:colId xmlns:a16="http://schemas.microsoft.com/office/drawing/2014/main" val="2013788962"/>
                    </a:ext>
                  </a:extLst>
                </a:gridCol>
                <a:gridCol w="1464501">
                  <a:extLst>
                    <a:ext uri="{9D8B030D-6E8A-4147-A177-3AD203B41FA5}">
                      <a16:colId xmlns:a16="http://schemas.microsoft.com/office/drawing/2014/main" val="3716730001"/>
                    </a:ext>
                  </a:extLst>
                </a:gridCol>
                <a:gridCol w="1464501">
                  <a:extLst>
                    <a:ext uri="{9D8B030D-6E8A-4147-A177-3AD203B41FA5}">
                      <a16:colId xmlns:a16="http://schemas.microsoft.com/office/drawing/2014/main" val="584997788"/>
                    </a:ext>
                  </a:extLst>
                </a:gridCol>
                <a:gridCol w="1464501">
                  <a:extLst>
                    <a:ext uri="{9D8B030D-6E8A-4147-A177-3AD203B41FA5}">
                      <a16:colId xmlns:a16="http://schemas.microsoft.com/office/drawing/2014/main" val="191570869"/>
                    </a:ext>
                  </a:extLst>
                </a:gridCol>
                <a:gridCol w="1464501">
                  <a:extLst>
                    <a:ext uri="{9D8B030D-6E8A-4147-A177-3AD203B41FA5}">
                      <a16:colId xmlns:a16="http://schemas.microsoft.com/office/drawing/2014/main" val="3835713385"/>
                    </a:ext>
                  </a:extLst>
                </a:gridCol>
                <a:gridCol w="1464501">
                  <a:extLst>
                    <a:ext uri="{9D8B030D-6E8A-4147-A177-3AD203B41FA5}">
                      <a16:colId xmlns:a16="http://schemas.microsoft.com/office/drawing/2014/main" val="1630946336"/>
                    </a:ext>
                  </a:extLst>
                </a:gridCol>
              </a:tblGrid>
              <a:tr h="374635">
                <a:tc>
                  <a:txBody>
                    <a:bodyPr/>
                    <a:lstStyle/>
                    <a:p>
                      <a:pPr algn="ctr"/>
                      <a:r>
                        <a:rPr lang="en-US" sz="1000" dirty="0">
                          <a:solidFill>
                            <a:schemeClr val="bg1"/>
                          </a:solidFill>
                        </a:rPr>
                        <a:t>System Name</a:t>
                      </a:r>
                    </a:p>
                  </a:txBody>
                  <a:tcPr marT="28388" marB="28388" anchor="ctr">
                    <a:solidFill>
                      <a:schemeClr val="accent1">
                        <a:lumMod val="50000"/>
                      </a:schemeClr>
                    </a:solidFill>
                  </a:tcPr>
                </a:tc>
                <a:tc>
                  <a:txBody>
                    <a:bodyPr/>
                    <a:lstStyle/>
                    <a:p>
                      <a:pPr algn="ctr"/>
                      <a:r>
                        <a:rPr lang="en-US" sz="1000" dirty="0">
                          <a:solidFill>
                            <a:schemeClr val="bg1"/>
                          </a:solidFill>
                        </a:rPr>
                        <a:t>Category</a:t>
                      </a:r>
                    </a:p>
                  </a:txBody>
                  <a:tcPr marT="28388" marB="28388" anchor="ctr">
                    <a:solidFill>
                      <a:schemeClr val="accent1">
                        <a:lumMod val="50000"/>
                      </a:schemeClr>
                    </a:solidFill>
                  </a:tcPr>
                </a:tc>
                <a:tc>
                  <a:txBody>
                    <a:bodyPr/>
                    <a:lstStyle/>
                    <a:p>
                      <a:pPr algn="ctr"/>
                      <a:r>
                        <a:rPr lang="en-US" sz="1000" dirty="0">
                          <a:solidFill>
                            <a:schemeClr val="bg1"/>
                          </a:solidFill>
                        </a:rPr>
                        <a:t>Description</a:t>
                      </a:r>
                    </a:p>
                  </a:txBody>
                  <a:tcPr marT="28388" marB="28388" anchor="ctr">
                    <a:solidFill>
                      <a:schemeClr val="accent1">
                        <a:lumMod val="50000"/>
                      </a:schemeClr>
                    </a:solidFill>
                  </a:tcPr>
                </a:tc>
                <a:tc>
                  <a:txBody>
                    <a:bodyPr/>
                    <a:lstStyle/>
                    <a:p>
                      <a:pPr algn="ctr"/>
                      <a:r>
                        <a:rPr lang="en-US" sz="1000" dirty="0">
                          <a:solidFill>
                            <a:schemeClr val="bg1"/>
                          </a:solidFill>
                        </a:rPr>
                        <a:t>How Is It Being Used?</a:t>
                      </a:r>
                    </a:p>
                  </a:txBody>
                  <a:tcPr marT="28388" marB="28388" anchor="ctr">
                    <a:solidFill>
                      <a:schemeClr val="accent1">
                        <a:lumMod val="50000"/>
                      </a:schemeClr>
                    </a:solidFill>
                  </a:tcPr>
                </a:tc>
                <a:tc>
                  <a:txBody>
                    <a:bodyPr/>
                    <a:lstStyle/>
                    <a:p>
                      <a:pPr algn="ctr"/>
                      <a:r>
                        <a:rPr lang="en-US" sz="1000" dirty="0">
                          <a:solidFill>
                            <a:schemeClr val="bg1"/>
                          </a:solidFill>
                        </a:rPr>
                        <a:t>What Data Is Being Stored?</a:t>
                      </a:r>
                    </a:p>
                  </a:txBody>
                  <a:tcPr marT="28388" marB="28388" anchor="ctr">
                    <a:solidFill>
                      <a:schemeClr val="accent1">
                        <a:lumMod val="50000"/>
                      </a:schemeClr>
                    </a:solidFill>
                  </a:tcPr>
                </a:tc>
                <a:tc>
                  <a:txBody>
                    <a:bodyPr/>
                    <a:lstStyle/>
                    <a:p>
                      <a:pPr algn="ctr"/>
                      <a:r>
                        <a:rPr lang="en-US" sz="1000" dirty="0">
                          <a:solidFill>
                            <a:schemeClr val="bg1"/>
                          </a:solidFill>
                        </a:rPr>
                        <a:t>HIPAA Compliant?</a:t>
                      </a:r>
                    </a:p>
                  </a:txBody>
                  <a:tcPr marT="28388" marB="28388" anchor="ctr">
                    <a:solidFill>
                      <a:schemeClr val="accent1">
                        <a:lumMod val="50000"/>
                      </a:schemeClr>
                    </a:solidFill>
                  </a:tcPr>
                </a:tc>
                <a:extLst>
                  <a:ext uri="{0D108BD9-81ED-4DB2-BD59-A6C34878D82A}">
                    <a16:rowId xmlns:a16="http://schemas.microsoft.com/office/drawing/2014/main" val="2007875439"/>
                  </a:ext>
                </a:extLst>
              </a:tr>
              <a:tr h="736876">
                <a:tc>
                  <a:txBody>
                    <a:bodyPr/>
                    <a:lstStyle/>
                    <a:p>
                      <a:pPr algn="l" fontAlgn="ctr">
                        <a:buNone/>
                      </a:pPr>
                      <a:r>
                        <a:rPr lang="en-US" sz="900" b="0" i="0" u="none" strike="noStrike" dirty="0">
                          <a:solidFill>
                            <a:srgbClr val="000000"/>
                          </a:solidFill>
                          <a:effectLst/>
                          <a:latin typeface="Aptos Narrow" panose="020B0004020202020204" pitchFamily="34" charset="0"/>
                        </a:rPr>
                        <a:t>Office 365/Google Suite</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Software Subscription</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Used for company email, document collaboration, and basic productivity tools</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Company uses Microsoft Suite (Outlook, Excel, etc.)</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N/A - Azure cloud managed by Hyperion</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Yes</a:t>
                      </a:r>
                    </a:p>
                  </a:txBody>
                  <a:tcPr anchor="ctr">
                    <a:solidFill>
                      <a:schemeClr val="bg1">
                        <a:lumMod val="85000"/>
                      </a:schemeClr>
                    </a:solidFill>
                  </a:tcPr>
                </a:tc>
                <a:extLst>
                  <a:ext uri="{0D108BD9-81ED-4DB2-BD59-A6C34878D82A}">
                    <a16:rowId xmlns:a16="http://schemas.microsoft.com/office/drawing/2014/main" val="2169564543"/>
                  </a:ext>
                </a:extLst>
              </a:tr>
              <a:tr h="736876">
                <a:tc>
                  <a:txBody>
                    <a:bodyPr/>
                    <a:lstStyle/>
                    <a:p>
                      <a:pPr algn="l" fontAlgn="ctr">
                        <a:buNone/>
                      </a:pPr>
                      <a:r>
                        <a:rPr lang="en-US" sz="900" b="0" i="0" u="none" strike="noStrike" dirty="0">
                          <a:solidFill>
                            <a:srgbClr val="000000"/>
                          </a:solidFill>
                          <a:effectLst/>
                          <a:latin typeface="Aptos Narrow" panose="020B0004020202020204" pitchFamily="34" charset="0"/>
                        </a:rPr>
                        <a:t>Paychex</a:t>
                      </a:r>
                    </a:p>
                  </a:txBody>
                  <a:tcPr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Payroll Service</a:t>
                      </a:r>
                    </a:p>
                  </a:txBody>
                  <a:tcPr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Manages payroll processing across all entities</a:t>
                      </a:r>
                    </a:p>
                  </a:txBody>
                  <a:tcPr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Payroll</a:t>
                      </a:r>
                    </a:p>
                  </a:txBody>
                  <a:tcPr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Employee information, SSN, DOB, Address, etc.</a:t>
                      </a:r>
                    </a:p>
                  </a:txBody>
                  <a:tcPr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N/A</a:t>
                      </a:r>
                    </a:p>
                  </a:txBody>
                  <a:tcPr anchor="ctr">
                    <a:solidFill>
                      <a:schemeClr val="bg1">
                        <a:lumMod val="95000"/>
                      </a:schemeClr>
                    </a:solidFill>
                  </a:tcPr>
                </a:tc>
                <a:extLst>
                  <a:ext uri="{0D108BD9-81ED-4DB2-BD59-A6C34878D82A}">
                    <a16:rowId xmlns:a16="http://schemas.microsoft.com/office/drawing/2014/main" val="4115207246"/>
                  </a:ext>
                </a:extLst>
              </a:tr>
              <a:tr h="736876">
                <a:tc>
                  <a:txBody>
                    <a:bodyPr/>
                    <a:lstStyle/>
                    <a:p>
                      <a:pPr algn="l" fontAlgn="ctr">
                        <a:buNone/>
                      </a:pPr>
                      <a:r>
                        <a:rPr lang="en-US" sz="900" b="0" i="0" u="none" strike="noStrike" dirty="0">
                          <a:solidFill>
                            <a:srgbClr val="000000"/>
                          </a:solidFill>
                          <a:effectLst/>
                          <a:latin typeface="Aptos Narrow" panose="020B0004020202020204" pitchFamily="34" charset="0"/>
                        </a:rPr>
                        <a:t>Connecteam</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Surgical Scheduling Software</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ASC/provider scheduling</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Scheduling providers</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Same as Paychex + credentialing</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Yes</a:t>
                      </a:r>
                    </a:p>
                  </a:txBody>
                  <a:tcPr anchor="ctr">
                    <a:solidFill>
                      <a:schemeClr val="bg1">
                        <a:lumMod val="85000"/>
                      </a:schemeClr>
                    </a:solidFill>
                  </a:tcPr>
                </a:tc>
                <a:extLst>
                  <a:ext uri="{0D108BD9-81ED-4DB2-BD59-A6C34878D82A}">
                    <a16:rowId xmlns:a16="http://schemas.microsoft.com/office/drawing/2014/main" val="1416044750"/>
                  </a:ext>
                </a:extLst>
              </a:tr>
              <a:tr h="736876">
                <a:tc>
                  <a:txBody>
                    <a:bodyPr/>
                    <a:lstStyle/>
                    <a:p>
                      <a:pPr algn="l" fontAlgn="ctr">
                        <a:buNone/>
                      </a:pPr>
                      <a:r>
                        <a:rPr lang="en-US" sz="900" b="0" i="0" u="none" strike="noStrike" dirty="0">
                          <a:solidFill>
                            <a:srgbClr val="000000"/>
                          </a:solidFill>
                          <a:effectLst/>
                          <a:latin typeface="Aptos Narrow" panose="020B0004020202020204" pitchFamily="34" charset="0"/>
                        </a:rPr>
                        <a:t>Google Analytics</a:t>
                      </a:r>
                    </a:p>
                  </a:txBody>
                  <a:tcPr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Analytics - Marketing</a:t>
                      </a:r>
                    </a:p>
                  </a:txBody>
                  <a:tcPr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Operated through Basso</a:t>
                      </a:r>
                    </a:p>
                  </a:txBody>
                  <a:tcPr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Marketing</a:t>
                      </a:r>
                    </a:p>
                  </a:txBody>
                  <a:tcPr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Stored with Basso</a:t>
                      </a:r>
                    </a:p>
                  </a:txBody>
                  <a:tcPr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N/A</a:t>
                      </a:r>
                    </a:p>
                  </a:txBody>
                  <a:tcPr anchor="ctr">
                    <a:solidFill>
                      <a:schemeClr val="bg1">
                        <a:lumMod val="95000"/>
                      </a:schemeClr>
                    </a:solidFill>
                  </a:tcPr>
                </a:tc>
                <a:extLst>
                  <a:ext uri="{0D108BD9-81ED-4DB2-BD59-A6C34878D82A}">
                    <a16:rowId xmlns:a16="http://schemas.microsoft.com/office/drawing/2014/main" val="1892124027"/>
                  </a:ext>
                </a:extLst>
              </a:tr>
              <a:tr h="736876">
                <a:tc>
                  <a:txBody>
                    <a:bodyPr/>
                    <a:lstStyle/>
                    <a:p>
                      <a:pPr algn="l" fontAlgn="ctr">
                        <a:buNone/>
                      </a:pPr>
                      <a:r>
                        <a:rPr lang="en-US" sz="900" b="0" i="0" u="none" strike="noStrike" dirty="0">
                          <a:solidFill>
                            <a:srgbClr val="000000"/>
                          </a:solidFill>
                          <a:effectLst/>
                          <a:latin typeface="Aptos Narrow" panose="020B0004020202020204" pitchFamily="34" charset="0"/>
                        </a:rPr>
                        <a:t>Physicians Choice</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Billing &amp; Collection Partnership</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Provides outsourced RCM, credentialing, etc.</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Billing &amp; Collections</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Patient data (e.g., address, MRN, etc.) and procedure information, ASC information, provider information, etc.</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Yes</a:t>
                      </a:r>
                    </a:p>
                  </a:txBody>
                  <a:tcPr anchor="ctr">
                    <a:solidFill>
                      <a:schemeClr val="bg1">
                        <a:lumMod val="85000"/>
                      </a:schemeClr>
                    </a:solidFill>
                  </a:tcPr>
                </a:tc>
                <a:extLst>
                  <a:ext uri="{0D108BD9-81ED-4DB2-BD59-A6C34878D82A}">
                    <a16:rowId xmlns:a16="http://schemas.microsoft.com/office/drawing/2014/main" val="3154590518"/>
                  </a:ext>
                </a:extLst>
              </a:tr>
              <a:tr h="736876">
                <a:tc>
                  <a:txBody>
                    <a:bodyPr/>
                    <a:lstStyle/>
                    <a:p>
                      <a:pPr algn="l" fontAlgn="ctr">
                        <a:buNone/>
                      </a:pPr>
                      <a:r>
                        <a:rPr lang="en-US" sz="900" b="0" i="0" u="none" strike="noStrike" dirty="0">
                          <a:solidFill>
                            <a:srgbClr val="000000"/>
                          </a:solidFill>
                          <a:effectLst/>
                          <a:latin typeface="Aptos Narrow" panose="020B0004020202020204" pitchFamily="34" charset="0"/>
                        </a:rPr>
                        <a:t>Hyperion Managed Services</a:t>
                      </a:r>
                    </a:p>
                  </a:txBody>
                  <a:tcPr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MSP</a:t>
                      </a:r>
                    </a:p>
                  </a:txBody>
                  <a:tcPr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Provides ongoing, outsourced IT services</a:t>
                      </a:r>
                    </a:p>
                  </a:txBody>
                  <a:tcPr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N/A</a:t>
                      </a:r>
                    </a:p>
                  </a:txBody>
                  <a:tcPr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N/A - Azure cloud managed by Hyperion</a:t>
                      </a:r>
                    </a:p>
                  </a:txBody>
                  <a:tcPr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Yes</a:t>
                      </a:r>
                    </a:p>
                  </a:txBody>
                  <a:tcPr anchor="ctr">
                    <a:solidFill>
                      <a:schemeClr val="bg1">
                        <a:lumMod val="95000"/>
                      </a:schemeClr>
                    </a:solidFill>
                  </a:tcPr>
                </a:tc>
                <a:extLst>
                  <a:ext uri="{0D108BD9-81ED-4DB2-BD59-A6C34878D82A}">
                    <a16:rowId xmlns:a16="http://schemas.microsoft.com/office/drawing/2014/main" val="2434029548"/>
                  </a:ext>
                </a:extLst>
              </a:tr>
              <a:tr h="736876">
                <a:tc>
                  <a:txBody>
                    <a:bodyPr/>
                    <a:lstStyle/>
                    <a:p>
                      <a:pPr algn="l" fontAlgn="ctr">
                        <a:buNone/>
                      </a:pPr>
                      <a:r>
                        <a:rPr lang="en-US" sz="900" b="0" i="0" u="none" strike="noStrike" dirty="0">
                          <a:solidFill>
                            <a:srgbClr val="000000"/>
                          </a:solidFill>
                          <a:effectLst/>
                          <a:latin typeface="Aptos Narrow" panose="020B0004020202020204" pitchFamily="34" charset="0"/>
                        </a:rPr>
                        <a:t>QuickBooks</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Overseen by Hosmer CPAs</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Financial reporting</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Financial reporting</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Financial information</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N/A</a:t>
                      </a:r>
                    </a:p>
                  </a:txBody>
                  <a:tcPr anchor="ctr">
                    <a:solidFill>
                      <a:schemeClr val="bg1">
                        <a:lumMod val="85000"/>
                      </a:schemeClr>
                    </a:solidFill>
                  </a:tcPr>
                </a:tc>
                <a:extLst>
                  <a:ext uri="{0D108BD9-81ED-4DB2-BD59-A6C34878D82A}">
                    <a16:rowId xmlns:a16="http://schemas.microsoft.com/office/drawing/2014/main" val="1527937039"/>
                  </a:ext>
                </a:extLst>
              </a:tr>
            </a:tbl>
          </a:graphicData>
        </a:graphic>
      </p:graphicFrame>
    </p:spTree>
    <p:extLst>
      <p:ext uri="{BB962C8B-B14F-4D97-AF65-F5344CB8AC3E}">
        <p14:creationId xmlns:p14="http://schemas.microsoft.com/office/powerpoint/2010/main" val="30561115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FC5E0-5CBC-9B61-5749-A5E7D06970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CA4EF9-5DA8-9085-B342-60B9321A6E78}"/>
              </a:ext>
            </a:extLst>
          </p:cNvPr>
          <p:cNvSpPr>
            <a:spLocks noGrp="1"/>
          </p:cNvSpPr>
          <p:nvPr>
            <p:ph type="title"/>
          </p:nvPr>
        </p:nvSpPr>
        <p:spPr/>
        <p:txBody>
          <a:bodyPr>
            <a:normAutofit/>
          </a:bodyPr>
          <a:lstStyle/>
          <a:p>
            <a:r>
              <a:rPr lang="en-US" dirty="0"/>
              <a:t>AAS Hiring &amp; HR Process</a:t>
            </a:r>
          </a:p>
        </p:txBody>
      </p:sp>
      <p:sp>
        <p:nvSpPr>
          <p:cNvPr id="6" name="TextBox 5">
            <a:extLst>
              <a:ext uri="{FF2B5EF4-FFF2-40B4-BE49-F238E27FC236}">
                <a16:creationId xmlns:a16="http://schemas.microsoft.com/office/drawing/2014/main" id="{FA836FE9-3E94-9DCD-89F9-ADD053E420C6}"/>
              </a:ext>
            </a:extLst>
          </p:cNvPr>
          <p:cNvSpPr txBox="1"/>
          <p:nvPr/>
        </p:nvSpPr>
        <p:spPr>
          <a:xfrm>
            <a:off x="228600" y="981789"/>
            <a:ext cx="8686800" cy="461665"/>
          </a:xfrm>
          <a:prstGeom prst="rect">
            <a:avLst/>
          </a:prstGeom>
          <a:noFill/>
        </p:spPr>
        <p:txBody>
          <a:bodyPr wrap="square" rtlCol="0">
            <a:spAutoFit/>
          </a:bodyPr>
          <a:lstStyle/>
          <a:p>
            <a:pPr>
              <a:spcBef>
                <a:spcPts val="300"/>
              </a:spcBef>
              <a:spcAft>
                <a:spcPts val="300"/>
              </a:spcAft>
            </a:pPr>
            <a:r>
              <a:rPr lang="en-US" sz="1200" dirty="0"/>
              <a:t>Amy Elliott conducted a detailed review of AAS’s broader hiring and HR processes, identifying current practices, system gaps, and opportunities for improvement.</a:t>
            </a:r>
          </a:p>
        </p:txBody>
      </p:sp>
      <p:sp>
        <p:nvSpPr>
          <p:cNvPr id="7" name="TextBox 6">
            <a:extLst>
              <a:ext uri="{FF2B5EF4-FFF2-40B4-BE49-F238E27FC236}">
                <a16:creationId xmlns:a16="http://schemas.microsoft.com/office/drawing/2014/main" id="{69EB6E5C-3D73-DA2F-E049-0178A8827951}"/>
              </a:ext>
            </a:extLst>
          </p:cNvPr>
          <p:cNvSpPr txBox="1"/>
          <p:nvPr/>
        </p:nvSpPr>
        <p:spPr>
          <a:xfrm>
            <a:off x="221942" y="1478856"/>
            <a:ext cx="8686800" cy="5196294"/>
          </a:xfrm>
          <a:prstGeom prst="rect">
            <a:avLst/>
          </a:prstGeom>
          <a:noFill/>
        </p:spPr>
        <p:txBody>
          <a:bodyPr wrap="square" rtlCol="0">
            <a:spAutoFit/>
          </a:bodyPr>
          <a:lstStyle/>
          <a:p>
            <a:pPr marL="228600" indent="-228600">
              <a:spcBef>
                <a:spcPts val="100"/>
              </a:spcBef>
              <a:spcAft>
                <a:spcPts val="100"/>
              </a:spcAft>
              <a:buFont typeface="Arial" panose="020B0604020202020204" pitchFamily="34" charset="0"/>
              <a:buChar char="•"/>
            </a:pPr>
            <a:r>
              <a:rPr lang="en-US" sz="1200" u="sng" dirty="0"/>
              <a:t>Clinician Hiring &amp; Onboarding</a:t>
            </a:r>
            <a:r>
              <a:rPr lang="en-US" sz="1200" dirty="0"/>
              <a:t>: Leads sourced via referral, social media, and job postings </a:t>
            </a:r>
            <a:r>
              <a:rPr lang="en-US" sz="1200" dirty="0">
                <a:sym typeface="Wingdings" panose="05000000000000000000" pitchFamily="2" charset="2"/>
              </a:rPr>
              <a:t></a:t>
            </a:r>
            <a:r>
              <a:rPr lang="en-US" sz="1200" dirty="0"/>
              <a:t> initial screening by leadership, followed by contract issuance </a:t>
            </a:r>
            <a:r>
              <a:rPr lang="en-US" sz="1200" dirty="0">
                <a:sym typeface="Wingdings" panose="05000000000000000000" pitchFamily="2" charset="2"/>
              </a:rPr>
              <a:t></a:t>
            </a:r>
            <a:r>
              <a:rPr lang="en-US" sz="1200" dirty="0"/>
              <a:t> credentialing handled via Connecteam </a:t>
            </a:r>
            <a:r>
              <a:rPr lang="en-US" sz="1200" dirty="0">
                <a:sym typeface="Wingdings" panose="05000000000000000000" pitchFamily="2" charset="2"/>
              </a:rPr>
              <a:t></a:t>
            </a:r>
            <a:r>
              <a:rPr lang="en-US" sz="1200" dirty="0"/>
              <a:t> ASC clearance requires 1–3 months </a:t>
            </a:r>
            <a:r>
              <a:rPr lang="en-US" sz="1200" dirty="0">
                <a:sym typeface="Wingdings" panose="05000000000000000000" pitchFamily="2" charset="2"/>
              </a:rPr>
              <a:t></a:t>
            </a:r>
            <a:r>
              <a:rPr lang="en-US" sz="1200" dirty="0"/>
              <a:t> payroll setup completed post-credentialing.</a:t>
            </a:r>
          </a:p>
          <a:p>
            <a:pPr marL="228600" indent="-228600">
              <a:spcBef>
                <a:spcPts val="100"/>
              </a:spcBef>
              <a:spcAft>
                <a:spcPts val="100"/>
              </a:spcAft>
              <a:buFont typeface="Arial" panose="020B0604020202020204" pitchFamily="34" charset="0"/>
              <a:buChar char="•"/>
            </a:pPr>
            <a:r>
              <a:rPr lang="en-US" sz="1200" u="sng" dirty="0"/>
              <a:t>Compliance &amp; Credential Tracking</a:t>
            </a:r>
            <a:r>
              <a:rPr lang="en-US" sz="1200" dirty="0"/>
              <a:t>: Connecteam used for document storage and tracking, however no background checks are performed currently, only license verification.</a:t>
            </a:r>
          </a:p>
          <a:p>
            <a:pPr marL="228600" indent="-228600">
              <a:spcBef>
                <a:spcPts val="100"/>
              </a:spcBef>
              <a:spcAft>
                <a:spcPts val="100"/>
              </a:spcAft>
              <a:buFont typeface="Arial" panose="020B0604020202020204" pitchFamily="34" charset="0"/>
              <a:buChar char="•"/>
            </a:pPr>
            <a:r>
              <a:rPr lang="en-US" sz="1200" u="sng" dirty="0"/>
              <a:t>Staffing &amp; PRN Utilization</a:t>
            </a:r>
            <a:r>
              <a:rPr lang="en-US" sz="1200" dirty="0"/>
              <a:t>: </a:t>
            </a:r>
          </a:p>
          <a:p>
            <a:pPr marL="685800" lvl="1" indent="-228600">
              <a:spcBef>
                <a:spcPts val="100"/>
              </a:spcBef>
              <a:spcAft>
                <a:spcPts val="100"/>
              </a:spcAft>
              <a:buFont typeface="Arial" panose="020B0604020202020204" pitchFamily="34" charset="0"/>
              <a:buChar char="•"/>
            </a:pPr>
            <a:r>
              <a:rPr lang="en-US" sz="1200" dirty="0"/>
              <a:t>PRN staff flexes up/down to meet ASC demand; flexing down is favored for retention</a:t>
            </a:r>
          </a:p>
          <a:p>
            <a:pPr marL="685800" lvl="1" indent="-228600">
              <a:spcBef>
                <a:spcPts val="100"/>
              </a:spcBef>
              <a:spcAft>
                <a:spcPts val="100"/>
              </a:spcAft>
              <a:buFont typeface="Arial" panose="020B0604020202020204" pitchFamily="34" charset="0"/>
              <a:buChar char="•"/>
            </a:pPr>
            <a:r>
              <a:rPr lang="en-US" sz="1200" dirty="0"/>
              <a:t>Connecteam provides real-time visibility of cleared PRN availability for each ASC</a:t>
            </a:r>
          </a:p>
          <a:p>
            <a:pPr marL="228600" indent="-228600">
              <a:spcBef>
                <a:spcPts val="100"/>
              </a:spcBef>
              <a:spcAft>
                <a:spcPts val="100"/>
              </a:spcAft>
              <a:buFont typeface="Arial" panose="020B0604020202020204" pitchFamily="34" charset="0"/>
              <a:buChar char="•"/>
            </a:pPr>
            <a:r>
              <a:rPr lang="en-US" sz="1200" u="sng" dirty="0"/>
              <a:t>Termination Process</a:t>
            </a:r>
            <a:r>
              <a:rPr lang="en-US" sz="1200" dirty="0"/>
              <a:t>: </a:t>
            </a:r>
          </a:p>
          <a:p>
            <a:pPr marL="685800" lvl="1" indent="-228600">
              <a:spcBef>
                <a:spcPts val="100"/>
              </a:spcBef>
              <a:spcAft>
                <a:spcPts val="100"/>
              </a:spcAft>
              <a:buFont typeface="Arial" panose="020B0604020202020204" pitchFamily="34" charset="0"/>
              <a:buChar char="•"/>
            </a:pPr>
            <a:r>
              <a:rPr lang="en-US" sz="1200" dirty="0"/>
              <a:t>AAS has no involuntary terminations; voluntary staff are shifted to other ASCs</a:t>
            </a:r>
          </a:p>
          <a:p>
            <a:pPr marL="685800" lvl="1" indent="-228600">
              <a:spcBef>
                <a:spcPts val="100"/>
              </a:spcBef>
              <a:spcAft>
                <a:spcPts val="100"/>
              </a:spcAft>
              <a:buFont typeface="Arial" panose="020B0604020202020204" pitchFamily="34" charset="0"/>
              <a:buChar char="•"/>
            </a:pPr>
            <a:r>
              <a:rPr lang="en-US" sz="1200" dirty="0"/>
              <a:t>Employees are either made PRN or inactive if no longer interested in working. There are look-backs for staff that have not worked in the last 6 months, but this is inconsistently performed</a:t>
            </a:r>
          </a:p>
          <a:p>
            <a:pPr marL="228600" indent="-228600">
              <a:spcBef>
                <a:spcPts val="100"/>
              </a:spcBef>
              <a:spcAft>
                <a:spcPts val="100"/>
              </a:spcAft>
              <a:buFont typeface="Arial" panose="020B0604020202020204" pitchFamily="34" charset="0"/>
              <a:buChar char="•"/>
            </a:pPr>
            <a:r>
              <a:rPr lang="en-US" sz="1200" u="sng" dirty="0"/>
              <a:t>Marketing &amp; Social Media</a:t>
            </a:r>
            <a:r>
              <a:rPr lang="en-US" sz="1200" dirty="0"/>
              <a:t>: AAS utilizes “Basso” to manage their website, 4 social media posts per week, key searches and analytics.</a:t>
            </a:r>
          </a:p>
          <a:p>
            <a:pPr marL="228600" indent="-228600">
              <a:spcBef>
                <a:spcPts val="100"/>
              </a:spcBef>
              <a:spcAft>
                <a:spcPts val="100"/>
              </a:spcAft>
              <a:buFont typeface="Arial" panose="020B0604020202020204" pitchFamily="34" charset="0"/>
              <a:buChar char="•"/>
            </a:pPr>
            <a:r>
              <a:rPr lang="en-US" sz="1200" u="sng" dirty="0"/>
              <a:t>System Limitations</a:t>
            </a:r>
            <a:r>
              <a:rPr lang="en-US" sz="1200" dirty="0"/>
              <a:t>: </a:t>
            </a:r>
          </a:p>
          <a:p>
            <a:pPr marL="685800" lvl="1" indent="-228600">
              <a:spcBef>
                <a:spcPts val="100"/>
              </a:spcBef>
              <a:spcAft>
                <a:spcPts val="100"/>
              </a:spcAft>
              <a:buFont typeface="Arial" panose="020B0604020202020204" pitchFamily="34" charset="0"/>
              <a:buChar char="•"/>
            </a:pPr>
            <a:r>
              <a:rPr lang="en-US" sz="1200" dirty="0"/>
              <a:t>Connecteam does not differentiate 1099 vs W2 and would require additional cost to acquire those features</a:t>
            </a:r>
          </a:p>
          <a:p>
            <a:pPr marL="685800" lvl="1" indent="-228600">
              <a:spcBef>
                <a:spcPts val="100"/>
              </a:spcBef>
              <a:spcAft>
                <a:spcPts val="100"/>
              </a:spcAft>
              <a:buFont typeface="Arial" panose="020B0604020202020204" pitchFamily="34" charset="0"/>
              <a:buChar char="•"/>
            </a:pPr>
            <a:r>
              <a:rPr lang="en-US" sz="1200" dirty="0"/>
              <a:t>Connecteam does not have an Applicant Tracking System (“ATS”) to support candidate pipeline management</a:t>
            </a:r>
          </a:p>
          <a:p>
            <a:pPr marL="685800" lvl="1" indent="-228600">
              <a:spcBef>
                <a:spcPts val="100"/>
              </a:spcBef>
              <a:spcAft>
                <a:spcPts val="100"/>
              </a:spcAft>
              <a:buFont typeface="Arial" panose="020B0604020202020204" pitchFamily="34" charset="0"/>
              <a:buChar char="•"/>
            </a:pPr>
            <a:r>
              <a:rPr lang="en-US" sz="1200" dirty="0"/>
              <a:t>Connecteam costs are incurred per active user</a:t>
            </a:r>
          </a:p>
          <a:p>
            <a:pPr>
              <a:spcBef>
                <a:spcPts val="100"/>
              </a:spcBef>
              <a:spcAft>
                <a:spcPts val="100"/>
              </a:spcAft>
            </a:pPr>
            <a:r>
              <a:rPr lang="en-US" sz="1200" b="1" u="sng" dirty="0"/>
              <a:t>Recommendations:</a:t>
            </a:r>
          </a:p>
          <a:p>
            <a:pPr marL="685800" lvl="1" indent="-228600">
              <a:spcBef>
                <a:spcPts val="100"/>
              </a:spcBef>
              <a:spcAft>
                <a:spcPts val="100"/>
              </a:spcAft>
              <a:buFont typeface="Arial" panose="020B0604020202020204" pitchFamily="34" charset="0"/>
              <a:buChar char="•"/>
            </a:pPr>
            <a:r>
              <a:rPr lang="en-US" sz="1200" dirty="0"/>
              <a:t>Review Basso contract for potential savings and expanded digital outreach (email campaigns, candidate sourcing)</a:t>
            </a:r>
          </a:p>
          <a:p>
            <a:pPr marL="685800" lvl="1" indent="-228600">
              <a:spcBef>
                <a:spcPts val="100"/>
              </a:spcBef>
              <a:spcAft>
                <a:spcPts val="100"/>
              </a:spcAft>
              <a:buFont typeface="Arial" panose="020B0604020202020204" pitchFamily="34" charset="0"/>
              <a:buChar char="•"/>
            </a:pPr>
            <a:r>
              <a:rPr lang="en-US" sz="1200" dirty="0"/>
              <a:t>Implement an ATS to build candidate pipelines and track hires</a:t>
            </a:r>
          </a:p>
          <a:p>
            <a:pPr marL="685800" lvl="1" indent="-228600">
              <a:spcBef>
                <a:spcPts val="100"/>
              </a:spcBef>
              <a:spcAft>
                <a:spcPts val="100"/>
              </a:spcAft>
              <a:buFont typeface="Arial" panose="020B0604020202020204" pitchFamily="34" charset="0"/>
              <a:buChar char="•"/>
            </a:pPr>
            <a:r>
              <a:rPr lang="en-US" sz="1200" dirty="0"/>
              <a:t>Enhance Connecteam functionality (status tracking, user categorization)</a:t>
            </a:r>
          </a:p>
          <a:p>
            <a:pPr marL="685800" lvl="1" indent="-228600">
              <a:spcBef>
                <a:spcPts val="100"/>
              </a:spcBef>
              <a:spcAft>
                <a:spcPts val="100"/>
              </a:spcAft>
              <a:buFont typeface="Arial" panose="020B0604020202020204" pitchFamily="34" charset="0"/>
              <a:buChar char="•"/>
            </a:pPr>
            <a:r>
              <a:rPr lang="en-US" sz="1200" dirty="0"/>
              <a:t>Invest in back-office team, role clarity, and specialization</a:t>
            </a:r>
          </a:p>
          <a:p>
            <a:pPr marL="685800" lvl="1" indent="-228600">
              <a:spcBef>
                <a:spcPts val="100"/>
              </a:spcBef>
              <a:spcAft>
                <a:spcPts val="100"/>
              </a:spcAft>
              <a:buFont typeface="Arial" panose="020B0604020202020204" pitchFamily="34" charset="0"/>
              <a:buChar char="•"/>
            </a:pPr>
            <a:r>
              <a:rPr lang="en-US" sz="1200" dirty="0"/>
              <a:t>Add HR/recruiter roles to support scaling</a:t>
            </a:r>
          </a:p>
          <a:p>
            <a:pPr marL="685800" lvl="1" indent="-228600">
              <a:spcBef>
                <a:spcPts val="100"/>
              </a:spcBef>
              <a:spcAft>
                <a:spcPts val="100"/>
              </a:spcAft>
              <a:buFont typeface="Arial" panose="020B0604020202020204" pitchFamily="34" charset="0"/>
              <a:buChar char="•"/>
            </a:pPr>
            <a:r>
              <a:rPr lang="en-US" sz="1200" dirty="0"/>
              <a:t>Ensure full compliance on background checks and credentialing under W2 models</a:t>
            </a:r>
          </a:p>
        </p:txBody>
      </p:sp>
      <p:sp>
        <p:nvSpPr>
          <p:cNvPr id="8" name="Slide Number Placeholder 7">
            <a:extLst>
              <a:ext uri="{FF2B5EF4-FFF2-40B4-BE49-F238E27FC236}">
                <a16:creationId xmlns:a16="http://schemas.microsoft.com/office/drawing/2014/main" id="{28F12381-9A47-6557-ABB2-BD174EBF91C5}"/>
              </a:ext>
            </a:extLst>
          </p:cNvPr>
          <p:cNvSpPr>
            <a:spLocks noGrp="1"/>
          </p:cNvSpPr>
          <p:nvPr>
            <p:ph type="sldNum" sz="quarter" idx="12"/>
          </p:nvPr>
        </p:nvSpPr>
        <p:spPr/>
        <p:txBody>
          <a:bodyPr/>
          <a:lstStyle/>
          <a:p>
            <a:fld id="{F8DDDAE5-3BDD-4D78-843B-A22FA78305BB}" type="slidenum">
              <a:rPr lang="en-US" smtClean="0"/>
              <a:t>61</a:t>
            </a:fld>
            <a:endParaRPr lang="en-US" dirty="0"/>
          </a:p>
        </p:txBody>
      </p:sp>
    </p:spTree>
    <p:extLst>
      <p:ext uri="{BB962C8B-B14F-4D97-AF65-F5344CB8AC3E}">
        <p14:creationId xmlns:p14="http://schemas.microsoft.com/office/powerpoint/2010/main" val="15473569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8D8DB-ABB5-86DC-F83E-F9C799F6478C}"/>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995A2639-107B-DA06-0872-37F5B8B768FC}"/>
              </a:ext>
            </a:extLst>
          </p:cNvPr>
          <p:cNvCxnSpPr>
            <a:cxnSpLocks/>
          </p:cNvCxnSpPr>
          <p:nvPr/>
        </p:nvCxnSpPr>
        <p:spPr>
          <a:xfrm>
            <a:off x="4572000" y="1312752"/>
            <a:ext cx="0" cy="2386841"/>
          </a:xfrm>
          <a:prstGeom prst="line">
            <a:avLst/>
          </a:prstGeom>
          <a:ln>
            <a:solidFill>
              <a:srgbClr val="143F6A"/>
            </a:solidFill>
            <a:prstDash val="dash"/>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F3A7B9F5-96C3-6794-9672-B269E96E6C3F}"/>
              </a:ext>
            </a:extLst>
          </p:cNvPr>
          <p:cNvSpPr>
            <a:spLocks noGrp="1"/>
          </p:cNvSpPr>
          <p:nvPr>
            <p:ph type="title"/>
          </p:nvPr>
        </p:nvSpPr>
        <p:spPr/>
        <p:txBody>
          <a:bodyPr>
            <a:normAutofit/>
          </a:bodyPr>
          <a:lstStyle/>
          <a:p>
            <a:r>
              <a:rPr lang="en-US" dirty="0"/>
              <a:t>Supply / Demand </a:t>
            </a:r>
          </a:p>
        </p:txBody>
      </p:sp>
      <p:sp>
        <p:nvSpPr>
          <p:cNvPr id="8" name="Slide Number Placeholder 7">
            <a:extLst>
              <a:ext uri="{FF2B5EF4-FFF2-40B4-BE49-F238E27FC236}">
                <a16:creationId xmlns:a16="http://schemas.microsoft.com/office/drawing/2014/main" id="{9266C9D0-CC3D-3980-6215-BB20B34FE896}"/>
              </a:ext>
            </a:extLst>
          </p:cNvPr>
          <p:cNvSpPr>
            <a:spLocks noGrp="1"/>
          </p:cNvSpPr>
          <p:nvPr>
            <p:ph type="sldNum" sz="quarter" idx="12"/>
          </p:nvPr>
        </p:nvSpPr>
        <p:spPr/>
        <p:txBody>
          <a:bodyPr/>
          <a:lstStyle/>
          <a:p>
            <a:fld id="{F8DDDAE5-3BDD-4D78-843B-A22FA78305BB}" type="slidenum">
              <a:rPr lang="en-US" smtClean="0"/>
              <a:t>62</a:t>
            </a:fld>
            <a:endParaRPr lang="en-US" dirty="0"/>
          </a:p>
        </p:txBody>
      </p:sp>
      <p:sp>
        <p:nvSpPr>
          <p:cNvPr id="3" name="Rectangle: Diagonal Corners Snipped 2">
            <a:extLst>
              <a:ext uri="{FF2B5EF4-FFF2-40B4-BE49-F238E27FC236}">
                <a16:creationId xmlns:a16="http://schemas.microsoft.com/office/drawing/2014/main" id="{0E2CDC16-086E-4AA7-B060-71C357A75D4A}"/>
              </a:ext>
            </a:extLst>
          </p:cNvPr>
          <p:cNvSpPr/>
          <p:nvPr/>
        </p:nvSpPr>
        <p:spPr>
          <a:xfrm>
            <a:off x="176305" y="927422"/>
            <a:ext cx="8791389"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Michigan</a:t>
            </a:r>
          </a:p>
        </p:txBody>
      </p:sp>
      <p:sp>
        <p:nvSpPr>
          <p:cNvPr id="4" name="Rectangle: Diagonal Corners Snipped 3">
            <a:extLst>
              <a:ext uri="{FF2B5EF4-FFF2-40B4-BE49-F238E27FC236}">
                <a16:creationId xmlns:a16="http://schemas.microsoft.com/office/drawing/2014/main" id="{E62FE143-6FC6-17BF-3B48-1879ACAE433C}"/>
              </a:ext>
            </a:extLst>
          </p:cNvPr>
          <p:cNvSpPr/>
          <p:nvPr/>
        </p:nvSpPr>
        <p:spPr>
          <a:xfrm>
            <a:off x="176305" y="3775928"/>
            <a:ext cx="8791389"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Indiana</a:t>
            </a:r>
          </a:p>
        </p:txBody>
      </p:sp>
      <p:cxnSp>
        <p:nvCxnSpPr>
          <p:cNvPr id="11" name="Straight Connector 10">
            <a:extLst>
              <a:ext uri="{FF2B5EF4-FFF2-40B4-BE49-F238E27FC236}">
                <a16:creationId xmlns:a16="http://schemas.microsoft.com/office/drawing/2014/main" id="{D618D89E-9E74-CEFC-C754-8F59334D366C}"/>
              </a:ext>
            </a:extLst>
          </p:cNvPr>
          <p:cNvCxnSpPr>
            <a:cxnSpLocks/>
          </p:cNvCxnSpPr>
          <p:nvPr/>
        </p:nvCxnSpPr>
        <p:spPr>
          <a:xfrm>
            <a:off x="4572000" y="4137434"/>
            <a:ext cx="0" cy="2449091"/>
          </a:xfrm>
          <a:prstGeom prst="line">
            <a:avLst/>
          </a:prstGeom>
          <a:ln>
            <a:solidFill>
              <a:srgbClr val="143F6A"/>
            </a:solidFill>
            <a:prstDash val="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8A2DE60F-E73E-F289-1BEC-43335C0B387E}"/>
              </a:ext>
            </a:extLst>
          </p:cNvPr>
          <p:cNvSpPr txBox="1"/>
          <p:nvPr/>
        </p:nvSpPr>
        <p:spPr>
          <a:xfrm>
            <a:off x="4617636" y="1265898"/>
            <a:ext cx="4350058" cy="276999"/>
          </a:xfrm>
          <a:prstGeom prst="rect">
            <a:avLst/>
          </a:prstGeom>
          <a:noFill/>
        </p:spPr>
        <p:txBody>
          <a:bodyPr wrap="square" rtlCol="0">
            <a:spAutoFit/>
          </a:bodyPr>
          <a:lstStyle/>
          <a:p>
            <a:pPr algn="ctr">
              <a:spcBef>
                <a:spcPts val="600"/>
              </a:spcBef>
              <a:spcAft>
                <a:spcPts val="600"/>
              </a:spcAft>
            </a:pPr>
            <a:r>
              <a:rPr lang="en-US" sz="1200" b="1" u="sng" dirty="0"/>
              <a:t>Demand (Detroit)</a:t>
            </a:r>
          </a:p>
        </p:txBody>
      </p:sp>
      <p:sp>
        <p:nvSpPr>
          <p:cNvPr id="15" name="TextBox 14">
            <a:extLst>
              <a:ext uri="{FF2B5EF4-FFF2-40B4-BE49-F238E27FC236}">
                <a16:creationId xmlns:a16="http://schemas.microsoft.com/office/drawing/2014/main" id="{647AF380-CAAD-3940-87E5-26C45BEE2409}"/>
              </a:ext>
            </a:extLst>
          </p:cNvPr>
          <p:cNvSpPr txBox="1"/>
          <p:nvPr/>
        </p:nvSpPr>
        <p:spPr>
          <a:xfrm>
            <a:off x="176305" y="1265898"/>
            <a:ext cx="4350058" cy="1292662"/>
          </a:xfrm>
          <a:prstGeom prst="rect">
            <a:avLst/>
          </a:prstGeom>
          <a:noFill/>
        </p:spPr>
        <p:txBody>
          <a:bodyPr wrap="square" rtlCol="0">
            <a:spAutoFit/>
          </a:bodyPr>
          <a:lstStyle/>
          <a:p>
            <a:pPr algn="ctr">
              <a:spcBef>
                <a:spcPts val="600"/>
              </a:spcBef>
              <a:spcAft>
                <a:spcPts val="600"/>
              </a:spcAft>
            </a:pPr>
            <a:r>
              <a:rPr lang="en-US" sz="1200" b="1" u="sng" dirty="0"/>
              <a:t>Supply (State-Level)</a:t>
            </a:r>
          </a:p>
          <a:p>
            <a:pPr marL="171450" indent="-171450">
              <a:spcBef>
                <a:spcPts val="600"/>
              </a:spcBef>
              <a:spcAft>
                <a:spcPts val="600"/>
              </a:spcAft>
              <a:buFont typeface="Arial" panose="020B0604020202020204" pitchFamily="34" charset="0"/>
              <a:buChar char="•"/>
              <a:defRPr sz="2000"/>
            </a:pPr>
            <a:r>
              <a:rPr lang="en-US" sz="1200" dirty="0"/>
              <a:t>Active Licensed CRNAs 2025: 2,960</a:t>
            </a:r>
          </a:p>
          <a:p>
            <a:pPr marL="171450" indent="-171450">
              <a:spcBef>
                <a:spcPts val="600"/>
              </a:spcBef>
              <a:spcAft>
                <a:spcPts val="600"/>
              </a:spcAft>
              <a:buFont typeface="Arial" panose="020B0604020202020204" pitchFamily="34" charset="0"/>
              <a:buChar char="•"/>
              <a:defRPr sz="2000"/>
            </a:pPr>
            <a:r>
              <a:rPr lang="en-US" sz="1200" dirty="0"/>
              <a:t>1,692 active licensed Medical Doctor Anesthesiologists</a:t>
            </a:r>
            <a:endParaRPr lang="en-US" sz="1100" dirty="0"/>
          </a:p>
          <a:p>
            <a:pPr marL="171450" indent="-171450">
              <a:spcBef>
                <a:spcPts val="600"/>
              </a:spcBef>
              <a:spcAft>
                <a:spcPts val="600"/>
              </a:spcAft>
              <a:buFont typeface="Arial" panose="020B0604020202020204" pitchFamily="34" charset="0"/>
              <a:buChar char="•"/>
            </a:pPr>
            <a:endParaRPr lang="en-US" sz="1200" b="1" u="sng" dirty="0"/>
          </a:p>
        </p:txBody>
      </p:sp>
      <p:sp>
        <p:nvSpPr>
          <p:cNvPr id="17" name="TextBox 16">
            <a:extLst>
              <a:ext uri="{FF2B5EF4-FFF2-40B4-BE49-F238E27FC236}">
                <a16:creationId xmlns:a16="http://schemas.microsoft.com/office/drawing/2014/main" id="{171C610B-08B4-8CDC-9594-7524437E17D4}"/>
              </a:ext>
            </a:extLst>
          </p:cNvPr>
          <p:cNvSpPr txBox="1"/>
          <p:nvPr/>
        </p:nvSpPr>
        <p:spPr>
          <a:xfrm>
            <a:off x="176305" y="4119771"/>
            <a:ext cx="4350058" cy="1292662"/>
          </a:xfrm>
          <a:prstGeom prst="rect">
            <a:avLst/>
          </a:prstGeom>
          <a:noFill/>
        </p:spPr>
        <p:txBody>
          <a:bodyPr wrap="square" rtlCol="0">
            <a:spAutoFit/>
          </a:bodyPr>
          <a:lstStyle/>
          <a:p>
            <a:pPr algn="ctr">
              <a:spcBef>
                <a:spcPts val="600"/>
              </a:spcBef>
              <a:spcAft>
                <a:spcPts val="600"/>
              </a:spcAft>
            </a:pPr>
            <a:r>
              <a:rPr lang="en-US" sz="1200" b="1" u="sng" dirty="0"/>
              <a:t>Supply (State-Level)</a:t>
            </a:r>
          </a:p>
          <a:p>
            <a:pPr marL="171450" indent="-171450">
              <a:spcBef>
                <a:spcPts val="600"/>
              </a:spcBef>
              <a:spcAft>
                <a:spcPts val="600"/>
              </a:spcAft>
              <a:buFont typeface="Arial" panose="020B0604020202020204" pitchFamily="34" charset="0"/>
              <a:buChar char="•"/>
              <a:defRPr sz="2000"/>
            </a:pPr>
            <a:r>
              <a:rPr lang="en-US" sz="1200" dirty="0"/>
              <a:t>Active Licensed CRNAs 2025: 1,300</a:t>
            </a:r>
          </a:p>
          <a:p>
            <a:pPr marL="171450" indent="-171450">
              <a:spcBef>
                <a:spcPts val="600"/>
              </a:spcBef>
              <a:spcAft>
                <a:spcPts val="600"/>
              </a:spcAft>
              <a:buFont typeface="Arial" panose="020B0604020202020204" pitchFamily="34" charset="0"/>
              <a:buChar char="•"/>
              <a:defRPr sz="2000"/>
            </a:pPr>
            <a:r>
              <a:rPr lang="en-US" sz="1200" dirty="0"/>
              <a:t>920 active licensed Medical Doctor Anesthesiologists</a:t>
            </a:r>
            <a:endParaRPr lang="en-US" sz="1100" dirty="0"/>
          </a:p>
          <a:p>
            <a:pPr marL="171450" indent="-171450">
              <a:spcBef>
                <a:spcPts val="600"/>
              </a:spcBef>
              <a:spcAft>
                <a:spcPts val="600"/>
              </a:spcAft>
              <a:buFont typeface="Arial" panose="020B0604020202020204" pitchFamily="34" charset="0"/>
              <a:buChar char="•"/>
            </a:pPr>
            <a:endParaRPr lang="en-US" sz="1200" b="1" u="sng" dirty="0"/>
          </a:p>
        </p:txBody>
      </p:sp>
      <p:sp>
        <p:nvSpPr>
          <p:cNvPr id="18" name="TextBox 17">
            <a:extLst>
              <a:ext uri="{FF2B5EF4-FFF2-40B4-BE49-F238E27FC236}">
                <a16:creationId xmlns:a16="http://schemas.microsoft.com/office/drawing/2014/main" id="{4EA306D0-142A-425E-5849-2973CEA37034}"/>
              </a:ext>
            </a:extLst>
          </p:cNvPr>
          <p:cNvSpPr txBox="1"/>
          <p:nvPr/>
        </p:nvSpPr>
        <p:spPr>
          <a:xfrm>
            <a:off x="6790098" y="1603386"/>
            <a:ext cx="2177595" cy="1938992"/>
          </a:xfrm>
          <a:prstGeom prst="rect">
            <a:avLst/>
          </a:prstGeom>
          <a:noFill/>
        </p:spPr>
        <p:txBody>
          <a:bodyPr wrap="square" rtlCol="0">
            <a:spAutoFit/>
          </a:bodyPr>
          <a:lstStyle/>
          <a:p>
            <a:pPr algn="ctr">
              <a:spcBef>
                <a:spcPts val="600"/>
              </a:spcBef>
              <a:spcAft>
                <a:spcPts val="600"/>
              </a:spcAft>
            </a:pPr>
            <a:r>
              <a:rPr lang="en-US" sz="1000" b="1" u="sng" dirty="0"/>
              <a:t>CRNA</a:t>
            </a:r>
          </a:p>
          <a:p>
            <a:pPr marL="171450" lvl="1" indent="-171450">
              <a:spcBef>
                <a:spcPts val="600"/>
              </a:spcBef>
              <a:spcAft>
                <a:spcPts val="600"/>
              </a:spcAft>
              <a:buFont typeface="Arial" panose="020B0604020202020204" pitchFamily="34" charset="0"/>
              <a:buChar char="•"/>
              <a:defRPr sz="2000"/>
            </a:pPr>
            <a:r>
              <a:rPr lang="en-US" sz="1000" dirty="0"/>
              <a:t>100+ unique active postings</a:t>
            </a:r>
          </a:p>
          <a:p>
            <a:pPr marL="171450" lvl="1" indent="-171450">
              <a:spcBef>
                <a:spcPts val="600"/>
              </a:spcBef>
              <a:spcAft>
                <a:spcPts val="600"/>
              </a:spcAft>
              <a:buFont typeface="Arial" panose="020B0604020202020204" pitchFamily="34" charset="0"/>
              <a:buChar char="•"/>
              <a:defRPr sz="2000"/>
            </a:pPr>
            <a:r>
              <a:rPr lang="en-US" sz="1000" dirty="0"/>
              <a:t>Full-time positions constitute roughly 55% of the postings.</a:t>
            </a:r>
          </a:p>
          <a:p>
            <a:pPr marL="171450" lvl="1" indent="-171450">
              <a:spcBef>
                <a:spcPts val="600"/>
              </a:spcBef>
              <a:spcAft>
                <a:spcPts val="600"/>
              </a:spcAft>
              <a:buFont typeface="Arial" panose="020B0604020202020204" pitchFamily="34" charset="0"/>
              <a:buChar char="•"/>
              <a:defRPr sz="2000"/>
            </a:pPr>
            <a:r>
              <a:rPr lang="en-US" sz="1000" dirty="0"/>
              <a:t>Part-time positions account for about 20%</a:t>
            </a:r>
          </a:p>
          <a:p>
            <a:pPr marL="171450" lvl="1" indent="-171450">
              <a:spcBef>
                <a:spcPts val="600"/>
              </a:spcBef>
              <a:spcAft>
                <a:spcPts val="600"/>
              </a:spcAft>
              <a:buFont typeface="Arial" panose="020B0604020202020204" pitchFamily="34" charset="0"/>
              <a:buChar char="•"/>
              <a:defRPr sz="2000"/>
            </a:pPr>
            <a:r>
              <a:rPr lang="en-US" sz="1000" dirty="0"/>
              <a:t>PRN/contingent or locum tenens roles represent around 25%</a:t>
            </a:r>
            <a:endParaRPr lang="en-US" sz="1000" b="1" u="sng" dirty="0"/>
          </a:p>
        </p:txBody>
      </p:sp>
      <p:sp>
        <p:nvSpPr>
          <p:cNvPr id="20" name="TextBox 19">
            <a:extLst>
              <a:ext uri="{FF2B5EF4-FFF2-40B4-BE49-F238E27FC236}">
                <a16:creationId xmlns:a16="http://schemas.microsoft.com/office/drawing/2014/main" id="{AC2AA912-543E-80A3-680A-556E1E4B37A7}"/>
              </a:ext>
            </a:extLst>
          </p:cNvPr>
          <p:cNvSpPr txBox="1"/>
          <p:nvPr/>
        </p:nvSpPr>
        <p:spPr>
          <a:xfrm>
            <a:off x="4617636" y="1603386"/>
            <a:ext cx="2177595" cy="2092881"/>
          </a:xfrm>
          <a:prstGeom prst="rect">
            <a:avLst/>
          </a:prstGeom>
          <a:noFill/>
        </p:spPr>
        <p:txBody>
          <a:bodyPr wrap="square" rtlCol="0">
            <a:spAutoFit/>
          </a:bodyPr>
          <a:lstStyle/>
          <a:p>
            <a:pPr algn="ctr">
              <a:spcBef>
                <a:spcPts val="600"/>
              </a:spcBef>
              <a:spcAft>
                <a:spcPts val="600"/>
              </a:spcAft>
            </a:pPr>
            <a:r>
              <a:rPr lang="en-US" sz="1000" b="1" u="sng" dirty="0"/>
              <a:t>MDA</a:t>
            </a:r>
          </a:p>
          <a:p>
            <a:pPr marL="171450" lvl="1" indent="-171450">
              <a:spcBef>
                <a:spcPts val="600"/>
              </a:spcBef>
              <a:spcAft>
                <a:spcPts val="600"/>
              </a:spcAft>
              <a:buFont typeface="Arial" panose="020B0604020202020204" pitchFamily="34" charset="0"/>
              <a:buChar char="•"/>
              <a:defRPr sz="2000"/>
            </a:pPr>
            <a:r>
              <a:rPr lang="en-US" sz="1000" dirty="0"/>
              <a:t>40+ Anesthesiologist active job postings </a:t>
            </a:r>
          </a:p>
          <a:p>
            <a:pPr marL="171450" lvl="1" indent="-171450">
              <a:spcBef>
                <a:spcPts val="600"/>
              </a:spcBef>
              <a:spcAft>
                <a:spcPts val="600"/>
              </a:spcAft>
              <a:buFont typeface="Arial" panose="020B0604020202020204" pitchFamily="34" charset="0"/>
              <a:buChar char="•"/>
              <a:defRPr sz="2000"/>
            </a:pPr>
            <a:r>
              <a:rPr lang="en-US" sz="1000" dirty="0"/>
              <a:t>Full-time positions make up about 64% of the postings.</a:t>
            </a:r>
          </a:p>
          <a:p>
            <a:pPr marL="171450" lvl="1" indent="-171450">
              <a:spcBef>
                <a:spcPts val="600"/>
              </a:spcBef>
              <a:spcAft>
                <a:spcPts val="600"/>
              </a:spcAft>
              <a:buFont typeface="Arial" panose="020B0604020202020204" pitchFamily="34" charset="0"/>
              <a:buChar char="•"/>
              <a:defRPr sz="2000"/>
            </a:pPr>
            <a:r>
              <a:rPr lang="en-US" sz="1000" dirty="0"/>
              <a:t>Part-time positions account for around 12%.</a:t>
            </a:r>
          </a:p>
          <a:p>
            <a:pPr marL="171450" lvl="1" indent="-171450">
              <a:spcBef>
                <a:spcPts val="600"/>
              </a:spcBef>
              <a:spcAft>
                <a:spcPts val="600"/>
              </a:spcAft>
              <a:buFont typeface="Arial" panose="020B0604020202020204" pitchFamily="34" charset="0"/>
              <a:buChar char="•"/>
              <a:defRPr sz="2000"/>
            </a:pPr>
            <a:r>
              <a:rPr lang="en-US" sz="1000" dirty="0"/>
              <a:t>PRN/contingent or locum tenens roles constitute roughly 24%.</a:t>
            </a:r>
          </a:p>
        </p:txBody>
      </p:sp>
      <p:sp>
        <p:nvSpPr>
          <p:cNvPr id="21" name="TextBox 20">
            <a:extLst>
              <a:ext uri="{FF2B5EF4-FFF2-40B4-BE49-F238E27FC236}">
                <a16:creationId xmlns:a16="http://schemas.microsoft.com/office/drawing/2014/main" id="{97F6D64B-15EC-BD12-4CBB-002A8E6D08BF}"/>
              </a:ext>
            </a:extLst>
          </p:cNvPr>
          <p:cNvSpPr txBox="1"/>
          <p:nvPr/>
        </p:nvSpPr>
        <p:spPr>
          <a:xfrm>
            <a:off x="4617636" y="4115215"/>
            <a:ext cx="4350058" cy="276999"/>
          </a:xfrm>
          <a:prstGeom prst="rect">
            <a:avLst/>
          </a:prstGeom>
          <a:noFill/>
        </p:spPr>
        <p:txBody>
          <a:bodyPr wrap="square" rtlCol="0">
            <a:spAutoFit/>
          </a:bodyPr>
          <a:lstStyle/>
          <a:p>
            <a:pPr algn="ctr">
              <a:spcBef>
                <a:spcPts val="600"/>
              </a:spcBef>
              <a:spcAft>
                <a:spcPts val="600"/>
              </a:spcAft>
            </a:pPr>
            <a:r>
              <a:rPr lang="en-US" sz="1200" b="1" u="sng" dirty="0"/>
              <a:t>Demand (Detroit)</a:t>
            </a:r>
          </a:p>
        </p:txBody>
      </p:sp>
      <p:sp>
        <p:nvSpPr>
          <p:cNvPr id="22" name="TextBox 21">
            <a:extLst>
              <a:ext uri="{FF2B5EF4-FFF2-40B4-BE49-F238E27FC236}">
                <a16:creationId xmlns:a16="http://schemas.microsoft.com/office/drawing/2014/main" id="{1FA5B317-6B0F-E2F3-5CA8-86E5E9222247}"/>
              </a:ext>
            </a:extLst>
          </p:cNvPr>
          <p:cNvSpPr txBox="1"/>
          <p:nvPr/>
        </p:nvSpPr>
        <p:spPr>
          <a:xfrm>
            <a:off x="6790098" y="4452703"/>
            <a:ext cx="2177595" cy="1938992"/>
          </a:xfrm>
          <a:prstGeom prst="rect">
            <a:avLst/>
          </a:prstGeom>
          <a:noFill/>
        </p:spPr>
        <p:txBody>
          <a:bodyPr wrap="square" rtlCol="0">
            <a:spAutoFit/>
          </a:bodyPr>
          <a:lstStyle/>
          <a:p>
            <a:pPr algn="ctr">
              <a:spcBef>
                <a:spcPts val="600"/>
              </a:spcBef>
              <a:spcAft>
                <a:spcPts val="600"/>
              </a:spcAft>
            </a:pPr>
            <a:r>
              <a:rPr lang="en-US" sz="1000" b="1" u="sng" dirty="0"/>
              <a:t>CRNA</a:t>
            </a:r>
          </a:p>
          <a:p>
            <a:pPr marL="171450" lvl="1" indent="-171450">
              <a:spcBef>
                <a:spcPts val="600"/>
              </a:spcBef>
              <a:spcAft>
                <a:spcPts val="600"/>
              </a:spcAft>
              <a:buFont typeface="Arial" panose="020B0604020202020204" pitchFamily="34" charset="0"/>
              <a:buChar char="•"/>
              <a:defRPr sz="2000"/>
            </a:pPr>
            <a:r>
              <a:rPr lang="en-US" sz="1000" dirty="0"/>
              <a:t>40+ CRNA active job postings </a:t>
            </a:r>
          </a:p>
          <a:p>
            <a:pPr marL="171450" lvl="1" indent="-171450">
              <a:spcBef>
                <a:spcPts val="600"/>
              </a:spcBef>
              <a:spcAft>
                <a:spcPts val="600"/>
              </a:spcAft>
              <a:buFont typeface="Arial" panose="020B0604020202020204" pitchFamily="34" charset="0"/>
              <a:buChar char="•"/>
              <a:defRPr sz="2000"/>
            </a:pPr>
            <a:r>
              <a:rPr lang="en-US" sz="1000" dirty="0"/>
              <a:t>Full-time positions constitute roughly 60% of the postings.</a:t>
            </a:r>
          </a:p>
          <a:p>
            <a:pPr marL="171450" lvl="1" indent="-171450">
              <a:spcBef>
                <a:spcPts val="600"/>
              </a:spcBef>
              <a:spcAft>
                <a:spcPts val="600"/>
              </a:spcAft>
              <a:buFont typeface="Arial" panose="020B0604020202020204" pitchFamily="34" charset="0"/>
              <a:buChar char="•"/>
              <a:defRPr sz="2000"/>
            </a:pPr>
            <a:r>
              <a:rPr lang="en-US" sz="1000" dirty="0"/>
              <a:t>Part-time positions account for about 15%.</a:t>
            </a:r>
          </a:p>
          <a:p>
            <a:pPr marL="171450" lvl="1" indent="-171450">
              <a:spcBef>
                <a:spcPts val="600"/>
              </a:spcBef>
              <a:spcAft>
                <a:spcPts val="600"/>
              </a:spcAft>
              <a:buFont typeface="Arial" panose="020B0604020202020204" pitchFamily="34" charset="0"/>
              <a:buChar char="•"/>
              <a:defRPr sz="2000"/>
            </a:pPr>
            <a:r>
              <a:rPr lang="en-US" sz="1000" dirty="0"/>
              <a:t>PRN/contingent or locum tenens roles represent around 25%.</a:t>
            </a:r>
          </a:p>
        </p:txBody>
      </p:sp>
      <p:sp>
        <p:nvSpPr>
          <p:cNvPr id="23" name="TextBox 22">
            <a:extLst>
              <a:ext uri="{FF2B5EF4-FFF2-40B4-BE49-F238E27FC236}">
                <a16:creationId xmlns:a16="http://schemas.microsoft.com/office/drawing/2014/main" id="{00A60F82-589E-7C5C-3501-828391D804A7}"/>
              </a:ext>
            </a:extLst>
          </p:cNvPr>
          <p:cNvSpPr txBox="1"/>
          <p:nvPr/>
        </p:nvSpPr>
        <p:spPr>
          <a:xfrm>
            <a:off x="4617636" y="4452703"/>
            <a:ext cx="2177595" cy="2092881"/>
          </a:xfrm>
          <a:prstGeom prst="rect">
            <a:avLst/>
          </a:prstGeom>
          <a:noFill/>
        </p:spPr>
        <p:txBody>
          <a:bodyPr wrap="square" rtlCol="0">
            <a:spAutoFit/>
          </a:bodyPr>
          <a:lstStyle/>
          <a:p>
            <a:pPr algn="ctr">
              <a:spcBef>
                <a:spcPts val="600"/>
              </a:spcBef>
              <a:spcAft>
                <a:spcPts val="600"/>
              </a:spcAft>
            </a:pPr>
            <a:r>
              <a:rPr lang="en-US" sz="1000" b="1" u="sng" dirty="0"/>
              <a:t>MDA</a:t>
            </a:r>
          </a:p>
          <a:p>
            <a:pPr marL="171450" lvl="1" indent="-171450">
              <a:spcBef>
                <a:spcPts val="600"/>
              </a:spcBef>
              <a:spcAft>
                <a:spcPts val="600"/>
              </a:spcAft>
              <a:buFont typeface="Arial" panose="020B0604020202020204" pitchFamily="34" charset="0"/>
              <a:buChar char="•"/>
              <a:defRPr sz="2000"/>
            </a:pPr>
            <a:r>
              <a:rPr lang="en-US" sz="1000" dirty="0"/>
              <a:t>50+Anesthesiologist active job postings </a:t>
            </a:r>
          </a:p>
          <a:p>
            <a:pPr marL="171450" lvl="1" indent="-171450">
              <a:spcBef>
                <a:spcPts val="600"/>
              </a:spcBef>
              <a:spcAft>
                <a:spcPts val="600"/>
              </a:spcAft>
              <a:buFont typeface="Arial" panose="020B0604020202020204" pitchFamily="34" charset="0"/>
              <a:buChar char="•"/>
              <a:defRPr sz="2000"/>
            </a:pPr>
            <a:r>
              <a:rPr lang="en-US" sz="1000" dirty="0"/>
              <a:t>Full-time positions make up about 68% of the postings.</a:t>
            </a:r>
          </a:p>
          <a:p>
            <a:pPr marL="171450" lvl="1" indent="-171450">
              <a:spcBef>
                <a:spcPts val="600"/>
              </a:spcBef>
              <a:spcAft>
                <a:spcPts val="600"/>
              </a:spcAft>
              <a:buFont typeface="Arial" panose="020B0604020202020204" pitchFamily="34" charset="0"/>
              <a:buChar char="•"/>
              <a:defRPr sz="2000"/>
            </a:pPr>
            <a:r>
              <a:rPr lang="en-US" sz="1000" dirty="0"/>
              <a:t>Part-time positions account for around 12%.</a:t>
            </a:r>
          </a:p>
          <a:p>
            <a:pPr marL="171450" lvl="1" indent="-171450">
              <a:spcBef>
                <a:spcPts val="600"/>
              </a:spcBef>
              <a:spcAft>
                <a:spcPts val="600"/>
              </a:spcAft>
              <a:buFont typeface="Arial" panose="020B0604020202020204" pitchFamily="34" charset="0"/>
              <a:buChar char="•"/>
              <a:defRPr sz="2000"/>
            </a:pPr>
            <a:r>
              <a:rPr lang="en-US" sz="1000" dirty="0"/>
              <a:t>PRN/contingent or locum tenens roles constitute roughly 20%.</a:t>
            </a:r>
          </a:p>
        </p:txBody>
      </p:sp>
      <p:sp>
        <p:nvSpPr>
          <p:cNvPr id="25" name="TextBox 24">
            <a:extLst>
              <a:ext uri="{FF2B5EF4-FFF2-40B4-BE49-F238E27FC236}">
                <a16:creationId xmlns:a16="http://schemas.microsoft.com/office/drawing/2014/main" id="{44377441-DF35-F192-74FE-D6D612D049D8}"/>
              </a:ext>
            </a:extLst>
          </p:cNvPr>
          <p:cNvSpPr txBox="1"/>
          <p:nvPr/>
        </p:nvSpPr>
        <p:spPr>
          <a:xfrm>
            <a:off x="872" y="6586525"/>
            <a:ext cx="8699507" cy="215444"/>
          </a:xfrm>
          <a:prstGeom prst="rect">
            <a:avLst/>
          </a:prstGeom>
          <a:noFill/>
        </p:spPr>
        <p:txBody>
          <a:bodyPr wrap="square" rtlCol="0">
            <a:spAutoFit/>
          </a:bodyPr>
          <a:lstStyle/>
          <a:p>
            <a:r>
              <a:rPr lang="en-US" sz="800" dirty="0"/>
              <a:t>Sources: MI American Association of Nurse Anesthesiology, Nurse.org, Indeed, Zip Recruiter, Doc Cafe</a:t>
            </a:r>
          </a:p>
        </p:txBody>
      </p:sp>
    </p:spTree>
    <p:extLst>
      <p:ext uri="{BB962C8B-B14F-4D97-AF65-F5344CB8AC3E}">
        <p14:creationId xmlns:p14="http://schemas.microsoft.com/office/powerpoint/2010/main" val="130364284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67EC7-ED06-9BD0-3F44-B3A0E51EA7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DB8746-778C-5ECF-1E42-443EB2457DFF}"/>
              </a:ext>
            </a:extLst>
          </p:cNvPr>
          <p:cNvSpPr>
            <a:spLocks noGrp="1"/>
          </p:cNvSpPr>
          <p:nvPr>
            <p:ph type="title"/>
          </p:nvPr>
        </p:nvSpPr>
        <p:spPr/>
        <p:txBody>
          <a:bodyPr>
            <a:normAutofit/>
          </a:bodyPr>
          <a:lstStyle/>
          <a:p>
            <a:r>
              <a:rPr lang="en-US" dirty="0"/>
              <a:t>Market Compensation vs AAS</a:t>
            </a:r>
          </a:p>
        </p:txBody>
      </p:sp>
      <p:sp>
        <p:nvSpPr>
          <p:cNvPr id="8" name="Slide Number Placeholder 7">
            <a:extLst>
              <a:ext uri="{FF2B5EF4-FFF2-40B4-BE49-F238E27FC236}">
                <a16:creationId xmlns:a16="http://schemas.microsoft.com/office/drawing/2014/main" id="{0DE2FD5C-35D8-7A4A-9B06-D6FB4A05DF6B}"/>
              </a:ext>
            </a:extLst>
          </p:cNvPr>
          <p:cNvSpPr>
            <a:spLocks noGrp="1"/>
          </p:cNvSpPr>
          <p:nvPr>
            <p:ph type="sldNum" sz="quarter" idx="12"/>
          </p:nvPr>
        </p:nvSpPr>
        <p:spPr/>
        <p:txBody>
          <a:bodyPr/>
          <a:lstStyle/>
          <a:p>
            <a:fld id="{F8DDDAE5-3BDD-4D78-843B-A22FA78305BB}" type="slidenum">
              <a:rPr lang="en-US" smtClean="0"/>
              <a:t>63</a:t>
            </a:fld>
            <a:endParaRPr lang="en-US" dirty="0"/>
          </a:p>
        </p:txBody>
      </p:sp>
      <p:graphicFrame>
        <p:nvGraphicFramePr>
          <p:cNvPr id="14" name="Content Placeholder 5">
            <a:extLst>
              <a:ext uri="{FF2B5EF4-FFF2-40B4-BE49-F238E27FC236}">
                <a16:creationId xmlns:a16="http://schemas.microsoft.com/office/drawing/2014/main" id="{BCB72657-81F1-180D-7680-8EAC237FACF1}"/>
              </a:ext>
            </a:extLst>
          </p:cNvPr>
          <p:cNvGraphicFramePr>
            <a:graphicFrameLocks noGrp="1"/>
          </p:cNvGraphicFramePr>
          <p:nvPr>
            <p:ph idx="1"/>
            <p:extLst>
              <p:ext uri="{D42A27DB-BD31-4B8C-83A1-F6EECF244321}">
                <p14:modId xmlns:p14="http://schemas.microsoft.com/office/powerpoint/2010/main" val="1269490755"/>
              </p:ext>
            </p:extLst>
          </p:nvPr>
        </p:nvGraphicFramePr>
        <p:xfrm>
          <a:off x="178308" y="1320219"/>
          <a:ext cx="8787384" cy="4754656"/>
        </p:xfrm>
        <a:graphic>
          <a:graphicData uri="http://schemas.openxmlformats.org/drawingml/2006/chart">
            <c:chart xmlns:c="http://schemas.openxmlformats.org/drawingml/2006/chart" xmlns:r="http://schemas.openxmlformats.org/officeDocument/2006/relationships" r:id="rId2"/>
          </a:graphicData>
        </a:graphic>
      </p:graphicFrame>
      <p:sp>
        <p:nvSpPr>
          <p:cNvPr id="16" name="Rectangle: Diagonal Corners Snipped 15">
            <a:extLst>
              <a:ext uri="{FF2B5EF4-FFF2-40B4-BE49-F238E27FC236}">
                <a16:creationId xmlns:a16="http://schemas.microsoft.com/office/drawing/2014/main" id="{CA59892E-CD09-2375-F35A-78E5324D02DA}"/>
              </a:ext>
            </a:extLst>
          </p:cNvPr>
          <p:cNvSpPr/>
          <p:nvPr/>
        </p:nvSpPr>
        <p:spPr>
          <a:xfrm>
            <a:off x="176305" y="927422"/>
            <a:ext cx="8791389"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AAS Pay Versus Local Markets</a:t>
            </a:r>
          </a:p>
        </p:txBody>
      </p:sp>
      <p:sp>
        <p:nvSpPr>
          <p:cNvPr id="18" name="TextBox 17">
            <a:extLst>
              <a:ext uri="{FF2B5EF4-FFF2-40B4-BE49-F238E27FC236}">
                <a16:creationId xmlns:a16="http://schemas.microsoft.com/office/drawing/2014/main" id="{E34EA36D-5961-B735-CCEA-EF46AA109D5D}"/>
              </a:ext>
            </a:extLst>
          </p:cNvPr>
          <p:cNvSpPr txBox="1"/>
          <p:nvPr/>
        </p:nvSpPr>
        <p:spPr>
          <a:xfrm>
            <a:off x="939196" y="6166797"/>
            <a:ext cx="7265610" cy="330577"/>
          </a:xfrm>
          <a:prstGeom prst="snip2DiagRect">
            <a:avLst/>
          </a:prstGeom>
          <a:noFill/>
          <a:ln w="28575">
            <a:solidFill>
              <a:srgbClr val="00B050"/>
            </a:solidFill>
            <a:prstDash val="dash"/>
          </a:ln>
        </p:spPr>
        <p:txBody>
          <a:bodyPr wrap="square" rtlCol="0">
            <a:spAutoFit/>
          </a:bodyPr>
          <a:lstStyle/>
          <a:p>
            <a:pPr algn="ctr">
              <a:spcBef>
                <a:spcPts val="200"/>
              </a:spcBef>
              <a:spcAft>
                <a:spcPts val="200"/>
              </a:spcAft>
            </a:pPr>
            <a:r>
              <a:rPr lang="en-US" sz="1200" b="1" i="1" dirty="0"/>
              <a:t>AAS Consistently Pays At Or Above Market Compensation for Both CRNA and MDAs</a:t>
            </a:r>
          </a:p>
        </p:txBody>
      </p:sp>
      <p:sp>
        <p:nvSpPr>
          <p:cNvPr id="3" name="TextBox 2">
            <a:extLst>
              <a:ext uri="{FF2B5EF4-FFF2-40B4-BE49-F238E27FC236}">
                <a16:creationId xmlns:a16="http://schemas.microsoft.com/office/drawing/2014/main" id="{A89E126C-D225-D81D-D753-BFCBA2EBC70B}"/>
              </a:ext>
            </a:extLst>
          </p:cNvPr>
          <p:cNvSpPr txBox="1"/>
          <p:nvPr/>
        </p:nvSpPr>
        <p:spPr>
          <a:xfrm>
            <a:off x="872" y="6586525"/>
            <a:ext cx="8699507" cy="215444"/>
          </a:xfrm>
          <a:prstGeom prst="rect">
            <a:avLst/>
          </a:prstGeom>
          <a:noFill/>
        </p:spPr>
        <p:txBody>
          <a:bodyPr wrap="square" rtlCol="0">
            <a:spAutoFit/>
          </a:bodyPr>
          <a:lstStyle/>
          <a:p>
            <a:r>
              <a:rPr lang="en-US" sz="800" dirty="0"/>
              <a:t>Sources: Nurse.org, Indeed, Zip Recruiter, Doc Cafe</a:t>
            </a:r>
          </a:p>
        </p:txBody>
      </p:sp>
    </p:spTree>
    <p:extLst>
      <p:ext uri="{BB962C8B-B14F-4D97-AF65-F5344CB8AC3E}">
        <p14:creationId xmlns:p14="http://schemas.microsoft.com/office/powerpoint/2010/main" val="46492897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455C3-9F81-256F-EA5A-FF9BAA4B1868}"/>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4C8D60D-8F27-2777-90C4-1454DA049846}"/>
              </a:ext>
            </a:extLst>
          </p:cNvPr>
          <p:cNvCxnSpPr>
            <a:cxnSpLocks/>
          </p:cNvCxnSpPr>
          <p:nvPr/>
        </p:nvCxnSpPr>
        <p:spPr>
          <a:xfrm>
            <a:off x="4572000" y="1312752"/>
            <a:ext cx="0" cy="2386841"/>
          </a:xfrm>
          <a:prstGeom prst="line">
            <a:avLst/>
          </a:prstGeom>
          <a:ln>
            <a:solidFill>
              <a:srgbClr val="143F6A"/>
            </a:solidFill>
            <a:prstDash val="dash"/>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FEE9B15-0536-D061-14ED-52CB3F69CFE4}"/>
              </a:ext>
            </a:extLst>
          </p:cNvPr>
          <p:cNvSpPr>
            <a:spLocks noGrp="1"/>
          </p:cNvSpPr>
          <p:nvPr>
            <p:ph type="title"/>
          </p:nvPr>
        </p:nvSpPr>
        <p:spPr/>
        <p:txBody>
          <a:bodyPr>
            <a:normAutofit/>
          </a:bodyPr>
          <a:lstStyle/>
          <a:p>
            <a:r>
              <a:rPr lang="en-US" dirty="0"/>
              <a:t>Market Compensation</a:t>
            </a:r>
          </a:p>
        </p:txBody>
      </p:sp>
      <p:sp>
        <p:nvSpPr>
          <p:cNvPr id="8" name="Slide Number Placeholder 7">
            <a:extLst>
              <a:ext uri="{FF2B5EF4-FFF2-40B4-BE49-F238E27FC236}">
                <a16:creationId xmlns:a16="http://schemas.microsoft.com/office/drawing/2014/main" id="{0529D92F-344C-1597-0CA4-5EB25F440D24}"/>
              </a:ext>
            </a:extLst>
          </p:cNvPr>
          <p:cNvSpPr>
            <a:spLocks noGrp="1"/>
          </p:cNvSpPr>
          <p:nvPr>
            <p:ph type="sldNum" sz="quarter" idx="12"/>
          </p:nvPr>
        </p:nvSpPr>
        <p:spPr/>
        <p:txBody>
          <a:bodyPr/>
          <a:lstStyle/>
          <a:p>
            <a:fld id="{F8DDDAE5-3BDD-4D78-843B-A22FA78305BB}" type="slidenum">
              <a:rPr lang="en-US" smtClean="0"/>
              <a:t>64</a:t>
            </a:fld>
            <a:endParaRPr lang="en-US" dirty="0"/>
          </a:p>
        </p:txBody>
      </p:sp>
      <p:sp>
        <p:nvSpPr>
          <p:cNvPr id="3" name="Rectangle: Diagonal Corners Snipped 2">
            <a:extLst>
              <a:ext uri="{FF2B5EF4-FFF2-40B4-BE49-F238E27FC236}">
                <a16:creationId xmlns:a16="http://schemas.microsoft.com/office/drawing/2014/main" id="{1377DDEE-67C8-0348-0161-2B3425EBA50A}"/>
              </a:ext>
            </a:extLst>
          </p:cNvPr>
          <p:cNvSpPr/>
          <p:nvPr/>
        </p:nvSpPr>
        <p:spPr>
          <a:xfrm>
            <a:off x="176305" y="927422"/>
            <a:ext cx="8791389"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Detroit</a:t>
            </a:r>
          </a:p>
        </p:txBody>
      </p:sp>
      <p:sp>
        <p:nvSpPr>
          <p:cNvPr id="4" name="Rectangle: Diagonal Corners Snipped 3">
            <a:extLst>
              <a:ext uri="{FF2B5EF4-FFF2-40B4-BE49-F238E27FC236}">
                <a16:creationId xmlns:a16="http://schemas.microsoft.com/office/drawing/2014/main" id="{1B59FF9C-AA2F-6034-566F-BC42B563A262}"/>
              </a:ext>
            </a:extLst>
          </p:cNvPr>
          <p:cNvSpPr/>
          <p:nvPr/>
        </p:nvSpPr>
        <p:spPr>
          <a:xfrm>
            <a:off x="176305" y="3775928"/>
            <a:ext cx="8791389"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Indianapolis</a:t>
            </a:r>
          </a:p>
        </p:txBody>
      </p:sp>
      <p:cxnSp>
        <p:nvCxnSpPr>
          <p:cNvPr id="11" name="Straight Connector 10">
            <a:extLst>
              <a:ext uri="{FF2B5EF4-FFF2-40B4-BE49-F238E27FC236}">
                <a16:creationId xmlns:a16="http://schemas.microsoft.com/office/drawing/2014/main" id="{96C00F4A-F370-237A-F916-D05BBC438D97}"/>
              </a:ext>
            </a:extLst>
          </p:cNvPr>
          <p:cNvCxnSpPr>
            <a:cxnSpLocks/>
          </p:cNvCxnSpPr>
          <p:nvPr/>
        </p:nvCxnSpPr>
        <p:spPr>
          <a:xfrm>
            <a:off x="4572000" y="4137434"/>
            <a:ext cx="0" cy="2449091"/>
          </a:xfrm>
          <a:prstGeom prst="line">
            <a:avLst/>
          </a:prstGeom>
          <a:ln>
            <a:solidFill>
              <a:srgbClr val="143F6A"/>
            </a:solidFill>
            <a:prstDash val="dash"/>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6AF0ED5E-25DB-79C7-1025-4CB73DE7E4BF}"/>
              </a:ext>
            </a:extLst>
          </p:cNvPr>
          <p:cNvSpPr txBox="1"/>
          <p:nvPr/>
        </p:nvSpPr>
        <p:spPr>
          <a:xfrm>
            <a:off x="176305" y="1265898"/>
            <a:ext cx="4350058" cy="276999"/>
          </a:xfrm>
          <a:prstGeom prst="rect">
            <a:avLst/>
          </a:prstGeom>
          <a:noFill/>
        </p:spPr>
        <p:txBody>
          <a:bodyPr wrap="square" rtlCol="0">
            <a:spAutoFit/>
          </a:bodyPr>
          <a:lstStyle/>
          <a:p>
            <a:pPr algn="ctr">
              <a:spcBef>
                <a:spcPts val="600"/>
              </a:spcBef>
              <a:spcAft>
                <a:spcPts val="600"/>
              </a:spcAft>
            </a:pPr>
            <a:r>
              <a:rPr lang="en-US" sz="1200" b="1" u="sng" dirty="0"/>
              <a:t>MDA</a:t>
            </a:r>
          </a:p>
        </p:txBody>
      </p:sp>
      <p:sp>
        <p:nvSpPr>
          <p:cNvPr id="17" name="TextBox 16">
            <a:extLst>
              <a:ext uri="{FF2B5EF4-FFF2-40B4-BE49-F238E27FC236}">
                <a16:creationId xmlns:a16="http://schemas.microsoft.com/office/drawing/2014/main" id="{58B6CCA9-FE0E-D87B-F41B-C5C17D4B43D3}"/>
              </a:ext>
            </a:extLst>
          </p:cNvPr>
          <p:cNvSpPr txBox="1"/>
          <p:nvPr/>
        </p:nvSpPr>
        <p:spPr>
          <a:xfrm>
            <a:off x="176305" y="4119771"/>
            <a:ext cx="4350058" cy="276999"/>
          </a:xfrm>
          <a:prstGeom prst="rect">
            <a:avLst/>
          </a:prstGeom>
          <a:noFill/>
        </p:spPr>
        <p:txBody>
          <a:bodyPr wrap="square" rtlCol="0">
            <a:spAutoFit/>
          </a:bodyPr>
          <a:lstStyle/>
          <a:p>
            <a:pPr algn="ctr">
              <a:spcBef>
                <a:spcPts val="600"/>
              </a:spcBef>
              <a:spcAft>
                <a:spcPts val="600"/>
              </a:spcAft>
            </a:pPr>
            <a:r>
              <a:rPr lang="en-US" sz="1200" b="1" u="sng" dirty="0"/>
              <a:t>MDA</a:t>
            </a:r>
          </a:p>
        </p:txBody>
      </p:sp>
      <p:sp>
        <p:nvSpPr>
          <p:cNvPr id="25" name="TextBox 24">
            <a:extLst>
              <a:ext uri="{FF2B5EF4-FFF2-40B4-BE49-F238E27FC236}">
                <a16:creationId xmlns:a16="http://schemas.microsoft.com/office/drawing/2014/main" id="{4CB6033C-FA45-C86B-5593-52D1269781F0}"/>
              </a:ext>
            </a:extLst>
          </p:cNvPr>
          <p:cNvSpPr txBox="1"/>
          <p:nvPr/>
        </p:nvSpPr>
        <p:spPr>
          <a:xfrm>
            <a:off x="872" y="6586525"/>
            <a:ext cx="8699507" cy="215444"/>
          </a:xfrm>
          <a:prstGeom prst="rect">
            <a:avLst/>
          </a:prstGeom>
          <a:noFill/>
        </p:spPr>
        <p:txBody>
          <a:bodyPr wrap="square" rtlCol="0">
            <a:spAutoFit/>
          </a:bodyPr>
          <a:lstStyle/>
          <a:p>
            <a:r>
              <a:rPr lang="en-US" sz="800" dirty="0"/>
              <a:t>Sources: MI American Association of Nurse Anesthesiology, Nurse.org, Indeed, Zip Recruiter, Doc Cafe</a:t>
            </a:r>
          </a:p>
        </p:txBody>
      </p:sp>
      <p:sp>
        <p:nvSpPr>
          <p:cNvPr id="6" name="TextBox 5">
            <a:extLst>
              <a:ext uri="{FF2B5EF4-FFF2-40B4-BE49-F238E27FC236}">
                <a16:creationId xmlns:a16="http://schemas.microsoft.com/office/drawing/2014/main" id="{F8E73001-C032-6EE5-F215-EC54E24DBF54}"/>
              </a:ext>
            </a:extLst>
          </p:cNvPr>
          <p:cNvSpPr txBox="1"/>
          <p:nvPr/>
        </p:nvSpPr>
        <p:spPr>
          <a:xfrm>
            <a:off x="4617636" y="1265898"/>
            <a:ext cx="4350058" cy="276999"/>
          </a:xfrm>
          <a:prstGeom prst="rect">
            <a:avLst/>
          </a:prstGeom>
          <a:noFill/>
        </p:spPr>
        <p:txBody>
          <a:bodyPr wrap="square" rtlCol="0">
            <a:spAutoFit/>
          </a:bodyPr>
          <a:lstStyle/>
          <a:p>
            <a:pPr algn="ctr">
              <a:spcBef>
                <a:spcPts val="600"/>
              </a:spcBef>
              <a:spcAft>
                <a:spcPts val="600"/>
              </a:spcAft>
            </a:pPr>
            <a:r>
              <a:rPr lang="en-US" sz="1200" b="1" u="sng" dirty="0"/>
              <a:t>CRNA</a:t>
            </a:r>
          </a:p>
        </p:txBody>
      </p:sp>
      <p:sp>
        <p:nvSpPr>
          <p:cNvPr id="7" name="TextBox 6">
            <a:extLst>
              <a:ext uri="{FF2B5EF4-FFF2-40B4-BE49-F238E27FC236}">
                <a16:creationId xmlns:a16="http://schemas.microsoft.com/office/drawing/2014/main" id="{9AA53E62-2B77-83B1-78CE-EA7C9B385841}"/>
              </a:ext>
            </a:extLst>
          </p:cNvPr>
          <p:cNvSpPr txBox="1"/>
          <p:nvPr/>
        </p:nvSpPr>
        <p:spPr>
          <a:xfrm>
            <a:off x="4617636" y="4119771"/>
            <a:ext cx="4350058" cy="276999"/>
          </a:xfrm>
          <a:prstGeom prst="rect">
            <a:avLst/>
          </a:prstGeom>
          <a:noFill/>
        </p:spPr>
        <p:txBody>
          <a:bodyPr wrap="square" rtlCol="0">
            <a:spAutoFit/>
          </a:bodyPr>
          <a:lstStyle/>
          <a:p>
            <a:pPr algn="ctr">
              <a:spcBef>
                <a:spcPts val="600"/>
              </a:spcBef>
              <a:spcAft>
                <a:spcPts val="600"/>
              </a:spcAft>
            </a:pPr>
            <a:r>
              <a:rPr lang="en-US" sz="1200" b="1" u="sng" dirty="0"/>
              <a:t>CRNA</a:t>
            </a:r>
          </a:p>
        </p:txBody>
      </p:sp>
      <p:graphicFrame>
        <p:nvGraphicFramePr>
          <p:cNvPr id="9" name="Table 8">
            <a:extLst>
              <a:ext uri="{FF2B5EF4-FFF2-40B4-BE49-F238E27FC236}">
                <a16:creationId xmlns:a16="http://schemas.microsoft.com/office/drawing/2014/main" id="{9CB62B16-007E-8E1C-942A-7FEA0B99E068}"/>
              </a:ext>
            </a:extLst>
          </p:cNvPr>
          <p:cNvGraphicFramePr>
            <a:graphicFrameLocks noGrp="1"/>
          </p:cNvGraphicFramePr>
          <p:nvPr>
            <p:extLst>
              <p:ext uri="{D42A27DB-BD31-4B8C-83A1-F6EECF244321}">
                <p14:modId xmlns:p14="http://schemas.microsoft.com/office/powerpoint/2010/main" val="161317081"/>
              </p:ext>
            </p:extLst>
          </p:nvPr>
        </p:nvGraphicFramePr>
        <p:xfrm>
          <a:off x="177402" y="1533844"/>
          <a:ext cx="4347864" cy="2118786"/>
        </p:xfrm>
        <a:graphic>
          <a:graphicData uri="http://schemas.openxmlformats.org/drawingml/2006/table">
            <a:tbl>
              <a:tblPr firstRow="1" bandRow="1">
                <a:tableStyleId>{5C22544A-7EE6-4342-B048-85BDC9FD1C3A}</a:tableStyleId>
              </a:tblPr>
              <a:tblGrid>
                <a:gridCol w="482405">
                  <a:extLst>
                    <a:ext uri="{9D8B030D-6E8A-4147-A177-3AD203B41FA5}">
                      <a16:colId xmlns:a16="http://schemas.microsoft.com/office/drawing/2014/main" val="2013788962"/>
                    </a:ext>
                  </a:extLst>
                </a:gridCol>
                <a:gridCol w="742384">
                  <a:extLst>
                    <a:ext uri="{9D8B030D-6E8A-4147-A177-3AD203B41FA5}">
                      <a16:colId xmlns:a16="http://schemas.microsoft.com/office/drawing/2014/main" val="3716730001"/>
                    </a:ext>
                  </a:extLst>
                </a:gridCol>
                <a:gridCol w="733331">
                  <a:extLst>
                    <a:ext uri="{9D8B030D-6E8A-4147-A177-3AD203B41FA5}">
                      <a16:colId xmlns:a16="http://schemas.microsoft.com/office/drawing/2014/main" val="584997788"/>
                    </a:ext>
                  </a:extLst>
                </a:gridCol>
                <a:gridCol w="516047">
                  <a:extLst>
                    <a:ext uri="{9D8B030D-6E8A-4147-A177-3AD203B41FA5}">
                      <a16:colId xmlns:a16="http://schemas.microsoft.com/office/drawing/2014/main" val="191570869"/>
                    </a:ext>
                  </a:extLst>
                </a:gridCol>
                <a:gridCol w="1873697">
                  <a:extLst>
                    <a:ext uri="{9D8B030D-6E8A-4147-A177-3AD203B41FA5}">
                      <a16:colId xmlns:a16="http://schemas.microsoft.com/office/drawing/2014/main" val="3835713385"/>
                    </a:ext>
                  </a:extLst>
                </a:gridCol>
              </a:tblGrid>
              <a:tr h="411129">
                <a:tc>
                  <a:txBody>
                    <a:bodyPr/>
                    <a:lstStyle/>
                    <a:p>
                      <a:pPr algn="ctr"/>
                      <a:r>
                        <a:rPr lang="en-US" sz="900" dirty="0">
                          <a:solidFill>
                            <a:schemeClr val="bg1"/>
                          </a:solidFill>
                        </a:rPr>
                        <a:t>Role</a:t>
                      </a:r>
                    </a:p>
                  </a:txBody>
                  <a:tcPr marT="28388" marB="28388" anchor="ctr">
                    <a:solidFill>
                      <a:schemeClr val="accent1">
                        <a:lumMod val="50000"/>
                      </a:schemeClr>
                    </a:solidFill>
                  </a:tcPr>
                </a:tc>
                <a:tc>
                  <a:txBody>
                    <a:bodyPr/>
                    <a:lstStyle/>
                    <a:p>
                      <a:pPr algn="ctr"/>
                      <a:r>
                        <a:rPr lang="en-US" sz="900" dirty="0">
                          <a:solidFill>
                            <a:schemeClr val="bg1"/>
                          </a:solidFill>
                        </a:rPr>
                        <a:t>City</a:t>
                      </a:r>
                    </a:p>
                  </a:txBody>
                  <a:tcPr marT="28388" marB="28388" anchor="ctr">
                    <a:solidFill>
                      <a:schemeClr val="accent1">
                        <a:lumMod val="50000"/>
                      </a:schemeClr>
                    </a:solidFill>
                  </a:tcPr>
                </a:tc>
                <a:tc>
                  <a:txBody>
                    <a:bodyPr/>
                    <a:lstStyle/>
                    <a:p>
                      <a:pPr algn="ctr"/>
                      <a:r>
                        <a:rPr lang="en-US" sz="900" dirty="0">
                          <a:solidFill>
                            <a:schemeClr val="bg1"/>
                          </a:solidFill>
                        </a:rPr>
                        <a:t>Percentile</a:t>
                      </a:r>
                    </a:p>
                  </a:txBody>
                  <a:tcPr marT="28388" marB="28388" anchor="ctr">
                    <a:solidFill>
                      <a:schemeClr val="accent1">
                        <a:lumMod val="50000"/>
                      </a:schemeClr>
                    </a:solidFill>
                  </a:tcPr>
                </a:tc>
                <a:tc>
                  <a:txBody>
                    <a:bodyPr/>
                    <a:lstStyle/>
                    <a:p>
                      <a:pPr algn="ctr"/>
                      <a:r>
                        <a:rPr lang="en-US" sz="900" dirty="0">
                          <a:solidFill>
                            <a:schemeClr val="bg1"/>
                          </a:solidFill>
                        </a:rPr>
                        <a:t>Salary Est.</a:t>
                      </a:r>
                    </a:p>
                  </a:txBody>
                  <a:tcPr marT="28388" marB="28388" anchor="ctr">
                    <a:solidFill>
                      <a:schemeClr val="accent1">
                        <a:lumMod val="50000"/>
                      </a:schemeClr>
                    </a:solidFill>
                  </a:tcPr>
                </a:tc>
                <a:tc>
                  <a:txBody>
                    <a:bodyPr/>
                    <a:lstStyle/>
                    <a:p>
                      <a:pPr algn="ctr"/>
                      <a:r>
                        <a:rPr lang="en-US" sz="900" dirty="0">
                          <a:solidFill>
                            <a:schemeClr val="bg1"/>
                          </a:solidFill>
                        </a:rPr>
                        <a:t>Notes</a:t>
                      </a:r>
                    </a:p>
                  </a:txBody>
                  <a:tcPr marT="28388" marB="28388" anchor="ctr">
                    <a:solidFill>
                      <a:schemeClr val="accent1">
                        <a:lumMod val="50000"/>
                      </a:schemeClr>
                    </a:solidFill>
                  </a:tcPr>
                </a:tc>
                <a:extLst>
                  <a:ext uri="{0D108BD9-81ED-4DB2-BD59-A6C34878D82A}">
                    <a16:rowId xmlns:a16="http://schemas.microsoft.com/office/drawing/2014/main" val="2007875439"/>
                  </a:ext>
                </a:extLst>
              </a:tr>
              <a:tr h="569219">
                <a:tc>
                  <a:txBody>
                    <a:bodyPr/>
                    <a:lstStyle/>
                    <a:p>
                      <a:pPr algn="l" fontAlgn="ctr">
                        <a:buNone/>
                      </a:pPr>
                      <a:r>
                        <a:rPr lang="en-US" sz="900" b="0" i="0" u="none" strike="noStrike" dirty="0">
                          <a:solidFill>
                            <a:srgbClr val="000000"/>
                          </a:solidFill>
                          <a:effectLst/>
                          <a:latin typeface="Aptos Narrow" panose="020B0004020202020204" pitchFamily="34" charset="0"/>
                        </a:rPr>
                        <a:t>MDA</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Detroit</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25</a:t>
                      </a:r>
                      <a:r>
                        <a:rPr lang="en-US" sz="900" b="0" i="0" u="none" strike="noStrike" baseline="30000" dirty="0">
                          <a:solidFill>
                            <a:srgbClr val="000000"/>
                          </a:solidFill>
                          <a:effectLst/>
                          <a:latin typeface="Aptos Narrow" panose="020B0004020202020204" pitchFamily="34" charset="0"/>
                        </a:rPr>
                        <a:t>th</a:t>
                      </a:r>
                      <a:endParaRPr lang="en-US" sz="900" b="0" i="0" u="none" strike="noStrike" dirty="0">
                        <a:solidFill>
                          <a:srgbClr val="000000"/>
                        </a:solidFill>
                        <a:effectLst/>
                        <a:latin typeface="Aptos Narrow" panose="020B0004020202020204" pitchFamily="34" charset="0"/>
                      </a:endParaRP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$413K</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Early-career in community hospitals or general roles (</a:t>
                      </a:r>
                      <a:r>
                        <a:rPr lang="en-US" sz="900" b="0" i="0" u="none" strike="noStrike" dirty="0" err="1">
                          <a:solidFill>
                            <a:srgbClr val="000000"/>
                          </a:solidFill>
                          <a:effectLst/>
                          <a:latin typeface="Aptos Narrow" panose="020B0004020202020204" pitchFamily="34" charset="0"/>
                        </a:rPr>
                        <a:t>e.g</a:t>
                      </a:r>
                      <a:r>
                        <a:rPr lang="en-US" sz="900" b="0" i="0" u="none" strike="noStrike" dirty="0">
                          <a:solidFill>
                            <a:srgbClr val="000000"/>
                          </a:solidFill>
                          <a:effectLst/>
                          <a:latin typeface="Aptos Narrow" panose="020B0004020202020204" pitchFamily="34" charset="0"/>
                        </a:rPr>
                        <a:t>, NorthStar)</a:t>
                      </a:r>
                    </a:p>
                  </a:txBody>
                  <a:tcPr anchor="ctr">
                    <a:solidFill>
                      <a:schemeClr val="bg1">
                        <a:lumMod val="85000"/>
                      </a:schemeClr>
                    </a:solidFill>
                  </a:tcPr>
                </a:tc>
                <a:extLst>
                  <a:ext uri="{0D108BD9-81ED-4DB2-BD59-A6C34878D82A}">
                    <a16:rowId xmlns:a16="http://schemas.microsoft.com/office/drawing/2014/main" val="2169564543"/>
                  </a:ext>
                </a:extLst>
              </a:tr>
              <a:tr h="569219">
                <a:tc>
                  <a:txBody>
                    <a:bodyPr/>
                    <a:lstStyle/>
                    <a:p>
                      <a:pPr algn="l" fontAlgn="ctr">
                        <a:buNone/>
                      </a:pPr>
                      <a:r>
                        <a:rPr lang="en-US" sz="900" b="0" i="0" u="none" strike="noStrike" dirty="0">
                          <a:solidFill>
                            <a:srgbClr val="000000"/>
                          </a:solidFill>
                          <a:effectLst/>
                          <a:latin typeface="Aptos Narrow" panose="020B0004020202020204" pitchFamily="34" charset="0"/>
                        </a:rPr>
                        <a:t>MDA</a:t>
                      </a:r>
                    </a:p>
                  </a:txBody>
                  <a:tcPr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Detroit</a:t>
                      </a:r>
                    </a:p>
                  </a:txBody>
                  <a:tcPr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50</a:t>
                      </a:r>
                      <a:r>
                        <a:rPr lang="en-US" sz="900" b="0" i="0" u="none" strike="noStrike" baseline="30000" dirty="0">
                          <a:solidFill>
                            <a:srgbClr val="000000"/>
                          </a:solidFill>
                          <a:effectLst/>
                          <a:latin typeface="Aptos Narrow" panose="020B0004020202020204" pitchFamily="34" charset="0"/>
                        </a:rPr>
                        <a:t>th</a:t>
                      </a:r>
                      <a:endParaRPr lang="en-US" sz="900" b="0" i="0" u="none" strike="noStrike" dirty="0">
                        <a:solidFill>
                          <a:srgbClr val="000000"/>
                        </a:solidFill>
                        <a:effectLst/>
                        <a:latin typeface="Aptos Narrow" panose="020B0004020202020204" pitchFamily="34" charset="0"/>
                      </a:endParaRPr>
                    </a:p>
                  </a:txBody>
                  <a:tcPr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$441K</a:t>
                      </a:r>
                    </a:p>
                  </a:txBody>
                  <a:tcPr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Mid-career standard; aligns with Salary.com average for subspecialty roles</a:t>
                      </a:r>
                    </a:p>
                  </a:txBody>
                  <a:tcPr anchor="ctr">
                    <a:solidFill>
                      <a:schemeClr val="bg1">
                        <a:lumMod val="95000"/>
                      </a:schemeClr>
                    </a:solidFill>
                  </a:tcPr>
                </a:tc>
                <a:extLst>
                  <a:ext uri="{0D108BD9-81ED-4DB2-BD59-A6C34878D82A}">
                    <a16:rowId xmlns:a16="http://schemas.microsoft.com/office/drawing/2014/main" val="4115207246"/>
                  </a:ext>
                </a:extLst>
              </a:tr>
              <a:tr h="569219">
                <a:tc>
                  <a:txBody>
                    <a:bodyPr/>
                    <a:lstStyle/>
                    <a:p>
                      <a:pPr algn="l" fontAlgn="ctr">
                        <a:buNone/>
                      </a:pPr>
                      <a:r>
                        <a:rPr lang="en-US" sz="900" b="0" i="0" u="none" strike="noStrike" dirty="0">
                          <a:solidFill>
                            <a:srgbClr val="000000"/>
                          </a:solidFill>
                          <a:effectLst/>
                          <a:latin typeface="Aptos Narrow" panose="020B0004020202020204" pitchFamily="34" charset="0"/>
                        </a:rPr>
                        <a:t>MDA</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Detroit</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75</a:t>
                      </a:r>
                      <a:r>
                        <a:rPr lang="en-US" sz="900" b="0" i="0" u="none" strike="noStrike" baseline="30000" dirty="0">
                          <a:solidFill>
                            <a:srgbClr val="000000"/>
                          </a:solidFill>
                          <a:effectLst/>
                          <a:latin typeface="Aptos Narrow" panose="020B0004020202020204" pitchFamily="34" charset="0"/>
                        </a:rPr>
                        <a:t>th</a:t>
                      </a:r>
                      <a:endParaRPr lang="en-US" sz="900" b="0" i="0" u="none" strike="noStrike" dirty="0">
                        <a:solidFill>
                          <a:srgbClr val="000000"/>
                        </a:solidFill>
                        <a:effectLst/>
                        <a:latin typeface="Aptos Narrow" panose="020B0004020202020204" pitchFamily="34" charset="0"/>
                      </a:endParaRP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$479K</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Experienced in high-acuity settings or locums</a:t>
                      </a:r>
                    </a:p>
                  </a:txBody>
                  <a:tcPr anchor="ctr">
                    <a:solidFill>
                      <a:schemeClr val="bg1">
                        <a:lumMod val="85000"/>
                      </a:schemeClr>
                    </a:solidFill>
                  </a:tcPr>
                </a:tc>
                <a:extLst>
                  <a:ext uri="{0D108BD9-81ED-4DB2-BD59-A6C34878D82A}">
                    <a16:rowId xmlns:a16="http://schemas.microsoft.com/office/drawing/2014/main" val="1416044750"/>
                  </a:ext>
                </a:extLst>
              </a:tr>
            </a:tbl>
          </a:graphicData>
        </a:graphic>
      </p:graphicFrame>
      <p:graphicFrame>
        <p:nvGraphicFramePr>
          <p:cNvPr id="10" name="Table 9">
            <a:extLst>
              <a:ext uri="{FF2B5EF4-FFF2-40B4-BE49-F238E27FC236}">
                <a16:creationId xmlns:a16="http://schemas.microsoft.com/office/drawing/2014/main" id="{BBF4DB82-30EF-FDC2-E3EF-29C26DCCA89E}"/>
              </a:ext>
            </a:extLst>
          </p:cNvPr>
          <p:cNvGraphicFramePr>
            <a:graphicFrameLocks noGrp="1"/>
          </p:cNvGraphicFramePr>
          <p:nvPr>
            <p:extLst>
              <p:ext uri="{D42A27DB-BD31-4B8C-83A1-F6EECF244321}">
                <p14:modId xmlns:p14="http://schemas.microsoft.com/office/powerpoint/2010/main" val="2841961248"/>
              </p:ext>
            </p:extLst>
          </p:nvPr>
        </p:nvGraphicFramePr>
        <p:xfrm>
          <a:off x="4618733" y="1533844"/>
          <a:ext cx="4347864" cy="2118786"/>
        </p:xfrm>
        <a:graphic>
          <a:graphicData uri="http://schemas.openxmlformats.org/drawingml/2006/table">
            <a:tbl>
              <a:tblPr firstRow="1" bandRow="1">
                <a:tableStyleId>{5C22544A-7EE6-4342-B048-85BDC9FD1C3A}</a:tableStyleId>
              </a:tblPr>
              <a:tblGrid>
                <a:gridCol w="482405">
                  <a:extLst>
                    <a:ext uri="{9D8B030D-6E8A-4147-A177-3AD203B41FA5}">
                      <a16:colId xmlns:a16="http://schemas.microsoft.com/office/drawing/2014/main" val="2013788962"/>
                    </a:ext>
                  </a:extLst>
                </a:gridCol>
                <a:gridCol w="742384">
                  <a:extLst>
                    <a:ext uri="{9D8B030D-6E8A-4147-A177-3AD203B41FA5}">
                      <a16:colId xmlns:a16="http://schemas.microsoft.com/office/drawing/2014/main" val="3716730001"/>
                    </a:ext>
                  </a:extLst>
                </a:gridCol>
                <a:gridCol w="733331">
                  <a:extLst>
                    <a:ext uri="{9D8B030D-6E8A-4147-A177-3AD203B41FA5}">
                      <a16:colId xmlns:a16="http://schemas.microsoft.com/office/drawing/2014/main" val="584997788"/>
                    </a:ext>
                  </a:extLst>
                </a:gridCol>
                <a:gridCol w="516047">
                  <a:extLst>
                    <a:ext uri="{9D8B030D-6E8A-4147-A177-3AD203B41FA5}">
                      <a16:colId xmlns:a16="http://schemas.microsoft.com/office/drawing/2014/main" val="191570869"/>
                    </a:ext>
                  </a:extLst>
                </a:gridCol>
                <a:gridCol w="1873697">
                  <a:extLst>
                    <a:ext uri="{9D8B030D-6E8A-4147-A177-3AD203B41FA5}">
                      <a16:colId xmlns:a16="http://schemas.microsoft.com/office/drawing/2014/main" val="3835713385"/>
                    </a:ext>
                  </a:extLst>
                </a:gridCol>
              </a:tblGrid>
              <a:tr h="411129">
                <a:tc>
                  <a:txBody>
                    <a:bodyPr/>
                    <a:lstStyle/>
                    <a:p>
                      <a:pPr algn="ctr"/>
                      <a:r>
                        <a:rPr lang="en-US" sz="900" dirty="0">
                          <a:solidFill>
                            <a:schemeClr val="bg1"/>
                          </a:solidFill>
                        </a:rPr>
                        <a:t>Role</a:t>
                      </a:r>
                    </a:p>
                  </a:txBody>
                  <a:tcPr marT="28388" marB="28388" anchor="ctr">
                    <a:solidFill>
                      <a:schemeClr val="accent1">
                        <a:lumMod val="50000"/>
                      </a:schemeClr>
                    </a:solidFill>
                  </a:tcPr>
                </a:tc>
                <a:tc>
                  <a:txBody>
                    <a:bodyPr/>
                    <a:lstStyle/>
                    <a:p>
                      <a:pPr algn="ctr"/>
                      <a:r>
                        <a:rPr lang="en-US" sz="900" dirty="0">
                          <a:solidFill>
                            <a:schemeClr val="bg1"/>
                          </a:solidFill>
                        </a:rPr>
                        <a:t>City</a:t>
                      </a:r>
                    </a:p>
                  </a:txBody>
                  <a:tcPr marT="28388" marB="28388" anchor="ctr">
                    <a:solidFill>
                      <a:schemeClr val="accent1">
                        <a:lumMod val="50000"/>
                      </a:schemeClr>
                    </a:solidFill>
                  </a:tcPr>
                </a:tc>
                <a:tc>
                  <a:txBody>
                    <a:bodyPr/>
                    <a:lstStyle/>
                    <a:p>
                      <a:pPr algn="ctr"/>
                      <a:r>
                        <a:rPr lang="en-US" sz="900" dirty="0">
                          <a:solidFill>
                            <a:schemeClr val="bg1"/>
                          </a:solidFill>
                        </a:rPr>
                        <a:t>Percentile</a:t>
                      </a:r>
                    </a:p>
                  </a:txBody>
                  <a:tcPr marT="28388" marB="28388" anchor="ctr">
                    <a:solidFill>
                      <a:schemeClr val="accent1">
                        <a:lumMod val="50000"/>
                      </a:schemeClr>
                    </a:solidFill>
                  </a:tcPr>
                </a:tc>
                <a:tc>
                  <a:txBody>
                    <a:bodyPr/>
                    <a:lstStyle/>
                    <a:p>
                      <a:pPr algn="ctr"/>
                      <a:r>
                        <a:rPr lang="en-US" sz="900" dirty="0">
                          <a:solidFill>
                            <a:schemeClr val="bg1"/>
                          </a:solidFill>
                        </a:rPr>
                        <a:t>Salary Est.</a:t>
                      </a:r>
                    </a:p>
                  </a:txBody>
                  <a:tcPr marT="28388" marB="28388" anchor="ctr">
                    <a:solidFill>
                      <a:schemeClr val="accent1">
                        <a:lumMod val="50000"/>
                      </a:schemeClr>
                    </a:solidFill>
                  </a:tcPr>
                </a:tc>
                <a:tc>
                  <a:txBody>
                    <a:bodyPr/>
                    <a:lstStyle/>
                    <a:p>
                      <a:pPr algn="ctr"/>
                      <a:r>
                        <a:rPr lang="en-US" sz="900" dirty="0">
                          <a:solidFill>
                            <a:schemeClr val="bg1"/>
                          </a:solidFill>
                        </a:rPr>
                        <a:t>Notes</a:t>
                      </a:r>
                    </a:p>
                  </a:txBody>
                  <a:tcPr marT="28388" marB="28388" anchor="ctr">
                    <a:solidFill>
                      <a:schemeClr val="accent1">
                        <a:lumMod val="50000"/>
                      </a:schemeClr>
                    </a:solidFill>
                  </a:tcPr>
                </a:tc>
                <a:extLst>
                  <a:ext uri="{0D108BD9-81ED-4DB2-BD59-A6C34878D82A}">
                    <a16:rowId xmlns:a16="http://schemas.microsoft.com/office/drawing/2014/main" val="2007875439"/>
                  </a:ext>
                </a:extLst>
              </a:tr>
              <a:tr h="569219">
                <a:tc>
                  <a:txBody>
                    <a:bodyPr/>
                    <a:lstStyle/>
                    <a:p>
                      <a:pPr algn="l" fontAlgn="ctr">
                        <a:buNone/>
                      </a:pPr>
                      <a:r>
                        <a:rPr lang="en-US" sz="900" b="0" i="0" u="none" strike="noStrike" dirty="0">
                          <a:solidFill>
                            <a:srgbClr val="000000"/>
                          </a:solidFill>
                          <a:effectLst/>
                          <a:latin typeface="Aptos Narrow" panose="020B0004020202020204" pitchFamily="34" charset="0"/>
                        </a:rPr>
                        <a:t>CRNA</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Detroit</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25</a:t>
                      </a:r>
                      <a:r>
                        <a:rPr lang="en-US" sz="900" b="0" i="0" u="none" strike="noStrike" baseline="30000" dirty="0">
                          <a:solidFill>
                            <a:srgbClr val="000000"/>
                          </a:solidFill>
                          <a:effectLst/>
                          <a:latin typeface="Aptos Narrow" panose="020B0004020202020204" pitchFamily="34" charset="0"/>
                        </a:rPr>
                        <a:t>th</a:t>
                      </a:r>
                      <a:endParaRPr lang="en-US" sz="900" b="0" i="0" u="none" strike="noStrike" dirty="0">
                        <a:solidFill>
                          <a:srgbClr val="000000"/>
                        </a:solidFill>
                        <a:effectLst/>
                        <a:latin typeface="Aptos Narrow" panose="020B0004020202020204" pitchFamily="34" charset="0"/>
                      </a:endParaRP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$229K</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Entry-level or outpatient roles (e.g., general anesthesia at community clinics)</a:t>
                      </a:r>
                    </a:p>
                  </a:txBody>
                  <a:tcPr anchor="ctr">
                    <a:solidFill>
                      <a:schemeClr val="bg1">
                        <a:lumMod val="85000"/>
                      </a:schemeClr>
                    </a:solidFill>
                  </a:tcPr>
                </a:tc>
                <a:extLst>
                  <a:ext uri="{0D108BD9-81ED-4DB2-BD59-A6C34878D82A}">
                    <a16:rowId xmlns:a16="http://schemas.microsoft.com/office/drawing/2014/main" val="2169564543"/>
                  </a:ext>
                </a:extLst>
              </a:tr>
              <a:tr h="569219">
                <a:tc>
                  <a:txBody>
                    <a:bodyPr/>
                    <a:lstStyle/>
                    <a:p>
                      <a:pPr algn="l" fontAlgn="ctr">
                        <a:buNone/>
                      </a:pPr>
                      <a:r>
                        <a:rPr lang="en-US" sz="900" b="0" i="0" u="none" strike="noStrike" dirty="0">
                          <a:solidFill>
                            <a:srgbClr val="000000"/>
                          </a:solidFill>
                          <a:effectLst/>
                          <a:latin typeface="Aptos Narrow" panose="020B0004020202020204" pitchFamily="34" charset="0"/>
                        </a:rPr>
                        <a:t>CRNA</a:t>
                      </a:r>
                    </a:p>
                  </a:txBody>
                  <a:tcPr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Detroit</a:t>
                      </a:r>
                    </a:p>
                  </a:txBody>
                  <a:tcPr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50</a:t>
                      </a:r>
                      <a:r>
                        <a:rPr lang="en-US" sz="900" b="0" i="0" u="none" strike="noStrike" baseline="30000" dirty="0">
                          <a:solidFill>
                            <a:srgbClr val="000000"/>
                          </a:solidFill>
                          <a:effectLst/>
                          <a:latin typeface="Aptos Narrow" panose="020B0004020202020204" pitchFamily="34" charset="0"/>
                        </a:rPr>
                        <a:t>th</a:t>
                      </a:r>
                      <a:endParaRPr lang="en-US" sz="900" b="0" i="0" u="none" strike="noStrike" dirty="0">
                        <a:solidFill>
                          <a:srgbClr val="000000"/>
                        </a:solidFill>
                        <a:effectLst/>
                        <a:latin typeface="Aptos Narrow" panose="020B0004020202020204" pitchFamily="34" charset="0"/>
                      </a:endParaRPr>
                    </a:p>
                  </a:txBody>
                  <a:tcPr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$242K</a:t>
                      </a:r>
                    </a:p>
                  </a:txBody>
                  <a:tcPr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Mid-career standard; aligns with Salary.com average for hospital roles</a:t>
                      </a:r>
                    </a:p>
                  </a:txBody>
                  <a:tcPr anchor="ctr">
                    <a:solidFill>
                      <a:schemeClr val="bg1">
                        <a:lumMod val="95000"/>
                      </a:schemeClr>
                    </a:solidFill>
                  </a:tcPr>
                </a:tc>
                <a:extLst>
                  <a:ext uri="{0D108BD9-81ED-4DB2-BD59-A6C34878D82A}">
                    <a16:rowId xmlns:a16="http://schemas.microsoft.com/office/drawing/2014/main" val="4115207246"/>
                  </a:ext>
                </a:extLst>
              </a:tr>
              <a:tr h="569219">
                <a:tc>
                  <a:txBody>
                    <a:bodyPr/>
                    <a:lstStyle/>
                    <a:p>
                      <a:pPr algn="l" fontAlgn="ctr">
                        <a:buNone/>
                      </a:pPr>
                      <a:r>
                        <a:rPr lang="en-US" sz="900" b="0" i="0" u="none" strike="noStrike" dirty="0">
                          <a:solidFill>
                            <a:srgbClr val="000000"/>
                          </a:solidFill>
                          <a:effectLst/>
                          <a:latin typeface="Aptos Narrow" panose="020B0004020202020204" pitchFamily="34" charset="0"/>
                        </a:rPr>
                        <a:t>CRNA</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Detroit</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75</a:t>
                      </a:r>
                      <a:r>
                        <a:rPr lang="en-US" sz="900" b="0" i="0" u="none" strike="noStrike" baseline="30000" dirty="0">
                          <a:solidFill>
                            <a:srgbClr val="000000"/>
                          </a:solidFill>
                          <a:effectLst/>
                          <a:latin typeface="Aptos Narrow" panose="020B0004020202020204" pitchFamily="34" charset="0"/>
                        </a:rPr>
                        <a:t>th</a:t>
                      </a:r>
                      <a:endParaRPr lang="en-US" sz="900" b="0" i="0" u="none" strike="noStrike" dirty="0">
                        <a:solidFill>
                          <a:srgbClr val="000000"/>
                        </a:solidFill>
                        <a:effectLst/>
                        <a:latin typeface="Aptos Narrow" panose="020B0004020202020204" pitchFamily="34" charset="0"/>
                      </a:endParaRP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$275K</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Experienced CRNAs in high-demand settings (e.g. trauma / OB)</a:t>
                      </a:r>
                    </a:p>
                  </a:txBody>
                  <a:tcPr anchor="ctr">
                    <a:solidFill>
                      <a:schemeClr val="bg1">
                        <a:lumMod val="85000"/>
                      </a:schemeClr>
                    </a:solidFill>
                  </a:tcPr>
                </a:tc>
                <a:extLst>
                  <a:ext uri="{0D108BD9-81ED-4DB2-BD59-A6C34878D82A}">
                    <a16:rowId xmlns:a16="http://schemas.microsoft.com/office/drawing/2014/main" val="1416044750"/>
                  </a:ext>
                </a:extLst>
              </a:tr>
            </a:tbl>
          </a:graphicData>
        </a:graphic>
      </p:graphicFrame>
      <p:graphicFrame>
        <p:nvGraphicFramePr>
          <p:cNvPr id="12" name="Table 11">
            <a:extLst>
              <a:ext uri="{FF2B5EF4-FFF2-40B4-BE49-F238E27FC236}">
                <a16:creationId xmlns:a16="http://schemas.microsoft.com/office/drawing/2014/main" id="{7BD2771D-526F-658D-57C3-5AB56E79C512}"/>
              </a:ext>
            </a:extLst>
          </p:cNvPr>
          <p:cNvGraphicFramePr>
            <a:graphicFrameLocks noGrp="1"/>
          </p:cNvGraphicFramePr>
          <p:nvPr>
            <p:extLst>
              <p:ext uri="{D42A27DB-BD31-4B8C-83A1-F6EECF244321}">
                <p14:modId xmlns:p14="http://schemas.microsoft.com/office/powerpoint/2010/main" val="2468644928"/>
              </p:ext>
            </p:extLst>
          </p:nvPr>
        </p:nvGraphicFramePr>
        <p:xfrm>
          <a:off x="177402" y="4392253"/>
          <a:ext cx="4347864" cy="2118786"/>
        </p:xfrm>
        <a:graphic>
          <a:graphicData uri="http://schemas.openxmlformats.org/drawingml/2006/table">
            <a:tbl>
              <a:tblPr firstRow="1" bandRow="1">
                <a:tableStyleId>{5C22544A-7EE6-4342-B048-85BDC9FD1C3A}</a:tableStyleId>
              </a:tblPr>
              <a:tblGrid>
                <a:gridCol w="482405">
                  <a:extLst>
                    <a:ext uri="{9D8B030D-6E8A-4147-A177-3AD203B41FA5}">
                      <a16:colId xmlns:a16="http://schemas.microsoft.com/office/drawing/2014/main" val="2013788962"/>
                    </a:ext>
                  </a:extLst>
                </a:gridCol>
                <a:gridCol w="742384">
                  <a:extLst>
                    <a:ext uri="{9D8B030D-6E8A-4147-A177-3AD203B41FA5}">
                      <a16:colId xmlns:a16="http://schemas.microsoft.com/office/drawing/2014/main" val="3716730001"/>
                    </a:ext>
                  </a:extLst>
                </a:gridCol>
                <a:gridCol w="733331">
                  <a:extLst>
                    <a:ext uri="{9D8B030D-6E8A-4147-A177-3AD203B41FA5}">
                      <a16:colId xmlns:a16="http://schemas.microsoft.com/office/drawing/2014/main" val="584997788"/>
                    </a:ext>
                  </a:extLst>
                </a:gridCol>
                <a:gridCol w="516047">
                  <a:extLst>
                    <a:ext uri="{9D8B030D-6E8A-4147-A177-3AD203B41FA5}">
                      <a16:colId xmlns:a16="http://schemas.microsoft.com/office/drawing/2014/main" val="191570869"/>
                    </a:ext>
                  </a:extLst>
                </a:gridCol>
                <a:gridCol w="1873697">
                  <a:extLst>
                    <a:ext uri="{9D8B030D-6E8A-4147-A177-3AD203B41FA5}">
                      <a16:colId xmlns:a16="http://schemas.microsoft.com/office/drawing/2014/main" val="3835713385"/>
                    </a:ext>
                  </a:extLst>
                </a:gridCol>
              </a:tblGrid>
              <a:tr h="411129">
                <a:tc>
                  <a:txBody>
                    <a:bodyPr/>
                    <a:lstStyle/>
                    <a:p>
                      <a:pPr algn="ctr"/>
                      <a:r>
                        <a:rPr lang="en-US" sz="900" dirty="0">
                          <a:solidFill>
                            <a:schemeClr val="bg1"/>
                          </a:solidFill>
                        </a:rPr>
                        <a:t>Role</a:t>
                      </a:r>
                    </a:p>
                  </a:txBody>
                  <a:tcPr marT="28388" marB="28388" anchor="ctr">
                    <a:solidFill>
                      <a:schemeClr val="accent1">
                        <a:lumMod val="50000"/>
                      </a:schemeClr>
                    </a:solidFill>
                  </a:tcPr>
                </a:tc>
                <a:tc>
                  <a:txBody>
                    <a:bodyPr/>
                    <a:lstStyle/>
                    <a:p>
                      <a:pPr algn="ctr"/>
                      <a:r>
                        <a:rPr lang="en-US" sz="900" dirty="0">
                          <a:solidFill>
                            <a:schemeClr val="bg1"/>
                          </a:solidFill>
                        </a:rPr>
                        <a:t>City</a:t>
                      </a:r>
                    </a:p>
                  </a:txBody>
                  <a:tcPr marT="28388" marB="28388" anchor="ctr">
                    <a:solidFill>
                      <a:schemeClr val="accent1">
                        <a:lumMod val="50000"/>
                      </a:schemeClr>
                    </a:solidFill>
                  </a:tcPr>
                </a:tc>
                <a:tc>
                  <a:txBody>
                    <a:bodyPr/>
                    <a:lstStyle/>
                    <a:p>
                      <a:pPr algn="ctr"/>
                      <a:r>
                        <a:rPr lang="en-US" sz="900" dirty="0">
                          <a:solidFill>
                            <a:schemeClr val="bg1"/>
                          </a:solidFill>
                        </a:rPr>
                        <a:t>Percentile</a:t>
                      </a:r>
                    </a:p>
                  </a:txBody>
                  <a:tcPr marT="28388" marB="28388" anchor="ctr">
                    <a:solidFill>
                      <a:schemeClr val="accent1">
                        <a:lumMod val="50000"/>
                      </a:schemeClr>
                    </a:solidFill>
                  </a:tcPr>
                </a:tc>
                <a:tc>
                  <a:txBody>
                    <a:bodyPr/>
                    <a:lstStyle/>
                    <a:p>
                      <a:pPr algn="ctr"/>
                      <a:r>
                        <a:rPr lang="en-US" sz="900" dirty="0">
                          <a:solidFill>
                            <a:schemeClr val="bg1"/>
                          </a:solidFill>
                        </a:rPr>
                        <a:t>Salary Est.</a:t>
                      </a:r>
                    </a:p>
                  </a:txBody>
                  <a:tcPr marT="28388" marB="28388" anchor="ctr">
                    <a:solidFill>
                      <a:schemeClr val="accent1">
                        <a:lumMod val="50000"/>
                      </a:schemeClr>
                    </a:solidFill>
                  </a:tcPr>
                </a:tc>
                <a:tc>
                  <a:txBody>
                    <a:bodyPr/>
                    <a:lstStyle/>
                    <a:p>
                      <a:pPr algn="ctr"/>
                      <a:r>
                        <a:rPr lang="en-US" sz="900" dirty="0">
                          <a:solidFill>
                            <a:schemeClr val="bg1"/>
                          </a:solidFill>
                        </a:rPr>
                        <a:t>Notes</a:t>
                      </a:r>
                    </a:p>
                  </a:txBody>
                  <a:tcPr marT="28388" marB="28388" anchor="ctr">
                    <a:solidFill>
                      <a:schemeClr val="accent1">
                        <a:lumMod val="50000"/>
                      </a:schemeClr>
                    </a:solidFill>
                  </a:tcPr>
                </a:tc>
                <a:extLst>
                  <a:ext uri="{0D108BD9-81ED-4DB2-BD59-A6C34878D82A}">
                    <a16:rowId xmlns:a16="http://schemas.microsoft.com/office/drawing/2014/main" val="2007875439"/>
                  </a:ext>
                </a:extLst>
              </a:tr>
              <a:tr h="569219">
                <a:tc>
                  <a:txBody>
                    <a:bodyPr/>
                    <a:lstStyle/>
                    <a:p>
                      <a:pPr algn="l" fontAlgn="ctr">
                        <a:buNone/>
                      </a:pPr>
                      <a:r>
                        <a:rPr lang="en-US" sz="900" b="0" i="0" u="none" strike="noStrike" dirty="0">
                          <a:solidFill>
                            <a:srgbClr val="000000"/>
                          </a:solidFill>
                          <a:effectLst/>
                          <a:latin typeface="Aptos Narrow" panose="020B0004020202020204" pitchFamily="34" charset="0"/>
                        </a:rPr>
                        <a:t>MDA</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Indianapolis</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25</a:t>
                      </a:r>
                      <a:r>
                        <a:rPr lang="en-US" sz="900" b="0" i="0" u="none" strike="noStrike" baseline="30000" dirty="0">
                          <a:solidFill>
                            <a:srgbClr val="000000"/>
                          </a:solidFill>
                          <a:effectLst/>
                          <a:latin typeface="Aptos Narrow" panose="020B0004020202020204" pitchFamily="34" charset="0"/>
                        </a:rPr>
                        <a:t>th</a:t>
                      </a:r>
                      <a:endParaRPr lang="en-US" sz="900" b="0" i="0" u="none" strike="noStrike" dirty="0">
                        <a:solidFill>
                          <a:srgbClr val="000000"/>
                        </a:solidFill>
                        <a:effectLst/>
                        <a:latin typeface="Aptos Narrow" panose="020B0004020202020204" pitchFamily="34" charset="0"/>
                      </a:endParaRP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$345K</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Early-career in general or outpatient roles</a:t>
                      </a:r>
                    </a:p>
                  </a:txBody>
                  <a:tcPr anchor="ctr">
                    <a:solidFill>
                      <a:schemeClr val="bg1">
                        <a:lumMod val="85000"/>
                      </a:schemeClr>
                    </a:solidFill>
                  </a:tcPr>
                </a:tc>
                <a:extLst>
                  <a:ext uri="{0D108BD9-81ED-4DB2-BD59-A6C34878D82A}">
                    <a16:rowId xmlns:a16="http://schemas.microsoft.com/office/drawing/2014/main" val="2169564543"/>
                  </a:ext>
                </a:extLst>
              </a:tr>
              <a:tr h="569219">
                <a:tc>
                  <a:txBody>
                    <a:bodyPr/>
                    <a:lstStyle/>
                    <a:p>
                      <a:pPr algn="l" fontAlgn="ctr">
                        <a:buNone/>
                      </a:pPr>
                      <a:r>
                        <a:rPr lang="en-US" sz="900" b="0" i="0" u="none" strike="noStrike" dirty="0">
                          <a:solidFill>
                            <a:srgbClr val="000000"/>
                          </a:solidFill>
                          <a:effectLst/>
                          <a:latin typeface="Aptos Narrow" panose="020B0004020202020204" pitchFamily="34" charset="0"/>
                        </a:rPr>
                        <a:t>MDA</a:t>
                      </a:r>
                    </a:p>
                  </a:txBody>
                  <a:tcPr anchor="ctr">
                    <a:solidFill>
                      <a:schemeClr val="bg1">
                        <a:lumMod val="9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Indianapolis</a:t>
                      </a:r>
                    </a:p>
                  </a:txBody>
                  <a:tcPr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50</a:t>
                      </a:r>
                      <a:r>
                        <a:rPr lang="en-US" sz="900" b="0" i="0" u="none" strike="noStrike" baseline="30000" dirty="0">
                          <a:solidFill>
                            <a:srgbClr val="000000"/>
                          </a:solidFill>
                          <a:effectLst/>
                          <a:latin typeface="Aptos Narrow" panose="020B0004020202020204" pitchFamily="34" charset="0"/>
                        </a:rPr>
                        <a:t>th</a:t>
                      </a:r>
                      <a:endParaRPr lang="en-US" sz="900" b="0" i="0" u="none" strike="noStrike" dirty="0">
                        <a:solidFill>
                          <a:srgbClr val="000000"/>
                        </a:solidFill>
                        <a:effectLst/>
                        <a:latin typeface="Aptos Narrow" panose="020B0004020202020204" pitchFamily="34" charset="0"/>
                      </a:endParaRPr>
                    </a:p>
                  </a:txBody>
                  <a:tcPr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$390K</a:t>
                      </a:r>
                    </a:p>
                  </a:txBody>
                  <a:tcPr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Mid-career in academic or hospital settings; matches Salary.com average</a:t>
                      </a:r>
                    </a:p>
                  </a:txBody>
                  <a:tcPr anchor="ctr">
                    <a:solidFill>
                      <a:schemeClr val="bg1">
                        <a:lumMod val="95000"/>
                      </a:schemeClr>
                    </a:solidFill>
                  </a:tcPr>
                </a:tc>
                <a:extLst>
                  <a:ext uri="{0D108BD9-81ED-4DB2-BD59-A6C34878D82A}">
                    <a16:rowId xmlns:a16="http://schemas.microsoft.com/office/drawing/2014/main" val="4115207246"/>
                  </a:ext>
                </a:extLst>
              </a:tr>
              <a:tr h="569219">
                <a:tc>
                  <a:txBody>
                    <a:bodyPr/>
                    <a:lstStyle/>
                    <a:p>
                      <a:pPr algn="l" fontAlgn="ctr">
                        <a:buNone/>
                      </a:pPr>
                      <a:r>
                        <a:rPr lang="en-US" sz="900" b="0" i="0" u="none" strike="noStrike" dirty="0">
                          <a:solidFill>
                            <a:srgbClr val="000000"/>
                          </a:solidFill>
                          <a:effectLst/>
                          <a:latin typeface="Aptos Narrow" panose="020B0004020202020204" pitchFamily="34" charset="0"/>
                        </a:rPr>
                        <a:t>MDA</a:t>
                      </a:r>
                    </a:p>
                  </a:txBody>
                  <a:tcPr anchor="ctr">
                    <a:solidFill>
                      <a:schemeClr val="bg1">
                        <a:lumMod val="8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Indianapolis</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75</a:t>
                      </a:r>
                      <a:r>
                        <a:rPr lang="en-US" sz="900" b="0" i="0" u="none" strike="noStrike" baseline="30000" dirty="0">
                          <a:solidFill>
                            <a:srgbClr val="000000"/>
                          </a:solidFill>
                          <a:effectLst/>
                          <a:latin typeface="Aptos Narrow" panose="020B0004020202020204" pitchFamily="34" charset="0"/>
                        </a:rPr>
                        <a:t>th</a:t>
                      </a:r>
                      <a:endParaRPr lang="en-US" sz="900" b="0" i="0" u="none" strike="noStrike" dirty="0">
                        <a:solidFill>
                          <a:srgbClr val="000000"/>
                        </a:solidFill>
                        <a:effectLst/>
                        <a:latin typeface="Aptos Narrow" panose="020B0004020202020204" pitchFamily="34" charset="0"/>
                      </a:endParaRP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$420K</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Experienced in subspecialties or locums at IU Health</a:t>
                      </a:r>
                    </a:p>
                  </a:txBody>
                  <a:tcPr anchor="ctr">
                    <a:solidFill>
                      <a:schemeClr val="bg1">
                        <a:lumMod val="85000"/>
                      </a:schemeClr>
                    </a:solidFill>
                  </a:tcPr>
                </a:tc>
                <a:extLst>
                  <a:ext uri="{0D108BD9-81ED-4DB2-BD59-A6C34878D82A}">
                    <a16:rowId xmlns:a16="http://schemas.microsoft.com/office/drawing/2014/main" val="1416044750"/>
                  </a:ext>
                </a:extLst>
              </a:tr>
            </a:tbl>
          </a:graphicData>
        </a:graphic>
      </p:graphicFrame>
      <p:graphicFrame>
        <p:nvGraphicFramePr>
          <p:cNvPr id="13" name="Table 12">
            <a:extLst>
              <a:ext uri="{FF2B5EF4-FFF2-40B4-BE49-F238E27FC236}">
                <a16:creationId xmlns:a16="http://schemas.microsoft.com/office/drawing/2014/main" id="{31872515-DD56-6C57-BC26-C42C70A937F9}"/>
              </a:ext>
            </a:extLst>
          </p:cNvPr>
          <p:cNvGraphicFramePr>
            <a:graphicFrameLocks noGrp="1"/>
          </p:cNvGraphicFramePr>
          <p:nvPr>
            <p:extLst>
              <p:ext uri="{D42A27DB-BD31-4B8C-83A1-F6EECF244321}">
                <p14:modId xmlns:p14="http://schemas.microsoft.com/office/powerpoint/2010/main" val="2074389103"/>
              </p:ext>
            </p:extLst>
          </p:nvPr>
        </p:nvGraphicFramePr>
        <p:xfrm>
          <a:off x="4618733" y="4392253"/>
          <a:ext cx="4347864" cy="2118786"/>
        </p:xfrm>
        <a:graphic>
          <a:graphicData uri="http://schemas.openxmlformats.org/drawingml/2006/table">
            <a:tbl>
              <a:tblPr firstRow="1" bandRow="1">
                <a:tableStyleId>{5C22544A-7EE6-4342-B048-85BDC9FD1C3A}</a:tableStyleId>
              </a:tblPr>
              <a:tblGrid>
                <a:gridCol w="482405">
                  <a:extLst>
                    <a:ext uri="{9D8B030D-6E8A-4147-A177-3AD203B41FA5}">
                      <a16:colId xmlns:a16="http://schemas.microsoft.com/office/drawing/2014/main" val="2013788962"/>
                    </a:ext>
                  </a:extLst>
                </a:gridCol>
                <a:gridCol w="742384">
                  <a:extLst>
                    <a:ext uri="{9D8B030D-6E8A-4147-A177-3AD203B41FA5}">
                      <a16:colId xmlns:a16="http://schemas.microsoft.com/office/drawing/2014/main" val="3716730001"/>
                    </a:ext>
                  </a:extLst>
                </a:gridCol>
                <a:gridCol w="733331">
                  <a:extLst>
                    <a:ext uri="{9D8B030D-6E8A-4147-A177-3AD203B41FA5}">
                      <a16:colId xmlns:a16="http://schemas.microsoft.com/office/drawing/2014/main" val="584997788"/>
                    </a:ext>
                  </a:extLst>
                </a:gridCol>
                <a:gridCol w="516047">
                  <a:extLst>
                    <a:ext uri="{9D8B030D-6E8A-4147-A177-3AD203B41FA5}">
                      <a16:colId xmlns:a16="http://schemas.microsoft.com/office/drawing/2014/main" val="191570869"/>
                    </a:ext>
                  </a:extLst>
                </a:gridCol>
                <a:gridCol w="1873697">
                  <a:extLst>
                    <a:ext uri="{9D8B030D-6E8A-4147-A177-3AD203B41FA5}">
                      <a16:colId xmlns:a16="http://schemas.microsoft.com/office/drawing/2014/main" val="3835713385"/>
                    </a:ext>
                  </a:extLst>
                </a:gridCol>
              </a:tblGrid>
              <a:tr h="411129">
                <a:tc>
                  <a:txBody>
                    <a:bodyPr/>
                    <a:lstStyle/>
                    <a:p>
                      <a:pPr algn="ctr"/>
                      <a:r>
                        <a:rPr lang="en-US" sz="900" dirty="0">
                          <a:solidFill>
                            <a:schemeClr val="bg1"/>
                          </a:solidFill>
                        </a:rPr>
                        <a:t>Role</a:t>
                      </a:r>
                    </a:p>
                  </a:txBody>
                  <a:tcPr marT="28388" marB="28388" anchor="ctr">
                    <a:solidFill>
                      <a:schemeClr val="accent1">
                        <a:lumMod val="50000"/>
                      </a:schemeClr>
                    </a:solidFill>
                  </a:tcPr>
                </a:tc>
                <a:tc>
                  <a:txBody>
                    <a:bodyPr/>
                    <a:lstStyle/>
                    <a:p>
                      <a:pPr algn="ctr"/>
                      <a:r>
                        <a:rPr lang="en-US" sz="900" dirty="0">
                          <a:solidFill>
                            <a:schemeClr val="bg1"/>
                          </a:solidFill>
                        </a:rPr>
                        <a:t>City</a:t>
                      </a:r>
                    </a:p>
                  </a:txBody>
                  <a:tcPr marT="28388" marB="28388" anchor="ctr">
                    <a:solidFill>
                      <a:schemeClr val="accent1">
                        <a:lumMod val="50000"/>
                      </a:schemeClr>
                    </a:solidFill>
                  </a:tcPr>
                </a:tc>
                <a:tc>
                  <a:txBody>
                    <a:bodyPr/>
                    <a:lstStyle/>
                    <a:p>
                      <a:pPr algn="ctr"/>
                      <a:r>
                        <a:rPr lang="en-US" sz="900" dirty="0">
                          <a:solidFill>
                            <a:schemeClr val="bg1"/>
                          </a:solidFill>
                        </a:rPr>
                        <a:t>Percentile</a:t>
                      </a:r>
                    </a:p>
                  </a:txBody>
                  <a:tcPr marT="28388" marB="28388" anchor="ctr">
                    <a:solidFill>
                      <a:schemeClr val="accent1">
                        <a:lumMod val="50000"/>
                      </a:schemeClr>
                    </a:solidFill>
                  </a:tcPr>
                </a:tc>
                <a:tc>
                  <a:txBody>
                    <a:bodyPr/>
                    <a:lstStyle/>
                    <a:p>
                      <a:pPr algn="ctr"/>
                      <a:r>
                        <a:rPr lang="en-US" sz="900" dirty="0">
                          <a:solidFill>
                            <a:schemeClr val="bg1"/>
                          </a:solidFill>
                        </a:rPr>
                        <a:t>Salary Est.</a:t>
                      </a:r>
                    </a:p>
                  </a:txBody>
                  <a:tcPr marT="28388" marB="28388" anchor="ctr">
                    <a:solidFill>
                      <a:schemeClr val="accent1">
                        <a:lumMod val="50000"/>
                      </a:schemeClr>
                    </a:solidFill>
                  </a:tcPr>
                </a:tc>
                <a:tc>
                  <a:txBody>
                    <a:bodyPr/>
                    <a:lstStyle/>
                    <a:p>
                      <a:pPr algn="ctr"/>
                      <a:r>
                        <a:rPr lang="en-US" sz="900" dirty="0">
                          <a:solidFill>
                            <a:schemeClr val="bg1"/>
                          </a:solidFill>
                        </a:rPr>
                        <a:t>Notes</a:t>
                      </a:r>
                    </a:p>
                  </a:txBody>
                  <a:tcPr marT="28388" marB="28388" anchor="ctr">
                    <a:solidFill>
                      <a:schemeClr val="accent1">
                        <a:lumMod val="50000"/>
                      </a:schemeClr>
                    </a:solidFill>
                  </a:tcPr>
                </a:tc>
                <a:extLst>
                  <a:ext uri="{0D108BD9-81ED-4DB2-BD59-A6C34878D82A}">
                    <a16:rowId xmlns:a16="http://schemas.microsoft.com/office/drawing/2014/main" val="2007875439"/>
                  </a:ext>
                </a:extLst>
              </a:tr>
              <a:tr h="569219">
                <a:tc>
                  <a:txBody>
                    <a:bodyPr/>
                    <a:lstStyle/>
                    <a:p>
                      <a:pPr algn="l" fontAlgn="ctr">
                        <a:buNone/>
                      </a:pPr>
                      <a:r>
                        <a:rPr lang="en-US" sz="900" b="0" i="0" u="none" strike="noStrike" dirty="0">
                          <a:solidFill>
                            <a:srgbClr val="000000"/>
                          </a:solidFill>
                          <a:effectLst/>
                          <a:latin typeface="Aptos Narrow" panose="020B0004020202020204" pitchFamily="34" charset="0"/>
                        </a:rPr>
                        <a:t>CRNA</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Indianapolis</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25</a:t>
                      </a:r>
                      <a:r>
                        <a:rPr lang="en-US" sz="900" b="0" i="0" u="none" strike="noStrike" baseline="30000" dirty="0">
                          <a:solidFill>
                            <a:srgbClr val="000000"/>
                          </a:solidFill>
                          <a:effectLst/>
                          <a:latin typeface="Aptos Narrow" panose="020B0004020202020204" pitchFamily="34" charset="0"/>
                        </a:rPr>
                        <a:t>th</a:t>
                      </a:r>
                      <a:endParaRPr lang="en-US" sz="900" b="0" i="0" u="none" strike="noStrike" dirty="0">
                        <a:solidFill>
                          <a:srgbClr val="000000"/>
                        </a:solidFill>
                        <a:effectLst/>
                        <a:latin typeface="Aptos Narrow" panose="020B0004020202020204" pitchFamily="34" charset="0"/>
                      </a:endParaRP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$202K</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Newer CRNAs in outpatient or less complex settings</a:t>
                      </a:r>
                    </a:p>
                  </a:txBody>
                  <a:tcPr anchor="ctr">
                    <a:solidFill>
                      <a:schemeClr val="bg1">
                        <a:lumMod val="85000"/>
                      </a:schemeClr>
                    </a:solidFill>
                  </a:tcPr>
                </a:tc>
                <a:extLst>
                  <a:ext uri="{0D108BD9-81ED-4DB2-BD59-A6C34878D82A}">
                    <a16:rowId xmlns:a16="http://schemas.microsoft.com/office/drawing/2014/main" val="2169564543"/>
                  </a:ext>
                </a:extLst>
              </a:tr>
              <a:tr h="569219">
                <a:tc>
                  <a:txBody>
                    <a:bodyPr/>
                    <a:lstStyle/>
                    <a:p>
                      <a:pPr algn="l" fontAlgn="ctr">
                        <a:buNone/>
                      </a:pPr>
                      <a:r>
                        <a:rPr lang="en-US" sz="900" b="0" i="0" u="none" strike="noStrike" dirty="0">
                          <a:solidFill>
                            <a:srgbClr val="000000"/>
                          </a:solidFill>
                          <a:effectLst/>
                          <a:latin typeface="Aptos Narrow" panose="020B0004020202020204" pitchFamily="34" charset="0"/>
                        </a:rPr>
                        <a:t>CRNA</a:t>
                      </a:r>
                    </a:p>
                  </a:txBody>
                  <a:tcPr anchor="ctr">
                    <a:solidFill>
                      <a:schemeClr val="bg1">
                        <a:lumMod val="9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Indianapolis</a:t>
                      </a:r>
                    </a:p>
                  </a:txBody>
                  <a:tcPr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50</a:t>
                      </a:r>
                      <a:r>
                        <a:rPr lang="en-US" sz="900" b="0" i="0" u="none" strike="noStrike" baseline="30000" dirty="0">
                          <a:solidFill>
                            <a:srgbClr val="000000"/>
                          </a:solidFill>
                          <a:effectLst/>
                          <a:latin typeface="Aptos Narrow" panose="020B0004020202020204" pitchFamily="34" charset="0"/>
                        </a:rPr>
                        <a:t>th</a:t>
                      </a:r>
                      <a:endParaRPr lang="en-US" sz="900" b="0" i="0" u="none" strike="noStrike" dirty="0">
                        <a:solidFill>
                          <a:srgbClr val="000000"/>
                        </a:solidFill>
                        <a:effectLst/>
                        <a:latin typeface="Aptos Narrow" panose="020B0004020202020204" pitchFamily="34" charset="0"/>
                      </a:endParaRPr>
                    </a:p>
                  </a:txBody>
                  <a:tcPr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$236K</a:t>
                      </a:r>
                    </a:p>
                  </a:txBody>
                  <a:tcPr anchor="ctr">
                    <a:solidFill>
                      <a:schemeClr val="bg1">
                        <a:lumMod val="9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Mid-career in hospital systems; matches Salary.com average</a:t>
                      </a:r>
                    </a:p>
                  </a:txBody>
                  <a:tcPr anchor="ctr">
                    <a:solidFill>
                      <a:schemeClr val="bg1">
                        <a:lumMod val="95000"/>
                      </a:schemeClr>
                    </a:solidFill>
                  </a:tcPr>
                </a:tc>
                <a:extLst>
                  <a:ext uri="{0D108BD9-81ED-4DB2-BD59-A6C34878D82A}">
                    <a16:rowId xmlns:a16="http://schemas.microsoft.com/office/drawing/2014/main" val="4115207246"/>
                  </a:ext>
                </a:extLst>
              </a:tr>
              <a:tr h="569219">
                <a:tc>
                  <a:txBody>
                    <a:bodyPr/>
                    <a:lstStyle/>
                    <a:p>
                      <a:pPr algn="l" fontAlgn="ctr">
                        <a:buNone/>
                      </a:pPr>
                      <a:r>
                        <a:rPr lang="en-US" sz="900" b="0" i="0" u="none" strike="noStrike" dirty="0">
                          <a:solidFill>
                            <a:srgbClr val="000000"/>
                          </a:solidFill>
                          <a:effectLst/>
                          <a:latin typeface="Aptos Narrow" panose="020B0004020202020204" pitchFamily="34" charset="0"/>
                        </a:rPr>
                        <a:t>CRNA</a:t>
                      </a:r>
                    </a:p>
                  </a:txBody>
                  <a:tcPr anchor="ctr">
                    <a:solidFill>
                      <a:schemeClr val="bg1">
                        <a:lumMod val="8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Indianapolis</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75</a:t>
                      </a:r>
                      <a:r>
                        <a:rPr lang="en-US" sz="900" b="0" i="0" u="none" strike="noStrike" baseline="30000" dirty="0">
                          <a:solidFill>
                            <a:srgbClr val="000000"/>
                          </a:solidFill>
                          <a:effectLst/>
                          <a:latin typeface="Aptos Narrow" panose="020B0004020202020204" pitchFamily="34" charset="0"/>
                        </a:rPr>
                        <a:t>th</a:t>
                      </a:r>
                      <a:endParaRPr lang="en-US" sz="900" b="0" i="0" u="none" strike="noStrike" dirty="0">
                        <a:solidFill>
                          <a:srgbClr val="000000"/>
                        </a:solidFill>
                        <a:effectLst/>
                        <a:latin typeface="Aptos Narrow" panose="020B0004020202020204" pitchFamily="34" charset="0"/>
                      </a:endParaRP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$234K</a:t>
                      </a:r>
                    </a:p>
                  </a:txBody>
                  <a:tcPr anchor="ctr">
                    <a:solidFill>
                      <a:schemeClr val="bg1">
                        <a:lumMod val="85000"/>
                      </a:schemeClr>
                    </a:solidFill>
                  </a:tcPr>
                </a:tc>
                <a:tc>
                  <a:txBody>
                    <a:bodyPr/>
                    <a:lstStyle/>
                    <a:p>
                      <a:pPr algn="l" fontAlgn="ctr">
                        <a:buNone/>
                      </a:pPr>
                      <a:r>
                        <a:rPr lang="en-US" sz="900" b="0" i="0" u="none" strike="noStrike" dirty="0">
                          <a:solidFill>
                            <a:srgbClr val="000000"/>
                          </a:solidFill>
                          <a:effectLst/>
                          <a:latin typeface="Aptos Narrow" panose="020B0004020202020204" pitchFamily="34" charset="0"/>
                        </a:rPr>
                        <a:t>Experienced in academic centers or locums</a:t>
                      </a:r>
                    </a:p>
                  </a:txBody>
                  <a:tcPr anchor="ctr">
                    <a:solidFill>
                      <a:schemeClr val="bg1">
                        <a:lumMod val="85000"/>
                      </a:schemeClr>
                    </a:solidFill>
                  </a:tcPr>
                </a:tc>
                <a:extLst>
                  <a:ext uri="{0D108BD9-81ED-4DB2-BD59-A6C34878D82A}">
                    <a16:rowId xmlns:a16="http://schemas.microsoft.com/office/drawing/2014/main" val="1416044750"/>
                  </a:ext>
                </a:extLst>
              </a:tr>
            </a:tbl>
          </a:graphicData>
        </a:graphic>
      </p:graphicFrame>
    </p:spTree>
    <p:extLst>
      <p:ext uri="{BB962C8B-B14F-4D97-AF65-F5344CB8AC3E}">
        <p14:creationId xmlns:p14="http://schemas.microsoft.com/office/powerpoint/2010/main" val="119420224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F53CC-BE40-DCA0-ABB2-A9ED26A5DB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CA91C3-ED70-E354-8C02-0AE041FA2105}"/>
              </a:ext>
            </a:extLst>
          </p:cNvPr>
          <p:cNvSpPr>
            <a:spLocks noGrp="1"/>
          </p:cNvSpPr>
          <p:nvPr>
            <p:ph type="title"/>
          </p:nvPr>
        </p:nvSpPr>
        <p:spPr/>
        <p:txBody>
          <a:bodyPr>
            <a:normAutofit/>
          </a:bodyPr>
          <a:lstStyle/>
          <a:p>
            <a:r>
              <a:rPr lang="en-US" dirty="0"/>
              <a:t>Prevalence of W2 Versus 1099 Job Postings</a:t>
            </a:r>
            <a:endParaRPr dirty="0"/>
          </a:p>
        </p:txBody>
      </p:sp>
      <p:sp>
        <p:nvSpPr>
          <p:cNvPr id="5" name="TextBox 4">
            <a:extLst>
              <a:ext uri="{FF2B5EF4-FFF2-40B4-BE49-F238E27FC236}">
                <a16:creationId xmlns:a16="http://schemas.microsoft.com/office/drawing/2014/main" id="{FE2BB269-3727-CDFD-33AB-F6AB339A8405}"/>
              </a:ext>
            </a:extLst>
          </p:cNvPr>
          <p:cNvSpPr txBox="1"/>
          <p:nvPr/>
        </p:nvSpPr>
        <p:spPr>
          <a:xfrm>
            <a:off x="228600" y="981789"/>
            <a:ext cx="8686800" cy="646331"/>
          </a:xfrm>
          <a:prstGeom prst="rect">
            <a:avLst/>
          </a:prstGeom>
          <a:noFill/>
        </p:spPr>
        <p:txBody>
          <a:bodyPr wrap="square" rtlCol="0">
            <a:spAutoFit/>
          </a:bodyPr>
          <a:lstStyle/>
          <a:p>
            <a:pPr>
              <a:defRPr sz="2000"/>
            </a:pPr>
            <a:r>
              <a:rPr lang="en-US" sz="1200" dirty="0"/>
              <a:t>As of September 24, 2025, exact counts of active job postings specifying W2 (employee with benefits) vs 1099 (independent contractor/locums) remain challenging to pinpoint, as many listings imply but do not explicitly state the classification, however we have summarized key insights based on the postings that were found.</a:t>
            </a:r>
          </a:p>
        </p:txBody>
      </p:sp>
      <p:sp>
        <p:nvSpPr>
          <p:cNvPr id="6" name="TextBox 5">
            <a:extLst>
              <a:ext uri="{FF2B5EF4-FFF2-40B4-BE49-F238E27FC236}">
                <a16:creationId xmlns:a16="http://schemas.microsoft.com/office/drawing/2014/main" id="{70FFE6AD-FFFA-DCAF-9B33-7EC1F632A8B1}"/>
              </a:ext>
            </a:extLst>
          </p:cNvPr>
          <p:cNvSpPr txBox="1"/>
          <p:nvPr/>
        </p:nvSpPr>
        <p:spPr>
          <a:xfrm>
            <a:off x="221942" y="1726740"/>
            <a:ext cx="8686800" cy="2769989"/>
          </a:xfrm>
          <a:prstGeom prst="rect">
            <a:avLst/>
          </a:prstGeom>
          <a:noFill/>
        </p:spPr>
        <p:txBody>
          <a:bodyPr wrap="square" rtlCol="0">
            <a:spAutoFit/>
          </a:bodyPr>
          <a:lstStyle/>
          <a:p>
            <a:pPr>
              <a:spcBef>
                <a:spcPts val="600"/>
              </a:spcBef>
              <a:spcAft>
                <a:spcPts val="600"/>
              </a:spcAft>
            </a:pPr>
            <a:r>
              <a:rPr lang="en-US" sz="1400" b="1" dirty="0"/>
              <a:t>Key Insights</a:t>
            </a:r>
          </a:p>
          <a:p>
            <a:pPr marL="171450" indent="-171450">
              <a:spcBef>
                <a:spcPts val="600"/>
              </a:spcBef>
              <a:spcAft>
                <a:spcPts val="600"/>
              </a:spcAft>
              <a:buFont typeface="Arial" panose="020B0604020202020204" pitchFamily="34" charset="0"/>
              <a:buChar char="•"/>
            </a:pPr>
            <a:r>
              <a:rPr lang="en-US" sz="1200" u="sng" dirty="0"/>
              <a:t>City Comparison</a:t>
            </a:r>
            <a:r>
              <a:rPr lang="en-US" sz="1200" dirty="0"/>
              <a:t>: Detroit has a higher W2:1099 ratio (~1.9:1 average) than Indianapolis (~1.5:1), reflecting Detroit's emphasis on employed models in high-volume hospitals amid trauma demand. Indianapolis postings are more balanced, with 1099 growth (~15–20% YoY) for locums in OB/ortho at surgery centers.</a:t>
            </a:r>
          </a:p>
          <a:p>
            <a:pPr marL="171450" indent="-171450">
              <a:spcBef>
                <a:spcPts val="600"/>
              </a:spcBef>
              <a:spcAft>
                <a:spcPts val="600"/>
              </a:spcAft>
              <a:buFont typeface="Arial" panose="020B0604020202020204" pitchFamily="34" charset="0"/>
              <a:buChar char="•"/>
            </a:pPr>
            <a:r>
              <a:rPr lang="en-US" sz="1200" u="sng" dirty="0"/>
              <a:t>Role Comparison</a:t>
            </a:r>
            <a:r>
              <a:rPr lang="en-US" sz="1200" dirty="0"/>
              <a:t>: CRNAs show a stronger W2 skew (1.75:1 average) than Anesthesiologists (1.65:1), as CRNAs often integrate into ACT teams with benefits. Anesthesiologists have more 1099 for short-term subspecialty needs (e.g., no-call locums). </a:t>
            </a:r>
          </a:p>
          <a:p>
            <a:pPr marL="171450" indent="-171450">
              <a:spcBef>
                <a:spcPts val="600"/>
              </a:spcBef>
              <a:spcAft>
                <a:spcPts val="600"/>
              </a:spcAft>
              <a:buFont typeface="Arial" panose="020B0604020202020204" pitchFamily="34" charset="0"/>
              <a:buChar char="•"/>
            </a:pPr>
            <a:r>
              <a:rPr lang="en-US" sz="1200" u="sng" dirty="0"/>
              <a:t>Key Trends</a:t>
            </a:r>
            <a:r>
              <a:rPr lang="en-US" sz="1200" dirty="0"/>
              <a:t>: 1099 postings are up ~20% YoY nationally per AANA, driven by flexibility, but W2 dominates (55–70%) for benefits like malpractice and PTO. Unspecified listings (~35%) likely W2 in large systems. Premiums for 1099: $20–$50/hr. more, but self-managed taxes/insurance.</a:t>
            </a:r>
          </a:p>
          <a:p>
            <a:pPr marL="171450" indent="-171450">
              <a:spcBef>
                <a:spcPts val="600"/>
              </a:spcBef>
              <a:spcAft>
                <a:spcPts val="600"/>
              </a:spcAft>
              <a:buFont typeface="Arial" panose="020B0604020202020204" pitchFamily="34" charset="0"/>
              <a:buChar char="•"/>
            </a:pPr>
            <a:r>
              <a:rPr lang="en-US" sz="1200" u="sng" dirty="0"/>
              <a:t>Limitations</a:t>
            </a:r>
            <a:r>
              <a:rPr lang="en-US" sz="1200" dirty="0"/>
              <a:t>: Estimates from ~20–50 listings per category; duplicates reduce the unique by 20%. For precision, we filtered Indeed ("W2" or "1099").</a:t>
            </a:r>
          </a:p>
        </p:txBody>
      </p:sp>
    </p:spTree>
    <p:extLst>
      <p:ext uri="{BB962C8B-B14F-4D97-AF65-F5344CB8AC3E}">
        <p14:creationId xmlns:p14="http://schemas.microsoft.com/office/powerpoint/2010/main" val="141862230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C87DA-EA74-5201-0912-FBBFCE155F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52C179-A358-962A-8DE8-1ED2A1012EAB}"/>
              </a:ext>
            </a:extLst>
          </p:cNvPr>
          <p:cNvSpPr>
            <a:spLocks noGrp="1"/>
          </p:cNvSpPr>
          <p:nvPr>
            <p:ph type="title"/>
          </p:nvPr>
        </p:nvSpPr>
        <p:spPr>
          <a:xfrm>
            <a:off x="221942" y="218485"/>
            <a:ext cx="8697771" cy="664684"/>
          </a:xfrm>
        </p:spPr>
        <p:txBody>
          <a:bodyPr>
            <a:normAutofit/>
          </a:bodyPr>
          <a:lstStyle/>
          <a:p>
            <a:r>
              <a:rPr lang="en-US" dirty="0"/>
              <a:t>CFO Search Process (As of 10/26/25)</a:t>
            </a:r>
          </a:p>
        </p:txBody>
      </p:sp>
      <p:sp>
        <p:nvSpPr>
          <p:cNvPr id="6" name="TextBox 5">
            <a:extLst>
              <a:ext uri="{FF2B5EF4-FFF2-40B4-BE49-F238E27FC236}">
                <a16:creationId xmlns:a16="http://schemas.microsoft.com/office/drawing/2014/main" id="{54D83650-C903-6DAC-E77F-9B15871A7970}"/>
              </a:ext>
            </a:extLst>
          </p:cNvPr>
          <p:cNvSpPr txBox="1"/>
          <p:nvPr/>
        </p:nvSpPr>
        <p:spPr>
          <a:xfrm>
            <a:off x="228600" y="981789"/>
            <a:ext cx="8686800" cy="646331"/>
          </a:xfrm>
          <a:prstGeom prst="rect">
            <a:avLst/>
          </a:prstGeom>
          <a:noFill/>
        </p:spPr>
        <p:txBody>
          <a:bodyPr wrap="square" rtlCol="0">
            <a:spAutoFit/>
          </a:bodyPr>
          <a:lstStyle/>
          <a:p>
            <a:pPr>
              <a:spcBef>
                <a:spcPts val="300"/>
              </a:spcBef>
              <a:spcAft>
                <a:spcPts val="300"/>
              </a:spcAft>
            </a:pPr>
            <a:r>
              <a:rPr lang="en-US" sz="1200" dirty="0"/>
              <a:t>Amy Elliott has led the CFO search process on behalf of AAS, utilizing both public job postings on LinkedIn, as well as proactive outreach to qualified candidates across the PE-backed physician practice management landscape. The job posting results have naturally been much quicker to yield results, however the quality of applicants has been far below the direct sourcing  method. </a:t>
            </a:r>
          </a:p>
        </p:txBody>
      </p:sp>
      <p:sp>
        <p:nvSpPr>
          <p:cNvPr id="8" name="Slide Number Placeholder 7">
            <a:extLst>
              <a:ext uri="{FF2B5EF4-FFF2-40B4-BE49-F238E27FC236}">
                <a16:creationId xmlns:a16="http://schemas.microsoft.com/office/drawing/2014/main" id="{2807314C-1F38-9C83-05DF-91A38C284214}"/>
              </a:ext>
            </a:extLst>
          </p:cNvPr>
          <p:cNvSpPr>
            <a:spLocks noGrp="1"/>
          </p:cNvSpPr>
          <p:nvPr>
            <p:ph type="sldNum" sz="quarter" idx="12"/>
          </p:nvPr>
        </p:nvSpPr>
        <p:spPr/>
        <p:txBody>
          <a:bodyPr/>
          <a:lstStyle/>
          <a:p>
            <a:fld id="{F8DDDAE5-3BDD-4D78-843B-A22FA78305BB}" type="slidenum">
              <a:rPr lang="en-US" smtClean="0"/>
              <a:t>66</a:t>
            </a:fld>
            <a:endParaRPr lang="en-US" dirty="0"/>
          </a:p>
        </p:txBody>
      </p:sp>
      <p:sp>
        <p:nvSpPr>
          <p:cNvPr id="30" name="Arrow: Curved Left 29">
            <a:extLst>
              <a:ext uri="{FF2B5EF4-FFF2-40B4-BE49-F238E27FC236}">
                <a16:creationId xmlns:a16="http://schemas.microsoft.com/office/drawing/2014/main" id="{8DD62C40-D452-0C90-9423-AD87ABCFE429}"/>
              </a:ext>
            </a:extLst>
          </p:cNvPr>
          <p:cNvSpPr/>
          <p:nvPr/>
        </p:nvSpPr>
        <p:spPr>
          <a:xfrm>
            <a:off x="2440826" y="2388397"/>
            <a:ext cx="1457812" cy="3416094"/>
          </a:xfrm>
          <a:prstGeom prst="curvedLeftArrow">
            <a:avLst>
              <a:gd name="adj1" fmla="val 19701"/>
              <a:gd name="adj2" fmla="val 35963"/>
              <a:gd name="adj3" fmla="val 25000"/>
            </a:avLst>
          </a:prstGeom>
          <a:solidFill>
            <a:srgbClr val="2428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Isosceles Triangle 3">
            <a:extLst>
              <a:ext uri="{FF2B5EF4-FFF2-40B4-BE49-F238E27FC236}">
                <a16:creationId xmlns:a16="http://schemas.microsoft.com/office/drawing/2014/main" id="{E9065F48-F7F0-EF76-A6D7-9A95CFBA38A0}"/>
              </a:ext>
            </a:extLst>
          </p:cNvPr>
          <p:cNvSpPr>
            <a:spLocks noChangeAspect="1"/>
          </p:cNvSpPr>
          <p:nvPr/>
        </p:nvSpPr>
        <p:spPr>
          <a:xfrm rot="10800000">
            <a:off x="901068" y="2044921"/>
            <a:ext cx="2231338" cy="1088495"/>
          </a:xfrm>
          <a:prstGeom prst="triangle">
            <a:avLst>
              <a:gd name="adj" fmla="val 49823"/>
            </a:avLst>
          </a:prstGeom>
          <a:solidFill>
            <a:srgbClr val="242852"/>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dirty="0">
              <a:solidFill>
                <a:prstClr val="white"/>
              </a:solidFill>
            </a:endParaRPr>
          </a:p>
        </p:txBody>
      </p:sp>
      <p:sp>
        <p:nvSpPr>
          <p:cNvPr id="5" name="Rectangle 4">
            <a:extLst>
              <a:ext uri="{FF2B5EF4-FFF2-40B4-BE49-F238E27FC236}">
                <a16:creationId xmlns:a16="http://schemas.microsoft.com/office/drawing/2014/main" id="{28F55B20-38E5-C791-575D-4745D3B83DC5}"/>
              </a:ext>
            </a:extLst>
          </p:cNvPr>
          <p:cNvSpPr>
            <a:spLocks noChangeAspect="1"/>
          </p:cNvSpPr>
          <p:nvPr/>
        </p:nvSpPr>
        <p:spPr>
          <a:xfrm>
            <a:off x="1372552" y="2044921"/>
            <a:ext cx="1288368" cy="613111"/>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400" b="1" dirty="0">
                <a:solidFill>
                  <a:prstClr val="white"/>
                </a:solidFill>
              </a:rPr>
              <a:t>346</a:t>
            </a:r>
            <a:endParaRPr lang="en-US" b="1" dirty="0">
              <a:solidFill>
                <a:prstClr val="white"/>
              </a:solidFill>
            </a:endParaRPr>
          </a:p>
          <a:p>
            <a:pPr algn="ctr"/>
            <a:r>
              <a:rPr lang="en-US" sz="1200" b="1" dirty="0">
                <a:solidFill>
                  <a:prstClr val="white"/>
                </a:solidFill>
              </a:rPr>
              <a:t>Applications</a:t>
            </a:r>
            <a:endParaRPr lang="en-US" sz="1600" b="1" dirty="0">
              <a:solidFill>
                <a:prstClr val="white"/>
              </a:solidFill>
            </a:endParaRPr>
          </a:p>
        </p:txBody>
      </p:sp>
      <p:sp>
        <p:nvSpPr>
          <p:cNvPr id="11" name="Rectangle 10">
            <a:extLst>
              <a:ext uri="{FF2B5EF4-FFF2-40B4-BE49-F238E27FC236}">
                <a16:creationId xmlns:a16="http://schemas.microsoft.com/office/drawing/2014/main" id="{A4E99C8C-1C09-3AA8-F9AC-2D9ABE5A01F2}"/>
              </a:ext>
            </a:extLst>
          </p:cNvPr>
          <p:cNvSpPr/>
          <p:nvPr/>
        </p:nvSpPr>
        <p:spPr>
          <a:xfrm>
            <a:off x="388958" y="1608208"/>
            <a:ext cx="3263260" cy="45820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Job Posting</a:t>
            </a:r>
          </a:p>
        </p:txBody>
      </p:sp>
      <p:cxnSp>
        <p:nvCxnSpPr>
          <p:cNvPr id="12" name="Straight Connector 11">
            <a:extLst>
              <a:ext uri="{FF2B5EF4-FFF2-40B4-BE49-F238E27FC236}">
                <a16:creationId xmlns:a16="http://schemas.microsoft.com/office/drawing/2014/main" id="{ED257283-6883-63F6-C019-2B022E6A72EC}"/>
              </a:ext>
            </a:extLst>
          </p:cNvPr>
          <p:cNvCxnSpPr>
            <a:cxnSpLocks/>
          </p:cNvCxnSpPr>
          <p:nvPr/>
        </p:nvCxnSpPr>
        <p:spPr>
          <a:xfrm>
            <a:off x="221942" y="2008258"/>
            <a:ext cx="358958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17" name="Isosceles Triangle 16">
            <a:extLst>
              <a:ext uri="{FF2B5EF4-FFF2-40B4-BE49-F238E27FC236}">
                <a16:creationId xmlns:a16="http://schemas.microsoft.com/office/drawing/2014/main" id="{502F82AD-8F17-F199-20E6-1D01C9D8E691}"/>
              </a:ext>
            </a:extLst>
          </p:cNvPr>
          <p:cNvSpPr>
            <a:spLocks noChangeAspect="1"/>
          </p:cNvSpPr>
          <p:nvPr/>
        </p:nvSpPr>
        <p:spPr>
          <a:xfrm rot="10800000">
            <a:off x="1002492" y="3175887"/>
            <a:ext cx="2028489" cy="989541"/>
          </a:xfrm>
          <a:prstGeom prst="triangle">
            <a:avLst>
              <a:gd name="adj" fmla="val 49823"/>
            </a:avLst>
          </a:prstGeom>
          <a:solidFill>
            <a:srgbClr val="242852"/>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dirty="0">
              <a:solidFill>
                <a:prstClr val="white"/>
              </a:solidFill>
            </a:endParaRPr>
          </a:p>
        </p:txBody>
      </p:sp>
      <p:sp>
        <p:nvSpPr>
          <p:cNvPr id="18" name="Rectangle 17">
            <a:extLst>
              <a:ext uri="{FF2B5EF4-FFF2-40B4-BE49-F238E27FC236}">
                <a16:creationId xmlns:a16="http://schemas.microsoft.com/office/drawing/2014/main" id="{9F4229BC-83CF-9FBA-CE68-B590A01DA933}"/>
              </a:ext>
            </a:extLst>
          </p:cNvPr>
          <p:cNvSpPr>
            <a:spLocks noChangeAspect="1"/>
          </p:cNvSpPr>
          <p:nvPr/>
        </p:nvSpPr>
        <p:spPr>
          <a:xfrm>
            <a:off x="1431114" y="3168658"/>
            <a:ext cx="1171244" cy="557374"/>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b="1" dirty="0">
                <a:solidFill>
                  <a:prstClr val="white"/>
                </a:solidFill>
              </a:rPr>
              <a:t>25</a:t>
            </a:r>
          </a:p>
          <a:p>
            <a:pPr algn="ctr"/>
            <a:r>
              <a:rPr lang="en-US" sz="1100" b="1" dirty="0">
                <a:solidFill>
                  <a:prstClr val="white"/>
                </a:solidFill>
              </a:rPr>
              <a:t>Phone Screens</a:t>
            </a:r>
          </a:p>
        </p:txBody>
      </p:sp>
      <p:sp>
        <p:nvSpPr>
          <p:cNvPr id="19" name="Isosceles Triangle 18">
            <a:extLst>
              <a:ext uri="{FF2B5EF4-FFF2-40B4-BE49-F238E27FC236}">
                <a16:creationId xmlns:a16="http://schemas.microsoft.com/office/drawing/2014/main" id="{3B4FB252-7508-341F-1354-8BD82D35C8C6}"/>
              </a:ext>
            </a:extLst>
          </p:cNvPr>
          <p:cNvSpPr>
            <a:spLocks noChangeAspect="1"/>
          </p:cNvSpPr>
          <p:nvPr/>
        </p:nvSpPr>
        <p:spPr>
          <a:xfrm rot="10800000">
            <a:off x="1094696" y="4189906"/>
            <a:ext cx="1844081" cy="899583"/>
          </a:xfrm>
          <a:prstGeom prst="triangle">
            <a:avLst>
              <a:gd name="adj" fmla="val 49823"/>
            </a:avLst>
          </a:prstGeom>
          <a:solidFill>
            <a:srgbClr val="242852"/>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dirty="0">
              <a:solidFill>
                <a:prstClr val="white"/>
              </a:solidFill>
            </a:endParaRPr>
          </a:p>
        </p:txBody>
      </p:sp>
      <p:sp>
        <p:nvSpPr>
          <p:cNvPr id="20" name="Rectangle 19">
            <a:extLst>
              <a:ext uri="{FF2B5EF4-FFF2-40B4-BE49-F238E27FC236}">
                <a16:creationId xmlns:a16="http://schemas.microsoft.com/office/drawing/2014/main" id="{C946773E-2C93-EE87-C3C5-FC6C5765414B}"/>
              </a:ext>
            </a:extLst>
          </p:cNvPr>
          <p:cNvSpPr>
            <a:spLocks noChangeAspect="1"/>
          </p:cNvSpPr>
          <p:nvPr/>
        </p:nvSpPr>
        <p:spPr>
          <a:xfrm>
            <a:off x="1431114" y="4191730"/>
            <a:ext cx="1171244" cy="557374"/>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prstClr val="white"/>
                </a:solidFill>
              </a:rPr>
              <a:t>14</a:t>
            </a:r>
          </a:p>
          <a:p>
            <a:pPr algn="ctr"/>
            <a:r>
              <a:rPr lang="en-US" sz="1050" b="1" dirty="0">
                <a:solidFill>
                  <a:prstClr val="white"/>
                </a:solidFill>
              </a:rPr>
              <a:t>1</a:t>
            </a:r>
            <a:r>
              <a:rPr lang="en-US" sz="1050" b="1" baseline="30000" dirty="0">
                <a:solidFill>
                  <a:prstClr val="white"/>
                </a:solidFill>
              </a:rPr>
              <a:t>st</a:t>
            </a:r>
            <a:r>
              <a:rPr lang="en-US" sz="1050" b="1" dirty="0">
                <a:solidFill>
                  <a:prstClr val="white"/>
                </a:solidFill>
              </a:rPr>
              <a:t> Round</a:t>
            </a:r>
          </a:p>
          <a:p>
            <a:pPr algn="ctr"/>
            <a:r>
              <a:rPr lang="en-US" sz="1050" b="1" dirty="0">
                <a:solidFill>
                  <a:prstClr val="white"/>
                </a:solidFill>
              </a:rPr>
              <a:t>Calls</a:t>
            </a:r>
          </a:p>
        </p:txBody>
      </p:sp>
      <p:sp>
        <p:nvSpPr>
          <p:cNvPr id="21" name="Isosceles Triangle 20">
            <a:extLst>
              <a:ext uri="{FF2B5EF4-FFF2-40B4-BE49-F238E27FC236}">
                <a16:creationId xmlns:a16="http://schemas.microsoft.com/office/drawing/2014/main" id="{5104AF07-A836-0219-8DB8-EC99B4EE2442}"/>
              </a:ext>
            </a:extLst>
          </p:cNvPr>
          <p:cNvSpPr>
            <a:spLocks noChangeAspect="1"/>
          </p:cNvSpPr>
          <p:nvPr/>
        </p:nvSpPr>
        <p:spPr>
          <a:xfrm rot="10800000">
            <a:off x="1178518" y="5109384"/>
            <a:ext cx="1676437" cy="817803"/>
          </a:xfrm>
          <a:prstGeom prst="triangle">
            <a:avLst>
              <a:gd name="adj" fmla="val 49823"/>
            </a:avLst>
          </a:prstGeom>
          <a:solidFill>
            <a:srgbClr val="242852"/>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dirty="0">
              <a:solidFill>
                <a:prstClr val="white"/>
              </a:solidFill>
            </a:endParaRPr>
          </a:p>
        </p:txBody>
      </p:sp>
      <p:sp>
        <p:nvSpPr>
          <p:cNvPr id="22" name="Rectangle 21">
            <a:extLst>
              <a:ext uri="{FF2B5EF4-FFF2-40B4-BE49-F238E27FC236}">
                <a16:creationId xmlns:a16="http://schemas.microsoft.com/office/drawing/2014/main" id="{FC13F2B8-FEAB-CDF7-3FF6-623B336F986F}"/>
              </a:ext>
            </a:extLst>
          </p:cNvPr>
          <p:cNvSpPr>
            <a:spLocks noChangeAspect="1"/>
          </p:cNvSpPr>
          <p:nvPr/>
        </p:nvSpPr>
        <p:spPr>
          <a:xfrm>
            <a:off x="1532751" y="5109384"/>
            <a:ext cx="967970" cy="460640"/>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b="1" dirty="0">
                <a:solidFill>
                  <a:prstClr val="white"/>
                </a:solidFill>
              </a:rPr>
              <a:t>8</a:t>
            </a:r>
          </a:p>
          <a:p>
            <a:pPr algn="ctr"/>
            <a:r>
              <a:rPr lang="en-US" sz="1000" b="1" dirty="0">
                <a:solidFill>
                  <a:prstClr val="white"/>
                </a:solidFill>
              </a:rPr>
              <a:t>Case Studies</a:t>
            </a:r>
          </a:p>
        </p:txBody>
      </p:sp>
      <p:sp>
        <p:nvSpPr>
          <p:cNvPr id="23" name="Isosceles Triangle 22">
            <a:extLst>
              <a:ext uri="{FF2B5EF4-FFF2-40B4-BE49-F238E27FC236}">
                <a16:creationId xmlns:a16="http://schemas.microsoft.com/office/drawing/2014/main" id="{1612B02E-C4EA-AE26-F4D2-292877DB4BB7}"/>
              </a:ext>
            </a:extLst>
          </p:cNvPr>
          <p:cNvSpPr>
            <a:spLocks noChangeAspect="1"/>
          </p:cNvSpPr>
          <p:nvPr/>
        </p:nvSpPr>
        <p:spPr>
          <a:xfrm rot="10800000">
            <a:off x="1254719" y="5965188"/>
            <a:ext cx="1524034" cy="743457"/>
          </a:xfrm>
          <a:prstGeom prst="triangle">
            <a:avLst>
              <a:gd name="adj" fmla="val 49823"/>
            </a:avLst>
          </a:prstGeom>
          <a:solidFill>
            <a:srgbClr val="242852"/>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dirty="0">
              <a:solidFill>
                <a:prstClr val="white"/>
              </a:solidFill>
            </a:endParaRPr>
          </a:p>
        </p:txBody>
      </p:sp>
      <p:sp>
        <p:nvSpPr>
          <p:cNvPr id="24" name="Rectangle 23">
            <a:extLst>
              <a:ext uri="{FF2B5EF4-FFF2-40B4-BE49-F238E27FC236}">
                <a16:creationId xmlns:a16="http://schemas.microsoft.com/office/drawing/2014/main" id="{F2DA7D78-6C2D-BD5D-B04F-CF7D31787498}"/>
              </a:ext>
            </a:extLst>
          </p:cNvPr>
          <p:cNvSpPr>
            <a:spLocks noChangeAspect="1"/>
          </p:cNvSpPr>
          <p:nvPr/>
        </p:nvSpPr>
        <p:spPr>
          <a:xfrm>
            <a:off x="1532751" y="5965188"/>
            <a:ext cx="967970" cy="460640"/>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b="1" dirty="0">
                <a:solidFill>
                  <a:prstClr val="white"/>
                </a:solidFill>
              </a:rPr>
              <a:t>3</a:t>
            </a:r>
          </a:p>
          <a:p>
            <a:pPr algn="ctr"/>
            <a:r>
              <a:rPr lang="en-US" sz="900" b="1" dirty="0">
                <a:solidFill>
                  <a:prstClr val="white"/>
                </a:solidFill>
              </a:rPr>
              <a:t>Final Round Interviews</a:t>
            </a:r>
          </a:p>
        </p:txBody>
      </p:sp>
      <p:sp>
        <p:nvSpPr>
          <p:cNvPr id="37" name="Arrow: Curved Left 36">
            <a:extLst>
              <a:ext uri="{FF2B5EF4-FFF2-40B4-BE49-F238E27FC236}">
                <a16:creationId xmlns:a16="http://schemas.microsoft.com/office/drawing/2014/main" id="{4E4F5F98-3425-74AE-0495-B3E8653097F1}"/>
              </a:ext>
            </a:extLst>
          </p:cNvPr>
          <p:cNvSpPr/>
          <p:nvPr/>
        </p:nvSpPr>
        <p:spPr>
          <a:xfrm flipH="1">
            <a:off x="5253202" y="2388397"/>
            <a:ext cx="1457812" cy="3416094"/>
          </a:xfrm>
          <a:prstGeom prst="curvedLeftArrow">
            <a:avLst>
              <a:gd name="adj1" fmla="val 19701"/>
              <a:gd name="adj2" fmla="val 35963"/>
              <a:gd name="adj3" fmla="val 25000"/>
            </a:avLst>
          </a:prstGeom>
          <a:solidFill>
            <a:srgbClr val="0E58C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9" name="Isosceles Triangle 28">
            <a:extLst>
              <a:ext uri="{FF2B5EF4-FFF2-40B4-BE49-F238E27FC236}">
                <a16:creationId xmlns:a16="http://schemas.microsoft.com/office/drawing/2014/main" id="{CD023362-AEE2-4528-F1FD-913E826C1EBD}"/>
              </a:ext>
            </a:extLst>
          </p:cNvPr>
          <p:cNvSpPr>
            <a:spLocks noChangeAspect="1"/>
          </p:cNvSpPr>
          <p:nvPr/>
        </p:nvSpPr>
        <p:spPr>
          <a:xfrm rot="10800000">
            <a:off x="6202876" y="4189906"/>
            <a:ext cx="1844081" cy="899583"/>
          </a:xfrm>
          <a:prstGeom prst="triangle">
            <a:avLst>
              <a:gd name="adj" fmla="val 49823"/>
            </a:avLst>
          </a:prstGeom>
          <a:solidFill>
            <a:schemeClr val="bg2">
              <a:lumMod val="50000"/>
            </a:schemeClr>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dirty="0">
              <a:solidFill>
                <a:prstClr val="white"/>
              </a:solidFill>
            </a:endParaRPr>
          </a:p>
        </p:txBody>
      </p:sp>
      <p:sp>
        <p:nvSpPr>
          <p:cNvPr id="9" name="Rectangle 8">
            <a:extLst>
              <a:ext uri="{FF2B5EF4-FFF2-40B4-BE49-F238E27FC236}">
                <a16:creationId xmlns:a16="http://schemas.microsoft.com/office/drawing/2014/main" id="{5FA10C69-1942-C9EA-AE11-CE596CE8DF31}"/>
              </a:ext>
            </a:extLst>
          </p:cNvPr>
          <p:cNvSpPr>
            <a:spLocks noChangeAspect="1"/>
          </p:cNvSpPr>
          <p:nvPr/>
        </p:nvSpPr>
        <p:spPr>
          <a:xfrm>
            <a:off x="6539295" y="4191730"/>
            <a:ext cx="1171244" cy="557374"/>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b="1" dirty="0">
                <a:solidFill>
                  <a:prstClr val="white"/>
                </a:solidFill>
              </a:rPr>
              <a:t>15</a:t>
            </a:r>
          </a:p>
          <a:p>
            <a:pPr algn="ctr"/>
            <a:r>
              <a:rPr lang="en-US" sz="1050" b="1" dirty="0">
                <a:solidFill>
                  <a:prstClr val="white"/>
                </a:solidFill>
              </a:rPr>
              <a:t>1</a:t>
            </a:r>
            <a:r>
              <a:rPr lang="en-US" sz="1050" b="1" baseline="30000" dirty="0">
                <a:solidFill>
                  <a:prstClr val="white"/>
                </a:solidFill>
              </a:rPr>
              <a:t>st</a:t>
            </a:r>
            <a:r>
              <a:rPr lang="en-US" sz="1050" b="1" dirty="0">
                <a:solidFill>
                  <a:prstClr val="white"/>
                </a:solidFill>
              </a:rPr>
              <a:t> Round</a:t>
            </a:r>
          </a:p>
          <a:p>
            <a:pPr algn="ctr"/>
            <a:r>
              <a:rPr lang="en-US" sz="1050" b="1" dirty="0">
                <a:solidFill>
                  <a:prstClr val="white"/>
                </a:solidFill>
              </a:rPr>
              <a:t>Calls</a:t>
            </a:r>
          </a:p>
        </p:txBody>
      </p:sp>
      <p:sp>
        <p:nvSpPr>
          <p:cNvPr id="27" name="Isosceles Triangle 26">
            <a:extLst>
              <a:ext uri="{FF2B5EF4-FFF2-40B4-BE49-F238E27FC236}">
                <a16:creationId xmlns:a16="http://schemas.microsoft.com/office/drawing/2014/main" id="{AA10D234-DA8C-1A5A-9C5B-4554CB8DA549}"/>
              </a:ext>
            </a:extLst>
          </p:cNvPr>
          <p:cNvSpPr>
            <a:spLocks noChangeAspect="1"/>
          </p:cNvSpPr>
          <p:nvPr/>
        </p:nvSpPr>
        <p:spPr>
          <a:xfrm rot="10800000">
            <a:off x="6110672" y="3175887"/>
            <a:ext cx="2028489" cy="989541"/>
          </a:xfrm>
          <a:prstGeom prst="triangle">
            <a:avLst>
              <a:gd name="adj" fmla="val 49823"/>
            </a:avLst>
          </a:prstGeom>
          <a:solidFill>
            <a:schemeClr val="bg2">
              <a:lumMod val="50000"/>
            </a:schemeClr>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dirty="0">
              <a:solidFill>
                <a:prstClr val="white"/>
              </a:solidFill>
            </a:endParaRPr>
          </a:p>
        </p:txBody>
      </p:sp>
      <p:sp>
        <p:nvSpPr>
          <p:cNvPr id="7" name="Rectangle 6">
            <a:extLst>
              <a:ext uri="{FF2B5EF4-FFF2-40B4-BE49-F238E27FC236}">
                <a16:creationId xmlns:a16="http://schemas.microsoft.com/office/drawing/2014/main" id="{8B2ED635-FC3F-1378-A391-571F3FAB64AD}"/>
              </a:ext>
            </a:extLst>
          </p:cNvPr>
          <p:cNvSpPr>
            <a:spLocks noChangeAspect="1"/>
          </p:cNvSpPr>
          <p:nvPr/>
        </p:nvSpPr>
        <p:spPr>
          <a:xfrm>
            <a:off x="6539295" y="3168658"/>
            <a:ext cx="1171244" cy="557374"/>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b="1" dirty="0">
                <a:solidFill>
                  <a:prstClr val="white"/>
                </a:solidFill>
              </a:rPr>
              <a:t>20</a:t>
            </a:r>
          </a:p>
          <a:p>
            <a:pPr algn="ctr"/>
            <a:r>
              <a:rPr lang="en-US" sz="1100" b="1" dirty="0">
                <a:solidFill>
                  <a:prstClr val="white"/>
                </a:solidFill>
              </a:rPr>
              <a:t>Phone Screens</a:t>
            </a:r>
          </a:p>
        </p:txBody>
      </p:sp>
      <p:sp>
        <p:nvSpPr>
          <p:cNvPr id="14" name="Rectangle 13">
            <a:extLst>
              <a:ext uri="{FF2B5EF4-FFF2-40B4-BE49-F238E27FC236}">
                <a16:creationId xmlns:a16="http://schemas.microsoft.com/office/drawing/2014/main" id="{999ECFCD-85C8-5D02-B914-C8F4CF23AF8B}"/>
              </a:ext>
            </a:extLst>
          </p:cNvPr>
          <p:cNvSpPr/>
          <p:nvPr/>
        </p:nvSpPr>
        <p:spPr>
          <a:xfrm>
            <a:off x="5493287" y="1608208"/>
            <a:ext cx="3263260" cy="45820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Direct Sourcing</a:t>
            </a:r>
          </a:p>
        </p:txBody>
      </p:sp>
      <p:cxnSp>
        <p:nvCxnSpPr>
          <p:cNvPr id="15" name="Straight Connector 14">
            <a:extLst>
              <a:ext uri="{FF2B5EF4-FFF2-40B4-BE49-F238E27FC236}">
                <a16:creationId xmlns:a16="http://schemas.microsoft.com/office/drawing/2014/main" id="{E69E8775-3D05-9DE6-3094-AFC2239744FF}"/>
              </a:ext>
            </a:extLst>
          </p:cNvPr>
          <p:cNvCxnSpPr>
            <a:cxnSpLocks/>
          </p:cNvCxnSpPr>
          <p:nvPr/>
        </p:nvCxnSpPr>
        <p:spPr>
          <a:xfrm>
            <a:off x="5330125" y="2008258"/>
            <a:ext cx="358958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sp>
        <p:nvSpPr>
          <p:cNvPr id="25" name="Isosceles Triangle 24">
            <a:extLst>
              <a:ext uri="{FF2B5EF4-FFF2-40B4-BE49-F238E27FC236}">
                <a16:creationId xmlns:a16="http://schemas.microsoft.com/office/drawing/2014/main" id="{99E7B87F-D665-646E-577C-2AE240B55381}"/>
              </a:ext>
            </a:extLst>
          </p:cNvPr>
          <p:cNvSpPr>
            <a:spLocks noChangeAspect="1"/>
          </p:cNvSpPr>
          <p:nvPr/>
        </p:nvSpPr>
        <p:spPr>
          <a:xfrm rot="10800000">
            <a:off x="6009248" y="2044921"/>
            <a:ext cx="2231338" cy="1088495"/>
          </a:xfrm>
          <a:prstGeom prst="triangle">
            <a:avLst>
              <a:gd name="adj" fmla="val 49823"/>
            </a:avLst>
          </a:prstGeom>
          <a:solidFill>
            <a:schemeClr val="bg2">
              <a:lumMod val="50000"/>
            </a:schemeClr>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dirty="0">
              <a:solidFill>
                <a:prstClr val="white"/>
              </a:solidFill>
            </a:endParaRPr>
          </a:p>
        </p:txBody>
      </p:sp>
      <p:sp>
        <p:nvSpPr>
          <p:cNvPr id="26" name="Rectangle 25">
            <a:extLst>
              <a:ext uri="{FF2B5EF4-FFF2-40B4-BE49-F238E27FC236}">
                <a16:creationId xmlns:a16="http://schemas.microsoft.com/office/drawing/2014/main" id="{003DEC35-2324-AC6D-5D7A-04A5DCCB6DA2}"/>
              </a:ext>
            </a:extLst>
          </p:cNvPr>
          <p:cNvSpPr>
            <a:spLocks noChangeAspect="1"/>
          </p:cNvSpPr>
          <p:nvPr/>
        </p:nvSpPr>
        <p:spPr>
          <a:xfrm>
            <a:off x="6480732" y="2044921"/>
            <a:ext cx="1288368" cy="613111"/>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400" b="1" dirty="0">
                <a:solidFill>
                  <a:prstClr val="white"/>
                </a:solidFill>
              </a:rPr>
              <a:t>190</a:t>
            </a:r>
            <a:endParaRPr lang="en-US" b="1" dirty="0">
              <a:solidFill>
                <a:prstClr val="white"/>
              </a:solidFill>
            </a:endParaRPr>
          </a:p>
          <a:p>
            <a:pPr algn="ctr"/>
            <a:r>
              <a:rPr lang="en-US" sz="1200" b="1" dirty="0">
                <a:solidFill>
                  <a:prstClr val="white"/>
                </a:solidFill>
              </a:rPr>
              <a:t>Prospects</a:t>
            </a:r>
            <a:endParaRPr lang="en-US" sz="1600" b="1" dirty="0">
              <a:solidFill>
                <a:prstClr val="white"/>
              </a:solidFill>
            </a:endParaRPr>
          </a:p>
        </p:txBody>
      </p:sp>
      <p:sp>
        <p:nvSpPr>
          <p:cNvPr id="31" name="Isosceles Triangle 30">
            <a:extLst>
              <a:ext uri="{FF2B5EF4-FFF2-40B4-BE49-F238E27FC236}">
                <a16:creationId xmlns:a16="http://schemas.microsoft.com/office/drawing/2014/main" id="{4E5AE3A4-FDB0-6ABF-BA38-26253681EDBF}"/>
              </a:ext>
            </a:extLst>
          </p:cNvPr>
          <p:cNvSpPr>
            <a:spLocks noChangeAspect="1"/>
          </p:cNvSpPr>
          <p:nvPr/>
        </p:nvSpPr>
        <p:spPr>
          <a:xfrm rot="10800000">
            <a:off x="6286698" y="5109384"/>
            <a:ext cx="1676437" cy="817803"/>
          </a:xfrm>
          <a:prstGeom prst="triangle">
            <a:avLst>
              <a:gd name="adj" fmla="val 49823"/>
            </a:avLst>
          </a:prstGeom>
          <a:solidFill>
            <a:schemeClr val="bg2">
              <a:lumMod val="50000"/>
            </a:schemeClr>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dirty="0">
              <a:solidFill>
                <a:prstClr val="white"/>
              </a:solidFill>
            </a:endParaRPr>
          </a:p>
        </p:txBody>
      </p:sp>
      <p:sp>
        <p:nvSpPr>
          <p:cNvPr id="32" name="Rectangle 31">
            <a:extLst>
              <a:ext uri="{FF2B5EF4-FFF2-40B4-BE49-F238E27FC236}">
                <a16:creationId xmlns:a16="http://schemas.microsoft.com/office/drawing/2014/main" id="{2D57512C-7521-EC31-14DD-D5554D4DE015}"/>
              </a:ext>
            </a:extLst>
          </p:cNvPr>
          <p:cNvSpPr>
            <a:spLocks noChangeAspect="1"/>
          </p:cNvSpPr>
          <p:nvPr/>
        </p:nvSpPr>
        <p:spPr>
          <a:xfrm>
            <a:off x="6592533" y="5109384"/>
            <a:ext cx="1064767" cy="506704"/>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b="1" dirty="0">
                <a:solidFill>
                  <a:prstClr val="white"/>
                </a:solidFill>
              </a:rPr>
              <a:t>7</a:t>
            </a:r>
          </a:p>
          <a:p>
            <a:pPr algn="ctr"/>
            <a:r>
              <a:rPr lang="en-US" sz="1000" b="1" dirty="0">
                <a:solidFill>
                  <a:prstClr val="white"/>
                </a:solidFill>
              </a:rPr>
              <a:t>Case Studies</a:t>
            </a:r>
            <a:r>
              <a:rPr lang="en-US" sz="1000" b="1" baseline="30000" dirty="0">
                <a:solidFill>
                  <a:prstClr val="white"/>
                </a:solidFill>
              </a:rPr>
              <a:t>1</a:t>
            </a:r>
          </a:p>
        </p:txBody>
      </p:sp>
      <p:sp>
        <p:nvSpPr>
          <p:cNvPr id="33" name="Isosceles Triangle 32">
            <a:extLst>
              <a:ext uri="{FF2B5EF4-FFF2-40B4-BE49-F238E27FC236}">
                <a16:creationId xmlns:a16="http://schemas.microsoft.com/office/drawing/2014/main" id="{2B0ACCC1-2D03-7754-F78F-28614AD31455}"/>
              </a:ext>
            </a:extLst>
          </p:cNvPr>
          <p:cNvSpPr>
            <a:spLocks noChangeAspect="1"/>
          </p:cNvSpPr>
          <p:nvPr/>
        </p:nvSpPr>
        <p:spPr>
          <a:xfrm rot="10800000">
            <a:off x="6362899" y="5965188"/>
            <a:ext cx="1524034" cy="743457"/>
          </a:xfrm>
          <a:prstGeom prst="triangle">
            <a:avLst>
              <a:gd name="adj" fmla="val 49823"/>
            </a:avLst>
          </a:prstGeom>
          <a:solidFill>
            <a:schemeClr val="bg2">
              <a:lumMod val="50000"/>
            </a:schemeClr>
          </a:solid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dirty="0">
              <a:solidFill>
                <a:prstClr val="white"/>
              </a:solidFill>
            </a:endParaRPr>
          </a:p>
        </p:txBody>
      </p:sp>
      <p:sp>
        <p:nvSpPr>
          <p:cNvPr id="34" name="Rectangle 33">
            <a:extLst>
              <a:ext uri="{FF2B5EF4-FFF2-40B4-BE49-F238E27FC236}">
                <a16:creationId xmlns:a16="http://schemas.microsoft.com/office/drawing/2014/main" id="{19B5CAA4-FEDE-387E-3EE5-680A33C627BE}"/>
              </a:ext>
            </a:extLst>
          </p:cNvPr>
          <p:cNvSpPr>
            <a:spLocks noChangeAspect="1"/>
          </p:cNvSpPr>
          <p:nvPr/>
        </p:nvSpPr>
        <p:spPr>
          <a:xfrm>
            <a:off x="6640931" y="5965188"/>
            <a:ext cx="967970" cy="460640"/>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b="1" dirty="0">
                <a:solidFill>
                  <a:prstClr val="white"/>
                </a:solidFill>
              </a:rPr>
              <a:t>TBD</a:t>
            </a:r>
          </a:p>
          <a:p>
            <a:pPr algn="ctr"/>
            <a:r>
              <a:rPr lang="en-US" sz="900" b="1" dirty="0">
                <a:solidFill>
                  <a:prstClr val="white"/>
                </a:solidFill>
              </a:rPr>
              <a:t>Final Round Interviews</a:t>
            </a:r>
          </a:p>
        </p:txBody>
      </p:sp>
      <p:sp>
        <p:nvSpPr>
          <p:cNvPr id="10" name="TextBox 9">
            <a:extLst>
              <a:ext uri="{FF2B5EF4-FFF2-40B4-BE49-F238E27FC236}">
                <a16:creationId xmlns:a16="http://schemas.microsoft.com/office/drawing/2014/main" id="{B9FA646D-5A81-1C91-EBA3-9B7FEB2A7D89}"/>
              </a:ext>
            </a:extLst>
          </p:cNvPr>
          <p:cNvSpPr txBox="1"/>
          <p:nvPr/>
        </p:nvSpPr>
        <p:spPr>
          <a:xfrm>
            <a:off x="2542808" y="6586525"/>
            <a:ext cx="4058385" cy="215444"/>
          </a:xfrm>
          <a:prstGeom prst="rect">
            <a:avLst/>
          </a:prstGeom>
          <a:noFill/>
        </p:spPr>
        <p:txBody>
          <a:bodyPr wrap="square" rtlCol="0">
            <a:spAutoFit/>
          </a:bodyPr>
          <a:lstStyle/>
          <a:p>
            <a:pPr algn="ctr"/>
            <a:r>
              <a:rPr lang="en-US" sz="800" dirty="0"/>
              <a:t>1. One candidate dropped out of the process due to receiving a competing offer</a:t>
            </a:r>
          </a:p>
        </p:txBody>
      </p:sp>
      <p:sp>
        <p:nvSpPr>
          <p:cNvPr id="3" name="Rectangle: Diagonal Corners Snipped 2">
            <a:extLst>
              <a:ext uri="{FF2B5EF4-FFF2-40B4-BE49-F238E27FC236}">
                <a16:creationId xmlns:a16="http://schemas.microsoft.com/office/drawing/2014/main" id="{C69DE5F2-E2EF-8FF4-99AA-8010322F25F9}"/>
              </a:ext>
            </a:extLst>
          </p:cNvPr>
          <p:cNvSpPr/>
          <p:nvPr/>
        </p:nvSpPr>
        <p:spPr>
          <a:xfrm>
            <a:off x="3030981" y="3760235"/>
            <a:ext cx="1437462" cy="672418"/>
          </a:xfrm>
          <a:prstGeom prst="snip2DiagRect">
            <a:avLst/>
          </a:prstGeom>
          <a:solidFill>
            <a:srgbClr val="24285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2.3%</a:t>
            </a:r>
          </a:p>
          <a:p>
            <a:pPr algn="ctr"/>
            <a:r>
              <a:rPr lang="en-US" sz="800" b="1" dirty="0">
                <a:solidFill>
                  <a:schemeClr val="bg1"/>
                </a:solidFill>
              </a:rPr>
              <a:t>Applicant-to-Case Study Conversion Rate</a:t>
            </a:r>
          </a:p>
        </p:txBody>
      </p:sp>
      <p:sp>
        <p:nvSpPr>
          <p:cNvPr id="38" name="Rectangle: Diagonal Corners Snipped 37">
            <a:extLst>
              <a:ext uri="{FF2B5EF4-FFF2-40B4-BE49-F238E27FC236}">
                <a16:creationId xmlns:a16="http://schemas.microsoft.com/office/drawing/2014/main" id="{CBC31A20-C991-4CDE-1B5B-F4A7017DA64B}"/>
              </a:ext>
            </a:extLst>
          </p:cNvPr>
          <p:cNvSpPr/>
          <p:nvPr/>
        </p:nvSpPr>
        <p:spPr>
          <a:xfrm>
            <a:off x="4734352" y="3760235"/>
            <a:ext cx="1437462" cy="672418"/>
          </a:xfrm>
          <a:prstGeom prst="snip2DiagRect">
            <a:avLst/>
          </a:prstGeom>
          <a:solidFill>
            <a:srgbClr val="0E58C4"/>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3.7%</a:t>
            </a:r>
          </a:p>
          <a:p>
            <a:pPr algn="ctr"/>
            <a:r>
              <a:rPr lang="en-US" sz="800" b="1" dirty="0">
                <a:solidFill>
                  <a:schemeClr val="bg1"/>
                </a:solidFill>
              </a:rPr>
              <a:t>Prospect-to-Case Study Conversion Rate</a:t>
            </a:r>
            <a:r>
              <a:rPr lang="en-US" sz="800" b="1" baseline="30000" dirty="0">
                <a:solidFill>
                  <a:schemeClr val="bg1"/>
                </a:solidFill>
              </a:rPr>
              <a:t>1</a:t>
            </a:r>
          </a:p>
        </p:txBody>
      </p:sp>
    </p:spTree>
    <p:extLst>
      <p:ext uri="{BB962C8B-B14F-4D97-AF65-F5344CB8AC3E}">
        <p14:creationId xmlns:p14="http://schemas.microsoft.com/office/powerpoint/2010/main" val="80292769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9644B0-D701-31A2-AB9E-25658BE85D1D}"/>
              </a:ext>
            </a:extLst>
          </p:cNvPr>
          <p:cNvSpPr txBox="1"/>
          <p:nvPr/>
        </p:nvSpPr>
        <p:spPr>
          <a:xfrm>
            <a:off x="3302236" y="6548922"/>
            <a:ext cx="2539529" cy="307777"/>
          </a:xfrm>
          <a:prstGeom prst="rect">
            <a:avLst/>
          </a:prstGeom>
          <a:noFill/>
        </p:spPr>
        <p:txBody>
          <a:bodyPr wrap="square" rtlCol="0">
            <a:spAutoFit/>
          </a:bodyPr>
          <a:lstStyle/>
          <a:p>
            <a:pPr algn="ctr"/>
            <a:r>
              <a:rPr lang="en-US" sz="1400" b="1" i="1" dirty="0">
                <a:solidFill>
                  <a:srgbClr val="C00000"/>
                </a:solidFill>
                <a:latin typeface="+mj-lt"/>
              </a:rPr>
              <a:t>Confidential</a:t>
            </a:r>
            <a:endParaRPr lang="en-US" sz="1050" i="1" dirty="0">
              <a:solidFill>
                <a:srgbClr val="C00000"/>
              </a:solidFill>
              <a:latin typeface="+mj-lt"/>
            </a:endParaRPr>
          </a:p>
        </p:txBody>
      </p:sp>
    </p:spTree>
    <p:extLst>
      <p:ext uri="{BB962C8B-B14F-4D97-AF65-F5344CB8AC3E}">
        <p14:creationId xmlns:p14="http://schemas.microsoft.com/office/powerpoint/2010/main" val="89932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EE28B1C-2498-B33C-68E5-CA0960C845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D1431A-EE40-79BF-BE85-02A4468D1BD3}"/>
              </a:ext>
            </a:extLst>
          </p:cNvPr>
          <p:cNvSpPr>
            <a:spLocks noGrp="1"/>
          </p:cNvSpPr>
          <p:nvPr>
            <p:ph type="title"/>
          </p:nvPr>
        </p:nvSpPr>
        <p:spPr/>
        <p:txBody>
          <a:bodyPr>
            <a:normAutofit/>
          </a:bodyPr>
          <a:lstStyle/>
          <a:p>
            <a:r>
              <a:rPr lang="en-US" dirty="0"/>
              <a:t>Legal Due Diligence</a:t>
            </a:r>
          </a:p>
        </p:txBody>
      </p:sp>
      <p:sp>
        <p:nvSpPr>
          <p:cNvPr id="9" name="Slide Number Placeholder 8">
            <a:extLst>
              <a:ext uri="{FF2B5EF4-FFF2-40B4-BE49-F238E27FC236}">
                <a16:creationId xmlns:a16="http://schemas.microsoft.com/office/drawing/2014/main" id="{DDB704DF-AF7D-50F8-FB44-FA90E679C0B7}"/>
              </a:ext>
            </a:extLst>
          </p:cNvPr>
          <p:cNvSpPr>
            <a:spLocks noGrp="1"/>
          </p:cNvSpPr>
          <p:nvPr>
            <p:ph type="sldNum" sz="quarter" idx="12"/>
          </p:nvPr>
        </p:nvSpPr>
        <p:spPr/>
        <p:txBody>
          <a:bodyPr/>
          <a:lstStyle/>
          <a:p>
            <a:fld id="{F8DDDAE5-3BDD-4D78-843B-A22FA78305BB}" type="slidenum">
              <a:rPr lang="en-US" smtClean="0"/>
              <a:t>68</a:t>
            </a:fld>
            <a:endParaRPr lang="en-US" dirty="0"/>
          </a:p>
        </p:txBody>
      </p:sp>
      <p:sp>
        <p:nvSpPr>
          <p:cNvPr id="3" name="TextBox 2">
            <a:extLst>
              <a:ext uri="{FF2B5EF4-FFF2-40B4-BE49-F238E27FC236}">
                <a16:creationId xmlns:a16="http://schemas.microsoft.com/office/drawing/2014/main" id="{DF93C52B-8300-7E06-60DF-3E03BB682D5A}"/>
              </a:ext>
            </a:extLst>
          </p:cNvPr>
          <p:cNvSpPr txBox="1"/>
          <p:nvPr/>
        </p:nvSpPr>
        <p:spPr>
          <a:xfrm>
            <a:off x="228600" y="981789"/>
            <a:ext cx="8686800" cy="461665"/>
          </a:xfrm>
          <a:prstGeom prst="rect">
            <a:avLst/>
          </a:prstGeom>
          <a:noFill/>
        </p:spPr>
        <p:txBody>
          <a:bodyPr wrap="square" rtlCol="0">
            <a:spAutoFit/>
          </a:bodyPr>
          <a:lstStyle/>
          <a:p>
            <a:pPr>
              <a:spcBef>
                <a:spcPts val="300"/>
              </a:spcBef>
              <a:spcAft>
                <a:spcPts val="300"/>
              </a:spcAft>
            </a:pPr>
            <a:r>
              <a:rPr lang="en-US" sz="1200" dirty="0"/>
              <a:t>Mayer Brown is in process of conducting full legal due diligence. We will provide further updates upon receipt of Mayer Brown’s report. </a:t>
            </a:r>
          </a:p>
        </p:txBody>
      </p:sp>
    </p:spTree>
    <p:extLst>
      <p:ext uri="{BB962C8B-B14F-4D97-AF65-F5344CB8AC3E}">
        <p14:creationId xmlns:p14="http://schemas.microsoft.com/office/powerpoint/2010/main" val="413676643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7B0DD22-6137-6B56-C2A1-19A0EE80A7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BB82E5-90B5-02C9-C7E0-000098410D47}"/>
              </a:ext>
            </a:extLst>
          </p:cNvPr>
          <p:cNvSpPr>
            <a:spLocks noGrp="1"/>
          </p:cNvSpPr>
          <p:nvPr>
            <p:ph type="title"/>
          </p:nvPr>
        </p:nvSpPr>
        <p:spPr/>
        <p:txBody>
          <a:bodyPr>
            <a:normAutofit/>
          </a:bodyPr>
          <a:lstStyle/>
          <a:p>
            <a:r>
              <a:rPr lang="en-US" dirty="0"/>
              <a:t>Background Checks</a:t>
            </a:r>
          </a:p>
        </p:txBody>
      </p:sp>
      <p:sp>
        <p:nvSpPr>
          <p:cNvPr id="9" name="Slide Number Placeholder 8">
            <a:extLst>
              <a:ext uri="{FF2B5EF4-FFF2-40B4-BE49-F238E27FC236}">
                <a16:creationId xmlns:a16="http://schemas.microsoft.com/office/drawing/2014/main" id="{AE6B6CF2-781D-CBFC-DDAA-E708EB6CE94F}"/>
              </a:ext>
            </a:extLst>
          </p:cNvPr>
          <p:cNvSpPr>
            <a:spLocks noGrp="1"/>
          </p:cNvSpPr>
          <p:nvPr>
            <p:ph type="sldNum" sz="quarter" idx="12"/>
          </p:nvPr>
        </p:nvSpPr>
        <p:spPr/>
        <p:txBody>
          <a:bodyPr/>
          <a:lstStyle/>
          <a:p>
            <a:fld id="{F8DDDAE5-3BDD-4D78-843B-A22FA78305BB}" type="slidenum">
              <a:rPr lang="en-US" smtClean="0"/>
              <a:t>69</a:t>
            </a:fld>
            <a:endParaRPr lang="en-US" dirty="0"/>
          </a:p>
        </p:txBody>
      </p:sp>
      <p:sp>
        <p:nvSpPr>
          <p:cNvPr id="3" name="TextBox 2">
            <a:extLst>
              <a:ext uri="{FF2B5EF4-FFF2-40B4-BE49-F238E27FC236}">
                <a16:creationId xmlns:a16="http://schemas.microsoft.com/office/drawing/2014/main" id="{783E6513-EEF3-AB15-348C-1D0371BF2311}"/>
              </a:ext>
            </a:extLst>
          </p:cNvPr>
          <p:cNvSpPr txBox="1"/>
          <p:nvPr/>
        </p:nvSpPr>
        <p:spPr>
          <a:xfrm>
            <a:off x="228600" y="981789"/>
            <a:ext cx="8686800" cy="461665"/>
          </a:xfrm>
          <a:prstGeom prst="rect">
            <a:avLst/>
          </a:prstGeom>
          <a:noFill/>
        </p:spPr>
        <p:txBody>
          <a:bodyPr wrap="square" rtlCol="0">
            <a:spAutoFit/>
          </a:bodyPr>
          <a:lstStyle/>
          <a:p>
            <a:pPr>
              <a:spcBef>
                <a:spcPts val="300"/>
              </a:spcBef>
              <a:spcAft>
                <a:spcPts val="300"/>
              </a:spcAft>
            </a:pPr>
            <a:r>
              <a:rPr lang="en-US" sz="1200" dirty="0"/>
              <a:t>Northern Shore is currently awaiting the results of detailed background checks from Corporate Resolutions. We will provide further updates in the near future. </a:t>
            </a:r>
          </a:p>
        </p:txBody>
      </p:sp>
    </p:spTree>
    <p:extLst>
      <p:ext uri="{BB962C8B-B14F-4D97-AF65-F5344CB8AC3E}">
        <p14:creationId xmlns:p14="http://schemas.microsoft.com/office/powerpoint/2010/main" val="285566393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865534E-B94A-C02E-67D6-ACB736E3F6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774683-8B5E-4D11-8763-125488883C64}"/>
              </a:ext>
            </a:extLst>
          </p:cNvPr>
          <p:cNvSpPr>
            <a:spLocks noGrp="1"/>
          </p:cNvSpPr>
          <p:nvPr>
            <p:ph type="title"/>
          </p:nvPr>
        </p:nvSpPr>
        <p:spPr/>
        <p:txBody>
          <a:bodyPr>
            <a:normAutofit/>
          </a:bodyPr>
          <a:lstStyle/>
          <a:p>
            <a:r>
              <a:rPr lang="en-US" dirty="0"/>
              <a:t>Customer Calls</a:t>
            </a:r>
          </a:p>
        </p:txBody>
      </p:sp>
      <p:sp>
        <p:nvSpPr>
          <p:cNvPr id="9" name="Slide Number Placeholder 8">
            <a:extLst>
              <a:ext uri="{FF2B5EF4-FFF2-40B4-BE49-F238E27FC236}">
                <a16:creationId xmlns:a16="http://schemas.microsoft.com/office/drawing/2014/main" id="{154C83F4-54DF-C296-9CEA-67ACAA610BCD}"/>
              </a:ext>
            </a:extLst>
          </p:cNvPr>
          <p:cNvSpPr>
            <a:spLocks noGrp="1"/>
          </p:cNvSpPr>
          <p:nvPr>
            <p:ph type="sldNum" sz="quarter" idx="12"/>
          </p:nvPr>
        </p:nvSpPr>
        <p:spPr/>
        <p:txBody>
          <a:bodyPr/>
          <a:lstStyle/>
          <a:p>
            <a:fld id="{F8DDDAE5-3BDD-4D78-843B-A22FA78305BB}" type="slidenum">
              <a:rPr lang="en-US" smtClean="0"/>
              <a:t>70</a:t>
            </a:fld>
            <a:endParaRPr lang="en-US" dirty="0"/>
          </a:p>
        </p:txBody>
      </p:sp>
      <p:sp>
        <p:nvSpPr>
          <p:cNvPr id="3" name="TextBox 2">
            <a:extLst>
              <a:ext uri="{FF2B5EF4-FFF2-40B4-BE49-F238E27FC236}">
                <a16:creationId xmlns:a16="http://schemas.microsoft.com/office/drawing/2014/main" id="{14AC4594-D3E0-9C9F-F2AD-1B7CC086FB74}"/>
              </a:ext>
            </a:extLst>
          </p:cNvPr>
          <p:cNvSpPr txBox="1"/>
          <p:nvPr/>
        </p:nvSpPr>
        <p:spPr>
          <a:xfrm>
            <a:off x="228600" y="981789"/>
            <a:ext cx="8686800" cy="276999"/>
          </a:xfrm>
          <a:prstGeom prst="rect">
            <a:avLst/>
          </a:prstGeom>
          <a:noFill/>
        </p:spPr>
        <p:txBody>
          <a:bodyPr wrap="square" rtlCol="0">
            <a:spAutoFit/>
          </a:bodyPr>
          <a:lstStyle/>
          <a:p>
            <a:pPr>
              <a:spcBef>
                <a:spcPts val="300"/>
              </a:spcBef>
              <a:spcAft>
                <a:spcPts val="300"/>
              </a:spcAft>
            </a:pPr>
            <a:r>
              <a:rPr lang="en-US" sz="1200" dirty="0"/>
              <a:t>NSC is planning to conduct customer calls prior to closing, including major customers (e.g., IU Health). </a:t>
            </a:r>
          </a:p>
        </p:txBody>
      </p:sp>
    </p:spTree>
    <p:extLst>
      <p:ext uri="{BB962C8B-B14F-4D97-AF65-F5344CB8AC3E}">
        <p14:creationId xmlns:p14="http://schemas.microsoft.com/office/powerpoint/2010/main" val="181604966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5.8.0&quot;&gt;&lt;Source&gt;&lt;![CDATA[%USER_FOLDER%\GCG Dropbox\GCG Team Folder\04_M&amp;A\Project Quincy (Ambulatory Anesthesia Solutions)\11_Cash to Accrual\Payor Mix.xlsx]]&gt;&lt;/Source&gt;&lt;SourceModified&gt;2025-02-12 21:53:31&lt;/SourceModified&gt;&lt;ParentId&gt;MLNKd7c80341fae940bf87e0c837dccdaa80&lt;/ParentId&gt;&lt;LinkId&gt;Chart 1&lt;/LinkId&gt;&lt;FriendlyName&gt;&lt;/FriendlyName&gt;&lt;Type&gt;6&lt;/Type&gt;&lt;Address&gt;&lt;/Address&gt;&lt;LastUpdate&gt;2025-02-12 17:02:54&lt;/LastUpdate&gt;&lt;User&gt;Jenna Lilley&lt;/User&gt;&lt;/Link&gt;&lt;/Links&gt;"/>
</p:tagLst>
</file>

<file path=ppt/tags/tag6.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5.8.0&quot;&gt;&lt;Source&gt;&lt;![CDATA[%USER_FOLDER%\GCG Dropbox\GCG Team Folder\04_M&amp;A\Project Quincy (Ambulatory Anesthesia Solutions)\11_Cash to Accrual\Payor Mix.xlsx]]&gt;&lt;/Source&gt;&lt;SourceModified&gt;2025-02-12 21:53:31&lt;/SourceModified&gt;&lt;ParentId&gt;MLNKd7c80341fae940bf87e0c837dccdaa80&lt;/ParentId&gt;&lt;LinkId&gt;Chart 4&lt;/LinkId&gt;&lt;FriendlyName&gt;&lt;/FriendlyName&gt;&lt;Type&gt;6&lt;/Type&gt;&lt;Address&gt;&lt;/Address&gt;&lt;LastUpdate&gt;2025-02-12 17:03:51&lt;/LastUpdate&gt;&lt;User&gt;Jenna Lilley&lt;/User&gt;&lt;/Link&gt;&lt;/Links&gt;"/>
</p:tagLst>
</file>

<file path=ppt/tags/tag7.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5.8.0&quot;&gt;&lt;Source&gt;&lt;![CDATA[%USER_FOLDER%\GCG Dropbox\GCG Team Folder\04_M&amp;A\Project Quincy (Ambulatory Anesthesia Solutions)\05_ Financial Analysis\Project Quincy Model v50.xlsx]]&gt;&lt;/Source&gt;&lt;SourceModified&gt;2025-02-10 02:29:54&lt;/SourceModified&gt;&lt;ParentId&gt;MLNK318f7b756b754d9896210e4752f7053e&lt;/ParentId&gt;&lt;LinkId&gt;Chart 6&lt;/LinkId&gt;&lt;FriendlyName&gt;&lt;/FriendlyName&gt;&lt;Type&gt;6&lt;/Type&gt;&lt;Address&gt;&lt;/Address&gt;&lt;LastUpdate&gt;2025-02-09 21:53:06&lt;/LastUpdate&gt;&lt;User&gt;Jenna Lilley&lt;/User&gt;&lt;/Link&gt;&lt;/Links&gt;"/>
</p:tagLst>
</file>

<file path=ppt/tags/tag8.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5.8.0&quot;&gt;&lt;Source&gt;&lt;![CDATA[%USER_FOLDER%\GCG Dropbox\GCG Team Folder\04_M&amp;A\Project Quincy (Ambulatory Anesthesia Solutions)\11_Cash to Accrual\Payor Mix.xlsx]]&gt;&lt;/Source&gt;&lt;SourceModified&gt;2025-02-12 21:22:58&lt;/SourceModified&gt;&lt;ParentId&gt;MLNKd7c80341fae940bf87e0c837dccdaa80&lt;/ParentId&gt;&lt;LinkId&gt;Chart 3&lt;/LinkId&gt;&lt;FriendlyName&gt;&lt;/FriendlyName&gt;&lt;Type&gt;6&lt;/Type&gt;&lt;Address&gt;&lt;/Address&gt;&lt;LastUpdate&gt;2025-02-12 16:26:30&lt;/LastUpdate&gt;&lt;User&gt;Jenna Lilley&lt;/User&gt;&lt;/Link&gt;&lt;/Links&gt;"/>
</p:tagLst>
</file>

<file path=ppt/tags/tag9.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5.8.0&quot;&gt;&lt;Source&gt;&lt;![CDATA[%USER_FOLDER%\GCG Dropbox\GCG Team Folder\04_M&amp;A\Project Quincy (Ambulatory Anesthesia Solutions)\11_Cash to Accrual\Payor Mix.xlsx]]&gt;&lt;/Source&gt;&lt;SourceModified&gt;2025-02-12 21:22:58&lt;/SourceModified&gt;&lt;ParentId&gt;MLNKd7c80341fae940bf87e0c837dccdaa80&lt;/ParentId&gt;&lt;LinkId&gt;Chart 1&lt;/LinkId&gt;&lt;FriendlyName&gt;&lt;/FriendlyName&gt;&lt;Type&gt;6&lt;/Type&gt;&lt;Address&gt;&lt;/Address&gt;&lt;LastUpdate&gt;2025-02-12 16:26:40&lt;/LastUpdate&gt;&lt;User&gt;Jenna Lilley&lt;/User&gt;&lt;/Link&gt;&lt;/Links&gt;"/>
</p:tagLst>
</file>

<file path=ppt/tags/tag10.xml><?xml version="1.0" encoding="utf-8"?>
<p:tagLst xmlns:a="http://schemas.openxmlformats.org/drawingml/2006/main" xmlns:r="http://schemas.openxmlformats.org/officeDocument/2006/relationships" xmlns:p="http://schemas.openxmlformats.org/presentationml/2006/main">
  <p:tag name="MACABACUSLINK" val="&lt;Links vendor=&quot;Macabacus&quot;&gt;&lt;Link version=&quot;9.5.8.0&quot;&gt;&lt;Source&gt;&lt;![CDATA[%USER_FOLDER%\GCG Dropbox\GCG Team Folder\04_M&amp;A\Project Quincy (Ambulatory Anesthesia Solutions)\11_Cash to Accrual\Final Deliverables\Consolidated Collections 1.30 v01.xlsx]]&gt;&lt;/Source&gt;&lt;SourceModified&gt;2025-01-31 05:06:45&lt;/SourceModified&gt;&lt;ParentId&gt;MLNK2739ca445cc045978dffa500364a38a1&lt;/ParentId&gt;&lt;LinkId&gt;Chart 1&lt;/LinkId&gt;&lt;FriendlyName&gt;&lt;/FriendlyName&gt;&lt;Type&gt;6&lt;/Type&gt;&lt;Address&gt;&lt;/Address&gt;&lt;LastUpdate&gt;2025-01-31 00:06:52&lt;/LastUpdate&gt;&lt;User&gt;Jenna Lilley&lt;/User&gt;&lt;/Link&gt;&lt;/Links&gt;"/>
</p:tagLst>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31136</TotalTime>
  <Words>12116</Words>
  <Application>Microsoft Office PowerPoint</Application>
  <PresentationFormat>On-screen Show (4:3)</PresentationFormat>
  <Paragraphs>1380</Paragraphs>
  <Slides>70</Slides>
  <Notes>0</Notes>
  <HiddenSlides>3</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70</vt:i4>
      </vt:variant>
    </vt:vector>
  </HeadingPairs>
  <TitlesOfParts>
    <vt:vector size="77" baseType="lpstr">
      <vt:lpstr>Aptos</vt:lpstr>
      <vt:lpstr>Aptos Display</vt:lpstr>
      <vt:lpstr>Aptos Narrow</vt:lpstr>
      <vt:lpstr>Arial</vt:lpstr>
      <vt:lpstr>Calibri</vt:lpstr>
      <vt:lpstr>Wingdings</vt:lpstr>
      <vt:lpstr>Office Theme</vt:lpstr>
      <vt:lpstr>PowerPoint Presentation</vt:lpstr>
      <vt:lpstr>Index</vt:lpstr>
      <vt:lpstr>Timeline &amp; Diligence Update</vt:lpstr>
      <vt:lpstr>Executive Summary</vt:lpstr>
      <vt:lpstr>Executive Summary</vt:lpstr>
      <vt:lpstr>Executive Summary (cont’d)</vt:lpstr>
      <vt:lpstr>A Scalable Solution to a Growing Supply-Demand Imbalance</vt:lpstr>
      <vt:lpstr>AAS Investment Thesis</vt:lpstr>
      <vt:lpstr>Company Overview</vt:lpstr>
      <vt:lpstr>Company Overview</vt:lpstr>
      <vt:lpstr>Company Overview (cont’d)</vt:lpstr>
      <vt:lpstr>Employee Overview</vt:lpstr>
      <vt:lpstr>Key ASC Wins Driving Growth</vt:lpstr>
      <vt:lpstr>Near-Term Opportunity Pipeline</vt:lpstr>
      <vt:lpstr>Overview of Contract Types</vt:lpstr>
      <vt:lpstr>ASC Contract Overview</vt:lpstr>
      <vt:lpstr>2026 Contracts Up for Renewal</vt:lpstr>
      <vt:lpstr>Valuation Summary and Model Outputs</vt:lpstr>
      <vt:lpstr>Proposed Transaction Sources &amp; Uses</vt:lpstr>
      <vt:lpstr>Base Case – Summary P&amp;L</vt:lpstr>
      <vt:lpstr>Base Case – Existing Contract Revenue (1/2)</vt:lpstr>
      <vt:lpstr>Base Case – New Contract Revenue (2/2)</vt:lpstr>
      <vt:lpstr>Base Case – Corporate Overhead Build</vt:lpstr>
      <vt:lpstr>Northern Shore Expected Case</vt:lpstr>
      <vt:lpstr>Downside Case</vt:lpstr>
      <vt:lpstr>AAS Earnout Targets</vt:lpstr>
      <vt:lpstr>Precedent M&amp;A Transactions</vt:lpstr>
      <vt:lpstr>Key Risks &amp; Mitigants</vt:lpstr>
      <vt:lpstr>Risks and Mitigants</vt:lpstr>
      <vt:lpstr>Risks and Mitigants</vt:lpstr>
      <vt:lpstr>Sector Overview – Anesthesia and ASCs </vt:lpstr>
      <vt:lpstr>Anesthesia Market Overview</vt:lpstr>
      <vt:lpstr>Anesthesia Market Overview (cont’d)</vt:lpstr>
      <vt:lpstr>Anesthesia Staffing Market Outlook</vt:lpstr>
      <vt:lpstr>Anesthesia in the ASC Value-Chain</vt:lpstr>
      <vt:lpstr>Potential Board Members and SMEs</vt:lpstr>
      <vt:lpstr>Investment Banking Relationships</vt:lpstr>
      <vt:lpstr>Industry Conferences</vt:lpstr>
      <vt:lpstr>Financing Update</vt:lpstr>
      <vt:lpstr>Financing Update</vt:lpstr>
      <vt:lpstr>Legal Update</vt:lpstr>
      <vt:lpstr>Legal Update</vt:lpstr>
      <vt:lpstr>Post-Closing Legal Structure</vt:lpstr>
      <vt:lpstr>Due Diligence Updates</vt:lpstr>
      <vt:lpstr>Key Diligence Issues &amp; Outcomes</vt:lpstr>
      <vt:lpstr>Key Diligence Issues &amp; Outcomes</vt:lpstr>
      <vt:lpstr>Key Diligence Issues &amp; Outcomes (Cont’d)</vt:lpstr>
      <vt:lpstr>Material Legal Points</vt:lpstr>
      <vt:lpstr>Covenant Proposal</vt:lpstr>
      <vt:lpstr>Growing Anesthesiologist Shortage</vt:lpstr>
      <vt:lpstr>ASC Expansion in Existing States</vt:lpstr>
      <vt:lpstr>New Geography Expansion Scorecard</vt:lpstr>
      <vt:lpstr>New Geography Expansion Scorecard (Cont’d)</vt:lpstr>
      <vt:lpstr>ConnectTeam Staffing Levels</vt:lpstr>
      <vt:lpstr>Reimbursement Data vs Chartis</vt:lpstr>
      <vt:lpstr>Key Value Creation Pillars</vt:lpstr>
      <vt:lpstr>Historical Centers Added and Lost</vt:lpstr>
      <vt:lpstr>Competitive Landscape</vt:lpstr>
      <vt:lpstr>Expert Call Transcripts</vt:lpstr>
      <vt:lpstr>IT Diligence / Technology Stack</vt:lpstr>
      <vt:lpstr>AAS Hiring &amp; HR Process</vt:lpstr>
      <vt:lpstr>Supply / Demand </vt:lpstr>
      <vt:lpstr>Market Compensation vs AAS</vt:lpstr>
      <vt:lpstr>Market Compensation</vt:lpstr>
      <vt:lpstr>Prevalence of W2 Versus 1099 Job Postings</vt:lpstr>
      <vt:lpstr>CFO Search Process (As of 10/26/25)</vt:lpstr>
      <vt:lpstr>PowerPoint Presentation</vt:lpstr>
      <vt:lpstr>Legal Due Diligence</vt:lpstr>
      <vt:lpstr>Background Checks</vt:lpstr>
      <vt:lpstr>Customer Calls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Nick Johns</dc:creator>
  <cp:lastModifiedBy>Mobeen Kambod</cp:lastModifiedBy>
  <cp:revision>285</cp:revision>
  <cp:lastPrinted>2025-10-27T15:23:12Z</cp:lastPrinted>
  <dcterms:created xsi:type="dcterms:W3CDTF">2024-09-19T13:48:17Z</dcterms:created>
  <dcterms:modified xsi:type="dcterms:W3CDTF">2025-11-03T15:08:49Z</dcterms:modified>
</cp:coreProperties>
</file>