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22"/>
  </p:notesMasterIdLst>
  <p:sldIdLst>
    <p:sldId id="392" r:id="rId2"/>
    <p:sldId id="547" r:id="rId3"/>
    <p:sldId id="558" r:id="rId4"/>
    <p:sldId id="573" r:id="rId5"/>
    <p:sldId id="559" r:id="rId6"/>
    <p:sldId id="560" r:id="rId7"/>
    <p:sldId id="561" r:id="rId8"/>
    <p:sldId id="562" r:id="rId9"/>
    <p:sldId id="575" r:id="rId10"/>
    <p:sldId id="563" r:id="rId11"/>
    <p:sldId id="564" r:id="rId12"/>
    <p:sldId id="576" r:id="rId13"/>
    <p:sldId id="567" r:id="rId14"/>
    <p:sldId id="568" r:id="rId15"/>
    <p:sldId id="577" r:id="rId16"/>
    <p:sldId id="569" r:id="rId17"/>
    <p:sldId id="570" r:id="rId18"/>
    <p:sldId id="571" r:id="rId19"/>
    <p:sldId id="572" r:id="rId20"/>
    <p:sldId id="574" r:id="rId21"/>
  </p:sldIdLst>
  <p:sldSz cx="9144000" cy="6858000" type="screen4x3"/>
  <p:notesSz cx="7023100" cy="9309100"/>
  <p:custDataLst>
    <p:tags r:id="rId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0ABC5B-6792-4A6C-B9BC-7EF39AB14F0F}">
          <p14:sldIdLst>
            <p14:sldId id="392"/>
            <p14:sldId id="547"/>
            <p14:sldId id="558"/>
            <p14:sldId id="573"/>
            <p14:sldId id="559"/>
            <p14:sldId id="560"/>
            <p14:sldId id="561"/>
            <p14:sldId id="562"/>
            <p14:sldId id="575"/>
            <p14:sldId id="563"/>
            <p14:sldId id="564"/>
            <p14:sldId id="576"/>
            <p14:sldId id="567"/>
            <p14:sldId id="568"/>
            <p14:sldId id="577"/>
            <p14:sldId id="569"/>
            <p14:sldId id="570"/>
            <p14:sldId id="571"/>
            <p14:sldId id="572"/>
            <p14:sldId id="5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3F6A"/>
    <a:srgbClr val="D9D9D9"/>
    <a:srgbClr val="008AEF"/>
    <a:srgbClr val="FFFFFF"/>
    <a:srgbClr val="FEFCD2"/>
    <a:srgbClr val="E0EBF6"/>
    <a:srgbClr val="EBC095"/>
    <a:srgbClr val="F2F2F2"/>
    <a:srgbClr val="234F77"/>
    <a:srgbClr val="0E58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623" autoAdjust="0"/>
    <p:restoredTop sz="94660"/>
  </p:normalViewPr>
  <p:slideViewPr>
    <p:cSldViewPr snapToGrid="0">
      <p:cViewPr varScale="1">
        <p:scale>
          <a:sx n="106" d="100"/>
          <a:sy n="106" d="100"/>
        </p:scale>
        <p:origin x="136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7072"/>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7072"/>
          </a:xfrm>
          <a:prstGeom prst="rect">
            <a:avLst/>
          </a:prstGeom>
        </p:spPr>
        <p:txBody>
          <a:bodyPr vert="horz" lIns="93324" tIns="46662" rIns="93324" bIns="46662" rtlCol="0"/>
          <a:lstStyle>
            <a:lvl1pPr algn="r">
              <a:defRPr sz="1200"/>
            </a:lvl1pPr>
          </a:lstStyle>
          <a:p>
            <a:fld id="{4FE677C5-C5C7-401F-AD4F-71905AF4CF63}" type="datetimeFigureOut">
              <a:rPr lang="en-US" smtClean="0"/>
              <a:t>11/14/2025</a:t>
            </a:fld>
            <a:endParaRPr lang="en-US" dirty="0"/>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80004"/>
            <a:ext cx="5618480" cy="3665458"/>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1"/>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30"/>
            <a:ext cx="3043343" cy="467071"/>
          </a:xfrm>
          <a:prstGeom prst="rect">
            <a:avLst/>
          </a:prstGeom>
        </p:spPr>
        <p:txBody>
          <a:bodyPr vert="horz" lIns="93324" tIns="46662" rIns="93324" bIns="46662" rtlCol="0" anchor="b"/>
          <a:lstStyle>
            <a:lvl1pPr algn="r">
              <a:defRPr sz="1200"/>
            </a:lvl1pPr>
          </a:lstStyle>
          <a:p>
            <a:fld id="{E16FB353-1A27-42F4-8445-83E72C899B2C}" type="slidenum">
              <a:rPr lang="en-US" smtClean="0"/>
              <a:t>‹#›</a:t>
            </a:fld>
            <a:endParaRPr lang="en-US" dirty="0"/>
          </a:p>
        </p:txBody>
      </p:sp>
    </p:spTree>
    <p:extLst>
      <p:ext uri="{BB962C8B-B14F-4D97-AF65-F5344CB8AC3E}">
        <p14:creationId xmlns:p14="http://schemas.microsoft.com/office/powerpoint/2010/main" val="4107689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135B0FB0-3338-2B93-05DB-D05934ADA574}"/>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Date Placeholder 3">
            <a:extLst>
              <a:ext uri="{FF2B5EF4-FFF2-40B4-BE49-F238E27FC236}">
                <a16:creationId xmlns:a16="http://schemas.microsoft.com/office/drawing/2014/main" id="{84507393-801B-44BE-A4BD-0C34EEFDF827}"/>
              </a:ext>
            </a:extLst>
          </p:cNvPr>
          <p:cNvSpPr>
            <a:spLocks noGrp="1"/>
          </p:cNvSpPr>
          <p:nvPr>
            <p:ph type="dt" sz="half" idx="2"/>
          </p:nvPr>
        </p:nvSpPr>
        <p:spPr>
          <a:xfrm>
            <a:off x="238033"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Tree>
    <p:extLst>
      <p:ext uri="{BB962C8B-B14F-4D97-AF65-F5344CB8AC3E}">
        <p14:creationId xmlns:p14="http://schemas.microsoft.com/office/powerpoint/2010/main" val="35896094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 name="Do not remove" hidden="1">
            <a:extLst>
              <a:ext uri="{FF2B5EF4-FFF2-40B4-BE49-F238E27FC236}">
                <a16:creationId xmlns:a16="http://schemas.microsoft.com/office/drawing/2014/main" id="{26783E98-9901-D80D-85E6-DFECCE7B557A}"/>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p:txBody>
          <a:bodyPr anchor="b" anchorCtr="0">
            <a:normAutofit/>
          </a:bodyPr>
          <a:lstStyle>
            <a:lvl1pPr>
              <a:defRPr sz="3200">
                <a:latin typeface="+mj-lt"/>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7470009" y="6471765"/>
            <a:ext cx="1497685" cy="365125"/>
          </a:xfrm>
        </p:spPr>
        <p:txBody>
          <a:bodyPr/>
          <a:lstStyle/>
          <a:p>
            <a:fld id="{F8DDDAE5-3BDD-4D78-843B-A22FA78305BB}" type="slidenum">
              <a:rPr lang="en-US" smtClean="0"/>
              <a:t>‹#›</a:t>
            </a:fld>
            <a:endParaRPr lang="en-US" dirty="0"/>
          </a:p>
        </p:txBody>
      </p:sp>
      <p:cxnSp>
        <p:nvCxnSpPr>
          <p:cNvPr id="5" name="Straight Connector 4">
            <a:extLst>
              <a:ext uri="{FF2B5EF4-FFF2-40B4-BE49-F238E27FC236}">
                <a16:creationId xmlns:a16="http://schemas.microsoft.com/office/drawing/2014/main" id="{4B9C5F8C-1863-74EA-40A0-134B9E0B8251}"/>
              </a:ext>
            </a:extLst>
          </p:cNvPr>
          <p:cNvCxnSpPr>
            <a:cxnSpLocks/>
          </p:cNvCxnSpPr>
          <p:nvPr userDrawn="1"/>
        </p:nvCxnSpPr>
        <p:spPr>
          <a:xfrm>
            <a:off x="182880" y="871282"/>
            <a:ext cx="8778240"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054483D6-8C6F-F925-EC55-DE375AFBCA67}"/>
              </a:ext>
            </a:extLst>
          </p:cNvPr>
          <p:cNvSpPr/>
          <p:nvPr userDrawn="1"/>
        </p:nvSpPr>
        <p:spPr>
          <a:xfrm flipV="1">
            <a:off x="0" y="6812280"/>
            <a:ext cx="9144000" cy="45720"/>
          </a:xfrm>
          <a:prstGeom prst="rect">
            <a:avLst/>
          </a:prstGeom>
          <a:gradFill flip="none" rotWithShape="1">
            <a:gsLst>
              <a:gs pos="10000">
                <a:schemeClr val="bg1"/>
              </a:gs>
              <a:gs pos="50000">
                <a:schemeClr val="bg2">
                  <a:lumMod val="25000"/>
                </a:schemeClr>
              </a:gs>
              <a:gs pos="75000">
                <a:schemeClr val="bg2">
                  <a:lumMod val="25000"/>
                </a:schemeClr>
              </a:gs>
              <a:gs pos="100000">
                <a:schemeClr val="bg2">
                  <a:lumMod val="1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a:extLst>
              <a:ext uri="{FF2B5EF4-FFF2-40B4-BE49-F238E27FC236}">
                <a16:creationId xmlns:a16="http://schemas.microsoft.com/office/drawing/2014/main" id="{8CD79C5E-07DE-3021-4993-DA0DBE8A16E1}"/>
              </a:ext>
            </a:extLst>
          </p:cNvPr>
          <p:cNvSpPr/>
          <p:nvPr userDrawn="1"/>
        </p:nvSpPr>
        <p:spPr>
          <a:xfrm flipH="1">
            <a:off x="-1" y="0"/>
            <a:ext cx="9144000" cy="45720"/>
          </a:xfrm>
          <a:prstGeom prst="rect">
            <a:avLst/>
          </a:prstGeom>
          <a:gradFill flip="none" rotWithShape="1">
            <a:gsLst>
              <a:gs pos="10000">
                <a:schemeClr val="bg1"/>
              </a:gs>
              <a:gs pos="50000">
                <a:schemeClr val="bg2">
                  <a:lumMod val="25000"/>
                </a:schemeClr>
              </a:gs>
              <a:gs pos="75000">
                <a:schemeClr val="bg2">
                  <a:lumMod val="25000"/>
                </a:schemeClr>
              </a:gs>
              <a:gs pos="100000">
                <a:schemeClr val="bg2">
                  <a:lumMod val="1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nvGrpSpPr>
          <p:cNvPr id="12" name="Group 11">
            <a:extLst>
              <a:ext uri="{FF2B5EF4-FFF2-40B4-BE49-F238E27FC236}">
                <a16:creationId xmlns:a16="http://schemas.microsoft.com/office/drawing/2014/main" id="{A1B837C6-A88F-475F-E7A0-FB4831539DC1}"/>
              </a:ext>
            </a:extLst>
          </p:cNvPr>
          <p:cNvGrpSpPr/>
          <p:nvPr userDrawn="1"/>
        </p:nvGrpSpPr>
        <p:grpSpPr>
          <a:xfrm>
            <a:off x="7288850" y="125510"/>
            <a:ext cx="1783430" cy="483405"/>
            <a:chOff x="1773417" y="1160498"/>
            <a:chExt cx="5597167" cy="1517130"/>
          </a:xfrm>
        </p:grpSpPr>
        <p:pic>
          <p:nvPicPr>
            <p:cNvPr id="9" name="Picture 8" descr="A blue text on a black background">
              <a:extLst>
                <a:ext uri="{FF2B5EF4-FFF2-40B4-BE49-F238E27FC236}">
                  <a16:creationId xmlns:a16="http://schemas.microsoft.com/office/drawing/2014/main" id="{7D4DEA9A-E786-ACED-659A-94A6D91C14B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773417" y="1329009"/>
              <a:ext cx="3583867" cy="1180108"/>
            </a:xfrm>
            <a:prstGeom prst="rect">
              <a:avLst/>
            </a:prstGeom>
          </p:spPr>
        </p:pic>
        <p:pic>
          <p:nvPicPr>
            <p:cNvPr id="11" name="Picture 10">
              <a:extLst>
                <a:ext uri="{FF2B5EF4-FFF2-40B4-BE49-F238E27FC236}">
                  <a16:creationId xmlns:a16="http://schemas.microsoft.com/office/drawing/2014/main" id="{AC5C419A-D5C6-1F05-E1CD-E34B14EF1F76}"/>
                </a:ext>
              </a:extLst>
            </p:cNvPr>
            <p:cNvPicPr>
              <a:picLocks noChangeAspect="1"/>
            </p:cNvPicPr>
            <p:nvPr userDrawn="1"/>
          </p:nvPicPr>
          <p:blipFill>
            <a:blip r:embed="rId4">
              <a:clrChange>
                <a:clrFrom>
                  <a:srgbClr val="FFFFFF"/>
                </a:clrFrom>
                <a:clrTo>
                  <a:srgbClr val="FFFFFF">
                    <a:alpha val="0"/>
                  </a:srgbClr>
                </a:clrTo>
              </a:clrChange>
            </a:blip>
            <a:stretch>
              <a:fillRect/>
            </a:stretch>
          </p:blipFill>
          <p:spPr>
            <a:xfrm>
              <a:off x="5667390" y="1160498"/>
              <a:ext cx="1703194" cy="1517130"/>
            </a:xfrm>
            <a:prstGeom prst="rect">
              <a:avLst/>
            </a:prstGeom>
          </p:spPr>
        </p:pic>
      </p:grpSp>
    </p:spTree>
    <p:extLst>
      <p:ext uri="{BB962C8B-B14F-4D97-AF65-F5344CB8AC3E}">
        <p14:creationId xmlns:p14="http://schemas.microsoft.com/office/powerpoint/2010/main" val="20552450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71F076FD-56D1-2A0B-10B9-AD0C663CBD7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221942" y="3858825"/>
            <a:ext cx="8697771" cy="664684"/>
          </a:xfrm>
        </p:spPr>
        <p:txBody>
          <a:bodyPr/>
          <a:lstStyle/>
          <a:p>
            <a:r>
              <a:rPr lang="en-US" dirty="0"/>
              <a:t>Click to edit Master title style</a:t>
            </a:r>
          </a:p>
        </p:txBody>
      </p:sp>
      <p:cxnSp>
        <p:nvCxnSpPr>
          <p:cNvPr id="3" name="Straight Connector 2">
            <a:extLst>
              <a:ext uri="{FF2B5EF4-FFF2-40B4-BE49-F238E27FC236}">
                <a16:creationId xmlns:a16="http://schemas.microsoft.com/office/drawing/2014/main" id="{8348642C-9129-3C47-A6A6-EBB59E4E832E}"/>
              </a:ext>
            </a:extLst>
          </p:cNvPr>
          <p:cNvCxnSpPr>
            <a:cxnSpLocks/>
          </p:cNvCxnSpPr>
          <p:nvPr userDrawn="1"/>
        </p:nvCxnSpPr>
        <p:spPr>
          <a:xfrm>
            <a:off x="182880" y="4520254"/>
            <a:ext cx="8778240" cy="0"/>
          </a:xfrm>
          <a:prstGeom prst="line">
            <a:avLst/>
          </a:prstGeom>
        </p:spPr>
        <p:style>
          <a:lnRef idx="2">
            <a:schemeClr val="accent1"/>
          </a:lnRef>
          <a:fillRef idx="0">
            <a:schemeClr val="accent1"/>
          </a:fillRef>
          <a:effectRef idx="1">
            <a:schemeClr val="accent1"/>
          </a:effectRef>
          <a:fontRef idx="minor">
            <a:schemeClr val="tx1"/>
          </a:fontRef>
        </p:style>
      </p:cxnSp>
      <p:sp>
        <p:nvSpPr>
          <p:cNvPr id="4" name="Text Placeholder 2">
            <a:extLst>
              <a:ext uri="{FF2B5EF4-FFF2-40B4-BE49-F238E27FC236}">
                <a16:creationId xmlns:a16="http://schemas.microsoft.com/office/drawing/2014/main" id="{52E198C5-838B-2E95-3DC4-107CDC1866C9}"/>
              </a:ext>
            </a:extLst>
          </p:cNvPr>
          <p:cNvSpPr>
            <a:spLocks noGrp="1"/>
          </p:cNvSpPr>
          <p:nvPr>
            <p:ph idx="1" hasCustomPrompt="1"/>
          </p:nvPr>
        </p:nvSpPr>
        <p:spPr>
          <a:xfrm>
            <a:off x="221942" y="4618395"/>
            <a:ext cx="1606858" cy="2070777"/>
          </a:xfrm>
          <a:prstGeom prst="rect">
            <a:avLst/>
          </a:prstGeom>
        </p:spPr>
        <p:txBody>
          <a:bodyPr vert="horz" lIns="91440" tIns="45720" rIns="91440" bIns="45720" rtlCol="0" anchor="ctr" anchorCtr="1">
            <a:normAutofit/>
          </a:bodyPr>
          <a:lstStyle>
            <a:lvl1pPr marL="0" indent="0">
              <a:buNone/>
              <a:defRPr sz="9600"/>
            </a:lvl1pPr>
          </a:lstStyle>
          <a:p>
            <a:pPr lvl="0"/>
            <a:r>
              <a:rPr lang="en-US" dirty="0"/>
              <a:t>I</a:t>
            </a:r>
          </a:p>
        </p:txBody>
      </p:sp>
      <p:pic>
        <p:nvPicPr>
          <p:cNvPr id="5" name="Picture 4" descr="A blue text on a black background">
            <a:extLst>
              <a:ext uri="{FF2B5EF4-FFF2-40B4-BE49-F238E27FC236}">
                <a16:creationId xmlns:a16="http://schemas.microsoft.com/office/drawing/2014/main" id="{DDBCB711-8686-5F2A-7E72-D0C1F08A833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12123" y="189457"/>
            <a:ext cx="1214079" cy="399777"/>
          </a:xfrm>
          <a:prstGeom prst="rect">
            <a:avLst/>
          </a:prstGeom>
        </p:spPr>
      </p:pic>
    </p:spTree>
    <p:extLst>
      <p:ext uri="{BB962C8B-B14F-4D97-AF65-F5344CB8AC3E}">
        <p14:creationId xmlns:p14="http://schemas.microsoft.com/office/powerpoint/2010/main" val="2378253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chorCtr="0">
            <a:normAutofit/>
          </a:bodyPr>
          <a:lstStyle>
            <a:lvl1pPr>
              <a:defRPr sz="3200">
                <a:latin typeface="+mj-lt"/>
              </a:defRPr>
            </a:lvl1pPr>
          </a:lstStyle>
          <a:p>
            <a:r>
              <a:rPr lang="en-US" dirty="0"/>
              <a:t>Click to edit Master title style</a:t>
            </a:r>
          </a:p>
        </p:txBody>
      </p:sp>
      <p:sp>
        <p:nvSpPr>
          <p:cNvPr id="6" name="Slide Number Placeholder 5"/>
          <p:cNvSpPr>
            <a:spLocks noGrp="1"/>
          </p:cNvSpPr>
          <p:nvPr>
            <p:ph type="sldNum" sz="quarter" idx="12"/>
          </p:nvPr>
        </p:nvSpPr>
        <p:spPr>
          <a:xfrm>
            <a:off x="7470009" y="6471765"/>
            <a:ext cx="1497685" cy="365125"/>
          </a:xfrm>
        </p:spPr>
        <p:txBody>
          <a:bodyPr/>
          <a:lstStyle/>
          <a:p>
            <a:fld id="{F8DDDAE5-3BDD-4D78-843B-A22FA78305BB}" type="slidenum">
              <a:rPr lang="en-US" smtClean="0"/>
              <a:t>‹#›</a:t>
            </a:fld>
            <a:endParaRPr lang="en-US" dirty="0"/>
          </a:p>
        </p:txBody>
      </p:sp>
      <p:cxnSp>
        <p:nvCxnSpPr>
          <p:cNvPr id="5" name="Straight Connector 4">
            <a:extLst>
              <a:ext uri="{FF2B5EF4-FFF2-40B4-BE49-F238E27FC236}">
                <a16:creationId xmlns:a16="http://schemas.microsoft.com/office/drawing/2014/main" id="{4B9C5F8C-1863-74EA-40A0-134B9E0B8251}"/>
              </a:ext>
            </a:extLst>
          </p:cNvPr>
          <p:cNvCxnSpPr>
            <a:cxnSpLocks/>
          </p:cNvCxnSpPr>
          <p:nvPr userDrawn="1"/>
        </p:nvCxnSpPr>
        <p:spPr>
          <a:xfrm>
            <a:off x="182880" y="871282"/>
            <a:ext cx="8778240" cy="0"/>
          </a:xfrm>
          <a:prstGeom prst="line">
            <a:avLst/>
          </a:prstGeom>
        </p:spPr>
        <p:style>
          <a:lnRef idx="2">
            <a:schemeClr val="accent1"/>
          </a:lnRef>
          <a:fillRef idx="0">
            <a:schemeClr val="accent1"/>
          </a:fillRef>
          <a:effectRef idx="1">
            <a:schemeClr val="accent1"/>
          </a:effectRef>
          <a:fontRef idx="minor">
            <a:schemeClr val="tx1"/>
          </a:fontRef>
        </p:style>
      </p:cxnSp>
      <p:pic>
        <p:nvPicPr>
          <p:cNvPr id="4" name="Picture 3" descr="A blue text on a black background">
            <a:extLst>
              <a:ext uri="{FF2B5EF4-FFF2-40B4-BE49-F238E27FC236}">
                <a16:creationId xmlns:a16="http://schemas.microsoft.com/office/drawing/2014/main" id="{04E46823-5B2D-960B-21FF-A5C72150EA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712123" y="189457"/>
            <a:ext cx="1214079" cy="399777"/>
          </a:xfrm>
          <a:prstGeom prst="rect">
            <a:avLst/>
          </a:prstGeom>
        </p:spPr>
      </p:pic>
      <p:sp>
        <p:nvSpPr>
          <p:cNvPr id="3" name="Rectangle 2">
            <a:extLst>
              <a:ext uri="{FF2B5EF4-FFF2-40B4-BE49-F238E27FC236}">
                <a16:creationId xmlns:a16="http://schemas.microsoft.com/office/drawing/2014/main" id="{395E2050-4449-9EC3-7100-62B71E1EFAFC}"/>
              </a:ext>
            </a:extLst>
          </p:cNvPr>
          <p:cNvSpPr/>
          <p:nvPr userDrawn="1"/>
        </p:nvSpPr>
        <p:spPr>
          <a:xfrm flipV="1">
            <a:off x="0" y="6812280"/>
            <a:ext cx="9144000" cy="45720"/>
          </a:xfrm>
          <a:prstGeom prst="rect">
            <a:avLst/>
          </a:prstGeom>
          <a:gradFill flip="none" rotWithShape="1">
            <a:gsLst>
              <a:gs pos="10000">
                <a:schemeClr val="bg1"/>
              </a:gs>
              <a:gs pos="50000">
                <a:schemeClr val="bg2">
                  <a:lumMod val="25000"/>
                </a:schemeClr>
              </a:gs>
              <a:gs pos="75000">
                <a:schemeClr val="bg2">
                  <a:lumMod val="25000"/>
                </a:schemeClr>
              </a:gs>
              <a:gs pos="100000">
                <a:schemeClr val="bg2">
                  <a:lumMod val="1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Rectangle 6">
            <a:extLst>
              <a:ext uri="{FF2B5EF4-FFF2-40B4-BE49-F238E27FC236}">
                <a16:creationId xmlns:a16="http://schemas.microsoft.com/office/drawing/2014/main" id="{D5F5281D-7CF2-729B-A856-0E4742FCFAAF}"/>
              </a:ext>
            </a:extLst>
          </p:cNvPr>
          <p:cNvSpPr/>
          <p:nvPr userDrawn="1"/>
        </p:nvSpPr>
        <p:spPr>
          <a:xfrm flipH="1">
            <a:off x="-1" y="0"/>
            <a:ext cx="9144000" cy="45720"/>
          </a:xfrm>
          <a:prstGeom prst="rect">
            <a:avLst/>
          </a:prstGeom>
          <a:gradFill flip="none" rotWithShape="1">
            <a:gsLst>
              <a:gs pos="10000">
                <a:schemeClr val="bg1"/>
              </a:gs>
              <a:gs pos="50000">
                <a:schemeClr val="bg2">
                  <a:lumMod val="25000"/>
                </a:schemeClr>
              </a:gs>
              <a:gs pos="75000">
                <a:schemeClr val="bg2">
                  <a:lumMod val="25000"/>
                </a:schemeClr>
              </a:gs>
              <a:gs pos="100000">
                <a:schemeClr val="bg2">
                  <a:lumMod val="1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Tree>
    <p:extLst>
      <p:ext uri="{BB962C8B-B14F-4D97-AF65-F5344CB8AC3E}">
        <p14:creationId xmlns:p14="http://schemas.microsoft.com/office/powerpoint/2010/main" val="113313249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3" name="Picture 2" descr="A blue text on a black background">
            <a:extLst>
              <a:ext uri="{FF2B5EF4-FFF2-40B4-BE49-F238E27FC236}">
                <a16:creationId xmlns:a16="http://schemas.microsoft.com/office/drawing/2014/main" id="{31FBAE24-30B1-D0E7-7F27-B506CFD233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1724" y="5166081"/>
            <a:ext cx="2800552" cy="922179"/>
          </a:xfrm>
          <a:prstGeom prst="rect">
            <a:avLst/>
          </a:prstGeom>
        </p:spPr>
      </p:pic>
      <p:sp>
        <p:nvSpPr>
          <p:cNvPr id="4" name="Title Placeholder 1">
            <a:extLst>
              <a:ext uri="{FF2B5EF4-FFF2-40B4-BE49-F238E27FC236}">
                <a16:creationId xmlns:a16="http://schemas.microsoft.com/office/drawing/2014/main" id="{9DEC6519-E07B-BE8E-E9DE-E2CA8C58442C}"/>
              </a:ext>
            </a:extLst>
          </p:cNvPr>
          <p:cNvSpPr>
            <a:spLocks noGrp="1"/>
          </p:cNvSpPr>
          <p:nvPr>
            <p:ph type="title"/>
          </p:nvPr>
        </p:nvSpPr>
        <p:spPr>
          <a:xfrm>
            <a:off x="221942" y="218485"/>
            <a:ext cx="8697771" cy="664684"/>
          </a:xfrm>
          <a:prstGeom prst="rect">
            <a:avLst/>
          </a:prstGeom>
        </p:spPr>
        <p:txBody>
          <a:bodyPr vert="horz" lIns="91440" tIns="45720" rIns="91440" bIns="45720" rtlCol="0" anchor="b" anchorCtr="0">
            <a:normAutofit/>
          </a:bodyPr>
          <a:lstStyle>
            <a:lvl1pPr algn="ctr">
              <a:defRPr/>
            </a:lvl1pPr>
          </a:lstStyle>
          <a:p>
            <a:r>
              <a:rPr lang="en-US" dirty="0"/>
              <a:t>Click to edit Master title style</a:t>
            </a:r>
          </a:p>
        </p:txBody>
      </p:sp>
    </p:spTree>
    <p:extLst>
      <p:ext uri="{BB962C8B-B14F-4D97-AF65-F5344CB8AC3E}">
        <p14:creationId xmlns:p14="http://schemas.microsoft.com/office/powerpoint/2010/main" val="3394018712"/>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1942" y="218485"/>
            <a:ext cx="8697771" cy="664684"/>
          </a:xfrm>
          <a:prstGeom prst="rect">
            <a:avLst/>
          </a:prstGeom>
        </p:spPr>
        <p:txBody>
          <a:bodyPr vert="horz" lIns="91440" tIns="45720" rIns="91440" bIns="45720" rtlCol="0" anchor="b" anchorCtr="0">
            <a:normAutofit/>
          </a:bodyPr>
          <a:lstStyle/>
          <a:p>
            <a:r>
              <a:rPr lang="en-US" dirty="0"/>
              <a:t>Click to edit Master title style</a:t>
            </a:r>
          </a:p>
        </p:txBody>
      </p:sp>
      <p:sp>
        <p:nvSpPr>
          <p:cNvPr id="3" name="Text Placeholder 2"/>
          <p:cNvSpPr>
            <a:spLocks noGrp="1"/>
          </p:cNvSpPr>
          <p:nvPr>
            <p:ph type="body" idx="1"/>
          </p:nvPr>
        </p:nvSpPr>
        <p:spPr>
          <a:xfrm>
            <a:off x="221942" y="1825625"/>
            <a:ext cx="869777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7425620" y="6480641"/>
            <a:ext cx="1497685" cy="365125"/>
          </a:xfrm>
          <a:prstGeom prst="rect">
            <a:avLst/>
          </a:prstGeom>
        </p:spPr>
        <p:txBody>
          <a:bodyPr vert="horz" lIns="91440" tIns="45720" rIns="91440" bIns="45720" rtlCol="0" anchor="ctr"/>
          <a:lstStyle>
            <a:lvl1pPr algn="r">
              <a:defRPr sz="1000">
                <a:solidFill>
                  <a:schemeClr val="tx1">
                    <a:tint val="82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47885495"/>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91" r:id="rId3"/>
    <p:sldLayoutId id="2147483692" r:id="rId4"/>
    <p:sldLayoutId id="2147483695" r:id="rId5"/>
  </p:sldLayoutIdLst>
  <p:hf hdr="0" ftr="0" dt="0"/>
  <p:txStyles>
    <p:titleStyle>
      <a:lvl1pPr algn="l" defTabSz="914400" rtl="0" eaLnBrk="1" latinLnBrk="0" hangingPunct="1">
        <a:lnSpc>
          <a:spcPct val="90000"/>
        </a:lnSpc>
        <a:spcBef>
          <a:spcPct val="0"/>
        </a:spcBef>
        <a:buNone/>
        <a:defRPr sz="3200" kern="1200">
          <a:solidFill>
            <a:schemeClr val="tx1"/>
          </a:solidFill>
          <a:latin typeface="+mj-lt"/>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Calibri" panose="020F0502020204030204" pitchFamily="34" charset="0"/>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Calibri" panose="020F0502020204030204" pitchFamily="34" charset="0"/>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Calibri" panose="020F0502020204030204" pitchFamily="34" charset="0"/>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pitchFamily="34" charset="0"/>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Calibri" panose="020F0502020204030204" pitchFamily="34" charset="0"/>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slideLayout" Target="../slideLayouts/slideLayout2.xml"/><Relationship Id="rId4"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508B32-551C-9672-8CA5-2E43D2A570D8}"/>
              </a:ext>
            </a:extLst>
          </p:cNvPr>
          <p:cNvSpPr txBox="1"/>
          <p:nvPr/>
        </p:nvSpPr>
        <p:spPr>
          <a:xfrm>
            <a:off x="1976324" y="3486019"/>
            <a:ext cx="5267158" cy="938719"/>
          </a:xfrm>
          <a:prstGeom prst="rect">
            <a:avLst/>
          </a:prstGeom>
          <a:noFill/>
        </p:spPr>
        <p:txBody>
          <a:bodyPr wrap="square" rtlCol="0">
            <a:spAutoFit/>
          </a:bodyPr>
          <a:lstStyle/>
          <a:p>
            <a:pPr algn="ctr"/>
            <a:r>
              <a:rPr lang="en-US" sz="2600" b="1" dirty="0">
                <a:solidFill>
                  <a:schemeClr val="tx2"/>
                </a:solidFill>
                <a:latin typeface="+mj-lt"/>
              </a:rPr>
              <a:t>Value Creation Discussion</a:t>
            </a:r>
          </a:p>
          <a:p>
            <a:pPr algn="ctr"/>
            <a:endParaRPr lang="en-US" sz="1100" b="1" dirty="0">
              <a:solidFill>
                <a:schemeClr val="tx2"/>
              </a:solidFill>
              <a:latin typeface="+mj-lt"/>
            </a:endParaRPr>
          </a:p>
          <a:p>
            <a:pPr algn="ctr"/>
            <a:r>
              <a:rPr lang="en-US" dirty="0">
                <a:solidFill>
                  <a:schemeClr val="bg2">
                    <a:lumMod val="75000"/>
                  </a:schemeClr>
                </a:solidFill>
                <a:latin typeface="+mj-lt"/>
              </a:rPr>
              <a:t>November 2025</a:t>
            </a:r>
          </a:p>
        </p:txBody>
      </p:sp>
      <p:sp>
        <p:nvSpPr>
          <p:cNvPr id="5" name="TextBox 4">
            <a:extLst>
              <a:ext uri="{FF2B5EF4-FFF2-40B4-BE49-F238E27FC236}">
                <a16:creationId xmlns:a16="http://schemas.microsoft.com/office/drawing/2014/main" id="{C4942D9A-AD3B-A31A-73CC-3D3DB9C22DCE}"/>
              </a:ext>
            </a:extLst>
          </p:cNvPr>
          <p:cNvSpPr txBox="1"/>
          <p:nvPr/>
        </p:nvSpPr>
        <p:spPr>
          <a:xfrm>
            <a:off x="0" y="6548922"/>
            <a:ext cx="2539529" cy="307777"/>
          </a:xfrm>
          <a:prstGeom prst="rect">
            <a:avLst/>
          </a:prstGeom>
          <a:noFill/>
        </p:spPr>
        <p:txBody>
          <a:bodyPr wrap="square" rtlCol="0">
            <a:spAutoFit/>
          </a:bodyPr>
          <a:lstStyle/>
          <a:p>
            <a:r>
              <a:rPr lang="en-US" sz="1400" b="1" i="1" dirty="0">
                <a:solidFill>
                  <a:srgbClr val="C00000"/>
                </a:solidFill>
                <a:latin typeface="+mj-lt"/>
              </a:rPr>
              <a:t>Confidential</a:t>
            </a:r>
            <a:endParaRPr lang="en-US" sz="1050" i="1" dirty="0">
              <a:solidFill>
                <a:srgbClr val="C00000"/>
              </a:solidFill>
              <a:latin typeface="+mj-lt"/>
            </a:endParaRPr>
          </a:p>
        </p:txBody>
      </p:sp>
      <p:cxnSp>
        <p:nvCxnSpPr>
          <p:cNvPr id="7" name="Straight Connector 6">
            <a:extLst>
              <a:ext uri="{FF2B5EF4-FFF2-40B4-BE49-F238E27FC236}">
                <a16:creationId xmlns:a16="http://schemas.microsoft.com/office/drawing/2014/main" id="{5F339DF7-0812-ADE6-6D27-874607A78E47}"/>
              </a:ext>
            </a:extLst>
          </p:cNvPr>
          <p:cNvCxnSpPr>
            <a:cxnSpLocks/>
          </p:cNvCxnSpPr>
          <p:nvPr/>
        </p:nvCxnSpPr>
        <p:spPr>
          <a:xfrm>
            <a:off x="1188720" y="3171723"/>
            <a:ext cx="6766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7306EC2D-D124-167F-FAE0-BD84ABD6D16F}"/>
              </a:ext>
            </a:extLst>
          </p:cNvPr>
          <p:cNvCxnSpPr>
            <a:cxnSpLocks/>
          </p:cNvCxnSpPr>
          <p:nvPr/>
        </p:nvCxnSpPr>
        <p:spPr>
          <a:xfrm>
            <a:off x="1188720" y="4739034"/>
            <a:ext cx="6766560" cy="0"/>
          </a:xfrm>
          <a:prstGeom prst="line">
            <a:avLst/>
          </a:prstGeom>
        </p:spPr>
        <p:style>
          <a:lnRef idx="2">
            <a:schemeClr val="accent1"/>
          </a:lnRef>
          <a:fillRef idx="0">
            <a:schemeClr val="accent1"/>
          </a:fillRef>
          <a:effectRef idx="1">
            <a:schemeClr val="accent1"/>
          </a:effectRef>
          <a:fontRef idx="minor">
            <a:schemeClr val="tx1"/>
          </a:fontRef>
        </p:style>
      </p:cxnSp>
      <p:pic>
        <p:nvPicPr>
          <p:cNvPr id="2" name="Picture 1" descr="A blue text on a black background">
            <a:extLst>
              <a:ext uri="{FF2B5EF4-FFF2-40B4-BE49-F238E27FC236}">
                <a16:creationId xmlns:a16="http://schemas.microsoft.com/office/drawing/2014/main" id="{7263ED94-6690-7149-53B0-AD3189BDEE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3417" y="1329009"/>
            <a:ext cx="3583867" cy="1180108"/>
          </a:xfrm>
          <a:prstGeom prst="rect">
            <a:avLst/>
          </a:prstGeom>
        </p:spPr>
      </p:pic>
      <p:pic>
        <p:nvPicPr>
          <p:cNvPr id="6" name="Picture 5">
            <a:extLst>
              <a:ext uri="{FF2B5EF4-FFF2-40B4-BE49-F238E27FC236}">
                <a16:creationId xmlns:a16="http://schemas.microsoft.com/office/drawing/2014/main" id="{478B9E44-F28D-0902-9CDE-ADCC1A0AE94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667390" y="1160498"/>
            <a:ext cx="1703194" cy="1517130"/>
          </a:xfrm>
          <a:prstGeom prst="rect">
            <a:avLst/>
          </a:prstGeom>
        </p:spPr>
      </p:pic>
    </p:spTree>
    <p:extLst>
      <p:ext uri="{BB962C8B-B14F-4D97-AF65-F5344CB8AC3E}">
        <p14:creationId xmlns:p14="http://schemas.microsoft.com/office/powerpoint/2010/main" val="1451186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DEFC3-BA90-0C8D-75CA-E41501F0DB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47C03-8008-A926-B6DC-FEC8A2B74FED}"/>
              </a:ext>
            </a:extLst>
          </p:cNvPr>
          <p:cNvSpPr>
            <a:spLocks noGrp="1"/>
          </p:cNvSpPr>
          <p:nvPr>
            <p:ph type="title"/>
          </p:nvPr>
        </p:nvSpPr>
        <p:spPr/>
        <p:txBody>
          <a:bodyPr>
            <a:normAutofit/>
          </a:bodyPr>
          <a:lstStyle/>
          <a:p>
            <a:r>
              <a:rPr lang="en-US" noProof="0" dirty="0"/>
              <a:t>Value Creation Pillars</a:t>
            </a:r>
          </a:p>
        </p:txBody>
      </p:sp>
      <p:sp>
        <p:nvSpPr>
          <p:cNvPr id="3" name="TextBox 2">
            <a:extLst>
              <a:ext uri="{FF2B5EF4-FFF2-40B4-BE49-F238E27FC236}">
                <a16:creationId xmlns:a16="http://schemas.microsoft.com/office/drawing/2014/main" id="{2064C154-4C60-D074-FCF4-755B3201B19D}"/>
              </a:ext>
            </a:extLst>
          </p:cNvPr>
          <p:cNvSpPr txBox="1"/>
          <p:nvPr/>
        </p:nvSpPr>
        <p:spPr>
          <a:xfrm>
            <a:off x="221941" y="940057"/>
            <a:ext cx="8697771" cy="5632311"/>
          </a:xfrm>
          <a:prstGeom prst="rect">
            <a:avLst/>
          </a:prstGeom>
          <a:noFill/>
        </p:spPr>
        <p:txBody>
          <a:bodyPr wrap="square" rtlCol="0">
            <a:spAutoFit/>
          </a:bodyPr>
          <a:lstStyle/>
          <a:p>
            <a:pPr>
              <a:spcBef>
                <a:spcPts val="300"/>
              </a:spcBef>
              <a:spcAft>
                <a:spcPts val="300"/>
              </a:spcAft>
            </a:pPr>
            <a:r>
              <a:rPr lang="en-US" sz="1400" b="1" u="sng" dirty="0"/>
              <a:t>Pillar #1 Keep Current Contracts and Successfully Fulfill Them</a:t>
            </a:r>
          </a:p>
          <a:p>
            <a:pPr>
              <a:spcBef>
                <a:spcPts val="300"/>
              </a:spcBef>
              <a:spcAft>
                <a:spcPts val="300"/>
              </a:spcAft>
            </a:pPr>
            <a:r>
              <a:rPr lang="en-US" sz="1400" i="1" dirty="0"/>
              <a:t>Maintaining and fulfilling strong contracts is as important, if not more important, than winning new contracts and churn disproportionately affects growth</a:t>
            </a:r>
          </a:p>
          <a:p>
            <a:pPr marL="285750" indent="-285750">
              <a:spcBef>
                <a:spcPts val="300"/>
              </a:spcBef>
              <a:spcAft>
                <a:spcPts val="300"/>
              </a:spcAft>
              <a:buFont typeface="Arial" panose="020B0604020202020204" pitchFamily="34" charset="0"/>
              <a:buChar char="•"/>
            </a:pPr>
            <a:r>
              <a:rPr lang="en-US" sz="1400" b="1" dirty="0"/>
              <a:t>#1: “Keeping administrators and decision-makers at ASC’s happy will help us retain contracts”</a:t>
            </a:r>
          </a:p>
          <a:p>
            <a:pPr marL="742950" lvl="1" indent="-285750">
              <a:spcBef>
                <a:spcPts val="300"/>
              </a:spcBef>
              <a:spcAft>
                <a:spcPts val="300"/>
              </a:spcAft>
              <a:buFont typeface="Arial" panose="020B0604020202020204" pitchFamily="34" charset="0"/>
              <a:buChar char="•"/>
            </a:pPr>
            <a:r>
              <a:rPr lang="en-US" sz="1400" dirty="0"/>
              <a:t>What are the ultimate indicators of ASC dissatisfaction?</a:t>
            </a:r>
          </a:p>
          <a:p>
            <a:pPr marL="1200150" lvl="2" indent="-285750">
              <a:spcBef>
                <a:spcPts val="300"/>
              </a:spcBef>
              <a:spcAft>
                <a:spcPts val="300"/>
              </a:spcAft>
              <a:buFont typeface="Arial" panose="020B0604020202020204" pitchFamily="34" charset="0"/>
              <a:buChar char="•"/>
            </a:pPr>
            <a:r>
              <a:rPr lang="en-US" sz="1400" dirty="0"/>
              <a:t>Providers not showing up on time?</a:t>
            </a:r>
          </a:p>
          <a:p>
            <a:pPr marL="1657350" lvl="3" indent="-285750">
              <a:spcBef>
                <a:spcPts val="300"/>
              </a:spcBef>
              <a:spcAft>
                <a:spcPts val="300"/>
              </a:spcAft>
              <a:buFont typeface="Arial" panose="020B0604020202020204" pitchFamily="34" charset="0"/>
              <a:buChar char="•"/>
            </a:pPr>
            <a:r>
              <a:rPr lang="en-US" sz="1400" dirty="0"/>
              <a:t>How do we ensure that we have consistent, timely coverage every single day?</a:t>
            </a:r>
          </a:p>
          <a:p>
            <a:pPr marL="2114550" lvl="4" indent="-285750">
              <a:spcBef>
                <a:spcPts val="300"/>
              </a:spcBef>
              <a:spcAft>
                <a:spcPts val="300"/>
              </a:spcAft>
              <a:buFont typeface="Arial" panose="020B0604020202020204" pitchFamily="34" charset="0"/>
              <a:buChar char="•"/>
            </a:pPr>
            <a:r>
              <a:rPr lang="en-US" sz="1400" dirty="0"/>
              <a:t>How do you handle scheduling today?</a:t>
            </a:r>
          </a:p>
          <a:p>
            <a:pPr marL="2114550" lvl="4" indent="-285750">
              <a:spcBef>
                <a:spcPts val="300"/>
              </a:spcBef>
              <a:spcAft>
                <a:spcPts val="300"/>
              </a:spcAft>
              <a:buFont typeface="Arial" panose="020B0604020202020204" pitchFamily="34" charset="0"/>
              <a:buChar char="•"/>
            </a:pPr>
            <a:r>
              <a:rPr lang="en-US" sz="1400" dirty="0"/>
              <a:t>Have we ever had any issues?</a:t>
            </a:r>
          </a:p>
          <a:p>
            <a:pPr marL="2114550" lvl="4" indent="-285750">
              <a:spcBef>
                <a:spcPts val="300"/>
              </a:spcBef>
              <a:spcAft>
                <a:spcPts val="300"/>
              </a:spcAft>
              <a:buFont typeface="Arial" panose="020B0604020202020204" pitchFamily="34" charset="0"/>
              <a:buChar char="•"/>
            </a:pPr>
            <a:r>
              <a:rPr lang="en-US" sz="1400" dirty="0"/>
              <a:t>Are there any areas where we could see problems arising?</a:t>
            </a:r>
          </a:p>
          <a:p>
            <a:pPr marL="2114550" lvl="4" indent="-285750">
              <a:spcBef>
                <a:spcPts val="300"/>
              </a:spcBef>
              <a:spcAft>
                <a:spcPts val="300"/>
              </a:spcAft>
              <a:buFont typeface="Arial" panose="020B0604020202020204" pitchFamily="34" charset="0"/>
              <a:buChar char="•"/>
            </a:pPr>
            <a:r>
              <a:rPr lang="en-US" sz="1400" dirty="0"/>
              <a:t>What can be automated / improved?</a:t>
            </a:r>
          </a:p>
          <a:p>
            <a:pPr marL="1200150" lvl="2" indent="-285750">
              <a:spcBef>
                <a:spcPts val="300"/>
              </a:spcBef>
              <a:spcAft>
                <a:spcPts val="300"/>
              </a:spcAft>
              <a:buFont typeface="Arial" panose="020B0604020202020204" pitchFamily="34" charset="0"/>
              <a:buChar char="•"/>
            </a:pPr>
            <a:r>
              <a:rPr lang="en-US" sz="1400" dirty="0"/>
              <a:t>Unprofessional / unfamiliar providers?</a:t>
            </a:r>
          </a:p>
          <a:p>
            <a:pPr marL="1657350" lvl="3" indent="-285750">
              <a:spcBef>
                <a:spcPts val="300"/>
              </a:spcBef>
              <a:spcAft>
                <a:spcPts val="300"/>
              </a:spcAft>
              <a:buFont typeface="Arial" panose="020B0604020202020204" pitchFamily="34" charset="0"/>
              <a:buChar char="•"/>
            </a:pPr>
            <a:r>
              <a:rPr lang="en-US" sz="1400" dirty="0"/>
              <a:t>How much do surgeons / administrators care about working with new providers?</a:t>
            </a:r>
          </a:p>
          <a:p>
            <a:pPr marL="2114550" lvl="4" indent="-285750">
              <a:spcBef>
                <a:spcPts val="300"/>
              </a:spcBef>
              <a:spcAft>
                <a:spcPts val="300"/>
              </a:spcAft>
              <a:buFont typeface="Arial" panose="020B0604020202020204" pitchFamily="34" charset="0"/>
              <a:buChar char="•"/>
            </a:pPr>
            <a:r>
              <a:rPr lang="en-US" sz="1400" dirty="0"/>
              <a:t>If this is a problem, what can we do to ensure continuity?</a:t>
            </a:r>
          </a:p>
          <a:p>
            <a:pPr marL="742950" lvl="1" indent="-285750">
              <a:spcBef>
                <a:spcPts val="300"/>
              </a:spcBef>
              <a:spcAft>
                <a:spcPts val="300"/>
              </a:spcAft>
              <a:buFont typeface="Arial" panose="020B0604020202020204" pitchFamily="34" charset="0"/>
              <a:buChar char="•"/>
            </a:pPr>
            <a:r>
              <a:rPr lang="en-US" sz="1400" dirty="0"/>
              <a:t>How do we track if an administrator is satisfied or dissatisfied?</a:t>
            </a:r>
          </a:p>
          <a:p>
            <a:pPr marL="1200150" lvl="2" indent="-285750">
              <a:spcBef>
                <a:spcPts val="300"/>
              </a:spcBef>
              <a:spcAft>
                <a:spcPts val="300"/>
              </a:spcAft>
              <a:buFont typeface="Arial" panose="020B0604020202020204" pitchFamily="34" charset="0"/>
              <a:buChar char="•"/>
            </a:pPr>
            <a:r>
              <a:rPr lang="en-US" sz="1400" dirty="0"/>
              <a:t>Should we create a scorecard for administrators to complete on a defined cadence rating provider punctuality, coverage reliability, and professionalism?</a:t>
            </a:r>
          </a:p>
          <a:p>
            <a:pPr marL="1657350" lvl="3" indent="-285750">
              <a:spcBef>
                <a:spcPts val="300"/>
              </a:spcBef>
              <a:spcAft>
                <a:spcPts val="300"/>
              </a:spcAft>
              <a:buFont typeface="Arial" panose="020B0604020202020204" pitchFamily="34" charset="0"/>
              <a:buChar char="•"/>
            </a:pPr>
            <a:r>
              <a:rPr lang="en-US" sz="1400" dirty="0"/>
              <a:t>Is that cadence weekly, monthly, quarterly, etc.?</a:t>
            </a:r>
          </a:p>
          <a:p>
            <a:pPr marL="1200150" lvl="2" indent="-285750">
              <a:spcBef>
                <a:spcPts val="300"/>
              </a:spcBef>
              <a:spcAft>
                <a:spcPts val="300"/>
              </a:spcAft>
              <a:buFont typeface="Arial" panose="020B0604020202020204" pitchFamily="34" charset="0"/>
              <a:buChar char="•"/>
            </a:pPr>
            <a:r>
              <a:rPr lang="en-US" sz="1400" dirty="0"/>
              <a:t>Should we have an annual review with each ASC ahead of renewal date to share results, collect feedback, discuss any new initiatives?</a:t>
            </a:r>
          </a:p>
        </p:txBody>
      </p:sp>
      <p:sp>
        <p:nvSpPr>
          <p:cNvPr id="4" name="Slide Number Placeholder 8">
            <a:extLst>
              <a:ext uri="{FF2B5EF4-FFF2-40B4-BE49-F238E27FC236}">
                <a16:creationId xmlns:a16="http://schemas.microsoft.com/office/drawing/2014/main" id="{66B79AE1-3207-C58E-54FF-7E38236CFCB6}"/>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2</a:t>
            </a:fld>
            <a:endParaRPr lang="en-US" dirty="0"/>
          </a:p>
        </p:txBody>
      </p:sp>
    </p:spTree>
    <p:extLst>
      <p:ext uri="{BB962C8B-B14F-4D97-AF65-F5344CB8AC3E}">
        <p14:creationId xmlns:p14="http://schemas.microsoft.com/office/powerpoint/2010/main" val="3926285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73A4E-C057-325A-44C6-05DCCD635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01E27-1D2D-BE3D-0108-15C8B4F09AEB}"/>
              </a:ext>
            </a:extLst>
          </p:cNvPr>
          <p:cNvSpPr>
            <a:spLocks noGrp="1"/>
          </p:cNvSpPr>
          <p:nvPr>
            <p:ph type="title"/>
          </p:nvPr>
        </p:nvSpPr>
        <p:spPr/>
        <p:txBody>
          <a:bodyPr>
            <a:normAutofit/>
          </a:bodyPr>
          <a:lstStyle/>
          <a:p>
            <a:r>
              <a:rPr lang="en-US" noProof="0" dirty="0"/>
              <a:t>Value Creation Pillars (Cont’d)</a:t>
            </a:r>
          </a:p>
        </p:txBody>
      </p:sp>
      <p:sp>
        <p:nvSpPr>
          <p:cNvPr id="3" name="TextBox 2">
            <a:extLst>
              <a:ext uri="{FF2B5EF4-FFF2-40B4-BE49-F238E27FC236}">
                <a16:creationId xmlns:a16="http://schemas.microsoft.com/office/drawing/2014/main" id="{2EE7A038-D6E1-FEA7-A224-F624EDB07A94}"/>
              </a:ext>
            </a:extLst>
          </p:cNvPr>
          <p:cNvSpPr txBox="1"/>
          <p:nvPr/>
        </p:nvSpPr>
        <p:spPr>
          <a:xfrm>
            <a:off x="221941" y="940057"/>
            <a:ext cx="8697771" cy="5693866"/>
          </a:xfrm>
          <a:prstGeom prst="rect">
            <a:avLst/>
          </a:prstGeom>
          <a:noFill/>
        </p:spPr>
        <p:txBody>
          <a:bodyPr wrap="square" rtlCol="0">
            <a:spAutoFit/>
          </a:bodyPr>
          <a:lstStyle/>
          <a:p>
            <a:pPr marL="742950" lvl="1" indent="-285750">
              <a:spcBef>
                <a:spcPts val="300"/>
              </a:spcBef>
              <a:spcAft>
                <a:spcPts val="300"/>
              </a:spcAft>
              <a:buFont typeface="Arial" panose="020B0604020202020204" pitchFamily="34" charset="0"/>
              <a:buChar char="•"/>
            </a:pPr>
            <a:r>
              <a:rPr lang="en-US" sz="1400" dirty="0"/>
              <a:t>How do we track if an administrator is satisfied or dissatisfied? (Cont’d)</a:t>
            </a:r>
          </a:p>
          <a:p>
            <a:pPr marL="1200150" lvl="2" indent="-285750">
              <a:spcBef>
                <a:spcPts val="300"/>
              </a:spcBef>
              <a:spcAft>
                <a:spcPts val="300"/>
              </a:spcAft>
              <a:buFont typeface="Arial" panose="020B0604020202020204" pitchFamily="34" charset="0"/>
              <a:buChar char="•"/>
            </a:pPr>
            <a:r>
              <a:rPr lang="en-US" sz="1400" dirty="0"/>
              <a:t>Is there merit to assigning a relationship manager for each center? </a:t>
            </a:r>
          </a:p>
          <a:p>
            <a:pPr marL="1200150" lvl="2" indent="-285750">
              <a:spcBef>
                <a:spcPts val="300"/>
              </a:spcBef>
              <a:spcAft>
                <a:spcPts val="300"/>
              </a:spcAft>
              <a:buFont typeface="Arial" panose="020B0604020202020204" pitchFamily="34" charset="0"/>
              <a:buChar char="•"/>
            </a:pPr>
            <a:r>
              <a:rPr lang="en-US" sz="1400" dirty="0"/>
              <a:t>Are we set up with the existing technology systems we have today to track the feedback from ASCs?</a:t>
            </a:r>
          </a:p>
          <a:p>
            <a:pPr marL="285750" indent="-285750">
              <a:spcBef>
                <a:spcPts val="300"/>
              </a:spcBef>
              <a:spcAft>
                <a:spcPts val="300"/>
              </a:spcAft>
              <a:buFont typeface="Arial" panose="020B0604020202020204" pitchFamily="34" charset="0"/>
              <a:buChar char="•"/>
            </a:pPr>
            <a:r>
              <a:rPr lang="en-US" sz="1400" b="1" dirty="0"/>
              <a:t>#2: “Minimizing reliance on ASC subsidies to the extent possible will reduce churn”</a:t>
            </a:r>
          </a:p>
          <a:p>
            <a:pPr marL="742950" lvl="1" indent="-285750">
              <a:spcBef>
                <a:spcPts val="300"/>
              </a:spcBef>
              <a:spcAft>
                <a:spcPts val="300"/>
              </a:spcAft>
              <a:buFont typeface="Arial" panose="020B0604020202020204" pitchFamily="34" charset="0"/>
              <a:buChar char="•"/>
            </a:pPr>
            <a:r>
              <a:rPr lang="en-US" sz="1400" dirty="0"/>
              <a:t>How much of the subsidy reliance is in our control versus outside of our control?</a:t>
            </a:r>
          </a:p>
          <a:p>
            <a:pPr marL="1200150" lvl="2" indent="-285750">
              <a:spcBef>
                <a:spcPts val="300"/>
              </a:spcBef>
              <a:spcAft>
                <a:spcPts val="300"/>
              </a:spcAft>
              <a:buFont typeface="Arial" panose="020B0604020202020204" pitchFamily="34" charset="0"/>
              <a:buChar char="•"/>
            </a:pPr>
            <a:r>
              <a:rPr lang="en-US" sz="1400" dirty="0"/>
              <a:t>To the extent collections can be improved upon, we need to do so (see RCM section)</a:t>
            </a:r>
          </a:p>
          <a:p>
            <a:pPr marL="1200150" lvl="2" indent="-285750">
              <a:spcBef>
                <a:spcPts val="300"/>
              </a:spcBef>
              <a:spcAft>
                <a:spcPts val="300"/>
              </a:spcAft>
              <a:buFont typeface="Arial" panose="020B0604020202020204" pitchFamily="34" charset="0"/>
              <a:buChar char="•"/>
            </a:pPr>
            <a:r>
              <a:rPr lang="en-US" sz="1400" dirty="0"/>
              <a:t>If subsidy reliance is outside of our control (e.g., case volumes are low and we are collecting what we should), do ASCs care about that?</a:t>
            </a:r>
          </a:p>
          <a:p>
            <a:pPr marL="1657350" lvl="3" indent="-285750">
              <a:spcBef>
                <a:spcPts val="300"/>
              </a:spcBef>
              <a:spcAft>
                <a:spcPts val="300"/>
              </a:spcAft>
              <a:buFont typeface="Arial" panose="020B0604020202020204" pitchFamily="34" charset="0"/>
              <a:buChar char="•"/>
            </a:pPr>
            <a:r>
              <a:rPr lang="en-US" sz="1400" dirty="0"/>
              <a:t>Would they try switching to an anesthesia provider with a lower labor floor, or to one that could go fully at-risk?</a:t>
            </a:r>
          </a:p>
          <a:p>
            <a:pPr marL="1200150" lvl="2" indent="-285750">
              <a:spcBef>
                <a:spcPts val="300"/>
              </a:spcBef>
              <a:spcAft>
                <a:spcPts val="300"/>
              </a:spcAft>
              <a:buFont typeface="Arial" panose="020B0604020202020204" pitchFamily="34" charset="0"/>
              <a:buChar char="•"/>
            </a:pPr>
            <a:r>
              <a:rPr lang="en-US" sz="1400" dirty="0"/>
              <a:t>If ASCs understand subsidy reliance, when it is a result of their actions, is normal course for anesthesia, is there any merit in being proactive with the ASC?</a:t>
            </a:r>
          </a:p>
          <a:p>
            <a:pPr marL="1657350" lvl="3" indent="-285750">
              <a:spcBef>
                <a:spcPts val="300"/>
              </a:spcBef>
              <a:spcAft>
                <a:spcPts val="300"/>
              </a:spcAft>
              <a:buFont typeface="Arial" panose="020B0604020202020204" pitchFamily="34" charset="0"/>
              <a:buChar char="•"/>
            </a:pPr>
            <a:r>
              <a:rPr lang="en-US" sz="1400" dirty="0"/>
              <a:t>Would centers value having reports on case volume, collections, etc.?</a:t>
            </a:r>
          </a:p>
          <a:p>
            <a:pPr marL="1657350" lvl="3" indent="-285750">
              <a:spcBef>
                <a:spcPts val="300"/>
              </a:spcBef>
              <a:spcAft>
                <a:spcPts val="300"/>
              </a:spcAft>
              <a:buFont typeface="Arial" panose="020B0604020202020204" pitchFamily="34" charset="0"/>
              <a:buChar char="•"/>
            </a:pPr>
            <a:r>
              <a:rPr lang="en-US" sz="1400" dirty="0"/>
              <a:t>Should we be looking at staffing costs by center? Is there any flexibility to change providers to achieve lower cost to deliver services for centers?</a:t>
            </a:r>
          </a:p>
          <a:p>
            <a:pPr marL="285750" indent="-285750">
              <a:spcBef>
                <a:spcPts val="300"/>
              </a:spcBef>
              <a:spcAft>
                <a:spcPts val="300"/>
              </a:spcAft>
              <a:buFont typeface="Arial" panose="020B0604020202020204" pitchFamily="34" charset="0"/>
              <a:buChar char="•"/>
            </a:pPr>
            <a:r>
              <a:rPr lang="en-US" sz="1400" b="1" dirty="0"/>
              <a:t>Potential Metrics to Track</a:t>
            </a:r>
          </a:p>
          <a:p>
            <a:pPr marL="742950" lvl="1" indent="-285750">
              <a:spcBef>
                <a:spcPts val="300"/>
              </a:spcBef>
              <a:spcAft>
                <a:spcPts val="300"/>
              </a:spcAft>
              <a:buFont typeface="Arial" panose="020B0604020202020204" pitchFamily="34" charset="0"/>
              <a:buChar char="•"/>
            </a:pPr>
            <a:r>
              <a:rPr lang="en-US" sz="1400" dirty="0"/>
              <a:t>On-time case coverage %</a:t>
            </a:r>
          </a:p>
          <a:p>
            <a:pPr marL="742950" lvl="1" indent="-285750">
              <a:spcBef>
                <a:spcPts val="300"/>
              </a:spcBef>
              <a:spcAft>
                <a:spcPts val="300"/>
              </a:spcAft>
              <a:buFont typeface="Arial" panose="020B0604020202020204" pitchFamily="34" charset="0"/>
              <a:buChar char="•"/>
            </a:pPr>
            <a:r>
              <a:rPr lang="en-US" sz="1400" dirty="0"/>
              <a:t>Administrator feedback score</a:t>
            </a:r>
          </a:p>
          <a:p>
            <a:pPr marL="742950" lvl="1" indent="-285750">
              <a:spcBef>
                <a:spcPts val="300"/>
              </a:spcBef>
              <a:spcAft>
                <a:spcPts val="300"/>
              </a:spcAft>
              <a:buFont typeface="Arial" panose="020B0604020202020204" pitchFamily="34" charset="0"/>
              <a:buChar char="•"/>
            </a:pPr>
            <a:r>
              <a:rPr lang="en-US" sz="1400" dirty="0"/>
              <a:t>Labor floor / subsidy as a % of total revenue</a:t>
            </a:r>
          </a:p>
        </p:txBody>
      </p:sp>
      <p:sp>
        <p:nvSpPr>
          <p:cNvPr id="4" name="Slide Number Placeholder 8">
            <a:extLst>
              <a:ext uri="{FF2B5EF4-FFF2-40B4-BE49-F238E27FC236}">
                <a16:creationId xmlns:a16="http://schemas.microsoft.com/office/drawing/2014/main" id="{171C4BC5-9C01-D542-5616-4A89A0794C5C}"/>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3</a:t>
            </a:fld>
            <a:endParaRPr lang="en-US" dirty="0"/>
          </a:p>
        </p:txBody>
      </p:sp>
    </p:spTree>
    <p:extLst>
      <p:ext uri="{BB962C8B-B14F-4D97-AF65-F5344CB8AC3E}">
        <p14:creationId xmlns:p14="http://schemas.microsoft.com/office/powerpoint/2010/main" val="98103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99E56-5F4E-DBF9-0676-C833BE0F8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AA4826-0E80-BB62-6642-316962F23EF4}"/>
              </a:ext>
            </a:extLst>
          </p:cNvPr>
          <p:cNvSpPr>
            <a:spLocks noGrp="1"/>
          </p:cNvSpPr>
          <p:nvPr>
            <p:ph type="title"/>
          </p:nvPr>
        </p:nvSpPr>
        <p:spPr/>
        <p:txBody>
          <a:bodyPr>
            <a:normAutofit/>
          </a:bodyPr>
          <a:lstStyle/>
          <a:p>
            <a:r>
              <a:rPr lang="en-US" noProof="0" dirty="0"/>
              <a:t>Value Creation Pillars (Cont’d)</a:t>
            </a:r>
          </a:p>
        </p:txBody>
      </p:sp>
      <p:sp>
        <p:nvSpPr>
          <p:cNvPr id="3" name="TextBox 2">
            <a:extLst>
              <a:ext uri="{FF2B5EF4-FFF2-40B4-BE49-F238E27FC236}">
                <a16:creationId xmlns:a16="http://schemas.microsoft.com/office/drawing/2014/main" id="{183E49FD-2690-1857-A970-F76B65B4493C}"/>
              </a:ext>
            </a:extLst>
          </p:cNvPr>
          <p:cNvSpPr txBox="1"/>
          <p:nvPr/>
        </p:nvSpPr>
        <p:spPr>
          <a:xfrm>
            <a:off x="221941" y="940057"/>
            <a:ext cx="8697771" cy="1477328"/>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400" b="1" dirty="0"/>
              <a:t>Potential Metrics to Track (cont’d)</a:t>
            </a:r>
          </a:p>
          <a:p>
            <a:pPr marL="742950" lvl="1" indent="-285750">
              <a:spcBef>
                <a:spcPts val="300"/>
              </a:spcBef>
              <a:spcAft>
                <a:spcPts val="300"/>
              </a:spcAft>
              <a:buFont typeface="Arial" panose="020B0604020202020204" pitchFamily="34" charset="0"/>
              <a:buChar char="•"/>
            </a:pPr>
            <a:r>
              <a:rPr lang="en-US" sz="1400" dirty="0"/>
              <a:t>Staffing costs by center</a:t>
            </a:r>
          </a:p>
          <a:p>
            <a:pPr marL="742950" lvl="1" indent="-285750">
              <a:spcBef>
                <a:spcPts val="300"/>
              </a:spcBef>
              <a:spcAft>
                <a:spcPts val="300"/>
              </a:spcAft>
              <a:buFont typeface="Arial" panose="020B0604020202020204" pitchFamily="34" charset="0"/>
              <a:buChar char="•"/>
            </a:pPr>
            <a:r>
              <a:rPr lang="en-US" sz="1400" dirty="0"/>
              <a:t>Contract renewal rate</a:t>
            </a:r>
          </a:p>
          <a:p>
            <a:pPr marL="285750" indent="-285750">
              <a:spcBef>
                <a:spcPts val="300"/>
              </a:spcBef>
              <a:spcAft>
                <a:spcPts val="300"/>
              </a:spcAft>
              <a:buFont typeface="Arial" panose="020B0604020202020204" pitchFamily="34" charset="0"/>
              <a:buChar char="•"/>
            </a:pPr>
            <a:r>
              <a:rPr lang="en-US" sz="1400" b="1" dirty="0"/>
              <a:t>Takeaways / Ownership / Timeline</a:t>
            </a:r>
          </a:p>
          <a:p>
            <a:pPr marL="742950" lvl="1" indent="-285750">
              <a:spcBef>
                <a:spcPts val="300"/>
              </a:spcBef>
              <a:spcAft>
                <a:spcPts val="300"/>
              </a:spcAft>
              <a:buFont typeface="Arial" panose="020B0604020202020204" pitchFamily="34" charset="0"/>
              <a:buChar char="•"/>
            </a:pPr>
            <a:r>
              <a:rPr lang="en-US" sz="1400" dirty="0"/>
              <a:t>[ ]</a:t>
            </a:r>
          </a:p>
        </p:txBody>
      </p:sp>
      <p:sp>
        <p:nvSpPr>
          <p:cNvPr id="4" name="Slide Number Placeholder 8">
            <a:extLst>
              <a:ext uri="{FF2B5EF4-FFF2-40B4-BE49-F238E27FC236}">
                <a16:creationId xmlns:a16="http://schemas.microsoft.com/office/drawing/2014/main" id="{D2822497-12FB-0C20-BF24-F64A08C58E04}"/>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4</a:t>
            </a:fld>
            <a:endParaRPr lang="en-US" dirty="0"/>
          </a:p>
        </p:txBody>
      </p:sp>
    </p:spTree>
    <p:extLst>
      <p:ext uri="{BB962C8B-B14F-4D97-AF65-F5344CB8AC3E}">
        <p14:creationId xmlns:p14="http://schemas.microsoft.com/office/powerpoint/2010/main" val="4260983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32E0-2871-0130-6DF1-C889A3C64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0DEA0-8E26-E57C-7AD0-97855C2D7AE0}"/>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769CBEE0-5FAC-087B-F4A8-DBF80C8D40A9}"/>
              </a:ext>
            </a:extLst>
          </p:cNvPr>
          <p:cNvSpPr txBox="1"/>
          <p:nvPr/>
        </p:nvSpPr>
        <p:spPr>
          <a:xfrm>
            <a:off x="221941" y="931004"/>
            <a:ext cx="8697771" cy="5416868"/>
          </a:xfrm>
          <a:prstGeom prst="rect">
            <a:avLst/>
          </a:prstGeom>
          <a:noFill/>
        </p:spPr>
        <p:txBody>
          <a:bodyPr wrap="square" rtlCol="0">
            <a:spAutoFit/>
          </a:bodyPr>
          <a:lstStyle/>
          <a:p>
            <a:pPr>
              <a:spcBef>
                <a:spcPts val="300"/>
              </a:spcBef>
              <a:spcAft>
                <a:spcPts val="300"/>
              </a:spcAft>
            </a:pPr>
            <a:r>
              <a:rPr lang="en-US" sz="1400" b="1" u="sng" dirty="0"/>
              <a:t>Pillar #2 Grow the ASC Portfolio in Existing Markets with Margin-Neutral to Margin-Accretive Contracts</a:t>
            </a:r>
          </a:p>
          <a:p>
            <a:pPr>
              <a:spcBef>
                <a:spcPts val="300"/>
              </a:spcBef>
              <a:spcAft>
                <a:spcPts val="300"/>
              </a:spcAft>
            </a:pPr>
            <a:r>
              <a:rPr lang="en-US" sz="1400" i="1" dirty="0"/>
              <a:t>The main lever to growing the company is to acquire new contracts, and the benefits of building scale and density within our existing markets include labor optimization and payor pricing power</a:t>
            </a:r>
          </a:p>
          <a:p>
            <a:pPr marL="285750" indent="-285750">
              <a:spcBef>
                <a:spcPts val="300"/>
              </a:spcBef>
              <a:spcAft>
                <a:spcPts val="300"/>
              </a:spcAft>
              <a:buFont typeface="Arial" panose="020B0604020202020204" pitchFamily="34" charset="0"/>
              <a:buChar char="•"/>
            </a:pPr>
            <a:r>
              <a:rPr lang="en-US" sz="1400" b="1" dirty="0"/>
              <a:t>#1: “We need a repeatable engine for sourcing and closing new ASC contracts”</a:t>
            </a:r>
          </a:p>
          <a:p>
            <a:pPr marL="742950" lvl="1" indent="-285750">
              <a:spcBef>
                <a:spcPts val="300"/>
              </a:spcBef>
              <a:spcAft>
                <a:spcPts val="300"/>
              </a:spcAft>
              <a:buFont typeface="Arial" panose="020B0604020202020204" pitchFamily="34" charset="0"/>
              <a:buChar char="•"/>
            </a:pPr>
            <a:r>
              <a:rPr lang="en-US" sz="1400" dirty="0"/>
              <a:t>What are the most effective channels for sourcing new ASC opportunities?</a:t>
            </a:r>
          </a:p>
          <a:p>
            <a:pPr marL="1200150" lvl="2" indent="-285750">
              <a:spcBef>
                <a:spcPts val="300"/>
              </a:spcBef>
              <a:spcAft>
                <a:spcPts val="300"/>
              </a:spcAft>
              <a:buFont typeface="Arial" panose="020B0604020202020204" pitchFamily="34" charset="0"/>
              <a:buChar char="•"/>
            </a:pPr>
            <a:r>
              <a:rPr lang="en-US" sz="1400" dirty="0"/>
              <a:t>Inbound RFPs</a:t>
            </a:r>
          </a:p>
          <a:p>
            <a:pPr marL="1657350" lvl="3" indent="-285750">
              <a:spcBef>
                <a:spcPts val="300"/>
              </a:spcBef>
              <a:spcAft>
                <a:spcPts val="300"/>
              </a:spcAft>
              <a:buFont typeface="Arial" panose="020B0604020202020204" pitchFamily="34" charset="0"/>
              <a:buChar char="•"/>
            </a:pPr>
            <a:r>
              <a:rPr lang="en-US" sz="1400" dirty="0"/>
              <a:t>Where do inbound RFPs come from today?</a:t>
            </a:r>
          </a:p>
          <a:p>
            <a:pPr marL="2114550" lvl="4" indent="-285750">
              <a:spcBef>
                <a:spcPts val="300"/>
              </a:spcBef>
              <a:spcAft>
                <a:spcPts val="300"/>
              </a:spcAft>
              <a:buFont typeface="Arial" panose="020B0604020202020204" pitchFamily="34" charset="0"/>
              <a:buChar char="•"/>
            </a:pPr>
            <a:r>
              <a:rPr lang="en-US" sz="1400" dirty="0"/>
              <a:t>Referrals</a:t>
            </a:r>
          </a:p>
          <a:p>
            <a:pPr marL="2571750" lvl="5" indent="-285750">
              <a:spcBef>
                <a:spcPts val="300"/>
              </a:spcBef>
              <a:spcAft>
                <a:spcPts val="300"/>
              </a:spcAft>
              <a:buFont typeface="Arial" panose="020B0604020202020204" pitchFamily="34" charset="0"/>
              <a:buChar char="•"/>
            </a:pPr>
            <a:r>
              <a:rPr lang="en-US" sz="1400" dirty="0"/>
              <a:t>Chris / Mark relationships</a:t>
            </a:r>
          </a:p>
          <a:p>
            <a:pPr marL="2571750" lvl="5" indent="-285750">
              <a:spcBef>
                <a:spcPts val="300"/>
              </a:spcBef>
              <a:spcAft>
                <a:spcPts val="300"/>
              </a:spcAft>
              <a:buFont typeface="Arial" panose="020B0604020202020204" pitchFamily="34" charset="0"/>
              <a:buChar char="•"/>
            </a:pPr>
            <a:r>
              <a:rPr lang="en-US" sz="1400" dirty="0"/>
              <a:t>AAS providers</a:t>
            </a:r>
          </a:p>
          <a:p>
            <a:pPr marL="2571750" lvl="5" indent="-285750">
              <a:spcBef>
                <a:spcPts val="300"/>
              </a:spcBef>
              <a:spcAft>
                <a:spcPts val="300"/>
              </a:spcAft>
              <a:buFont typeface="Arial" panose="020B0604020202020204" pitchFamily="34" charset="0"/>
              <a:buChar char="•"/>
            </a:pPr>
            <a:r>
              <a:rPr lang="en-US" sz="1400" dirty="0"/>
              <a:t>Administrators / staff at current or prior ASCs</a:t>
            </a:r>
          </a:p>
          <a:p>
            <a:pPr marL="2114550" lvl="4" indent="-285750">
              <a:spcBef>
                <a:spcPts val="300"/>
              </a:spcBef>
              <a:spcAft>
                <a:spcPts val="300"/>
              </a:spcAft>
              <a:buFont typeface="Arial" panose="020B0604020202020204" pitchFamily="34" charset="0"/>
              <a:buChar char="•"/>
            </a:pPr>
            <a:r>
              <a:rPr lang="en-US" sz="1400" dirty="0"/>
              <a:t>Marketing (trade shows, conferences, public marketing collateral, etc.)</a:t>
            </a:r>
          </a:p>
          <a:p>
            <a:pPr marL="2114550" lvl="4" indent="-285750">
              <a:spcBef>
                <a:spcPts val="300"/>
              </a:spcBef>
              <a:spcAft>
                <a:spcPts val="300"/>
              </a:spcAft>
              <a:buFont typeface="Arial" panose="020B0604020202020204" pitchFamily="34" charset="0"/>
              <a:buChar char="•"/>
            </a:pPr>
            <a:r>
              <a:rPr lang="en-US" sz="1400" dirty="0"/>
              <a:t>Word of mouth</a:t>
            </a:r>
          </a:p>
          <a:p>
            <a:pPr marL="1657350" lvl="3" indent="-285750">
              <a:spcBef>
                <a:spcPts val="300"/>
              </a:spcBef>
              <a:spcAft>
                <a:spcPts val="300"/>
              </a:spcAft>
              <a:buFont typeface="Arial" panose="020B0604020202020204" pitchFamily="34" charset="0"/>
              <a:buChar char="•"/>
            </a:pPr>
            <a:r>
              <a:rPr lang="en-US" sz="1400" dirty="0"/>
              <a:t>How would we grow the number of RFPs we’re seeing?</a:t>
            </a:r>
          </a:p>
          <a:p>
            <a:pPr marL="2114550" lvl="4" indent="-285750">
              <a:spcBef>
                <a:spcPts val="300"/>
              </a:spcBef>
              <a:spcAft>
                <a:spcPts val="300"/>
              </a:spcAft>
              <a:buFont typeface="Arial" panose="020B0604020202020204" pitchFamily="34" charset="0"/>
              <a:buChar char="•"/>
            </a:pPr>
            <a:r>
              <a:rPr lang="en-US" sz="1400" dirty="0"/>
              <a:t>Trade shows?</a:t>
            </a:r>
          </a:p>
          <a:p>
            <a:pPr marL="2114550" lvl="4" indent="-285750">
              <a:spcBef>
                <a:spcPts val="300"/>
              </a:spcBef>
              <a:spcAft>
                <a:spcPts val="300"/>
              </a:spcAft>
              <a:buFont typeface="Arial" panose="020B0604020202020204" pitchFamily="34" charset="0"/>
              <a:buChar char="•"/>
            </a:pPr>
            <a:r>
              <a:rPr lang="en-US" sz="1400" dirty="0"/>
              <a:t>Conferences?</a:t>
            </a:r>
          </a:p>
          <a:p>
            <a:pPr marL="2114550" lvl="4" indent="-285750">
              <a:spcBef>
                <a:spcPts val="300"/>
              </a:spcBef>
              <a:spcAft>
                <a:spcPts val="300"/>
              </a:spcAft>
              <a:buFont typeface="Arial" panose="020B0604020202020204" pitchFamily="34" charset="0"/>
              <a:buChar char="•"/>
            </a:pPr>
            <a:r>
              <a:rPr lang="en-US" sz="1400" dirty="0"/>
              <a:t>Marketing collateral?</a:t>
            </a:r>
          </a:p>
          <a:p>
            <a:pPr marL="2114550" lvl="4" indent="-285750">
              <a:spcBef>
                <a:spcPts val="300"/>
              </a:spcBef>
              <a:spcAft>
                <a:spcPts val="300"/>
              </a:spcAft>
              <a:buFont typeface="Arial" panose="020B0604020202020204" pitchFamily="34" charset="0"/>
              <a:buChar char="•"/>
            </a:pPr>
            <a:r>
              <a:rPr lang="en-US" sz="1400" dirty="0"/>
              <a:t>Do we have any incentivization program in place with providers to refer us to new centers?</a:t>
            </a:r>
          </a:p>
        </p:txBody>
      </p:sp>
      <p:sp>
        <p:nvSpPr>
          <p:cNvPr id="4" name="Slide Number Placeholder 8">
            <a:extLst>
              <a:ext uri="{FF2B5EF4-FFF2-40B4-BE49-F238E27FC236}">
                <a16:creationId xmlns:a16="http://schemas.microsoft.com/office/drawing/2014/main" id="{C328D3CA-308B-07C6-020B-F981136112DD}"/>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5</a:t>
            </a:fld>
            <a:endParaRPr lang="en-US" dirty="0"/>
          </a:p>
        </p:txBody>
      </p:sp>
    </p:spTree>
    <p:extLst>
      <p:ext uri="{BB962C8B-B14F-4D97-AF65-F5344CB8AC3E}">
        <p14:creationId xmlns:p14="http://schemas.microsoft.com/office/powerpoint/2010/main" val="401147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4BA99-312E-544C-767A-AF53492C5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0E781-679C-1BF3-C415-62EFE503D1DD}"/>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B20E2754-DF35-6E3D-844E-290C83550B34}"/>
              </a:ext>
            </a:extLst>
          </p:cNvPr>
          <p:cNvSpPr txBox="1"/>
          <p:nvPr/>
        </p:nvSpPr>
        <p:spPr>
          <a:xfrm>
            <a:off x="221941" y="940057"/>
            <a:ext cx="8697771" cy="5262979"/>
          </a:xfrm>
          <a:prstGeom prst="rect">
            <a:avLst/>
          </a:prstGeom>
          <a:noFill/>
        </p:spPr>
        <p:txBody>
          <a:bodyPr wrap="square" rtlCol="0">
            <a:spAutoFit/>
          </a:bodyPr>
          <a:lstStyle/>
          <a:p>
            <a:pPr marL="1657350" lvl="3" indent="-285750">
              <a:spcBef>
                <a:spcPts val="300"/>
              </a:spcBef>
              <a:spcAft>
                <a:spcPts val="300"/>
              </a:spcAft>
              <a:buFont typeface="Arial" panose="020B0604020202020204" pitchFamily="34" charset="0"/>
              <a:buChar char="•"/>
            </a:pPr>
            <a:r>
              <a:rPr lang="en-US" sz="1400" dirty="0"/>
              <a:t>How would we grow the number of RFPs we’re seeing? (Cont’d)</a:t>
            </a:r>
          </a:p>
          <a:p>
            <a:pPr marL="2114550" lvl="4" indent="-285750">
              <a:spcBef>
                <a:spcPts val="300"/>
              </a:spcBef>
              <a:spcAft>
                <a:spcPts val="300"/>
              </a:spcAft>
              <a:buFont typeface="Arial" panose="020B0604020202020204" pitchFamily="34" charset="0"/>
              <a:buChar char="•"/>
            </a:pPr>
            <a:r>
              <a:rPr lang="en-US" sz="1400" dirty="0"/>
              <a:t>Can we somehow leverage our existing ASC relationships proactively to expand into new centers?</a:t>
            </a:r>
          </a:p>
          <a:p>
            <a:pPr marL="1200150" lvl="2" indent="-285750">
              <a:spcBef>
                <a:spcPts val="300"/>
              </a:spcBef>
              <a:spcAft>
                <a:spcPts val="300"/>
              </a:spcAft>
              <a:buFont typeface="Arial" panose="020B0604020202020204" pitchFamily="34" charset="0"/>
              <a:buChar char="•"/>
            </a:pPr>
            <a:r>
              <a:rPr lang="en-US" sz="1400" dirty="0"/>
              <a:t>Management Company Partnerships</a:t>
            </a:r>
          </a:p>
          <a:p>
            <a:pPr marL="1657350" lvl="3" indent="-285750">
              <a:spcBef>
                <a:spcPts val="300"/>
              </a:spcBef>
              <a:spcAft>
                <a:spcPts val="300"/>
              </a:spcAft>
              <a:buFont typeface="Arial" panose="020B0604020202020204" pitchFamily="34" charset="0"/>
              <a:buChar char="•"/>
            </a:pPr>
            <a:r>
              <a:rPr lang="en-US" sz="1400" dirty="0"/>
              <a:t>How do we expand within our existing management companies?</a:t>
            </a:r>
          </a:p>
          <a:p>
            <a:pPr marL="2114550" lvl="4" indent="-285750">
              <a:spcBef>
                <a:spcPts val="300"/>
              </a:spcBef>
              <a:spcAft>
                <a:spcPts val="300"/>
              </a:spcAft>
              <a:buFont typeface="Arial" panose="020B0604020202020204" pitchFamily="34" charset="0"/>
              <a:buChar char="•"/>
            </a:pPr>
            <a:r>
              <a:rPr lang="en-US" sz="1400" dirty="0"/>
              <a:t>Who at AAS owns the relationships with the management companies</a:t>
            </a:r>
          </a:p>
          <a:p>
            <a:pPr marL="2114550" lvl="4" indent="-285750">
              <a:spcBef>
                <a:spcPts val="300"/>
              </a:spcBef>
              <a:spcAft>
                <a:spcPts val="300"/>
              </a:spcAft>
              <a:buFont typeface="Arial" panose="020B0604020202020204" pitchFamily="34" charset="0"/>
              <a:buChar char="•"/>
            </a:pPr>
            <a:r>
              <a:rPr lang="en-US" sz="1400" dirty="0"/>
              <a:t>How often are they discussing potential expansion opportunities?</a:t>
            </a:r>
          </a:p>
          <a:p>
            <a:pPr marL="2114550" lvl="4" indent="-285750">
              <a:spcBef>
                <a:spcPts val="300"/>
              </a:spcBef>
              <a:spcAft>
                <a:spcPts val="300"/>
              </a:spcAft>
              <a:buFont typeface="Arial" panose="020B0604020202020204" pitchFamily="34" charset="0"/>
              <a:buChar char="•"/>
            </a:pPr>
            <a:r>
              <a:rPr lang="en-US" sz="1400" dirty="0"/>
              <a:t>Is there benefit in mentioning our partnership to the management companies so they know that we have the capital and the backing to grow alongside them?</a:t>
            </a:r>
          </a:p>
          <a:p>
            <a:pPr marL="1657350" lvl="3" indent="-285750">
              <a:spcBef>
                <a:spcPts val="300"/>
              </a:spcBef>
              <a:spcAft>
                <a:spcPts val="300"/>
              </a:spcAft>
              <a:buFont typeface="Arial" panose="020B0604020202020204" pitchFamily="34" charset="0"/>
              <a:buChar char="•"/>
            </a:pPr>
            <a:r>
              <a:rPr lang="en-US" sz="1400" dirty="0"/>
              <a:t>Are there management companies in our existing markets where we don’t have a relationship with today?</a:t>
            </a:r>
          </a:p>
          <a:p>
            <a:pPr marL="2114550" lvl="4" indent="-285750">
              <a:spcBef>
                <a:spcPts val="300"/>
              </a:spcBef>
              <a:spcAft>
                <a:spcPts val="300"/>
              </a:spcAft>
              <a:buFont typeface="Arial" panose="020B0604020202020204" pitchFamily="34" charset="0"/>
              <a:buChar char="•"/>
            </a:pPr>
            <a:r>
              <a:rPr lang="en-US" sz="1400" dirty="0"/>
              <a:t>If so, how are we targeting their ASCs?</a:t>
            </a:r>
          </a:p>
          <a:p>
            <a:pPr marL="1200150" lvl="2" indent="-285750">
              <a:spcBef>
                <a:spcPts val="300"/>
              </a:spcBef>
              <a:spcAft>
                <a:spcPts val="300"/>
              </a:spcAft>
              <a:buFont typeface="Arial" panose="020B0604020202020204" pitchFamily="34" charset="0"/>
              <a:buChar char="•"/>
            </a:pPr>
            <a:r>
              <a:rPr lang="en-US" sz="1400" dirty="0"/>
              <a:t>Outbound Efforts</a:t>
            </a:r>
          </a:p>
          <a:p>
            <a:pPr marL="1657350" lvl="3" indent="-285750">
              <a:spcBef>
                <a:spcPts val="300"/>
              </a:spcBef>
              <a:spcAft>
                <a:spcPts val="300"/>
              </a:spcAft>
              <a:buFont typeface="Arial" panose="020B0604020202020204" pitchFamily="34" charset="0"/>
              <a:buChar char="•"/>
            </a:pPr>
            <a:r>
              <a:rPr lang="en-US" sz="1400" dirty="0"/>
              <a:t>Is there any merit to this strategy?</a:t>
            </a:r>
          </a:p>
          <a:p>
            <a:pPr marL="2114550" lvl="4" indent="-285750">
              <a:spcBef>
                <a:spcPts val="300"/>
              </a:spcBef>
              <a:spcAft>
                <a:spcPts val="300"/>
              </a:spcAft>
              <a:buFont typeface="Arial" panose="020B0604020202020204" pitchFamily="34" charset="0"/>
              <a:buChar char="•"/>
            </a:pPr>
            <a:r>
              <a:rPr lang="en-US" sz="1400" dirty="0"/>
              <a:t>How do we identify the most attractive ASCs in our existing markets?</a:t>
            </a:r>
          </a:p>
          <a:p>
            <a:pPr marL="2114550" lvl="4" indent="-285750">
              <a:spcBef>
                <a:spcPts val="300"/>
              </a:spcBef>
              <a:spcAft>
                <a:spcPts val="300"/>
              </a:spcAft>
              <a:buFont typeface="Arial" panose="020B0604020202020204" pitchFamily="34" charset="0"/>
              <a:buChar char="•"/>
            </a:pPr>
            <a:r>
              <a:rPr lang="en-US" sz="1400" dirty="0"/>
              <a:t>There are 100+ independent ASCs in both Michigan and Indiana based on the data from Chartis – should we think through an outreach strategy?</a:t>
            </a:r>
          </a:p>
          <a:p>
            <a:pPr marL="742950" lvl="1" indent="-285750">
              <a:spcBef>
                <a:spcPts val="300"/>
              </a:spcBef>
              <a:spcAft>
                <a:spcPts val="300"/>
              </a:spcAft>
              <a:buFont typeface="Arial" panose="020B0604020202020204" pitchFamily="34" charset="0"/>
              <a:buChar char="•"/>
            </a:pPr>
            <a:r>
              <a:rPr lang="en-US" sz="1400" dirty="0"/>
              <a:t>How do we track opportunities today?</a:t>
            </a:r>
          </a:p>
          <a:p>
            <a:pPr marL="1200150" lvl="2" indent="-285750">
              <a:spcBef>
                <a:spcPts val="300"/>
              </a:spcBef>
              <a:spcAft>
                <a:spcPts val="300"/>
              </a:spcAft>
              <a:buFont typeface="Arial" panose="020B0604020202020204" pitchFamily="34" charset="0"/>
              <a:buChar char="•"/>
            </a:pPr>
            <a:r>
              <a:rPr lang="en-US" sz="1400" dirty="0"/>
              <a:t>Do we have a pipeline that we actively manage?</a:t>
            </a:r>
          </a:p>
        </p:txBody>
      </p:sp>
      <p:sp>
        <p:nvSpPr>
          <p:cNvPr id="4" name="Slide Number Placeholder 8">
            <a:extLst>
              <a:ext uri="{FF2B5EF4-FFF2-40B4-BE49-F238E27FC236}">
                <a16:creationId xmlns:a16="http://schemas.microsoft.com/office/drawing/2014/main" id="{B73B6C8C-3EEB-AED9-E88B-A2964A6F6856}"/>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6</a:t>
            </a:fld>
            <a:endParaRPr lang="en-US" dirty="0"/>
          </a:p>
        </p:txBody>
      </p:sp>
      <p:cxnSp>
        <p:nvCxnSpPr>
          <p:cNvPr id="5" name="Straight Connector 4">
            <a:extLst>
              <a:ext uri="{FF2B5EF4-FFF2-40B4-BE49-F238E27FC236}">
                <a16:creationId xmlns:a16="http://schemas.microsoft.com/office/drawing/2014/main" id="{48569597-3DE9-94FA-C26F-C37B4C8CE917}"/>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2726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747D4-02D2-5B90-7286-31B3FB6BE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7B390-3E35-7DAB-41B3-AF0ADB198510}"/>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200ED56F-1F95-1544-1F63-EC68DF837D3E}"/>
              </a:ext>
            </a:extLst>
          </p:cNvPr>
          <p:cNvSpPr txBox="1"/>
          <p:nvPr/>
        </p:nvSpPr>
        <p:spPr>
          <a:xfrm>
            <a:off x="221941" y="940057"/>
            <a:ext cx="8697771" cy="6001643"/>
          </a:xfrm>
          <a:prstGeom prst="rect">
            <a:avLst/>
          </a:prstGeom>
          <a:noFill/>
        </p:spPr>
        <p:txBody>
          <a:bodyPr wrap="square" rtlCol="0">
            <a:spAutoFit/>
          </a:bodyPr>
          <a:lstStyle/>
          <a:p>
            <a:pPr marL="742950" lvl="1" indent="-285750">
              <a:spcBef>
                <a:spcPts val="300"/>
              </a:spcBef>
              <a:spcAft>
                <a:spcPts val="300"/>
              </a:spcAft>
              <a:buFont typeface="Arial" panose="020B0604020202020204" pitchFamily="34" charset="0"/>
              <a:buChar char="•"/>
            </a:pPr>
            <a:r>
              <a:rPr lang="en-US" sz="1400" dirty="0"/>
              <a:t>How do we track opportunities today? (Cont’d)</a:t>
            </a:r>
          </a:p>
          <a:p>
            <a:pPr marL="1657350" lvl="3" indent="-285750">
              <a:spcBef>
                <a:spcPts val="300"/>
              </a:spcBef>
              <a:spcAft>
                <a:spcPts val="300"/>
              </a:spcAft>
              <a:buFont typeface="Arial" panose="020B0604020202020204" pitchFamily="34" charset="0"/>
              <a:buChar char="•"/>
            </a:pPr>
            <a:r>
              <a:rPr lang="en-US" sz="1400" dirty="0"/>
              <a:t>Do we have defined pipeline stages? (</a:t>
            </a:r>
            <a:r>
              <a:rPr lang="en-US" sz="1400" b="1" dirty="0"/>
              <a:t>Exhibit A</a:t>
            </a:r>
            <a:r>
              <a:rPr lang="en-US" sz="1400" dirty="0"/>
              <a:t>)</a:t>
            </a:r>
          </a:p>
          <a:p>
            <a:pPr marL="1657350" lvl="3" indent="-285750">
              <a:spcBef>
                <a:spcPts val="300"/>
              </a:spcBef>
              <a:spcAft>
                <a:spcPts val="300"/>
              </a:spcAft>
              <a:buFont typeface="Arial" panose="020B0604020202020204" pitchFamily="34" charset="0"/>
              <a:buChar char="•"/>
            </a:pPr>
            <a:r>
              <a:rPr lang="en-US" sz="1400" dirty="0"/>
              <a:t>How do we apply weighting to opportunities?</a:t>
            </a:r>
          </a:p>
          <a:p>
            <a:pPr marL="1657350" lvl="3" indent="-285750">
              <a:spcBef>
                <a:spcPts val="300"/>
              </a:spcBef>
              <a:spcAft>
                <a:spcPts val="300"/>
              </a:spcAft>
              <a:buFont typeface="Arial" panose="020B0604020202020204" pitchFamily="34" charset="0"/>
              <a:buChar char="•"/>
            </a:pPr>
            <a:r>
              <a:rPr lang="en-US" sz="1400" dirty="0"/>
              <a:t>What is the cadence at which we update our pipeline?</a:t>
            </a:r>
          </a:p>
          <a:p>
            <a:pPr marL="1200150" lvl="2" indent="-285750">
              <a:spcBef>
                <a:spcPts val="300"/>
              </a:spcBef>
              <a:spcAft>
                <a:spcPts val="300"/>
              </a:spcAft>
              <a:buFont typeface="Arial" panose="020B0604020202020204" pitchFamily="34" charset="0"/>
              <a:buChar char="•"/>
            </a:pPr>
            <a:r>
              <a:rPr lang="en-US" sz="1400" dirty="0"/>
              <a:t>What do we need to develop or invest in to properly track our pipeline (e.g., CRM)?</a:t>
            </a:r>
          </a:p>
          <a:p>
            <a:pPr marL="1200150" lvl="2" indent="-285750">
              <a:spcBef>
                <a:spcPts val="300"/>
              </a:spcBef>
              <a:spcAft>
                <a:spcPts val="300"/>
              </a:spcAft>
              <a:buFont typeface="Arial" panose="020B0604020202020204" pitchFamily="34" charset="0"/>
              <a:buChar char="•"/>
            </a:pPr>
            <a:r>
              <a:rPr lang="en-US" sz="1400" dirty="0"/>
              <a:t>Once an opportunity is in the pipeline, who is responsible for working it?</a:t>
            </a:r>
          </a:p>
          <a:p>
            <a:pPr marL="742950" lvl="1" indent="-285750">
              <a:spcBef>
                <a:spcPts val="300"/>
              </a:spcBef>
              <a:spcAft>
                <a:spcPts val="300"/>
              </a:spcAft>
              <a:buFont typeface="Arial" panose="020B0604020202020204" pitchFamily="34" charset="0"/>
              <a:buChar char="•"/>
            </a:pPr>
            <a:r>
              <a:rPr lang="en-US" sz="1400" dirty="0"/>
              <a:t>Do we understand our ideal customer profile?</a:t>
            </a:r>
          </a:p>
          <a:p>
            <a:pPr marL="1200150" lvl="2" indent="-285750">
              <a:spcBef>
                <a:spcPts val="300"/>
              </a:spcBef>
              <a:spcAft>
                <a:spcPts val="300"/>
              </a:spcAft>
              <a:buFont typeface="Arial" panose="020B0604020202020204" pitchFamily="34" charset="0"/>
              <a:buChar char="•"/>
            </a:pPr>
            <a:r>
              <a:rPr lang="en-US" sz="1400" dirty="0"/>
              <a:t>Do we have more or less success with multi- vs single-specialty ASCs?</a:t>
            </a:r>
          </a:p>
          <a:p>
            <a:pPr marL="1200150" lvl="2" indent="-285750">
              <a:spcBef>
                <a:spcPts val="300"/>
              </a:spcBef>
              <a:spcAft>
                <a:spcPts val="300"/>
              </a:spcAft>
              <a:buFont typeface="Arial" panose="020B0604020202020204" pitchFamily="34" charset="0"/>
              <a:buChar char="•"/>
            </a:pPr>
            <a:r>
              <a:rPr lang="en-US" sz="1400" dirty="0"/>
              <a:t># of ORs?</a:t>
            </a:r>
          </a:p>
          <a:p>
            <a:pPr marL="1200150" lvl="2" indent="-285750">
              <a:spcBef>
                <a:spcPts val="300"/>
              </a:spcBef>
              <a:spcAft>
                <a:spcPts val="300"/>
              </a:spcAft>
              <a:buFont typeface="Arial" panose="020B0604020202020204" pitchFamily="34" charset="0"/>
              <a:buChar char="•"/>
            </a:pPr>
            <a:r>
              <a:rPr lang="en-US" sz="1400" dirty="0"/>
              <a:t>Management company owned vs independent?</a:t>
            </a:r>
          </a:p>
          <a:p>
            <a:pPr marL="1200150" lvl="2" indent="-285750">
              <a:spcBef>
                <a:spcPts val="300"/>
              </a:spcBef>
              <a:spcAft>
                <a:spcPts val="300"/>
              </a:spcAft>
              <a:buFont typeface="Arial" panose="020B0604020202020204" pitchFamily="34" charset="0"/>
              <a:buChar char="•"/>
            </a:pPr>
            <a:r>
              <a:rPr lang="en-US" sz="1400" dirty="0"/>
              <a:t>Case mix?</a:t>
            </a:r>
          </a:p>
          <a:p>
            <a:pPr marL="1200150" lvl="2" indent="-285750">
              <a:spcBef>
                <a:spcPts val="300"/>
              </a:spcBef>
              <a:spcAft>
                <a:spcPts val="300"/>
              </a:spcAft>
              <a:buFont typeface="Arial" panose="020B0604020202020204" pitchFamily="34" charset="0"/>
              <a:buChar char="•"/>
            </a:pPr>
            <a:r>
              <a:rPr lang="en-US" sz="1400" dirty="0"/>
              <a:t>Payor mix?</a:t>
            </a:r>
          </a:p>
          <a:p>
            <a:pPr marL="742950" lvl="1" indent="-285750">
              <a:spcBef>
                <a:spcPts val="300"/>
              </a:spcBef>
              <a:spcAft>
                <a:spcPts val="300"/>
              </a:spcAft>
              <a:buFont typeface="Arial" panose="020B0604020202020204" pitchFamily="34" charset="0"/>
              <a:buChar char="•"/>
            </a:pPr>
            <a:r>
              <a:rPr lang="en-US" sz="1400" dirty="0"/>
              <a:t>What are the main reasons we lose a contract?</a:t>
            </a:r>
          </a:p>
          <a:p>
            <a:pPr marL="1200150" lvl="2" indent="-285750">
              <a:spcBef>
                <a:spcPts val="300"/>
              </a:spcBef>
              <a:spcAft>
                <a:spcPts val="300"/>
              </a:spcAft>
              <a:buFont typeface="Arial" panose="020B0604020202020204" pitchFamily="34" charset="0"/>
              <a:buChar char="•"/>
            </a:pPr>
            <a:r>
              <a:rPr lang="en-US" sz="1400" dirty="0"/>
              <a:t>Is it due to a lack of differentiation?</a:t>
            </a:r>
          </a:p>
          <a:p>
            <a:pPr marL="1657350" lvl="3" indent="-285750">
              <a:spcBef>
                <a:spcPts val="300"/>
              </a:spcBef>
              <a:spcAft>
                <a:spcPts val="300"/>
              </a:spcAft>
              <a:buFont typeface="Arial" panose="020B0604020202020204" pitchFamily="34" charset="0"/>
              <a:buChar char="•"/>
            </a:pPr>
            <a:r>
              <a:rPr lang="en-US" sz="1400" dirty="0"/>
              <a:t>What aspects resonate the most with ASC-decision makers?</a:t>
            </a:r>
          </a:p>
          <a:p>
            <a:pPr marL="1657350" lvl="3" indent="-285750">
              <a:spcBef>
                <a:spcPts val="300"/>
              </a:spcBef>
              <a:spcAft>
                <a:spcPts val="300"/>
              </a:spcAft>
              <a:buFont typeface="Arial" panose="020B0604020202020204" pitchFamily="34" charset="0"/>
              <a:buChar char="•"/>
            </a:pPr>
            <a:r>
              <a:rPr lang="en-US" sz="1400" dirty="0"/>
              <a:t>Where are our gaps?</a:t>
            </a:r>
          </a:p>
          <a:p>
            <a:pPr marL="1200150" lvl="2" indent="-285750">
              <a:spcBef>
                <a:spcPts val="300"/>
              </a:spcBef>
              <a:spcAft>
                <a:spcPts val="300"/>
              </a:spcAft>
              <a:buFont typeface="Arial" panose="020B0604020202020204" pitchFamily="34" charset="0"/>
              <a:buChar char="•"/>
            </a:pPr>
            <a:r>
              <a:rPr lang="en-US" sz="1400" dirty="0"/>
              <a:t>Are there more opportunities for us to win new business if we can improve our collection ability to go more “at-risk”?</a:t>
            </a:r>
          </a:p>
          <a:p>
            <a:pPr marL="742950" lvl="1" indent="-285750">
              <a:spcBef>
                <a:spcPts val="300"/>
              </a:spcBef>
              <a:spcAft>
                <a:spcPts val="300"/>
              </a:spcAft>
              <a:buFont typeface="Arial" panose="020B0604020202020204" pitchFamily="34" charset="0"/>
              <a:buChar char="•"/>
            </a:pPr>
            <a:r>
              <a:rPr lang="en-US" sz="1400" dirty="0"/>
              <a:t>What operational prerequisites are needed before pursuing new growth?</a:t>
            </a:r>
          </a:p>
          <a:p>
            <a:pPr marL="1200150" lvl="2" indent="-285750">
              <a:spcBef>
                <a:spcPts val="300"/>
              </a:spcBef>
              <a:spcAft>
                <a:spcPts val="300"/>
              </a:spcAft>
              <a:buFont typeface="Arial" panose="020B0604020202020204" pitchFamily="34" charset="0"/>
              <a:buChar char="•"/>
            </a:pPr>
            <a:r>
              <a:rPr lang="en-US" sz="1400" dirty="0"/>
              <a:t>Do we have the scheduling, RCM excellence, and staffing in our existing markets to take on new centers?</a:t>
            </a:r>
          </a:p>
        </p:txBody>
      </p:sp>
      <p:sp>
        <p:nvSpPr>
          <p:cNvPr id="4" name="Slide Number Placeholder 8">
            <a:extLst>
              <a:ext uri="{FF2B5EF4-FFF2-40B4-BE49-F238E27FC236}">
                <a16:creationId xmlns:a16="http://schemas.microsoft.com/office/drawing/2014/main" id="{F25AD118-9B94-A95A-311E-52120E7D4D40}"/>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7</a:t>
            </a:fld>
            <a:endParaRPr lang="en-US" dirty="0"/>
          </a:p>
        </p:txBody>
      </p:sp>
      <p:cxnSp>
        <p:nvCxnSpPr>
          <p:cNvPr id="7" name="Straight Connector 6">
            <a:extLst>
              <a:ext uri="{FF2B5EF4-FFF2-40B4-BE49-F238E27FC236}">
                <a16:creationId xmlns:a16="http://schemas.microsoft.com/office/drawing/2014/main" id="{93BA3379-98D9-F7E8-7BDB-64925F617359}"/>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7803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3B1DA-E306-9F6D-6B8B-33FFB9AA5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EBAA3-E6E8-74F1-82C7-179B2F092B5E}"/>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16387456-271F-9B3D-EECE-5D998F7E530F}"/>
              </a:ext>
            </a:extLst>
          </p:cNvPr>
          <p:cNvSpPr txBox="1"/>
          <p:nvPr/>
        </p:nvSpPr>
        <p:spPr>
          <a:xfrm>
            <a:off x="221941" y="940057"/>
            <a:ext cx="8697771" cy="4970591"/>
          </a:xfrm>
          <a:prstGeom prst="rect">
            <a:avLst/>
          </a:prstGeom>
          <a:noFill/>
        </p:spPr>
        <p:txBody>
          <a:bodyPr wrap="square" rtlCol="0">
            <a:spAutoFit/>
          </a:bodyPr>
          <a:lstStyle/>
          <a:p>
            <a:pPr marL="742950" lvl="1" indent="-285750">
              <a:spcBef>
                <a:spcPts val="300"/>
              </a:spcBef>
              <a:spcAft>
                <a:spcPts val="300"/>
              </a:spcAft>
              <a:buFont typeface="Arial" panose="020B0604020202020204" pitchFamily="34" charset="0"/>
              <a:buChar char="•"/>
            </a:pPr>
            <a:r>
              <a:rPr lang="en-US" sz="1400" dirty="0"/>
              <a:t>What operational prerequisites are needed before pursuing new growth? (cont’d)</a:t>
            </a:r>
          </a:p>
          <a:p>
            <a:pPr marL="1657350" lvl="3" indent="-285750">
              <a:spcBef>
                <a:spcPts val="300"/>
              </a:spcBef>
              <a:spcAft>
                <a:spcPts val="300"/>
              </a:spcAft>
              <a:buFont typeface="Arial" panose="020B0604020202020204" pitchFamily="34" charset="0"/>
              <a:buChar char="•"/>
            </a:pPr>
            <a:r>
              <a:rPr lang="en-US" sz="1400" dirty="0"/>
              <a:t>If not, what do we need to do to get there?</a:t>
            </a:r>
          </a:p>
          <a:p>
            <a:pPr marL="1200150" lvl="2" indent="-285750">
              <a:spcBef>
                <a:spcPts val="300"/>
              </a:spcBef>
              <a:spcAft>
                <a:spcPts val="300"/>
              </a:spcAft>
              <a:buFont typeface="Arial" panose="020B0604020202020204" pitchFamily="34" charset="0"/>
              <a:buChar char="•"/>
            </a:pPr>
            <a:r>
              <a:rPr lang="en-US" sz="1400" dirty="0"/>
              <a:t>Do we have a defined onboarding strategy for a new ASC?</a:t>
            </a:r>
          </a:p>
          <a:p>
            <a:pPr marL="1657350" lvl="3" indent="-285750">
              <a:spcBef>
                <a:spcPts val="300"/>
              </a:spcBef>
              <a:spcAft>
                <a:spcPts val="300"/>
              </a:spcAft>
              <a:buFont typeface="Arial" panose="020B0604020202020204" pitchFamily="34" charset="0"/>
              <a:buChar char="•"/>
            </a:pPr>
            <a:r>
              <a:rPr lang="en-US" sz="1400" dirty="0"/>
              <a:t>Staffing, credentialing, payor setup, billing, etc.</a:t>
            </a:r>
          </a:p>
          <a:p>
            <a:pPr marL="285750" indent="-285750">
              <a:spcBef>
                <a:spcPts val="300"/>
              </a:spcBef>
              <a:spcAft>
                <a:spcPts val="300"/>
              </a:spcAft>
              <a:buFont typeface="Arial" panose="020B0604020202020204" pitchFamily="34" charset="0"/>
              <a:buChar char="•"/>
            </a:pPr>
            <a:r>
              <a:rPr lang="en-US" sz="1400" b="1" dirty="0"/>
              <a:t>#2: “We need to ensure every contract is at-worst margin-neutral to ensure we grow the Company profitably”</a:t>
            </a:r>
          </a:p>
          <a:p>
            <a:pPr marL="742950" lvl="1" indent="-285750">
              <a:spcBef>
                <a:spcPts val="300"/>
              </a:spcBef>
              <a:spcAft>
                <a:spcPts val="300"/>
              </a:spcAft>
              <a:buFont typeface="Arial" panose="020B0604020202020204" pitchFamily="34" charset="0"/>
              <a:buChar char="•"/>
            </a:pPr>
            <a:r>
              <a:rPr lang="en-US" sz="1400" dirty="0"/>
              <a:t>How do we structure contracts to ensure that we are maintaining or expanding margins?</a:t>
            </a:r>
          </a:p>
          <a:p>
            <a:pPr marL="1200150" lvl="2" indent="-285750">
              <a:spcBef>
                <a:spcPts val="300"/>
              </a:spcBef>
              <a:spcAft>
                <a:spcPts val="300"/>
              </a:spcAft>
              <a:buFont typeface="Arial" panose="020B0604020202020204" pitchFamily="34" charset="0"/>
              <a:buChar char="•"/>
            </a:pPr>
            <a:r>
              <a:rPr lang="en-US" sz="1400" dirty="0"/>
              <a:t>What sorts of processes can we put around contract pricing and negotiation?</a:t>
            </a:r>
          </a:p>
          <a:p>
            <a:pPr marL="1657350" lvl="3" indent="-285750">
              <a:spcBef>
                <a:spcPts val="300"/>
              </a:spcBef>
              <a:spcAft>
                <a:spcPts val="300"/>
              </a:spcAft>
              <a:buFont typeface="Arial" panose="020B0604020202020204" pitchFamily="34" charset="0"/>
              <a:buChar char="•"/>
            </a:pPr>
            <a:r>
              <a:rPr lang="en-US" sz="1400" dirty="0"/>
              <a:t>Pricing guardrails for floors before signing?</a:t>
            </a:r>
          </a:p>
          <a:p>
            <a:pPr marL="1657350" lvl="3" indent="-285750">
              <a:spcBef>
                <a:spcPts val="300"/>
              </a:spcBef>
              <a:spcAft>
                <a:spcPts val="300"/>
              </a:spcAft>
              <a:buFont typeface="Arial" panose="020B0604020202020204" pitchFamily="34" charset="0"/>
              <a:buChar char="•"/>
            </a:pPr>
            <a:r>
              <a:rPr lang="en-US" sz="1400" dirty="0"/>
              <a:t>Annual pricing escalators tied to the greater of labor cost increases or 3.5%?</a:t>
            </a:r>
          </a:p>
          <a:p>
            <a:pPr marL="2114550" lvl="4" indent="-285750">
              <a:spcBef>
                <a:spcPts val="300"/>
              </a:spcBef>
              <a:spcAft>
                <a:spcPts val="300"/>
              </a:spcAft>
              <a:buFont typeface="Arial" panose="020B0604020202020204" pitchFamily="34" charset="0"/>
              <a:buChar char="•"/>
            </a:pPr>
            <a:r>
              <a:rPr lang="en-US" sz="1400" dirty="0"/>
              <a:t>For existing contracts where we don’t have escalators, how are we making sure that we are maintaining target margins?</a:t>
            </a:r>
          </a:p>
          <a:p>
            <a:pPr marL="2571750" lvl="5" indent="-285750">
              <a:spcBef>
                <a:spcPts val="300"/>
              </a:spcBef>
              <a:spcAft>
                <a:spcPts val="300"/>
              </a:spcAft>
              <a:buFont typeface="Arial" panose="020B0604020202020204" pitchFamily="34" charset="0"/>
              <a:buChar char="•"/>
            </a:pPr>
            <a:r>
              <a:rPr lang="en-US" sz="1400" dirty="0"/>
              <a:t>As part of our MORs, should we have review margin trends by ASC?</a:t>
            </a:r>
          </a:p>
          <a:p>
            <a:pPr marL="1657350" lvl="3" indent="-285750">
              <a:spcBef>
                <a:spcPts val="300"/>
              </a:spcBef>
              <a:spcAft>
                <a:spcPts val="300"/>
              </a:spcAft>
              <a:buFont typeface="Arial" panose="020B0604020202020204" pitchFamily="34" charset="0"/>
              <a:buChar char="•"/>
            </a:pPr>
            <a:r>
              <a:rPr lang="en-US" sz="1400" dirty="0"/>
              <a:t>Are there any criteria or filters where we would never agree to (e.g., high concentration of government payors)</a:t>
            </a:r>
          </a:p>
          <a:p>
            <a:pPr marL="742950" lvl="1" indent="-285750">
              <a:spcBef>
                <a:spcPts val="300"/>
              </a:spcBef>
              <a:spcAft>
                <a:spcPts val="300"/>
              </a:spcAft>
              <a:buFont typeface="Arial" panose="020B0604020202020204" pitchFamily="34" charset="0"/>
              <a:buChar char="•"/>
            </a:pPr>
            <a:r>
              <a:rPr lang="en-US" sz="1400" dirty="0"/>
              <a:t>Are there situations where a center might be lower margin but strategic in nature (e.g., new mgmt. company relationship)</a:t>
            </a:r>
          </a:p>
          <a:p>
            <a:pPr marL="1200150" lvl="2" indent="-285750">
              <a:spcBef>
                <a:spcPts val="300"/>
              </a:spcBef>
              <a:spcAft>
                <a:spcPts val="300"/>
              </a:spcAft>
              <a:buFont typeface="Arial" panose="020B0604020202020204" pitchFamily="34" charset="0"/>
              <a:buChar char="•"/>
            </a:pPr>
            <a:endParaRPr lang="en-US" sz="1400" b="1" dirty="0"/>
          </a:p>
        </p:txBody>
      </p:sp>
      <p:sp>
        <p:nvSpPr>
          <p:cNvPr id="4" name="Slide Number Placeholder 8">
            <a:extLst>
              <a:ext uri="{FF2B5EF4-FFF2-40B4-BE49-F238E27FC236}">
                <a16:creationId xmlns:a16="http://schemas.microsoft.com/office/drawing/2014/main" id="{6F215E91-BD37-C39B-9F8F-F1A7742C9271}"/>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8</a:t>
            </a:fld>
            <a:endParaRPr lang="en-US" dirty="0"/>
          </a:p>
        </p:txBody>
      </p:sp>
      <p:cxnSp>
        <p:nvCxnSpPr>
          <p:cNvPr id="5" name="Straight Connector 4">
            <a:extLst>
              <a:ext uri="{FF2B5EF4-FFF2-40B4-BE49-F238E27FC236}">
                <a16:creationId xmlns:a16="http://schemas.microsoft.com/office/drawing/2014/main" id="{CA94E020-E2DB-252C-3889-72815DDE2553}"/>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3591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CB81F-6C89-1F3F-E2B0-34D4FCBEF0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B025D9-1A5E-52CC-21F2-5AF7EF0C029D}"/>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35034BB3-2429-E5EA-7089-E8078A2DBCC7}"/>
              </a:ext>
            </a:extLst>
          </p:cNvPr>
          <p:cNvSpPr txBox="1"/>
          <p:nvPr/>
        </p:nvSpPr>
        <p:spPr>
          <a:xfrm>
            <a:off x="221941" y="940057"/>
            <a:ext cx="8697771" cy="3231654"/>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400" b="1" dirty="0"/>
              <a:t>Potential Metrics</a:t>
            </a:r>
          </a:p>
          <a:p>
            <a:pPr marL="742950" lvl="1" indent="-285750">
              <a:spcBef>
                <a:spcPts val="300"/>
              </a:spcBef>
              <a:spcAft>
                <a:spcPts val="300"/>
              </a:spcAft>
              <a:buFont typeface="Arial" panose="020B0604020202020204" pitchFamily="34" charset="0"/>
              <a:buChar char="•"/>
            </a:pPr>
            <a:r>
              <a:rPr lang="en-US" sz="1400" dirty="0"/>
              <a:t>Pipeline KPIs</a:t>
            </a:r>
          </a:p>
          <a:p>
            <a:pPr marL="1200150" lvl="2" indent="-285750">
              <a:spcBef>
                <a:spcPts val="300"/>
              </a:spcBef>
              <a:spcAft>
                <a:spcPts val="300"/>
              </a:spcAft>
              <a:buFont typeface="Arial" panose="020B0604020202020204" pitchFamily="34" charset="0"/>
              <a:buChar char="•"/>
            </a:pPr>
            <a:r>
              <a:rPr lang="en-US" sz="1400" dirty="0"/>
              <a:t># of opportunities in each stage of the pipeline (per quarter / year)</a:t>
            </a:r>
          </a:p>
          <a:p>
            <a:pPr marL="1200150" lvl="2" indent="-285750">
              <a:spcBef>
                <a:spcPts val="300"/>
              </a:spcBef>
              <a:spcAft>
                <a:spcPts val="300"/>
              </a:spcAft>
              <a:buFont typeface="Arial" panose="020B0604020202020204" pitchFamily="34" charset="0"/>
              <a:buChar char="•"/>
            </a:pPr>
            <a:r>
              <a:rPr lang="en-US" sz="1400" dirty="0"/>
              <a:t>Weighted value</a:t>
            </a:r>
          </a:p>
          <a:p>
            <a:pPr marL="1200150" lvl="2" indent="-285750">
              <a:spcBef>
                <a:spcPts val="300"/>
              </a:spcBef>
              <a:spcAft>
                <a:spcPts val="300"/>
              </a:spcAft>
              <a:buFont typeface="Arial" panose="020B0604020202020204" pitchFamily="34" charset="0"/>
              <a:buChar char="•"/>
            </a:pPr>
            <a:r>
              <a:rPr lang="en-US" sz="1400" dirty="0"/>
              <a:t>Unweighted value</a:t>
            </a:r>
          </a:p>
          <a:p>
            <a:pPr marL="1200150" lvl="2" indent="-285750">
              <a:spcBef>
                <a:spcPts val="300"/>
              </a:spcBef>
              <a:spcAft>
                <a:spcPts val="300"/>
              </a:spcAft>
              <a:buFont typeface="Arial" panose="020B0604020202020204" pitchFamily="34" charset="0"/>
              <a:buChar char="•"/>
            </a:pPr>
            <a:r>
              <a:rPr lang="en-US" sz="1400" dirty="0"/>
              <a:t>Average time per pipeline stage</a:t>
            </a:r>
          </a:p>
          <a:p>
            <a:pPr marL="742950" lvl="1" indent="-285750">
              <a:spcBef>
                <a:spcPts val="300"/>
              </a:spcBef>
              <a:spcAft>
                <a:spcPts val="300"/>
              </a:spcAft>
              <a:buFont typeface="Arial" panose="020B0604020202020204" pitchFamily="34" charset="0"/>
              <a:buChar char="•"/>
            </a:pPr>
            <a:r>
              <a:rPr lang="en-US" sz="1400" dirty="0"/>
              <a:t>Define Ideal Customer Profile</a:t>
            </a:r>
          </a:p>
          <a:p>
            <a:pPr marL="742950" lvl="1" indent="-285750">
              <a:spcBef>
                <a:spcPts val="300"/>
              </a:spcBef>
              <a:spcAft>
                <a:spcPts val="300"/>
              </a:spcAft>
              <a:buFont typeface="Arial" panose="020B0604020202020204" pitchFamily="34" charset="0"/>
              <a:buChar char="•"/>
            </a:pPr>
            <a:r>
              <a:rPr lang="en-US" sz="1400" dirty="0"/>
              <a:t>Margin trend analysis</a:t>
            </a:r>
          </a:p>
          <a:p>
            <a:pPr marL="285750" indent="-285750">
              <a:spcBef>
                <a:spcPts val="300"/>
              </a:spcBef>
              <a:spcAft>
                <a:spcPts val="300"/>
              </a:spcAft>
              <a:buFont typeface="Arial" panose="020B0604020202020204" pitchFamily="34" charset="0"/>
              <a:buChar char="•"/>
            </a:pPr>
            <a:r>
              <a:rPr lang="en-US" sz="1400" b="1" dirty="0"/>
              <a:t>Takeaways / Ownership / Timeline</a:t>
            </a:r>
          </a:p>
          <a:p>
            <a:pPr marL="742950" lvl="1" indent="-285750">
              <a:spcBef>
                <a:spcPts val="300"/>
              </a:spcBef>
              <a:spcAft>
                <a:spcPts val="300"/>
              </a:spcAft>
              <a:buFont typeface="Arial" panose="020B0604020202020204" pitchFamily="34" charset="0"/>
              <a:buChar char="•"/>
            </a:pPr>
            <a:endParaRPr lang="en-US" sz="1400" dirty="0"/>
          </a:p>
          <a:p>
            <a:pPr marL="1200150" lvl="2" indent="-285750">
              <a:spcBef>
                <a:spcPts val="300"/>
              </a:spcBef>
              <a:spcAft>
                <a:spcPts val="300"/>
              </a:spcAft>
              <a:buFont typeface="Arial" panose="020B0604020202020204" pitchFamily="34" charset="0"/>
              <a:buChar char="•"/>
            </a:pPr>
            <a:endParaRPr lang="en-US" sz="1400" dirty="0"/>
          </a:p>
        </p:txBody>
      </p:sp>
      <p:sp>
        <p:nvSpPr>
          <p:cNvPr id="4" name="Slide Number Placeholder 8">
            <a:extLst>
              <a:ext uri="{FF2B5EF4-FFF2-40B4-BE49-F238E27FC236}">
                <a16:creationId xmlns:a16="http://schemas.microsoft.com/office/drawing/2014/main" id="{3DBA1235-F477-F21F-DCB6-C6324E0429D1}"/>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9</a:t>
            </a:fld>
            <a:endParaRPr lang="en-US" dirty="0"/>
          </a:p>
        </p:txBody>
      </p:sp>
      <p:cxnSp>
        <p:nvCxnSpPr>
          <p:cNvPr id="5" name="Straight Connector 4">
            <a:extLst>
              <a:ext uri="{FF2B5EF4-FFF2-40B4-BE49-F238E27FC236}">
                <a16:creationId xmlns:a16="http://schemas.microsoft.com/office/drawing/2014/main" id="{9D9E5254-8BD1-A9FD-9EF6-758AF7C72510}"/>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54584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D7B78-8BAC-65E3-1C18-5DC7B49BB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A81A9-D9A4-3480-0C6F-CFEF1B7AF107}"/>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976C7F24-B84C-8992-F079-A749ACA4E1DC}"/>
              </a:ext>
            </a:extLst>
          </p:cNvPr>
          <p:cNvSpPr txBox="1"/>
          <p:nvPr/>
        </p:nvSpPr>
        <p:spPr>
          <a:xfrm>
            <a:off x="221941" y="940057"/>
            <a:ext cx="8697771" cy="5478423"/>
          </a:xfrm>
          <a:prstGeom prst="rect">
            <a:avLst/>
          </a:prstGeom>
          <a:noFill/>
        </p:spPr>
        <p:txBody>
          <a:bodyPr wrap="square" rtlCol="0">
            <a:spAutoFit/>
          </a:bodyPr>
          <a:lstStyle/>
          <a:p>
            <a:pPr>
              <a:spcBef>
                <a:spcPts val="300"/>
              </a:spcBef>
              <a:spcAft>
                <a:spcPts val="300"/>
              </a:spcAft>
            </a:pPr>
            <a:r>
              <a:rPr lang="en-US" sz="1400" b="1" u="sng" dirty="0"/>
              <a:t>Pillar #3 Build a Best-in-Class Revenue Cycle Function</a:t>
            </a:r>
          </a:p>
          <a:p>
            <a:pPr>
              <a:spcBef>
                <a:spcPts val="300"/>
              </a:spcBef>
              <a:spcAft>
                <a:spcPts val="300"/>
              </a:spcAft>
            </a:pPr>
            <a:r>
              <a:rPr lang="en-US" sz="1400" i="1" dirty="0"/>
              <a:t>Having full visibility and control over the revenue cycle allows the Company to use going fully or partially at risk in contract negotiations where otherwise we would need a larger or stricter labor floor, creating opportunities to win new business, in addition to the obvious margin benefit of improving collections</a:t>
            </a:r>
          </a:p>
          <a:p>
            <a:pPr marL="285750" indent="-285750">
              <a:spcBef>
                <a:spcPts val="300"/>
              </a:spcBef>
              <a:spcAft>
                <a:spcPts val="300"/>
              </a:spcAft>
              <a:buFont typeface="Arial" panose="020B0604020202020204" pitchFamily="34" charset="0"/>
              <a:buChar char="•"/>
            </a:pPr>
            <a:r>
              <a:rPr lang="en-US" sz="1400" b="1" dirty="0"/>
              <a:t>#1: “We need full visibility into RCM to improve collections”</a:t>
            </a:r>
          </a:p>
          <a:p>
            <a:pPr marL="742950" lvl="1" indent="-285750">
              <a:spcBef>
                <a:spcPts val="300"/>
              </a:spcBef>
              <a:spcAft>
                <a:spcPts val="300"/>
              </a:spcAft>
              <a:buFont typeface="Arial" panose="020B0604020202020204" pitchFamily="34" charset="0"/>
              <a:buChar char="•"/>
            </a:pPr>
            <a:r>
              <a:rPr lang="en-US" sz="1400" dirty="0"/>
              <a:t>What does the coding and billing process look like from start to finish today?</a:t>
            </a:r>
          </a:p>
          <a:p>
            <a:pPr marL="1200150" lvl="2" indent="-285750">
              <a:spcBef>
                <a:spcPts val="300"/>
              </a:spcBef>
              <a:spcAft>
                <a:spcPts val="300"/>
              </a:spcAft>
              <a:buFont typeface="Arial" panose="020B0604020202020204" pitchFamily="34" charset="0"/>
              <a:buChar char="•"/>
            </a:pPr>
            <a:r>
              <a:rPr lang="en-US" sz="1400" dirty="0"/>
              <a:t>Who owns each step?</a:t>
            </a:r>
          </a:p>
          <a:p>
            <a:pPr marL="1657350" lvl="3" indent="-285750">
              <a:spcBef>
                <a:spcPts val="300"/>
              </a:spcBef>
              <a:spcAft>
                <a:spcPts val="300"/>
              </a:spcAft>
              <a:buFont typeface="Arial" panose="020B0604020202020204" pitchFamily="34" charset="0"/>
              <a:buChar char="•"/>
            </a:pPr>
            <a:r>
              <a:rPr lang="en-US" sz="1400" dirty="0"/>
              <a:t>Who is validating all of the entries and how do we know that we have the correct processes in place?</a:t>
            </a:r>
          </a:p>
          <a:p>
            <a:pPr marL="1657350" lvl="3" indent="-285750">
              <a:spcBef>
                <a:spcPts val="300"/>
              </a:spcBef>
              <a:spcAft>
                <a:spcPts val="300"/>
              </a:spcAft>
              <a:buFont typeface="Arial" panose="020B0604020202020204" pitchFamily="34" charset="0"/>
              <a:buChar char="•"/>
            </a:pPr>
            <a:r>
              <a:rPr lang="en-US" sz="1400" dirty="0"/>
              <a:t>Will any of this change with the migration to VBRCM?</a:t>
            </a:r>
          </a:p>
          <a:p>
            <a:pPr marL="742950" lvl="1" indent="-285750">
              <a:spcBef>
                <a:spcPts val="300"/>
              </a:spcBef>
              <a:spcAft>
                <a:spcPts val="300"/>
              </a:spcAft>
              <a:buFont typeface="Arial" panose="020B0604020202020204" pitchFamily="34" charset="0"/>
              <a:buChar char="•"/>
            </a:pPr>
            <a:r>
              <a:rPr lang="en-US" sz="1400" dirty="0"/>
              <a:t>Where are the most common breakdowns in this process?</a:t>
            </a:r>
          </a:p>
          <a:p>
            <a:pPr marL="742950" lvl="1" indent="-285750">
              <a:spcBef>
                <a:spcPts val="300"/>
              </a:spcBef>
              <a:spcAft>
                <a:spcPts val="300"/>
              </a:spcAft>
              <a:buFont typeface="Arial" panose="020B0604020202020204" pitchFamily="34" charset="0"/>
              <a:buChar char="•"/>
            </a:pPr>
            <a:r>
              <a:rPr lang="en-US" sz="1400" dirty="0"/>
              <a:t>Are we fully equipped to handle all the documentation and coding responsibilities today, or do we need to invest into additional tools / resources?</a:t>
            </a:r>
          </a:p>
          <a:p>
            <a:pPr marL="285750" indent="-285750">
              <a:spcBef>
                <a:spcPts val="300"/>
              </a:spcBef>
              <a:spcAft>
                <a:spcPts val="300"/>
              </a:spcAft>
              <a:buFont typeface="Arial" panose="020B0604020202020204" pitchFamily="34" charset="0"/>
              <a:buChar char="•"/>
            </a:pPr>
            <a:r>
              <a:rPr lang="en-US" sz="1400" b="1" dirty="0"/>
              <a:t>#2: “Optimizing RCM is the lever most in our control to increase revenue and margin profile”</a:t>
            </a:r>
          </a:p>
          <a:p>
            <a:pPr marL="742950" lvl="1" indent="-285750">
              <a:spcBef>
                <a:spcPts val="300"/>
              </a:spcBef>
              <a:spcAft>
                <a:spcPts val="300"/>
              </a:spcAft>
              <a:buFont typeface="Arial" panose="020B0604020202020204" pitchFamily="34" charset="0"/>
              <a:buChar char="•"/>
            </a:pPr>
            <a:r>
              <a:rPr lang="en-US" sz="1400" dirty="0"/>
              <a:t>What are the biggest pain points or opportunities for efficiency?</a:t>
            </a:r>
          </a:p>
          <a:p>
            <a:pPr marL="1200150" lvl="2" indent="-285750">
              <a:spcBef>
                <a:spcPts val="300"/>
              </a:spcBef>
              <a:spcAft>
                <a:spcPts val="300"/>
              </a:spcAft>
              <a:buFont typeface="Arial" panose="020B0604020202020204" pitchFamily="34" charset="0"/>
              <a:buChar char="•"/>
            </a:pPr>
            <a:r>
              <a:rPr lang="en-US" sz="1400" dirty="0"/>
              <a:t>Payor reimbursement rates</a:t>
            </a:r>
          </a:p>
          <a:p>
            <a:pPr marL="1657350" lvl="3" indent="-285750">
              <a:spcBef>
                <a:spcPts val="300"/>
              </a:spcBef>
              <a:spcAft>
                <a:spcPts val="300"/>
              </a:spcAft>
              <a:buFont typeface="Arial" panose="020B0604020202020204" pitchFamily="34" charset="0"/>
              <a:buChar char="•"/>
            </a:pPr>
            <a:r>
              <a:rPr lang="en-US" sz="1400" dirty="0"/>
              <a:t>How do we ensure we are receiving the best rates possible? VBRCM? Aroris? Other Third Party?</a:t>
            </a:r>
          </a:p>
          <a:p>
            <a:pPr marL="1200150" lvl="2" indent="-285750">
              <a:spcBef>
                <a:spcPts val="300"/>
              </a:spcBef>
              <a:spcAft>
                <a:spcPts val="300"/>
              </a:spcAft>
              <a:buFont typeface="Arial" panose="020B0604020202020204" pitchFamily="34" charset="0"/>
              <a:buChar char="•"/>
            </a:pPr>
            <a:r>
              <a:rPr lang="en-US" sz="1400" dirty="0"/>
              <a:t>Claim Denials?</a:t>
            </a:r>
          </a:p>
          <a:p>
            <a:pPr marL="1657350" lvl="3" indent="-285750">
              <a:spcBef>
                <a:spcPts val="300"/>
              </a:spcBef>
              <a:spcAft>
                <a:spcPts val="300"/>
              </a:spcAft>
              <a:buFont typeface="Arial" panose="020B0604020202020204" pitchFamily="34" charset="0"/>
              <a:buChar char="•"/>
            </a:pPr>
            <a:r>
              <a:rPr lang="en-US" sz="1400" dirty="0"/>
              <a:t>What are the strategies we’re implementing today to remedy</a:t>
            </a:r>
          </a:p>
        </p:txBody>
      </p:sp>
      <p:sp>
        <p:nvSpPr>
          <p:cNvPr id="4" name="Slide Number Placeholder 8">
            <a:extLst>
              <a:ext uri="{FF2B5EF4-FFF2-40B4-BE49-F238E27FC236}">
                <a16:creationId xmlns:a16="http://schemas.microsoft.com/office/drawing/2014/main" id="{9A61D858-57B8-7ECF-4F7B-7B2EE7CF3FC5}"/>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10</a:t>
            </a:fld>
            <a:endParaRPr lang="en-US" dirty="0"/>
          </a:p>
        </p:txBody>
      </p:sp>
      <p:cxnSp>
        <p:nvCxnSpPr>
          <p:cNvPr id="5" name="Straight Connector 4">
            <a:extLst>
              <a:ext uri="{FF2B5EF4-FFF2-40B4-BE49-F238E27FC236}">
                <a16:creationId xmlns:a16="http://schemas.microsoft.com/office/drawing/2014/main" id="{D516D818-55FE-8ADB-87E7-2FF0C46290E6}"/>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7136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B0461-BC57-5D50-7B07-85C9E7EC5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E7C9F9-AD0F-C615-BE17-8D05BC7B77BD}"/>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1AC6BE55-1F06-C13C-6071-D738FC29338A}"/>
              </a:ext>
            </a:extLst>
          </p:cNvPr>
          <p:cNvSpPr txBox="1"/>
          <p:nvPr/>
        </p:nvSpPr>
        <p:spPr>
          <a:xfrm>
            <a:off x="223114" y="943704"/>
            <a:ext cx="8697771" cy="4970591"/>
          </a:xfrm>
          <a:prstGeom prst="rect">
            <a:avLst/>
          </a:prstGeom>
          <a:noFill/>
        </p:spPr>
        <p:txBody>
          <a:bodyPr wrap="square" rtlCol="0">
            <a:spAutoFit/>
          </a:bodyPr>
          <a:lstStyle/>
          <a:p>
            <a:pPr marL="1200150" lvl="2" indent="-285750">
              <a:spcBef>
                <a:spcPts val="300"/>
              </a:spcBef>
              <a:spcAft>
                <a:spcPts val="300"/>
              </a:spcAft>
              <a:buFont typeface="Arial" panose="020B0604020202020204" pitchFamily="34" charset="0"/>
              <a:buChar char="•"/>
            </a:pPr>
            <a:r>
              <a:rPr lang="en-US" sz="1400" dirty="0"/>
              <a:t>Claim Denials? (cont’d)</a:t>
            </a:r>
          </a:p>
          <a:p>
            <a:pPr marL="1657350" lvl="3" indent="-285750">
              <a:spcBef>
                <a:spcPts val="300"/>
              </a:spcBef>
              <a:spcAft>
                <a:spcPts val="300"/>
              </a:spcAft>
              <a:buFont typeface="Arial" panose="020B0604020202020204" pitchFamily="34" charset="0"/>
              <a:buChar char="•"/>
            </a:pPr>
            <a:r>
              <a:rPr lang="en-US" sz="1400" dirty="0"/>
              <a:t>Are there any strategies we think may bear fruit but haven’t tried?</a:t>
            </a:r>
          </a:p>
          <a:p>
            <a:pPr marL="1657350" lvl="3" indent="-285750">
              <a:spcBef>
                <a:spcPts val="300"/>
              </a:spcBef>
              <a:spcAft>
                <a:spcPts val="300"/>
              </a:spcAft>
              <a:buFont typeface="Arial" panose="020B0604020202020204" pitchFamily="34" charset="0"/>
              <a:buChar char="•"/>
            </a:pPr>
            <a:r>
              <a:rPr lang="en-US" sz="1400" dirty="0"/>
              <a:t>In the preliminary VBRCM report, it looks like 3% of total charges were rejected for EDI configurations, is this a coding error on our part?</a:t>
            </a:r>
          </a:p>
          <a:p>
            <a:pPr marL="1657350" lvl="3" indent="-285750">
              <a:spcBef>
                <a:spcPts val="300"/>
              </a:spcBef>
              <a:spcAft>
                <a:spcPts val="300"/>
              </a:spcAft>
              <a:buFont typeface="Arial" panose="020B0604020202020204" pitchFamily="34" charset="0"/>
              <a:buChar char="•"/>
            </a:pPr>
            <a:r>
              <a:rPr lang="en-US" sz="1400" dirty="0"/>
              <a:t>The other 3% of charges that were denied is a result of patient-eligibility, is there any work that we cand o to verify insurance coverage before submission?</a:t>
            </a:r>
          </a:p>
          <a:p>
            <a:pPr marL="2114550" lvl="4" indent="-285750">
              <a:spcBef>
                <a:spcPts val="300"/>
              </a:spcBef>
              <a:spcAft>
                <a:spcPts val="300"/>
              </a:spcAft>
              <a:buFont typeface="Arial" panose="020B0604020202020204" pitchFamily="34" charset="0"/>
              <a:buChar char="•"/>
            </a:pPr>
            <a:r>
              <a:rPr lang="en-US" sz="1400" dirty="0"/>
              <a:t>Can this process be automated?</a:t>
            </a:r>
          </a:p>
          <a:p>
            <a:pPr marL="1657350" lvl="3" indent="-285750">
              <a:spcBef>
                <a:spcPts val="300"/>
              </a:spcBef>
              <a:spcAft>
                <a:spcPts val="300"/>
              </a:spcAft>
              <a:buFont typeface="Arial" panose="020B0604020202020204" pitchFamily="34" charset="0"/>
              <a:buChar char="•"/>
            </a:pPr>
            <a:r>
              <a:rPr lang="en-US" sz="1400" dirty="0"/>
              <a:t>Are claim rejections being tracked by payer and error type? Is it on VBRCM to resolve these?</a:t>
            </a:r>
          </a:p>
          <a:p>
            <a:pPr marL="1200150" lvl="2" indent="-285750">
              <a:spcBef>
                <a:spcPts val="300"/>
              </a:spcBef>
              <a:spcAft>
                <a:spcPts val="300"/>
              </a:spcAft>
              <a:buFont typeface="Arial" panose="020B0604020202020204" pitchFamily="34" charset="0"/>
              <a:buChar char="•"/>
            </a:pPr>
            <a:r>
              <a:rPr lang="en-US" sz="1400" dirty="0"/>
              <a:t>Collecting Patient Balances?</a:t>
            </a:r>
          </a:p>
          <a:p>
            <a:pPr marL="1657350" lvl="3" indent="-285750">
              <a:spcBef>
                <a:spcPts val="300"/>
              </a:spcBef>
              <a:spcAft>
                <a:spcPts val="300"/>
              </a:spcAft>
              <a:buFont typeface="Arial" panose="020B0604020202020204" pitchFamily="34" charset="0"/>
              <a:buChar char="•"/>
            </a:pPr>
            <a:r>
              <a:rPr lang="en-US" sz="1400" dirty="0"/>
              <a:t>Are there any metrics we’re using to track the effectiveness of our current provider?</a:t>
            </a:r>
          </a:p>
          <a:p>
            <a:pPr marL="1657350" lvl="3" indent="-285750">
              <a:spcBef>
                <a:spcPts val="300"/>
              </a:spcBef>
              <a:spcAft>
                <a:spcPts val="300"/>
              </a:spcAft>
              <a:buFont typeface="Arial" panose="020B0604020202020204" pitchFamily="34" charset="0"/>
              <a:buChar char="•"/>
            </a:pPr>
            <a:r>
              <a:rPr lang="en-US" sz="1400" dirty="0"/>
              <a:t>Should we evaluate switching providers?</a:t>
            </a:r>
          </a:p>
          <a:p>
            <a:pPr marL="1200150" lvl="2" indent="-285750">
              <a:spcBef>
                <a:spcPts val="300"/>
              </a:spcBef>
              <a:spcAft>
                <a:spcPts val="300"/>
              </a:spcAft>
              <a:buFont typeface="Arial" panose="020B0604020202020204" pitchFamily="34" charset="0"/>
              <a:buChar char="•"/>
            </a:pPr>
            <a:r>
              <a:rPr lang="en-US" sz="1400" dirty="0"/>
              <a:t>Improper coding resulting in underbilling?</a:t>
            </a:r>
          </a:p>
          <a:p>
            <a:pPr marL="1657350" lvl="3" indent="-285750">
              <a:spcBef>
                <a:spcPts val="300"/>
              </a:spcBef>
              <a:spcAft>
                <a:spcPts val="300"/>
              </a:spcAft>
              <a:buFont typeface="Arial" panose="020B0604020202020204" pitchFamily="34" charset="0"/>
              <a:buChar char="•"/>
            </a:pPr>
            <a:r>
              <a:rPr lang="en-US" sz="1400" dirty="0"/>
              <a:t>Pinnacle identified that the 99100 code wasn’t being utilized, which is an add on that gives one additional base unit for patients over age 70 </a:t>
            </a:r>
          </a:p>
          <a:p>
            <a:pPr marL="1200150" lvl="2" indent="-285750">
              <a:spcBef>
                <a:spcPts val="300"/>
              </a:spcBef>
              <a:spcAft>
                <a:spcPts val="300"/>
              </a:spcAft>
              <a:buFont typeface="Arial" panose="020B0604020202020204" pitchFamily="34" charset="0"/>
              <a:buChar char="•"/>
            </a:pPr>
            <a:r>
              <a:rPr lang="en-US" sz="1400" dirty="0"/>
              <a:t>What benefit does technology investments such as an EMR provide us?</a:t>
            </a:r>
          </a:p>
          <a:p>
            <a:pPr marL="1657350" lvl="3" indent="-285750">
              <a:spcBef>
                <a:spcPts val="300"/>
              </a:spcBef>
              <a:spcAft>
                <a:spcPts val="300"/>
              </a:spcAft>
              <a:buFont typeface="Arial" panose="020B0604020202020204" pitchFamily="34" charset="0"/>
              <a:buChar char="•"/>
            </a:pPr>
            <a:r>
              <a:rPr lang="en-US" sz="1400" dirty="0"/>
              <a:t>Can we quantify the ROI?</a:t>
            </a:r>
          </a:p>
          <a:p>
            <a:pPr lvl="2">
              <a:spcBef>
                <a:spcPts val="300"/>
              </a:spcBef>
              <a:spcAft>
                <a:spcPts val="300"/>
              </a:spcAft>
            </a:pPr>
            <a:endParaRPr lang="en-US" sz="1400" dirty="0"/>
          </a:p>
        </p:txBody>
      </p:sp>
      <p:sp>
        <p:nvSpPr>
          <p:cNvPr id="4" name="Slide Number Placeholder 8">
            <a:extLst>
              <a:ext uri="{FF2B5EF4-FFF2-40B4-BE49-F238E27FC236}">
                <a16:creationId xmlns:a16="http://schemas.microsoft.com/office/drawing/2014/main" id="{2079BDA0-7CD2-AB53-05AD-6BE248F4EEE7}"/>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11</a:t>
            </a:fld>
            <a:endParaRPr lang="en-US" dirty="0"/>
          </a:p>
        </p:txBody>
      </p:sp>
      <p:cxnSp>
        <p:nvCxnSpPr>
          <p:cNvPr id="5" name="Straight Connector 4">
            <a:extLst>
              <a:ext uri="{FF2B5EF4-FFF2-40B4-BE49-F238E27FC236}">
                <a16:creationId xmlns:a16="http://schemas.microsoft.com/office/drawing/2014/main" id="{3B44D331-2CB3-1DD9-DD3C-42841F994FAF}"/>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5139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1316A-B5D8-7C4F-1A97-53229936E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EE6427-E237-549D-22EF-8A8D90BCCFC0}"/>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D11A72B5-246A-A481-8BE8-7927903CF9E1}"/>
              </a:ext>
            </a:extLst>
          </p:cNvPr>
          <p:cNvSpPr txBox="1"/>
          <p:nvPr/>
        </p:nvSpPr>
        <p:spPr>
          <a:xfrm>
            <a:off x="223114" y="943704"/>
            <a:ext cx="8697771" cy="2062103"/>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400" b="1" dirty="0"/>
              <a:t>Potential Metrics</a:t>
            </a:r>
          </a:p>
          <a:p>
            <a:pPr marL="742950" lvl="1" indent="-285750">
              <a:spcBef>
                <a:spcPts val="300"/>
              </a:spcBef>
              <a:spcAft>
                <a:spcPts val="300"/>
              </a:spcAft>
              <a:buFont typeface="Arial" panose="020B0604020202020204" pitchFamily="34" charset="0"/>
              <a:buChar char="•"/>
            </a:pPr>
            <a:r>
              <a:rPr lang="en-US" sz="1400" dirty="0"/>
              <a:t>Bad debt % of revenue</a:t>
            </a:r>
          </a:p>
          <a:p>
            <a:pPr marL="742950" lvl="1" indent="-285750">
              <a:spcBef>
                <a:spcPts val="300"/>
              </a:spcBef>
              <a:spcAft>
                <a:spcPts val="300"/>
              </a:spcAft>
              <a:buFont typeface="Arial" panose="020B0604020202020204" pitchFamily="34" charset="0"/>
              <a:buChar char="•"/>
            </a:pPr>
            <a:r>
              <a:rPr lang="en-US" sz="1400" dirty="0"/>
              <a:t>Clean claim rate</a:t>
            </a:r>
          </a:p>
          <a:p>
            <a:pPr marL="742950" lvl="1" indent="-285750">
              <a:spcBef>
                <a:spcPts val="300"/>
              </a:spcBef>
              <a:spcAft>
                <a:spcPts val="300"/>
              </a:spcAft>
              <a:buFont typeface="Arial" panose="020B0604020202020204" pitchFamily="34" charset="0"/>
              <a:buChar char="•"/>
            </a:pPr>
            <a:r>
              <a:rPr lang="en-US" sz="1400" dirty="0"/>
              <a:t>A/R days over 120</a:t>
            </a:r>
          </a:p>
          <a:p>
            <a:pPr marL="742950" lvl="1" indent="-285750">
              <a:spcBef>
                <a:spcPts val="300"/>
              </a:spcBef>
              <a:spcAft>
                <a:spcPts val="300"/>
              </a:spcAft>
              <a:buFont typeface="Arial" panose="020B0604020202020204" pitchFamily="34" charset="0"/>
              <a:buChar char="•"/>
            </a:pPr>
            <a:r>
              <a:rPr lang="en-US" sz="1400" dirty="0"/>
              <a:t>Denial rate</a:t>
            </a:r>
          </a:p>
          <a:p>
            <a:pPr marL="742950" lvl="1" indent="-285750">
              <a:spcBef>
                <a:spcPts val="300"/>
              </a:spcBef>
              <a:spcAft>
                <a:spcPts val="300"/>
              </a:spcAft>
              <a:buFont typeface="Arial" panose="020B0604020202020204" pitchFamily="34" charset="0"/>
              <a:buChar char="•"/>
            </a:pPr>
            <a:r>
              <a:rPr lang="en-US" sz="1400" dirty="0"/>
              <a:t>Gross and Net collection rate</a:t>
            </a:r>
          </a:p>
          <a:p>
            <a:pPr marL="285750" indent="-285750">
              <a:spcBef>
                <a:spcPts val="300"/>
              </a:spcBef>
              <a:spcAft>
                <a:spcPts val="300"/>
              </a:spcAft>
              <a:buFont typeface="Arial" panose="020B0604020202020204" pitchFamily="34" charset="0"/>
              <a:buChar char="•"/>
            </a:pPr>
            <a:r>
              <a:rPr lang="en-US" sz="1400" b="1" dirty="0"/>
              <a:t>Takeaways / Ownership / Timeline</a:t>
            </a:r>
          </a:p>
        </p:txBody>
      </p:sp>
      <p:sp>
        <p:nvSpPr>
          <p:cNvPr id="4" name="Slide Number Placeholder 8">
            <a:extLst>
              <a:ext uri="{FF2B5EF4-FFF2-40B4-BE49-F238E27FC236}">
                <a16:creationId xmlns:a16="http://schemas.microsoft.com/office/drawing/2014/main" id="{FAE7A809-CC84-C267-7952-8153DD40E37D}"/>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12</a:t>
            </a:fld>
            <a:endParaRPr lang="en-US" dirty="0"/>
          </a:p>
        </p:txBody>
      </p:sp>
      <p:cxnSp>
        <p:nvCxnSpPr>
          <p:cNvPr id="5" name="Straight Connector 4">
            <a:extLst>
              <a:ext uri="{FF2B5EF4-FFF2-40B4-BE49-F238E27FC236}">
                <a16:creationId xmlns:a16="http://schemas.microsoft.com/office/drawing/2014/main" id="{218ED709-4CBB-9F1E-714A-D69F35AB5DF5}"/>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1087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6EB1A-9867-4B3F-DC16-86A56578F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C20AD7-17EC-A583-C42E-376ABE101E67}"/>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B41D67BC-BBF3-6C55-FC46-D4823731247B}"/>
              </a:ext>
            </a:extLst>
          </p:cNvPr>
          <p:cNvSpPr txBox="1"/>
          <p:nvPr/>
        </p:nvSpPr>
        <p:spPr>
          <a:xfrm>
            <a:off x="221941" y="940057"/>
            <a:ext cx="8697771" cy="5124480"/>
          </a:xfrm>
          <a:prstGeom prst="rect">
            <a:avLst/>
          </a:prstGeom>
          <a:noFill/>
        </p:spPr>
        <p:txBody>
          <a:bodyPr wrap="square" rtlCol="0">
            <a:spAutoFit/>
          </a:bodyPr>
          <a:lstStyle/>
          <a:p>
            <a:pPr>
              <a:spcBef>
                <a:spcPts val="300"/>
              </a:spcBef>
              <a:spcAft>
                <a:spcPts val="300"/>
              </a:spcAft>
            </a:pPr>
            <a:r>
              <a:rPr lang="en-US" sz="1400" b="1" u="sng" dirty="0"/>
              <a:t>Pillar #4 Expand Into New Geographies</a:t>
            </a:r>
          </a:p>
          <a:p>
            <a:pPr>
              <a:spcBef>
                <a:spcPts val="300"/>
              </a:spcBef>
              <a:spcAft>
                <a:spcPts val="300"/>
              </a:spcAft>
            </a:pPr>
            <a:r>
              <a:rPr lang="en-US" sz="1400" i="1" dirty="0"/>
              <a:t>The benefits of geographic expansion include i) diversification away from individual markets and payors, ii) revenue and margin opportunity from higher reimbursement states, iii) platform scale and exit attractiveness</a:t>
            </a:r>
          </a:p>
          <a:p>
            <a:pPr marL="285750" indent="-285750">
              <a:spcBef>
                <a:spcPts val="300"/>
              </a:spcBef>
              <a:spcAft>
                <a:spcPts val="300"/>
              </a:spcAft>
              <a:buFont typeface="Arial" panose="020B0604020202020204" pitchFamily="34" charset="0"/>
              <a:buChar char="•"/>
            </a:pPr>
            <a:r>
              <a:rPr lang="en-US" sz="1400" b="1" dirty="0"/>
              <a:t>#1: “We should deliberately expand into at least 3 new markets that offer higher reimbursement rates”</a:t>
            </a:r>
          </a:p>
          <a:p>
            <a:pPr marL="742950" lvl="1" indent="-285750">
              <a:spcBef>
                <a:spcPts val="300"/>
              </a:spcBef>
              <a:spcAft>
                <a:spcPts val="300"/>
              </a:spcAft>
              <a:buFont typeface="Arial" panose="020B0604020202020204" pitchFamily="34" charset="0"/>
              <a:buChar char="•"/>
            </a:pPr>
            <a:r>
              <a:rPr lang="en-US" sz="1400" dirty="0"/>
              <a:t>How do we identify target geographies?</a:t>
            </a:r>
          </a:p>
          <a:p>
            <a:pPr marL="1200150" lvl="2" indent="-285750">
              <a:spcBef>
                <a:spcPts val="300"/>
              </a:spcBef>
              <a:spcAft>
                <a:spcPts val="300"/>
              </a:spcAft>
              <a:buFont typeface="Arial" panose="020B0604020202020204" pitchFamily="34" charset="0"/>
              <a:buChar char="•"/>
            </a:pPr>
            <a:r>
              <a:rPr lang="en-US" sz="1400" dirty="0"/>
              <a:t>Which states have the most attractive reimbursement rates?</a:t>
            </a:r>
          </a:p>
          <a:p>
            <a:pPr marL="1657350" lvl="3" indent="-285750">
              <a:spcBef>
                <a:spcPts val="300"/>
              </a:spcBef>
              <a:spcAft>
                <a:spcPts val="300"/>
              </a:spcAft>
              <a:buFont typeface="Arial" panose="020B0604020202020204" pitchFamily="34" charset="0"/>
              <a:buChar char="•"/>
            </a:pPr>
            <a:r>
              <a:rPr lang="en-US" sz="1400" dirty="0"/>
              <a:t>Leverage Chartis work in addition to collecting data from VBRCM, Aroris / others</a:t>
            </a:r>
          </a:p>
          <a:p>
            <a:pPr marL="1200150" lvl="2" indent="-285750">
              <a:spcBef>
                <a:spcPts val="300"/>
              </a:spcBef>
              <a:spcAft>
                <a:spcPts val="300"/>
              </a:spcAft>
              <a:buFont typeface="Arial" panose="020B0604020202020204" pitchFamily="34" charset="0"/>
              <a:buChar char="•"/>
            </a:pPr>
            <a:r>
              <a:rPr lang="en-US" sz="1400" dirty="0"/>
              <a:t>Are there other factors we should consider in addition to reimbursement rates?</a:t>
            </a:r>
          </a:p>
          <a:p>
            <a:pPr marL="1657350" lvl="3" indent="-285750">
              <a:spcBef>
                <a:spcPts val="300"/>
              </a:spcBef>
              <a:spcAft>
                <a:spcPts val="300"/>
              </a:spcAft>
              <a:buFont typeface="Arial" panose="020B0604020202020204" pitchFamily="34" charset="0"/>
              <a:buChar char="•"/>
            </a:pPr>
            <a:r>
              <a:rPr lang="en-US" sz="1400" dirty="0"/>
              <a:t>Market attractiveness to potential strategic buyers?</a:t>
            </a:r>
          </a:p>
          <a:p>
            <a:pPr marL="1657350" lvl="3" indent="-285750">
              <a:spcBef>
                <a:spcPts val="300"/>
              </a:spcBef>
              <a:spcAft>
                <a:spcPts val="300"/>
              </a:spcAft>
              <a:buFont typeface="Arial" panose="020B0604020202020204" pitchFamily="34" charset="0"/>
              <a:buChar char="•"/>
            </a:pPr>
            <a:r>
              <a:rPr lang="en-US" sz="1400" dirty="0"/>
              <a:t>Market saturation</a:t>
            </a:r>
          </a:p>
          <a:p>
            <a:pPr marL="1657350" lvl="3" indent="-285750">
              <a:spcBef>
                <a:spcPts val="300"/>
              </a:spcBef>
              <a:spcAft>
                <a:spcPts val="300"/>
              </a:spcAft>
              <a:buFont typeface="Arial" panose="020B0604020202020204" pitchFamily="34" charset="0"/>
              <a:buChar char="•"/>
            </a:pPr>
            <a:r>
              <a:rPr lang="en-US" sz="1400" dirty="0"/>
              <a:t>Labor supply</a:t>
            </a:r>
          </a:p>
          <a:p>
            <a:pPr marL="742950" lvl="1" indent="-285750">
              <a:spcBef>
                <a:spcPts val="300"/>
              </a:spcBef>
              <a:spcAft>
                <a:spcPts val="300"/>
              </a:spcAft>
              <a:buFont typeface="Arial" panose="020B0604020202020204" pitchFamily="34" charset="0"/>
              <a:buChar char="•"/>
            </a:pPr>
            <a:r>
              <a:rPr lang="en-US" sz="1400" dirty="0"/>
              <a:t>How do we win contracts in new markets?</a:t>
            </a:r>
          </a:p>
          <a:p>
            <a:pPr marL="1200150" lvl="2" indent="-285750">
              <a:spcBef>
                <a:spcPts val="300"/>
              </a:spcBef>
              <a:spcAft>
                <a:spcPts val="300"/>
              </a:spcAft>
              <a:buFont typeface="Arial" panose="020B0604020202020204" pitchFamily="34" charset="0"/>
              <a:buChar char="•"/>
            </a:pPr>
            <a:r>
              <a:rPr lang="en-US" sz="1400" dirty="0"/>
              <a:t>Do the same marketing tactics that we employ in our existing markets work in new markets (e.g., trade shows, conferences, marketing collateral, etc.)?</a:t>
            </a:r>
          </a:p>
          <a:p>
            <a:pPr marL="1657350" lvl="3" indent="-285750">
              <a:spcBef>
                <a:spcPts val="300"/>
              </a:spcBef>
              <a:spcAft>
                <a:spcPts val="300"/>
              </a:spcAft>
              <a:buFont typeface="Arial" panose="020B0604020202020204" pitchFamily="34" charset="0"/>
              <a:buChar char="•"/>
            </a:pPr>
            <a:r>
              <a:rPr lang="en-US" sz="1400" dirty="0"/>
              <a:t>Are certain markets more referral-based vs RFP, or vice-versa?</a:t>
            </a:r>
          </a:p>
          <a:p>
            <a:pPr marL="1657350" lvl="3" indent="-285750">
              <a:spcBef>
                <a:spcPts val="300"/>
              </a:spcBef>
              <a:spcAft>
                <a:spcPts val="300"/>
              </a:spcAft>
              <a:buFont typeface="Arial" panose="020B0604020202020204" pitchFamily="34" charset="0"/>
              <a:buChar char="•"/>
            </a:pPr>
            <a:r>
              <a:rPr lang="en-US" sz="1400" dirty="0"/>
              <a:t>Do we need to leverage local provider consultants in certain markets for intros?</a:t>
            </a:r>
          </a:p>
          <a:p>
            <a:pPr marL="1200150" lvl="2" indent="-285750">
              <a:spcBef>
                <a:spcPts val="300"/>
              </a:spcBef>
              <a:spcAft>
                <a:spcPts val="300"/>
              </a:spcAft>
              <a:buFont typeface="Arial" panose="020B0604020202020204" pitchFamily="34" charset="0"/>
              <a:buChar char="•"/>
            </a:pPr>
            <a:r>
              <a:rPr lang="en-US" sz="1400" dirty="0"/>
              <a:t>Are buying criteria different in new markets vs Indiana and Michigan?</a:t>
            </a:r>
          </a:p>
          <a:p>
            <a:pPr marL="1200150" lvl="2" indent="-285750">
              <a:spcBef>
                <a:spcPts val="300"/>
              </a:spcBef>
              <a:spcAft>
                <a:spcPts val="300"/>
              </a:spcAft>
              <a:buFont typeface="Arial" panose="020B0604020202020204" pitchFamily="34" charset="0"/>
              <a:buChar char="•"/>
            </a:pPr>
            <a:r>
              <a:rPr lang="en-US" sz="1400" dirty="0"/>
              <a:t>How do we position AAS as the premium provider in markets where we have no presence?</a:t>
            </a:r>
          </a:p>
        </p:txBody>
      </p:sp>
      <p:sp>
        <p:nvSpPr>
          <p:cNvPr id="4" name="Slide Number Placeholder 8">
            <a:extLst>
              <a:ext uri="{FF2B5EF4-FFF2-40B4-BE49-F238E27FC236}">
                <a16:creationId xmlns:a16="http://schemas.microsoft.com/office/drawing/2014/main" id="{C5C36DDB-E308-8F79-0D03-34F106C6DB5F}"/>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13</a:t>
            </a:fld>
            <a:endParaRPr lang="en-US" dirty="0"/>
          </a:p>
        </p:txBody>
      </p:sp>
      <p:cxnSp>
        <p:nvCxnSpPr>
          <p:cNvPr id="8" name="Straight Connector 7">
            <a:extLst>
              <a:ext uri="{FF2B5EF4-FFF2-40B4-BE49-F238E27FC236}">
                <a16:creationId xmlns:a16="http://schemas.microsoft.com/office/drawing/2014/main" id="{B89662CA-D5DD-3ECB-175B-4E248C4AC760}"/>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01022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C287B-2F90-08C1-C7C1-F105D2FB3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B01D04-4340-7D0D-DA93-39754303BF4E}"/>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FF07EF64-B128-9C4D-05C1-80322E975439}"/>
              </a:ext>
            </a:extLst>
          </p:cNvPr>
          <p:cNvSpPr txBox="1"/>
          <p:nvPr/>
        </p:nvSpPr>
        <p:spPr>
          <a:xfrm>
            <a:off x="221941" y="940057"/>
            <a:ext cx="8697771" cy="4909036"/>
          </a:xfrm>
          <a:prstGeom prst="rect">
            <a:avLst/>
          </a:prstGeom>
          <a:noFill/>
        </p:spPr>
        <p:txBody>
          <a:bodyPr wrap="square" rtlCol="0">
            <a:spAutoFit/>
          </a:bodyPr>
          <a:lstStyle/>
          <a:p>
            <a:pPr marL="742950" lvl="1" indent="-285750">
              <a:spcBef>
                <a:spcPts val="300"/>
              </a:spcBef>
              <a:spcAft>
                <a:spcPts val="300"/>
              </a:spcAft>
              <a:buFont typeface="Arial" panose="020B0604020202020204" pitchFamily="34" charset="0"/>
              <a:buChar char="•"/>
            </a:pPr>
            <a:r>
              <a:rPr lang="en-US" sz="1400" dirty="0"/>
              <a:t>If a management company wants to pull is in a new market, but we don’t think the reimbursement rates are sufficiently attractive, how do we handle this?</a:t>
            </a:r>
          </a:p>
          <a:p>
            <a:pPr marL="1200150" lvl="2" indent="-285750">
              <a:spcBef>
                <a:spcPts val="300"/>
              </a:spcBef>
              <a:spcAft>
                <a:spcPts val="300"/>
              </a:spcAft>
              <a:buFont typeface="Arial" panose="020B0604020202020204" pitchFamily="34" charset="0"/>
              <a:buChar char="•"/>
            </a:pPr>
            <a:r>
              <a:rPr lang="en-US" sz="1400" dirty="0"/>
              <a:t>Can we use the management fee construct from Indiana to achieve target margins?</a:t>
            </a:r>
          </a:p>
          <a:p>
            <a:pPr marL="742950" lvl="1" indent="-285750">
              <a:spcBef>
                <a:spcPts val="300"/>
              </a:spcBef>
              <a:spcAft>
                <a:spcPts val="300"/>
              </a:spcAft>
              <a:buFont typeface="Arial" panose="020B0604020202020204" pitchFamily="34" charset="0"/>
              <a:buChar char="•"/>
            </a:pPr>
            <a:r>
              <a:rPr lang="en-US" sz="1400" dirty="0"/>
              <a:t>What is the minimum contract size we can target?</a:t>
            </a:r>
          </a:p>
          <a:p>
            <a:pPr marL="742950" lvl="1" indent="-285750">
              <a:spcBef>
                <a:spcPts val="300"/>
              </a:spcBef>
              <a:spcAft>
                <a:spcPts val="300"/>
              </a:spcAft>
              <a:buFont typeface="Arial" panose="020B0604020202020204" pitchFamily="34" charset="0"/>
              <a:buChar char="•"/>
            </a:pPr>
            <a:r>
              <a:rPr lang="en-US" sz="1400" dirty="0"/>
              <a:t>What is the minimum number of contracts to be profitable and justify a self-standing labor force?</a:t>
            </a:r>
          </a:p>
          <a:p>
            <a:pPr marL="285750" indent="-285750">
              <a:spcBef>
                <a:spcPts val="300"/>
              </a:spcBef>
              <a:spcAft>
                <a:spcPts val="300"/>
              </a:spcAft>
              <a:buFont typeface="Arial" panose="020B0604020202020204" pitchFamily="34" charset="0"/>
              <a:buChar char="•"/>
            </a:pPr>
            <a:r>
              <a:rPr lang="en-US" sz="1400" b="1" dirty="0"/>
              <a:t>#2: “To expand into 3+ markets, we need to develop a repeatable and efficient entry model”</a:t>
            </a:r>
          </a:p>
          <a:p>
            <a:pPr marL="742950" lvl="1" indent="-285750">
              <a:spcBef>
                <a:spcPts val="300"/>
              </a:spcBef>
              <a:spcAft>
                <a:spcPts val="300"/>
              </a:spcAft>
              <a:buFont typeface="Arial" panose="020B0604020202020204" pitchFamily="34" charset="0"/>
              <a:buChar char="•"/>
            </a:pPr>
            <a:r>
              <a:rPr lang="en-US" sz="1400" dirty="0"/>
              <a:t>How do we develop a market entry playbook?</a:t>
            </a:r>
          </a:p>
          <a:p>
            <a:pPr marL="1200150" lvl="2" indent="-285750">
              <a:spcBef>
                <a:spcPts val="300"/>
              </a:spcBef>
              <a:spcAft>
                <a:spcPts val="300"/>
              </a:spcAft>
              <a:buFont typeface="Arial" panose="020B0604020202020204" pitchFamily="34" charset="0"/>
              <a:buChar char="•"/>
            </a:pPr>
            <a:r>
              <a:rPr lang="en-US" sz="1400" dirty="0"/>
              <a:t>What does that playbook need to entail?</a:t>
            </a:r>
          </a:p>
          <a:p>
            <a:pPr marL="1657350" lvl="3" indent="-285750">
              <a:spcBef>
                <a:spcPts val="300"/>
              </a:spcBef>
              <a:spcAft>
                <a:spcPts val="300"/>
              </a:spcAft>
              <a:buFont typeface="Arial" panose="020B0604020202020204" pitchFamily="34" charset="0"/>
              <a:buChar char="•"/>
            </a:pPr>
            <a:r>
              <a:rPr lang="en-US" sz="1400" dirty="0"/>
              <a:t>Staffing strategy</a:t>
            </a:r>
          </a:p>
          <a:p>
            <a:pPr marL="1657350" lvl="3" indent="-285750">
              <a:spcBef>
                <a:spcPts val="300"/>
              </a:spcBef>
              <a:spcAft>
                <a:spcPts val="300"/>
              </a:spcAft>
              <a:buFont typeface="Arial" panose="020B0604020202020204" pitchFamily="34" charset="0"/>
              <a:buChar char="•"/>
            </a:pPr>
            <a:r>
              <a:rPr lang="en-US" sz="1400" dirty="0"/>
              <a:t>GTM strategy</a:t>
            </a:r>
          </a:p>
          <a:p>
            <a:pPr marL="1657350" lvl="3" indent="-285750">
              <a:spcBef>
                <a:spcPts val="300"/>
              </a:spcBef>
              <a:spcAft>
                <a:spcPts val="300"/>
              </a:spcAft>
              <a:buFont typeface="Arial" panose="020B0604020202020204" pitchFamily="34" charset="0"/>
              <a:buChar char="•"/>
            </a:pPr>
            <a:r>
              <a:rPr lang="en-US" sz="1400" dirty="0"/>
              <a:t>Payer negotiation tactics</a:t>
            </a:r>
          </a:p>
          <a:p>
            <a:pPr marL="1657350" lvl="3" indent="-285750">
              <a:spcBef>
                <a:spcPts val="300"/>
              </a:spcBef>
              <a:spcAft>
                <a:spcPts val="300"/>
              </a:spcAft>
              <a:buFont typeface="Arial" panose="020B0604020202020204" pitchFamily="34" charset="0"/>
              <a:buChar char="•"/>
            </a:pPr>
            <a:r>
              <a:rPr lang="en-US" sz="1400" dirty="0"/>
              <a:t>Operational checklist</a:t>
            </a:r>
          </a:p>
          <a:p>
            <a:pPr marL="742950" lvl="1" indent="-285750">
              <a:spcBef>
                <a:spcPts val="300"/>
              </a:spcBef>
              <a:spcAft>
                <a:spcPts val="300"/>
              </a:spcAft>
              <a:buFont typeface="Arial" panose="020B0604020202020204" pitchFamily="34" charset="0"/>
              <a:buChar char="•"/>
            </a:pPr>
            <a:r>
              <a:rPr lang="en-US" sz="1400" dirty="0"/>
              <a:t>Do we need a dedicated “new market launch team”?</a:t>
            </a:r>
          </a:p>
          <a:p>
            <a:pPr marL="1200150" lvl="2" indent="-285750">
              <a:spcBef>
                <a:spcPts val="300"/>
              </a:spcBef>
              <a:spcAft>
                <a:spcPts val="300"/>
              </a:spcAft>
              <a:buFont typeface="Arial" panose="020B0604020202020204" pitchFamily="34" charset="0"/>
              <a:buChar char="•"/>
            </a:pPr>
            <a:r>
              <a:rPr lang="en-US" sz="1400" dirty="0"/>
              <a:t>Who needs to be in that team excluding providers?</a:t>
            </a:r>
          </a:p>
          <a:p>
            <a:pPr marL="1657350" lvl="3" indent="-285750">
              <a:spcBef>
                <a:spcPts val="300"/>
              </a:spcBef>
              <a:spcAft>
                <a:spcPts val="300"/>
              </a:spcAft>
              <a:buFont typeface="Arial" panose="020B0604020202020204" pitchFamily="34" charset="0"/>
              <a:buChar char="•"/>
            </a:pPr>
            <a:r>
              <a:rPr lang="en-US" sz="1400" dirty="0"/>
              <a:t>Do we need a dedicated scheduler for new markets?</a:t>
            </a:r>
          </a:p>
          <a:p>
            <a:pPr marL="1657350" lvl="3" indent="-285750">
              <a:spcBef>
                <a:spcPts val="300"/>
              </a:spcBef>
              <a:spcAft>
                <a:spcPts val="300"/>
              </a:spcAft>
              <a:buFont typeface="Arial" panose="020B0604020202020204" pitchFamily="34" charset="0"/>
              <a:buChar char="•"/>
            </a:pPr>
            <a:r>
              <a:rPr lang="en-US" sz="1400" dirty="0"/>
              <a:t>How about billing and coding</a:t>
            </a:r>
          </a:p>
          <a:p>
            <a:pPr marL="1657350" lvl="3" indent="-285750">
              <a:spcBef>
                <a:spcPts val="300"/>
              </a:spcBef>
              <a:spcAft>
                <a:spcPts val="300"/>
              </a:spcAft>
              <a:buFont typeface="Arial" panose="020B0604020202020204" pitchFamily="34" charset="0"/>
              <a:buChar char="•"/>
            </a:pPr>
            <a:endParaRPr lang="en-US" sz="1400" dirty="0"/>
          </a:p>
        </p:txBody>
      </p:sp>
      <p:sp>
        <p:nvSpPr>
          <p:cNvPr id="4" name="Slide Number Placeholder 8">
            <a:extLst>
              <a:ext uri="{FF2B5EF4-FFF2-40B4-BE49-F238E27FC236}">
                <a16:creationId xmlns:a16="http://schemas.microsoft.com/office/drawing/2014/main" id="{64B2E831-A220-4015-917D-ACD631EAE86B}"/>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14</a:t>
            </a:fld>
            <a:endParaRPr lang="en-US" dirty="0"/>
          </a:p>
        </p:txBody>
      </p:sp>
      <p:cxnSp>
        <p:nvCxnSpPr>
          <p:cNvPr id="5" name="Straight Connector 4">
            <a:extLst>
              <a:ext uri="{FF2B5EF4-FFF2-40B4-BE49-F238E27FC236}">
                <a16:creationId xmlns:a16="http://schemas.microsoft.com/office/drawing/2014/main" id="{1FAD770E-0928-BE0D-6203-9E8691B1FAB5}"/>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5828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996C1-9DA3-452E-B7FB-BE0FC9111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B38A6-CA18-0DA0-21C6-3FC90385061B}"/>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5D8D1540-EDAF-071F-9B47-26C67A00B0EC}"/>
              </a:ext>
            </a:extLst>
          </p:cNvPr>
          <p:cNvSpPr txBox="1"/>
          <p:nvPr/>
        </p:nvSpPr>
        <p:spPr>
          <a:xfrm>
            <a:off x="221941" y="940057"/>
            <a:ext cx="8697771" cy="1769715"/>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400" b="1" dirty="0"/>
              <a:t>Potential Metrics</a:t>
            </a:r>
          </a:p>
          <a:p>
            <a:pPr marL="742950" lvl="1" indent="-285750">
              <a:spcBef>
                <a:spcPts val="300"/>
              </a:spcBef>
              <a:spcAft>
                <a:spcPts val="300"/>
              </a:spcAft>
              <a:buFont typeface="Arial" panose="020B0604020202020204" pitchFamily="34" charset="0"/>
              <a:buChar char="•"/>
            </a:pPr>
            <a:r>
              <a:rPr lang="en-US" sz="1400" dirty="0"/>
              <a:t>Reimbursement rates by state (aggregated from multiple sources)</a:t>
            </a:r>
          </a:p>
          <a:p>
            <a:pPr marL="742950" lvl="1" indent="-285750">
              <a:spcBef>
                <a:spcPts val="300"/>
              </a:spcBef>
              <a:spcAft>
                <a:spcPts val="300"/>
              </a:spcAft>
              <a:buFont typeface="Arial" panose="020B0604020202020204" pitchFamily="34" charset="0"/>
              <a:buChar char="•"/>
            </a:pPr>
            <a:r>
              <a:rPr lang="en-US" sz="1400" dirty="0"/>
              <a:t>Time to operational readiness (staffing, credentialing, billing setup)</a:t>
            </a:r>
          </a:p>
          <a:p>
            <a:pPr marL="742950" lvl="1" indent="-285750">
              <a:spcBef>
                <a:spcPts val="300"/>
              </a:spcBef>
              <a:spcAft>
                <a:spcPts val="300"/>
              </a:spcAft>
              <a:buFont typeface="Arial" panose="020B0604020202020204" pitchFamily="34" charset="0"/>
              <a:buChar char="•"/>
            </a:pPr>
            <a:r>
              <a:rPr lang="en-US" sz="1400" dirty="0"/>
              <a:t>New market startup costs</a:t>
            </a:r>
          </a:p>
          <a:p>
            <a:pPr marL="285750" indent="-285750">
              <a:spcBef>
                <a:spcPts val="300"/>
              </a:spcBef>
              <a:spcAft>
                <a:spcPts val="300"/>
              </a:spcAft>
              <a:buFont typeface="Arial" panose="020B0604020202020204" pitchFamily="34" charset="0"/>
              <a:buChar char="•"/>
            </a:pPr>
            <a:r>
              <a:rPr lang="en-US" sz="1400" b="1" dirty="0"/>
              <a:t>Takeaways / Ownership / Timeline</a:t>
            </a:r>
          </a:p>
          <a:p>
            <a:pPr marL="742950" lvl="1" indent="-285750">
              <a:spcBef>
                <a:spcPts val="300"/>
              </a:spcBef>
              <a:spcAft>
                <a:spcPts val="300"/>
              </a:spcAft>
              <a:buFont typeface="Arial" panose="020B0604020202020204" pitchFamily="34" charset="0"/>
              <a:buChar char="•"/>
            </a:pPr>
            <a:r>
              <a:rPr lang="en-US" sz="1400" dirty="0"/>
              <a:t>[  ]</a:t>
            </a:r>
          </a:p>
        </p:txBody>
      </p:sp>
      <p:sp>
        <p:nvSpPr>
          <p:cNvPr id="4" name="Slide Number Placeholder 8">
            <a:extLst>
              <a:ext uri="{FF2B5EF4-FFF2-40B4-BE49-F238E27FC236}">
                <a16:creationId xmlns:a16="http://schemas.microsoft.com/office/drawing/2014/main" id="{999E221F-C4D1-E6D5-5400-B874A3E93CE8}"/>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15</a:t>
            </a:fld>
            <a:endParaRPr lang="en-US" dirty="0"/>
          </a:p>
        </p:txBody>
      </p:sp>
      <p:cxnSp>
        <p:nvCxnSpPr>
          <p:cNvPr id="5" name="Straight Connector 4">
            <a:extLst>
              <a:ext uri="{FF2B5EF4-FFF2-40B4-BE49-F238E27FC236}">
                <a16:creationId xmlns:a16="http://schemas.microsoft.com/office/drawing/2014/main" id="{7B407D8D-D667-485D-85FB-6B1D8EEB56E0}"/>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11560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0C53D-BE09-795D-F910-F89BDB323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98CEA3-8F88-B81B-7C28-A11E2E70E40A}"/>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B70B4D0D-805F-A1B4-9488-4CD1CB6A8C0C}"/>
              </a:ext>
            </a:extLst>
          </p:cNvPr>
          <p:cNvSpPr txBox="1"/>
          <p:nvPr/>
        </p:nvSpPr>
        <p:spPr>
          <a:xfrm>
            <a:off x="221941" y="940057"/>
            <a:ext cx="8697771" cy="5047536"/>
          </a:xfrm>
          <a:prstGeom prst="rect">
            <a:avLst/>
          </a:prstGeom>
          <a:noFill/>
        </p:spPr>
        <p:txBody>
          <a:bodyPr wrap="square" rtlCol="0">
            <a:spAutoFit/>
          </a:bodyPr>
          <a:lstStyle/>
          <a:p>
            <a:pPr>
              <a:spcBef>
                <a:spcPts val="300"/>
              </a:spcBef>
              <a:spcAft>
                <a:spcPts val="300"/>
              </a:spcAft>
            </a:pPr>
            <a:r>
              <a:rPr lang="en-US" sz="1400" b="1" u="sng" dirty="0"/>
              <a:t>Pillar #5 Regulatory &amp; Compliance Excellence </a:t>
            </a:r>
          </a:p>
          <a:p>
            <a:pPr>
              <a:spcBef>
                <a:spcPts val="300"/>
              </a:spcBef>
              <a:spcAft>
                <a:spcPts val="300"/>
              </a:spcAft>
            </a:pPr>
            <a:r>
              <a:rPr lang="en-US" sz="1400" i="1" dirty="0"/>
              <a:t>The potential impact of failing an audit or a lawsuit due to improper compliance protocol and procedures could be millions-to-tens of millions of dollars</a:t>
            </a:r>
          </a:p>
          <a:p>
            <a:pPr marL="285750" indent="-285750">
              <a:spcBef>
                <a:spcPts val="300"/>
              </a:spcBef>
              <a:spcAft>
                <a:spcPts val="300"/>
              </a:spcAft>
              <a:buFont typeface="Arial" panose="020B0604020202020204" pitchFamily="34" charset="0"/>
              <a:buChar char="•"/>
            </a:pPr>
            <a:r>
              <a:rPr lang="en-US" sz="1400" b="1" dirty="0"/>
              <a:t>#1: “Compliance infrastructure needs to scale with the business as we grow”</a:t>
            </a:r>
          </a:p>
          <a:p>
            <a:pPr marL="742950" lvl="1" indent="-285750">
              <a:spcBef>
                <a:spcPts val="300"/>
              </a:spcBef>
              <a:spcAft>
                <a:spcPts val="300"/>
              </a:spcAft>
              <a:buFont typeface="Arial" panose="020B0604020202020204" pitchFamily="34" charset="0"/>
              <a:buChar char="•"/>
            </a:pPr>
            <a:r>
              <a:rPr lang="en-US" sz="1400" dirty="0"/>
              <a:t>Are there any gaps in the document provided by Health Law Partners for where we are today?</a:t>
            </a:r>
          </a:p>
          <a:p>
            <a:pPr marL="1200150" lvl="2" indent="-285750">
              <a:spcBef>
                <a:spcPts val="300"/>
              </a:spcBef>
              <a:spcAft>
                <a:spcPts val="300"/>
              </a:spcAft>
              <a:buFont typeface="Arial" panose="020B0604020202020204" pitchFamily="34" charset="0"/>
              <a:buChar char="•"/>
            </a:pPr>
            <a:r>
              <a:rPr lang="en-US" sz="1400" dirty="0"/>
              <a:t>Could there be gaps as we expand in size and footprint that we need to capture?</a:t>
            </a:r>
          </a:p>
          <a:p>
            <a:pPr marL="742950" lvl="1" indent="-285750">
              <a:spcBef>
                <a:spcPts val="300"/>
              </a:spcBef>
              <a:spcAft>
                <a:spcPts val="300"/>
              </a:spcAft>
              <a:buFont typeface="Arial" panose="020B0604020202020204" pitchFamily="34" charset="0"/>
              <a:buChar char="•"/>
            </a:pPr>
            <a:r>
              <a:rPr lang="en-US" sz="1400" dirty="0"/>
              <a:t>Are there state-specific requirements that we need to adhere to as we think about geographic expansion?</a:t>
            </a:r>
          </a:p>
          <a:p>
            <a:pPr marL="742950" lvl="1" indent="-285750">
              <a:spcBef>
                <a:spcPts val="300"/>
              </a:spcBef>
              <a:spcAft>
                <a:spcPts val="300"/>
              </a:spcAft>
              <a:buFont typeface="Arial" panose="020B0604020202020204" pitchFamily="34" charset="0"/>
              <a:buChar char="•"/>
            </a:pPr>
            <a:r>
              <a:rPr lang="en-US" sz="1400" dirty="0"/>
              <a:t>Who should be in charge of overseeing compliance at AAS?</a:t>
            </a:r>
          </a:p>
          <a:p>
            <a:pPr marL="742950" lvl="1" indent="-285750">
              <a:spcBef>
                <a:spcPts val="300"/>
              </a:spcBef>
              <a:spcAft>
                <a:spcPts val="300"/>
              </a:spcAft>
              <a:buFont typeface="Arial" panose="020B0604020202020204" pitchFamily="34" charset="0"/>
              <a:buChar char="•"/>
            </a:pPr>
            <a:r>
              <a:rPr lang="en-US" sz="1400" dirty="0"/>
              <a:t>In addition to initial background checks, should we be doing ongoing checks on our providers (e.g., OIG exclusion list, sex offender list, etc.)?</a:t>
            </a:r>
          </a:p>
          <a:p>
            <a:pPr marL="285750" indent="-285750">
              <a:spcBef>
                <a:spcPts val="300"/>
              </a:spcBef>
              <a:spcAft>
                <a:spcPts val="300"/>
              </a:spcAft>
              <a:buFont typeface="Arial" panose="020B0604020202020204" pitchFamily="34" charset="0"/>
              <a:buChar char="•"/>
            </a:pPr>
            <a:r>
              <a:rPr lang="en-US" sz="1400" b="1" dirty="0"/>
              <a:t>#2: “We need proactive monitoring and compliance training to avoid potential issues”</a:t>
            </a:r>
          </a:p>
          <a:p>
            <a:pPr marL="742950" lvl="1" indent="-285750">
              <a:spcBef>
                <a:spcPts val="300"/>
              </a:spcBef>
              <a:spcAft>
                <a:spcPts val="300"/>
              </a:spcAft>
              <a:buFont typeface="Arial" panose="020B0604020202020204" pitchFamily="34" charset="0"/>
              <a:buChar char="•"/>
            </a:pPr>
            <a:r>
              <a:rPr lang="en-US" sz="1400" dirty="0"/>
              <a:t>Do we conduct any coding audits to ensure time, modifiers, and codes are applied correctly?</a:t>
            </a:r>
          </a:p>
          <a:p>
            <a:pPr marL="742950" lvl="1" indent="-285750">
              <a:spcBef>
                <a:spcPts val="300"/>
              </a:spcBef>
              <a:spcAft>
                <a:spcPts val="300"/>
              </a:spcAft>
              <a:buFont typeface="Arial" panose="020B0604020202020204" pitchFamily="34" charset="0"/>
              <a:buChar char="•"/>
            </a:pPr>
            <a:r>
              <a:rPr lang="en-US" sz="1400" dirty="0"/>
              <a:t>Outside of documentation, what processes and systems can we put in place?</a:t>
            </a:r>
          </a:p>
          <a:p>
            <a:pPr marL="1200150" lvl="2" indent="-285750">
              <a:spcBef>
                <a:spcPts val="300"/>
              </a:spcBef>
              <a:spcAft>
                <a:spcPts val="300"/>
              </a:spcAft>
              <a:buFont typeface="Arial" panose="020B0604020202020204" pitchFamily="34" charset="0"/>
              <a:buChar char="•"/>
            </a:pPr>
            <a:r>
              <a:rPr lang="en-US" sz="1400" dirty="0"/>
              <a:t>Annual risk assessment</a:t>
            </a:r>
          </a:p>
          <a:p>
            <a:pPr marL="1200150" lvl="2" indent="-285750">
              <a:spcBef>
                <a:spcPts val="300"/>
              </a:spcBef>
              <a:spcAft>
                <a:spcPts val="300"/>
              </a:spcAft>
              <a:buFont typeface="Arial" panose="020B0604020202020204" pitchFamily="34" charset="0"/>
              <a:buChar char="•"/>
            </a:pPr>
            <a:r>
              <a:rPr lang="en-US" sz="1400" dirty="0"/>
              <a:t>Self or third-party audit</a:t>
            </a:r>
          </a:p>
          <a:p>
            <a:pPr marL="1200150" lvl="2" indent="-285750">
              <a:spcBef>
                <a:spcPts val="300"/>
              </a:spcBef>
              <a:spcAft>
                <a:spcPts val="300"/>
              </a:spcAft>
              <a:buFont typeface="Arial" panose="020B0604020202020204" pitchFamily="34" charset="0"/>
              <a:buChar char="•"/>
            </a:pPr>
            <a:r>
              <a:rPr lang="en-US" sz="1400" dirty="0"/>
              <a:t>Institute a reporting hotline for any mistakes or violations</a:t>
            </a:r>
          </a:p>
          <a:p>
            <a:pPr marL="1200150" lvl="2" indent="-285750">
              <a:spcBef>
                <a:spcPts val="300"/>
              </a:spcBef>
              <a:spcAft>
                <a:spcPts val="300"/>
              </a:spcAft>
              <a:buFont typeface="Arial" panose="020B0604020202020204" pitchFamily="34" charset="0"/>
              <a:buChar char="•"/>
            </a:pPr>
            <a:r>
              <a:rPr lang="en-US" sz="1400" dirty="0"/>
              <a:t>Compliance scorecard?</a:t>
            </a:r>
          </a:p>
        </p:txBody>
      </p:sp>
      <p:sp>
        <p:nvSpPr>
          <p:cNvPr id="4" name="Slide Number Placeholder 8">
            <a:extLst>
              <a:ext uri="{FF2B5EF4-FFF2-40B4-BE49-F238E27FC236}">
                <a16:creationId xmlns:a16="http://schemas.microsoft.com/office/drawing/2014/main" id="{6C62CBC7-44F2-8964-233E-76282F9039CE}"/>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16</a:t>
            </a:fld>
            <a:endParaRPr lang="en-US" dirty="0"/>
          </a:p>
        </p:txBody>
      </p:sp>
      <p:cxnSp>
        <p:nvCxnSpPr>
          <p:cNvPr id="5" name="Straight Connector 4">
            <a:extLst>
              <a:ext uri="{FF2B5EF4-FFF2-40B4-BE49-F238E27FC236}">
                <a16:creationId xmlns:a16="http://schemas.microsoft.com/office/drawing/2014/main" id="{77333A04-AA6F-6CF3-AE72-C3CA1C546113}"/>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0718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63F5-8FB4-2C8F-8F2D-388B15D10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E39297-3272-3642-69AA-00B80D9A6328}"/>
              </a:ext>
            </a:extLst>
          </p:cNvPr>
          <p:cNvSpPr>
            <a:spLocks noGrp="1"/>
          </p:cNvSpPr>
          <p:nvPr>
            <p:ph type="title"/>
          </p:nvPr>
        </p:nvSpPr>
        <p:spPr/>
        <p:txBody>
          <a:bodyPr>
            <a:normAutofit/>
          </a:bodyPr>
          <a:lstStyle/>
          <a:p>
            <a:r>
              <a:rPr lang="en-US" dirty="0"/>
              <a:t>Value Creation Pillars (Cont’d)</a:t>
            </a:r>
            <a:endParaRPr lang="en-US" noProof="0" dirty="0"/>
          </a:p>
        </p:txBody>
      </p:sp>
      <p:sp>
        <p:nvSpPr>
          <p:cNvPr id="3" name="TextBox 2">
            <a:extLst>
              <a:ext uri="{FF2B5EF4-FFF2-40B4-BE49-F238E27FC236}">
                <a16:creationId xmlns:a16="http://schemas.microsoft.com/office/drawing/2014/main" id="{C664B464-8511-67DE-5AD2-33140CC7D811}"/>
              </a:ext>
            </a:extLst>
          </p:cNvPr>
          <p:cNvSpPr txBox="1"/>
          <p:nvPr/>
        </p:nvSpPr>
        <p:spPr>
          <a:xfrm>
            <a:off x="221941" y="940057"/>
            <a:ext cx="8697771" cy="1769715"/>
          </a:xfrm>
          <a:prstGeom prst="rect">
            <a:avLst/>
          </a:prstGeom>
          <a:noFill/>
        </p:spPr>
        <p:txBody>
          <a:bodyPr wrap="square" rtlCol="0">
            <a:spAutoFit/>
          </a:bodyPr>
          <a:lstStyle/>
          <a:p>
            <a:pPr marL="285750" indent="-285750">
              <a:spcBef>
                <a:spcPts val="300"/>
              </a:spcBef>
              <a:spcAft>
                <a:spcPts val="300"/>
              </a:spcAft>
              <a:buFont typeface="Arial" panose="020B0604020202020204" pitchFamily="34" charset="0"/>
              <a:buChar char="•"/>
            </a:pPr>
            <a:r>
              <a:rPr lang="en-US" sz="1400" b="1" dirty="0"/>
              <a:t>Metrics</a:t>
            </a:r>
          </a:p>
          <a:p>
            <a:pPr marL="742950" lvl="1" indent="-285750">
              <a:spcBef>
                <a:spcPts val="300"/>
              </a:spcBef>
              <a:spcAft>
                <a:spcPts val="300"/>
              </a:spcAft>
              <a:buFont typeface="Arial" panose="020B0604020202020204" pitchFamily="34" charset="0"/>
              <a:buChar char="•"/>
            </a:pPr>
            <a:r>
              <a:rPr lang="en-US" sz="1400" dirty="0"/>
              <a:t>Audit pass rate</a:t>
            </a:r>
          </a:p>
          <a:p>
            <a:pPr marL="742950" lvl="1" indent="-285750">
              <a:spcBef>
                <a:spcPts val="300"/>
              </a:spcBef>
              <a:spcAft>
                <a:spcPts val="300"/>
              </a:spcAft>
              <a:buFont typeface="Arial" panose="020B0604020202020204" pitchFamily="34" charset="0"/>
              <a:buChar char="•"/>
            </a:pPr>
            <a:r>
              <a:rPr lang="en-US" sz="1400" dirty="0"/>
              <a:t># of violations per quarter (ideally 0)</a:t>
            </a:r>
          </a:p>
          <a:p>
            <a:pPr marL="285750" indent="-285750">
              <a:spcBef>
                <a:spcPts val="300"/>
              </a:spcBef>
              <a:spcAft>
                <a:spcPts val="300"/>
              </a:spcAft>
              <a:buFont typeface="Arial" panose="020B0604020202020204" pitchFamily="34" charset="0"/>
              <a:buChar char="•"/>
            </a:pPr>
            <a:r>
              <a:rPr lang="en-US" sz="1400" b="1" dirty="0"/>
              <a:t>Takeaways / Ownership / Timeline</a:t>
            </a:r>
          </a:p>
          <a:p>
            <a:pPr marL="742950" lvl="1" indent="-285750">
              <a:spcBef>
                <a:spcPts val="300"/>
              </a:spcBef>
              <a:spcAft>
                <a:spcPts val="300"/>
              </a:spcAft>
              <a:buFont typeface="Arial" panose="020B0604020202020204" pitchFamily="34" charset="0"/>
              <a:buChar char="•"/>
            </a:pPr>
            <a:r>
              <a:rPr lang="en-US" sz="1400" dirty="0"/>
              <a:t>[ ]</a:t>
            </a:r>
          </a:p>
          <a:p>
            <a:pPr marL="1200150" lvl="2" indent="-285750">
              <a:spcBef>
                <a:spcPts val="300"/>
              </a:spcBef>
              <a:spcAft>
                <a:spcPts val="300"/>
              </a:spcAft>
              <a:buFont typeface="Arial" panose="020B0604020202020204" pitchFamily="34" charset="0"/>
              <a:buChar char="•"/>
            </a:pPr>
            <a:endParaRPr lang="en-US" sz="1400" b="1" dirty="0"/>
          </a:p>
        </p:txBody>
      </p:sp>
      <p:sp>
        <p:nvSpPr>
          <p:cNvPr id="4" name="Slide Number Placeholder 8">
            <a:extLst>
              <a:ext uri="{FF2B5EF4-FFF2-40B4-BE49-F238E27FC236}">
                <a16:creationId xmlns:a16="http://schemas.microsoft.com/office/drawing/2014/main" id="{4AA625FC-06B8-6DBE-871F-B0072FCE94EE}"/>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17</a:t>
            </a:fld>
            <a:endParaRPr lang="en-US" dirty="0"/>
          </a:p>
        </p:txBody>
      </p:sp>
      <p:cxnSp>
        <p:nvCxnSpPr>
          <p:cNvPr id="5" name="Straight Connector 4">
            <a:extLst>
              <a:ext uri="{FF2B5EF4-FFF2-40B4-BE49-F238E27FC236}">
                <a16:creationId xmlns:a16="http://schemas.microsoft.com/office/drawing/2014/main" id="{B57A8A3C-D760-1FCF-0711-30F9428F1016}"/>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66189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C46F-DCF2-8455-3B05-70C88EEF9B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ADB89-4E73-9809-D42C-FC041484B0E9}"/>
              </a:ext>
            </a:extLst>
          </p:cNvPr>
          <p:cNvSpPr>
            <a:spLocks noGrp="1"/>
          </p:cNvSpPr>
          <p:nvPr>
            <p:ph type="title"/>
          </p:nvPr>
        </p:nvSpPr>
        <p:spPr/>
        <p:txBody>
          <a:bodyPr>
            <a:normAutofit/>
          </a:bodyPr>
          <a:lstStyle/>
          <a:p>
            <a:r>
              <a:rPr lang="en-US" dirty="0"/>
              <a:t>Company We Want to Build</a:t>
            </a:r>
            <a:endParaRPr lang="en-US" noProof="0" dirty="0"/>
          </a:p>
        </p:txBody>
      </p:sp>
      <p:sp>
        <p:nvSpPr>
          <p:cNvPr id="3" name="TextBox 2">
            <a:extLst>
              <a:ext uri="{FF2B5EF4-FFF2-40B4-BE49-F238E27FC236}">
                <a16:creationId xmlns:a16="http://schemas.microsoft.com/office/drawing/2014/main" id="{9587E32E-AC50-644F-C412-44C746E56B87}"/>
              </a:ext>
            </a:extLst>
          </p:cNvPr>
          <p:cNvSpPr txBox="1"/>
          <p:nvPr/>
        </p:nvSpPr>
        <p:spPr>
          <a:xfrm>
            <a:off x="221941" y="940057"/>
            <a:ext cx="8697771" cy="815608"/>
          </a:xfrm>
          <a:prstGeom prst="rect">
            <a:avLst/>
          </a:prstGeom>
          <a:noFill/>
        </p:spPr>
        <p:txBody>
          <a:bodyPr wrap="square" rtlCol="0">
            <a:spAutoFit/>
          </a:bodyPr>
          <a:lstStyle/>
          <a:p>
            <a:pPr>
              <a:spcBef>
                <a:spcPts val="300"/>
              </a:spcBef>
              <a:spcAft>
                <a:spcPts val="300"/>
              </a:spcAft>
            </a:pPr>
            <a:r>
              <a:rPr lang="en-US" sz="1400" dirty="0"/>
              <a:t>We are confident that together we can grow AAS to $100+ Million revenue and $20 Million+ EBITDA by 2030</a:t>
            </a:r>
          </a:p>
          <a:p>
            <a:pPr marL="742950" lvl="1" indent="-285750">
              <a:spcBef>
                <a:spcPts val="300"/>
              </a:spcBef>
              <a:spcAft>
                <a:spcPts val="300"/>
              </a:spcAft>
              <a:buFont typeface="Arial" panose="020B0604020202020204" pitchFamily="34" charset="0"/>
              <a:buChar char="•"/>
            </a:pPr>
            <a:r>
              <a:rPr lang="en-US" sz="1400" dirty="0"/>
              <a:t>We have layered in $2+ Million of additional costs in our forecast to cover finance buildout, dedicated recruiter and additional marketing expense, and further back-office support (HR, scheduler)</a:t>
            </a:r>
          </a:p>
        </p:txBody>
      </p:sp>
      <p:sp>
        <p:nvSpPr>
          <p:cNvPr id="4" name="Slide Number Placeholder 8">
            <a:extLst>
              <a:ext uri="{FF2B5EF4-FFF2-40B4-BE49-F238E27FC236}">
                <a16:creationId xmlns:a16="http://schemas.microsoft.com/office/drawing/2014/main" id="{C54E53A1-1062-DD3A-D451-F74D84B09BCC}"/>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18</a:t>
            </a:fld>
            <a:endParaRPr lang="en-US" dirty="0"/>
          </a:p>
        </p:txBody>
      </p:sp>
      <p:cxnSp>
        <p:nvCxnSpPr>
          <p:cNvPr id="7" name="Straight Connector 6">
            <a:extLst>
              <a:ext uri="{FF2B5EF4-FFF2-40B4-BE49-F238E27FC236}">
                <a16:creationId xmlns:a16="http://schemas.microsoft.com/office/drawing/2014/main" id="{4662A406-BB8B-A2F6-6496-A392764090F6}"/>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pic>
        <p:nvPicPr>
          <p:cNvPr id="6" name="Picture 5">
            <a:extLst>
              <a:ext uri="{FF2B5EF4-FFF2-40B4-BE49-F238E27FC236}">
                <a16:creationId xmlns:a16="http://schemas.microsoft.com/office/drawing/2014/main" id="{CB711E36-E9EB-2989-AC61-4769185C6B1B}"/>
              </a:ext>
            </a:extLst>
          </p:cNvPr>
          <p:cNvPicPr>
            <a:picLocks noChangeAspect="1"/>
          </p:cNvPicPr>
          <p:nvPr/>
        </p:nvPicPr>
        <p:blipFill>
          <a:blip r:embed="rId2"/>
          <a:stretch>
            <a:fillRect/>
          </a:stretch>
        </p:blipFill>
        <p:spPr>
          <a:xfrm>
            <a:off x="724603" y="1812553"/>
            <a:ext cx="7694795" cy="4889643"/>
          </a:xfrm>
          <a:prstGeom prst="rect">
            <a:avLst/>
          </a:prstGeom>
          <a:ln w="6350">
            <a:solidFill>
              <a:schemeClr val="tx1"/>
            </a:solidFill>
          </a:ln>
        </p:spPr>
      </p:pic>
    </p:spTree>
    <p:extLst>
      <p:ext uri="{BB962C8B-B14F-4D97-AF65-F5344CB8AC3E}">
        <p14:creationId xmlns:p14="http://schemas.microsoft.com/office/powerpoint/2010/main" val="21298745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BEA14-9548-3FE7-ED47-E6C6AF045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FE592-8067-5AC7-F7CC-3EF63DF26E5F}"/>
              </a:ext>
            </a:extLst>
          </p:cNvPr>
          <p:cNvSpPr>
            <a:spLocks noGrp="1"/>
          </p:cNvSpPr>
          <p:nvPr>
            <p:ph type="title"/>
          </p:nvPr>
        </p:nvSpPr>
        <p:spPr/>
        <p:txBody>
          <a:bodyPr>
            <a:normAutofit/>
          </a:bodyPr>
          <a:lstStyle/>
          <a:p>
            <a:r>
              <a:rPr lang="en-US" dirty="0"/>
              <a:t>Company We Want to Build (Cont’d)</a:t>
            </a:r>
            <a:endParaRPr lang="en-US" noProof="0" dirty="0"/>
          </a:p>
        </p:txBody>
      </p:sp>
      <p:sp>
        <p:nvSpPr>
          <p:cNvPr id="3" name="TextBox 2">
            <a:extLst>
              <a:ext uri="{FF2B5EF4-FFF2-40B4-BE49-F238E27FC236}">
                <a16:creationId xmlns:a16="http://schemas.microsoft.com/office/drawing/2014/main" id="{96D257CB-C4CD-41E2-D624-7301AAC4B876}"/>
              </a:ext>
            </a:extLst>
          </p:cNvPr>
          <p:cNvSpPr txBox="1"/>
          <p:nvPr/>
        </p:nvSpPr>
        <p:spPr>
          <a:xfrm>
            <a:off x="221940" y="940057"/>
            <a:ext cx="8697771" cy="1538883"/>
          </a:xfrm>
          <a:prstGeom prst="rect">
            <a:avLst/>
          </a:prstGeom>
          <a:noFill/>
        </p:spPr>
        <p:txBody>
          <a:bodyPr wrap="square" rtlCol="0">
            <a:spAutoFit/>
          </a:bodyPr>
          <a:lstStyle/>
          <a:p>
            <a:pPr>
              <a:spcBef>
                <a:spcPts val="300"/>
              </a:spcBef>
              <a:spcAft>
                <a:spcPts val="300"/>
              </a:spcAft>
            </a:pPr>
            <a:r>
              <a:rPr lang="en-US" sz="1400" dirty="0"/>
              <a:t>Between the investment in people, process, and technology, AAS should be able to add 3 additional contracts per year in both Indiana and Michigan, and at least 2 new contracts per year in each market we expand into</a:t>
            </a:r>
          </a:p>
          <a:p>
            <a:pPr marL="742950" lvl="1" indent="-285750">
              <a:spcBef>
                <a:spcPts val="300"/>
              </a:spcBef>
              <a:spcAft>
                <a:spcPts val="300"/>
              </a:spcAft>
              <a:buFont typeface="Arial" panose="020B0604020202020204" pitchFamily="34" charset="0"/>
              <a:buChar char="•"/>
            </a:pPr>
            <a:r>
              <a:rPr lang="en-US" sz="1400" dirty="0"/>
              <a:t>While each new geography may not have the same contract structure as in Indiana, we should target at least similar margin profiles both through contract structuring and targeting high-reimbursement markets</a:t>
            </a:r>
          </a:p>
          <a:p>
            <a:pPr marL="742950" lvl="1" indent="-285750">
              <a:spcBef>
                <a:spcPts val="300"/>
              </a:spcBef>
              <a:spcAft>
                <a:spcPts val="300"/>
              </a:spcAft>
              <a:buFont typeface="Arial" panose="020B0604020202020204" pitchFamily="34" charset="0"/>
              <a:buChar char="•"/>
            </a:pPr>
            <a:endParaRPr lang="en-US" sz="1400" dirty="0"/>
          </a:p>
        </p:txBody>
      </p:sp>
      <p:sp>
        <p:nvSpPr>
          <p:cNvPr id="4" name="Slide Number Placeholder 8">
            <a:extLst>
              <a:ext uri="{FF2B5EF4-FFF2-40B4-BE49-F238E27FC236}">
                <a16:creationId xmlns:a16="http://schemas.microsoft.com/office/drawing/2014/main" id="{EA32C772-4B48-9223-FD32-8A17DBC14615}"/>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19</a:t>
            </a:fld>
            <a:endParaRPr lang="en-US" dirty="0"/>
          </a:p>
        </p:txBody>
      </p:sp>
      <p:pic>
        <p:nvPicPr>
          <p:cNvPr id="11" name="Picture 10">
            <a:extLst>
              <a:ext uri="{FF2B5EF4-FFF2-40B4-BE49-F238E27FC236}">
                <a16:creationId xmlns:a16="http://schemas.microsoft.com/office/drawing/2014/main" id="{D865005B-AAC0-80D1-371B-C860E6680C63}"/>
              </a:ext>
            </a:extLst>
          </p:cNvPr>
          <p:cNvPicPr>
            <a:picLocks noChangeAspect="1"/>
          </p:cNvPicPr>
          <p:nvPr/>
        </p:nvPicPr>
        <p:blipFill>
          <a:blip r:embed="rId2"/>
          <a:stretch>
            <a:fillRect/>
          </a:stretch>
        </p:blipFill>
        <p:spPr>
          <a:xfrm>
            <a:off x="235795" y="2576339"/>
            <a:ext cx="4087091" cy="4173682"/>
          </a:xfrm>
          <a:prstGeom prst="rect">
            <a:avLst/>
          </a:prstGeom>
        </p:spPr>
      </p:pic>
      <p:pic>
        <p:nvPicPr>
          <p:cNvPr id="12" name="Picture 11">
            <a:extLst>
              <a:ext uri="{FF2B5EF4-FFF2-40B4-BE49-F238E27FC236}">
                <a16:creationId xmlns:a16="http://schemas.microsoft.com/office/drawing/2014/main" id="{D9965E38-A512-928C-01AC-A6C272E39E65}"/>
              </a:ext>
            </a:extLst>
          </p:cNvPr>
          <p:cNvPicPr>
            <a:picLocks noChangeAspect="1"/>
          </p:cNvPicPr>
          <p:nvPr/>
        </p:nvPicPr>
        <p:blipFill>
          <a:blip r:embed="rId3"/>
          <a:stretch>
            <a:fillRect/>
          </a:stretch>
        </p:blipFill>
        <p:spPr>
          <a:xfrm>
            <a:off x="4818767" y="2576339"/>
            <a:ext cx="4087091" cy="3480955"/>
          </a:xfrm>
          <a:prstGeom prst="rect">
            <a:avLst/>
          </a:prstGeom>
        </p:spPr>
      </p:pic>
      <p:sp>
        <p:nvSpPr>
          <p:cNvPr id="13" name="Rectangle: Diagonal Corners Snipped 12">
            <a:extLst>
              <a:ext uri="{FF2B5EF4-FFF2-40B4-BE49-F238E27FC236}">
                <a16:creationId xmlns:a16="http://schemas.microsoft.com/office/drawing/2014/main" id="{36DEE755-17EA-B3D3-E01C-FCF6FEEC6420}"/>
              </a:ext>
            </a:extLst>
          </p:cNvPr>
          <p:cNvSpPr/>
          <p:nvPr/>
        </p:nvSpPr>
        <p:spPr>
          <a:xfrm>
            <a:off x="221940" y="2210895"/>
            <a:ext cx="411480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True Up Contract Assumptions (New Geo &amp; IN)</a:t>
            </a:r>
          </a:p>
        </p:txBody>
      </p:sp>
      <p:sp>
        <p:nvSpPr>
          <p:cNvPr id="14" name="Rectangle: Diagonal Corners Snipped 13">
            <a:extLst>
              <a:ext uri="{FF2B5EF4-FFF2-40B4-BE49-F238E27FC236}">
                <a16:creationId xmlns:a16="http://schemas.microsoft.com/office/drawing/2014/main" id="{E51BBB48-ADA5-51C3-6F6A-2D7CD5106468}"/>
              </a:ext>
            </a:extLst>
          </p:cNvPr>
          <p:cNvSpPr/>
          <p:nvPr/>
        </p:nvSpPr>
        <p:spPr>
          <a:xfrm>
            <a:off x="4804912" y="2210895"/>
            <a:ext cx="411480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chemeClr val="bg1"/>
                </a:solidFill>
              </a:rPr>
              <a:t>Billing &amp; Collections Contract Assumptions (MI)</a:t>
            </a:r>
          </a:p>
        </p:txBody>
      </p:sp>
      <p:cxnSp>
        <p:nvCxnSpPr>
          <p:cNvPr id="15" name="Straight Connector 14">
            <a:extLst>
              <a:ext uri="{FF2B5EF4-FFF2-40B4-BE49-F238E27FC236}">
                <a16:creationId xmlns:a16="http://schemas.microsoft.com/office/drawing/2014/main" id="{9A6F696F-61A8-52A0-EAF5-DBE02890F2E8}"/>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8365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ED96-AA92-DE08-812D-4F53EA6C72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B99EED-6837-8683-ED6B-79D87C82D720}"/>
              </a:ext>
            </a:extLst>
          </p:cNvPr>
          <p:cNvSpPr>
            <a:spLocks noGrp="1"/>
          </p:cNvSpPr>
          <p:nvPr>
            <p:ph type="title"/>
          </p:nvPr>
        </p:nvSpPr>
        <p:spPr/>
        <p:txBody>
          <a:bodyPr>
            <a:normAutofit/>
          </a:bodyPr>
          <a:lstStyle/>
          <a:p>
            <a:r>
              <a:rPr lang="en-US" dirty="0"/>
              <a:t>Pipeline Tracking (Exhibit A)</a:t>
            </a:r>
            <a:endParaRPr lang="en-US" noProof="0" dirty="0"/>
          </a:p>
        </p:txBody>
      </p:sp>
      <p:sp>
        <p:nvSpPr>
          <p:cNvPr id="4" name="Slide Number Placeholder 8">
            <a:extLst>
              <a:ext uri="{FF2B5EF4-FFF2-40B4-BE49-F238E27FC236}">
                <a16:creationId xmlns:a16="http://schemas.microsoft.com/office/drawing/2014/main" id="{A14ADD99-E20B-FFBC-2943-EE6E19C4981A}"/>
              </a:ext>
            </a:extLst>
          </p:cNvPr>
          <p:cNvSpPr>
            <a:spLocks noGrp="1"/>
          </p:cNvSpPr>
          <p:nvPr>
            <p:ph type="sldNum" sz="quarter" idx="12"/>
          </p:nvPr>
        </p:nvSpPr>
        <p:spPr>
          <a:xfrm>
            <a:off x="7470009" y="6471765"/>
            <a:ext cx="1497685" cy="365125"/>
          </a:xfrm>
        </p:spPr>
        <p:txBody>
          <a:bodyPr/>
          <a:lstStyle/>
          <a:p>
            <a:fld id="{F8DDDAE5-3BDD-4D78-843B-A22FA78305BB}" type="slidenum">
              <a:rPr lang="en-US" smtClean="0"/>
              <a:t>20</a:t>
            </a:fld>
            <a:endParaRPr lang="en-US" dirty="0"/>
          </a:p>
        </p:txBody>
      </p:sp>
      <p:sp>
        <p:nvSpPr>
          <p:cNvPr id="13" name="Rectangle: Diagonal Corners Snipped 12">
            <a:extLst>
              <a:ext uri="{FF2B5EF4-FFF2-40B4-BE49-F238E27FC236}">
                <a16:creationId xmlns:a16="http://schemas.microsoft.com/office/drawing/2014/main" id="{2086A71F-EDE8-19FB-509F-534E0AA48FE1}"/>
              </a:ext>
            </a:extLst>
          </p:cNvPr>
          <p:cNvSpPr/>
          <p:nvPr/>
        </p:nvSpPr>
        <p:spPr>
          <a:xfrm>
            <a:off x="221940" y="1006906"/>
            <a:ext cx="3681406"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Pipeline Funnel</a:t>
            </a:r>
          </a:p>
        </p:txBody>
      </p:sp>
      <p:grpSp>
        <p:nvGrpSpPr>
          <p:cNvPr id="5" name="Group 4">
            <a:extLst>
              <a:ext uri="{FF2B5EF4-FFF2-40B4-BE49-F238E27FC236}">
                <a16:creationId xmlns:a16="http://schemas.microsoft.com/office/drawing/2014/main" id="{706E8A01-D752-5A45-3901-9A0AF9FFACD9}"/>
              </a:ext>
            </a:extLst>
          </p:cNvPr>
          <p:cNvGrpSpPr/>
          <p:nvPr/>
        </p:nvGrpSpPr>
        <p:grpSpPr>
          <a:xfrm>
            <a:off x="2198547" y="5665794"/>
            <a:ext cx="1592543" cy="1011454"/>
            <a:chOff x="1040224" y="5394864"/>
            <a:chExt cx="1809230" cy="1149075"/>
          </a:xfrm>
        </p:grpSpPr>
        <p:sp>
          <p:nvSpPr>
            <p:cNvPr id="6" name="Rectangle: Rounded Corners 5">
              <a:extLst>
                <a:ext uri="{FF2B5EF4-FFF2-40B4-BE49-F238E27FC236}">
                  <a16:creationId xmlns:a16="http://schemas.microsoft.com/office/drawing/2014/main" id="{278CF612-D741-DF9A-0280-5407B662C584}"/>
                </a:ext>
              </a:extLst>
            </p:cNvPr>
            <p:cNvSpPr/>
            <p:nvPr/>
          </p:nvSpPr>
          <p:spPr>
            <a:xfrm>
              <a:off x="1040224" y="5394864"/>
              <a:ext cx="1809230" cy="1149075"/>
            </a:xfrm>
            <a:prstGeom prst="roundRect">
              <a:avLst/>
            </a:prstGeom>
            <a:solidFill>
              <a:schemeClr val="bg1"/>
            </a:solidFill>
            <a:ln>
              <a:noFill/>
            </a:ln>
            <a:effectLst>
              <a:outerShdw blurRad="152400" dist="38100" dir="5400000" algn="t"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7" name="Rounded Rectangle 95">
              <a:extLst>
                <a:ext uri="{FF2B5EF4-FFF2-40B4-BE49-F238E27FC236}">
                  <a16:creationId xmlns:a16="http://schemas.microsoft.com/office/drawing/2014/main" id="{4816D8B3-6E56-9DE9-CB1E-E2EF54E95C94}"/>
                </a:ext>
              </a:extLst>
            </p:cNvPr>
            <p:cNvSpPr/>
            <p:nvPr/>
          </p:nvSpPr>
          <p:spPr>
            <a:xfrm>
              <a:off x="1172849" y="5513143"/>
              <a:ext cx="1543980" cy="218004"/>
            </a:xfrm>
            <a:prstGeom prst="roundRect">
              <a:avLst/>
            </a:prstGeom>
            <a:noFill/>
            <a:ln w="9525" cap="flat" cmpd="sng" algn="ctr">
              <a:noFill/>
              <a:prstDash val="solid"/>
            </a:ln>
            <a:effectLst/>
          </p:spPr>
          <p:txBody>
            <a:bodyPr lIns="0" tIns="0" rIns="0" bIns="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sz="1000" b="1" kern="0" dirty="0"/>
                <a:t>Velocity </a:t>
              </a:r>
            </a:p>
            <a:p>
              <a:pPr marL="0" marR="0" lvl="0" indent="0" algn="ctr" defTabSz="457200" rtl="0" eaLnBrk="1" fontAlgn="base" latinLnBrk="0" hangingPunct="1">
                <a:lnSpc>
                  <a:spcPct val="100000"/>
                </a:lnSpc>
                <a:spcBef>
                  <a:spcPct val="0"/>
                </a:spcBef>
                <a:spcAft>
                  <a:spcPct val="0"/>
                </a:spcAft>
                <a:buClrTx/>
                <a:buSzTx/>
                <a:buFontTx/>
                <a:buNone/>
                <a:tabLst/>
                <a:defRPr/>
              </a:pPr>
              <a:r>
                <a:rPr lang="en-US" sz="1000" b="1" kern="0" dirty="0"/>
                <a:t>(awareness to action)</a:t>
              </a:r>
              <a:endParaRPr kumimoji="0" lang="en-US" sz="1000" b="1" i="0" u="none" strike="noStrike" kern="0" cap="none" spc="0" normalizeH="0" baseline="0" noProof="0" dirty="0">
                <a:ln>
                  <a:noFill/>
                </a:ln>
                <a:effectLst/>
                <a:uLnTx/>
                <a:uFillTx/>
              </a:endParaRPr>
            </a:p>
          </p:txBody>
        </p:sp>
        <p:sp>
          <p:nvSpPr>
            <p:cNvPr id="8" name="TextBox 7">
              <a:extLst>
                <a:ext uri="{FF2B5EF4-FFF2-40B4-BE49-F238E27FC236}">
                  <a16:creationId xmlns:a16="http://schemas.microsoft.com/office/drawing/2014/main" id="{F822252C-784E-77CF-AD26-DBF7D3E06E41}"/>
                </a:ext>
              </a:extLst>
            </p:cNvPr>
            <p:cNvSpPr txBox="1"/>
            <p:nvPr/>
          </p:nvSpPr>
          <p:spPr>
            <a:xfrm>
              <a:off x="1167614" y="5775175"/>
              <a:ext cx="1554451" cy="708049"/>
            </a:xfrm>
            <a:prstGeom prst="rect">
              <a:avLst/>
            </a:prstGeom>
            <a:noFill/>
          </p:spPr>
          <p:txBody>
            <a:bodyPr wrap="square" rtlCol="0">
              <a:spAutoFit/>
            </a:bodyPr>
            <a:lstStyle/>
            <a:p>
              <a:pPr algn="ctr" defTabSz="457200" fontAlgn="base">
                <a:spcBef>
                  <a:spcPct val="0"/>
                </a:spcBef>
                <a:spcAft>
                  <a:spcPct val="0"/>
                </a:spcAft>
                <a:defRPr/>
              </a:pPr>
              <a:r>
                <a:rPr lang="en-US" sz="1200" b="1" kern="0" dirty="0">
                  <a:solidFill>
                    <a:schemeClr val="accent1"/>
                  </a:solidFill>
                </a:rPr>
                <a:t>[xx days]</a:t>
              </a:r>
            </a:p>
            <a:p>
              <a:pPr algn="ctr" fontAlgn="base">
                <a:spcBef>
                  <a:spcPct val="0"/>
                </a:spcBef>
                <a:spcAft>
                  <a:spcPct val="0"/>
                </a:spcAft>
                <a:defRPr/>
              </a:pPr>
              <a:r>
                <a:rPr lang="en-US" sz="1050" b="1" kern="0" dirty="0">
                  <a:solidFill>
                    <a:schemeClr val="accent1"/>
                  </a:solidFill>
                </a:rPr>
                <a:t>(vs. prior qtr.)</a:t>
              </a:r>
            </a:p>
            <a:p>
              <a:pPr algn="ctr" defTabSz="457200" fontAlgn="base">
                <a:spcBef>
                  <a:spcPct val="0"/>
                </a:spcBef>
                <a:spcAft>
                  <a:spcPct val="0"/>
                </a:spcAft>
                <a:defRPr/>
              </a:pPr>
              <a:endParaRPr lang="en-US" sz="1200" b="1" kern="0" dirty="0">
                <a:solidFill>
                  <a:schemeClr val="accent1"/>
                </a:solidFill>
              </a:endParaRPr>
            </a:p>
          </p:txBody>
        </p:sp>
      </p:grpSp>
      <p:grpSp>
        <p:nvGrpSpPr>
          <p:cNvPr id="9" name="Group 8">
            <a:extLst>
              <a:ext uri="{FF2B5EF4-FFF2-40B4-BE49-F238E27FC236}">
                <a16:creationId xmlns:a16="http://schemas.microsoft.com/office/drawing/2014/main" id="{3145CD1C-D70F-BA71-5D45-D5380C408DE2}"/>
              </a:ext>
            </a:extLst>
          </p:cNvPr>
          <p:cNvGrpSpPr/>
          <p:nvPr/>
        </p:nvGrpSpPr>
        <p:grpSpPr>
          <a:xfrm>
            <a:off x="222715" y="5665789"/>
            <a:ext cx="1592543" cy="1011457"/>
            <a:chOff x="3159938" y="5394864"/>
            <a:chExt cx="1809230" cy="1149080"/>
          </a:xfrm>
        </p:grpSpPr>
        <p:sp>
          <p:nvSpPr>
            <p:cNvPr id="10" name="Rectangle: Rounded Corners 9">
              <a:extLst>
                <a:ext uri="{FF2B5EF4-FFF2-40B4-BE49-F238E27FC236}">
                  <a16:creationId xmlns:a16="http://schemas.microsoft.com/office/drawing/2014/main" id="{106E20F4-5574-72BF-7247-22B97366794B}"/>
                </a:ext>
              </a:extLst>
            </p:cNvPr>
            <p:cNvSpPr/>
            <p:nvPr/>
          </p:nvSpPr>
          <p:spPr>
            <a:xfrm>
              <a:off x="3159938" y="5394864"/>
              <a:ext cx="1809230" cy="1149080"/>
            </a:xfrm>
            <a:prstGeom prst="roundRect">
              <a:avLst/>
            </a:prstGeom>
            <a:solidFill>
              <a:schemeClr val="bg1"/>
            </a:solidFill>
            <a:ln>
              <a:noFill/>
            </a:ln>
            <a:effectLst>
              <a:outerShdw blurRad="152400" dist="38100" dir="5400000" algn="t"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dirty="0"/>
            </a:p>
          </p:txBody>
        </p:sp>
        <p:sp>
          <p:nvSpPr>
            <p:cNvPr id="15" name="Rounded Rectangle 89">
              <a:extLst>
                <a:ext uri="{FF2B5EF4-FFF2-40B4-BE49-F238E27FC236}">
                  <a16:creationId xmlns:a16="http://schemas.microsoft.com/office/drawing/2014/main" id="{0DE4700D-AD43-2264-A13B-5AA20B7C74BE}"/>
                </a:ext>
              </a:extLst>
            </p:cNvPr>
            <p:cNvSpPr/>
            <p:nvPr/>
          </p:nvSpPr>
          <p:spPr>
            <a:xfrm>
              <a:off x="3317919" y="5513143"/>
              <a:ext cx="1466571" cy="230761"/>
            </a:xfrm>
            <a:prstGeom prst="roundRect">
              <a:avLst/>
            </a:prstGeom>
            <a:noFill/>
            <a:ln w="9525" cap="flat" cmpd="sng" algn="ctr">
              <a:noFill/>
              <a:prstDash val="solid"/>
            </a:ln>
            <a:effectLst/>
          </p:spPr>
          <p:txBody>
            <a:bodyPr lIns="0" tIns="0" rIns="0" bIns="0" rtlCol="0" anchor="ctr"/>
            <a:lstStyle/>
            <a:p>
              <a:pPr marL="0" marR="0" lvl="0" indent="0" algn="ctr" defTabSz="457200" rtl="0" eaLnBrk="1" fontAlgn="base" latinLnBrk="0" hangingPunct="1">
                <a:lnSpc>
                  <a:spcPct val="100000"/>
                </a:lnSpc>
                <a:spcBef>
                  <a:spcPct val="0"/>
                </a:spcBef>
                <a:spcAft>
                  <a:spcPct val="0"/>
                </a:spcAft>
                <a:buClrTx/>
                <a:buSzTx/>
                <a:buFontTx/>
                <a:buNone/>
                <a:tabLst/>
                <a:defRPr/>
              </a:pPr>
              <a:r>
                <a:rPr lang="en-US" sz="1000" b="1" kern="0" dirty="0"/>
                <a:t>Yield </a:t>
              </a:r>
            </a:p>
            <a:p>
              <a:pPr marL="0" marR="0" lvl="0" indent="0" algn="ctr" defTabSz="457200" rtl="0" eaLnBrk="1" fontAlgn="base" latinLnBrk="0" hangingPunct="1">
                <a:lnSpc>
                  <a:spcPct val="100000"/>
                </a:lnSpc>
                <a:spcBef>
                  <a:spcPct val="0"/>
                </a:spcBef>
                <a:spcAft>
                  <a:spcPct val="0"/>
                </a:spcAft>
                <a:buClrTx/>
                <a:buSzTx/>
                <a:buFontTx/>
                <a:buNone/>
                <a:tabLst/>
                <a:defRPr/>
              </a:pPr>
              <a:r>
                <a:rPr lang="en-US" sz="1000" b="1" kern="0" dirty="0"/>
                <a:t>(awareness to action)</a:t>
              </a:r>
            </a:p>
          </p:txBody>
        </p:sp>
        <p:sp>
          <p:nvSpPr>
            <p:cNvPr id="16" name="TextBox 15">
              <a:extLst>
                <a:ext uri="{FF2B5EF4-FFF2-40B4-BE49-F238E27FC236}">
                  <a16:creationId xmlns:a16="http://schemas.microsoft.com/office/drawing/2014/main" id="{31A8753A-30D7-392A-41C4-14270F35B3B5}"/>
                </a:ext>
              </a:extLst>
            </p:cNvPr>
            <p:cNvSpPr txBox="1"/>
            <p:nvPr/>
          </p:nvSpPr>
          <p:spPr>
            <a:xfrm>
              <a:off x="3287328" y="5781284"/>
              <a:ext cx="1554451" cy="506998"/>
            </a:xfrm>
            <a:prstGeom prst="rect">
              <a:avLst/>
            </a:prstGeom>
            <a:noFill/>
          </p:spPr>
          <p:txBody>
            <a:bodyPr wrap="square" rtlCol="0">
              <a:spAutoFit/>
            </a:bodyPr>
            <a:lstStyle/>
            <a:p>
              <a:pPr algn="ctr" defTabSz="457200" fontAlgn="base">
                <a:spcBef>
                  <a:spcPct val="0"/>
                </a:spcBef>
                <a:spcAft>
                  <a:spcPct val="0"/>
                </a:spcAft>
                <a:defRPr/>
              </a:pPr>
              <a:r>
                <a:rPr lang="en-US" sz="1200" b="1" kern="0" dirty="0">
                  <a:solidFill>
                    <a:schemeClr val="accent1"/>
                  </a:solidFill>
                </a:rPr>
                <a:t>[xx%]</a:t>
              </a:r>
            </a:p>
            <a:p>
              <a:pPr algn="ctr" defTabSz="457200" fontAlgn="base">
                <a:spcBef>
                  <a:spcPct val="0"/>
                </a:spcBef>
                <a:spcAft>
                  <a:spcPct val="0"/>
                </a:spcAft>
                <a:defRPr/>
              </a:pPr>
              <a:r>
                <a:rPr lang="en-US" sz="1050" b="1" kern="0" dirty="0">
                  <a:solidFill>
                    <a:schemeClr val="accent1"/>
                  </a:solidFill>
                </a:rPr>
                <a:t>(vs. prior qtr.)</a:t>
              </a:r>
            </a:p>
          </p:txBody>
        </p:sp>
      </p:grpSp>
      <p:cxnSp>
        <p:nvCxnSpPr>
          <p:cNvPr id="17" name="Straight Arrow Connector 16">
            <a:extLst>
              <a:ext uri="{FF2B5EF4-FFF2-40B4-BE49-F238E27FC236}">
                <a16:creationId xmlns:a16="http://schemas.microsoft.com/office/drawing/2014/main" id="{265F0921-D506-C758-BE0C-2AF3FFC2F187}"/>
              </a:ext>
            </a:extLst>
          </p:cNvPr>
          <p:cNvCxnSpPr>
            <a:cxnSpLocks/>
          </p:cNvCxnSpPr>
          <p:nvPr/>
        </p:nvCxnSpPr>
        <p:spPr>
          <a:xfrm>
            <a:off x="2712506" y="2432749"/>
            <a:ext cx="383703" cy="0"/>
          </a:xfrm>
          <a:prstGeom prst="straightConnector1">
            <a:avLst/>
          </a:prstGeom>
          <a:ln w="19050">
            <a:gradFill flip="none" rotWithShape="1">
              <a:gsLst>
                <a:gs pos="0">
                  <a:schemeClr val="accent1"/>
                </a:gs>
                <a:gs pos="100000">
                  <a:schemeClr val="accent1">
                    <a:lumMod val="75000"/>
                  </a:schemeClr>
                </a:gs>
              </a:gsLst>
              <a:lin ang="0" scaled="1"/>
              <a:tileRect/>
            </a:gradFill>
            <a:tailEnd type="oval" w="sm" len="sm"/>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2AABDE4-D1B5-C19E-C923-AF3A0096147A}"/>
              </a:ext>
            </a:extLst>
          </p:cNvPr>
          <p:cNvCxnSpPr>
            <a:cxnSpLocks/>
          </p:cNvCxnSpPr>
          <p:nvPr/>
        </p:nvCxnSpPr>
        <p:spPr>
          <a:xfrm>
            <a:off x="2544359" y="3271705"/>
            <a:ext cx="317110" cy="0"/>
          </a:xfrm>
          <a:prstGeom prst="straightConnector1">
            <a:avLst/>
          </a:prstGeom>
          <a:ln w="19050">
            <a:gradFill flip="none" rotWithShape="1">
              <a:gsLst>
                <a:gs pos="0">
                  <a:schemeClr val="accent1"/>
                </a:gs>
                <a:gs pos="100000">
                  <a:schemeClr val="accent1">
                    <a:lumMod val="75000"/>
                  </a:schemeClr>
                </a:gs>
              </a:gsLst>
              <a:lin ang="0" scaled="1"/>
              <a:tileRect/>
            </a:gradFill>
            <a:tailEnd type="oval" w="sm" len="sm"/>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1CBB065-631A-2FF2-985E-A00ABC6036E7}"/>
              </a:ext>
            </a:extLst>
          </p:cNvPr>
          <p:cNvCxnSpPr>
            <a:cxnSpLocks/>
          </p:cNvCxnSpPr>
          <p:nvPr/>
        </p:nvCxnSpPr>
        <p:spPr>
          <a:xfrm>
            <a:off x="2185647" y="4987717"/>
            <a:ext cx="290979" cy="0"/>
          </a:xfrm>
          <a:prstGeom prst="straightConnector1">
            <a:avLst/>
          </a:prstGeom>
          <a:ln w="19050">
            <a:gradFill flip="none" rotWithShape="1">
              <a:gsLst>
                <a:gs pos="0">
                  <a:schemeClr val="accent1"/>
                </a:gs>
                <a:gs pos="100000">
                  <a:schemeClr val="accent1">
                    <a:lumMod val="75000"/>
                  </a:schemeClr>
                </a:gs>
              </a:gsLst>
              <a:lin ang="0" scaled="1"/>
              <a:tileRect/>
            </a:gradFill>
            <a:tailEnd type="oval" w="sm" len="sm"/>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C817856-9DFA-6443-DE30-CF7956D21F3F}"/>
              </a:ext>
            </a:extLst>
          </p:cNvPr>
          <p:cNvCxnSpPr>
            <a:cxnSpLocks/>
          </p:cNvCxnSpPr>
          <p:nvPr/>
        </p:nvCxnSpPr>
        <p:spPr>
          <a:xfrm>
            <a:off x="2395675" y="4150028"/>
            <a:ext cx="290979" cy="0"/>
          </a:xfrm>
          <a:prstGeom prst="straightConnector1">
            <a:avLst/>
          </a:prstGeom>
          <a:ln w="19050">
            <a:gradFill flip="none" rotWithShape="1">
              <a:gsLst>
                <a:gs pos="0">
                  <a:schemeClr val="accent1"/>
                </a:gs>
                <a:gs pos="100000">
                  <a:schemeClr val="accent1">
                    <a:lumMod val="75000"/>
                  </a:schemeClr>
                </a:gs>
              </a:gsLst>
              <a:lin ang="0" scaled="1"/>
              <a:tileRect/>
            </a:gradFill>
            <a:tailEnd type="oval" w="sm" len="sm"/>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DAC66C93-714A-AFD9-B34D-B6D3EEC8F715}"/>
              </a:ext>
            </a:extLst>
          </p:cNvPr>
          <p:cNvGrpSpPr/>
          <p:nvPr/>
        </p:nvGrpSpPr>
        <p:grpSpPr>
          <a:xfrm>
            <a:off x="496086" y="1417969"/>
            <a:ext cx="2516997" cy="4011281"/>
            <a:chOff x="1576975" y="2145363"/>
            <a:chExt cx="2516997" cy="2854285"/>
          </a:xfrm>
          <a:gradFill flip="none" rotWithShape="1">
            <a:gsLst>
              <a:gs pos="0">
                <a:schemeClr val="accent1"/>
              </a:gs>
              <a:gs pos="100000">
                <a:schemeClr val="accent1">
                  <a:lumMod val="75000"/>
                </a:schemeClr>
              </a:gs>
            </a:gsLst>
            <a:lin ang="5400000" scaled="1"/>
            <a:tileRect/>
          </a:gradFill>
        </p:grpSpPr>
        <p:sp>
          <p:nvSpPr>
            <p:cNvPr id="22" name="Freeform: Shape 21">
              <a:extLst>
                <a:ext uri="{FF2B5EF4-FFF2-40B4-BE49-F238E27FC236}">
                  <a16:creationId xmlns:a16="http://schemas.microsoft.com/office/drawing/2014/main" id="{3E1BE05B-20A9-046D-48A9-F5A0F67E1F05}"/>
                </a:ext>
              </a:extLst>
            </p:cNvPr>
            <p:cNvSpPr/>
            <p:nvPr/>
          </p:nvSpPr>
          <p:spPr>
            <a:xfrm>
              <a:off x="1576975" y="2502993"/>
              <a:ext cx="2505332" cy="777163"/>
            </a:xfrm>
            <a:custGeom>
              <a:avLst/>
              <a:gdLst>
                <a:gd name="connsiteX0" fmla="*/ 2355925 w 2745980"/>
                <a:gd name="connsiteY0" fmla="*/ 162662 h 920596"/>
                <a:gd name="connsiteX1" fmla="*/ 1376830 w 2745980"/>
                <a:gd name="connsiteY1" fmla="*/ 256693 h 920596"/>
                <a:gd name="connsiteX2" fmla="*/ 403517 w 2745980"/>
                <a:gd name="connsiteY2" fmla="*/ 163973 h 920596"/>
                <a:gd name="connsiteX3" fmla="*/ 3891 w 2745980"/>
                <a:gd name="connsiteY3" fmla="*/ 5651 h 920596"/>
                <a:gd name="connsiteX4" fmla="*/ 194353 w 2745980"/>
                <a:gd name="connsiteY4" fmla="*/ 680075 h 920596"/>
                <a:gd name="connsiteX5" fmla="*/ 1376830 w 2745980"/>
                <a:gd name="connsiteY5" fmla="*/ 925888 h 920596"/>
                <a:gd name="connsiteX6" fmla="*/ 2561040 w 2745980"/>
                <a:gd name="connsiteY6" fmla="*/ 673944 h 920596"/>
                <a:gd name="connsiteX7" fmla="*/ 2749872 w 2745980"/>
                <a:gd name="connsiteY7" fmla="*/ 5291 h 920596"/>
                <a:gd name="connsiteX8" fmla="*/ 2355925 w 2745980"/>
                <a:gd name="connsiteY8" fmla="*/ 162662 h 920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5980" h="920596">
                  <a:moveTo>
                    <a:pt x="2355925" y="162662"/>
                  </a:moveTo>
                  <a:cubicBezTo>
                    <a:pt x="2090292" y="223297"/>
                    <a:pt x="1742578" y="256693"/>
                    <a:pt x="1376830" y="256693"/>
                  </a:cubicBezTo>
                  <a:cubicBezTo>
                    <a:pt x="1014039" y="256693"/>
                    <a:pt x="668377" y="223774"/>
                    <a:pt x="403517" y="163973"/>
                  </a:cubicBezTo>
                  <a:cubicBezTo>
                    <a:pt x="259303" y="131439"/>
                    <a:pt x="90408" y="79928"/>
                    <a:pt x="3891" y="5651"/>
                  </a:cubicBezTo>
                  <a:lnTo>
                    <a:pt x="194353" y="680075"/>
                  </a:lnTo>
                  <a:cubicBezTo>
                    <a:pt x="254154" y="800939"/>
                    <a:pt x="707546" y="925888"/>
                    <a:pt x="1376830" y="925888"/>
                  </a:cubicBezTo>
                  <a:cubicBezTo>
                    <a:pt x="2058312" y="925888"/>
                    <a:pt x="2513841" y="796931"/>
                    <a:pt x="2561040" y="673944"/>
                  </a:cubicBezTo>
                  <a:lnTo>
                    <a:pt x="2749872" y="5291"/>
                  </a:lnTo>
                  <a:cubicBezTo>
                    <a:pt x="2690496" y="56534"/>
                    <a:pt x="2574438" y="112785"/>
                    <a:pt x="2355925" y="162662"/>
                  </a:cubicBezTo>
                  <a:close/>
                </a:path>
              </a:pathLst>
            </a:custGeom>
            <a:grpFill/>
            <a:ln w="274" cap="flat">
              <a:noFill/>
              <a:prstDash val="solid"/>
              <a:miter/>
            </a:ln>
          </p:spPr>
          <p:txBody>
            <a:bodyPr rtlCol="0" anchor="ctr"/>
            <a:lstStyle/>
            <a:p>
              <a:endParaRPr lang="en-US" sz="1200" dirty="0">
                <a:latin typeface="Arial Narrow" panose="020B0606020202030204" pitchFamily="34" charset="0"/>
              </a:endParaRPr>
            </a:p>
          </p:txBody>
        </p:sp>
        <p:sp>
          <p:nvSpPr>
            <p:cNvPr id="23" name="Freeform: Shape 22">
              <a:extLst>
                <a:ext uri="{FF2B5EF4-FFF2-40B4-BE49-F238E27FC236}">
                  <a16:creationId xmlns:a16="http://schemas.microsoft.com/office/drawing/2014/main" id="{3320C052-2249-2292-C504-1F0DF57F6954}"/>
                </a:ext>
              </a:extLst>
            </p:cNvPr>
            <p:cNvSpPr/>
            <p:nvPr/>
          </p:nvSpPr>
          <p:spPr>
            <a:xfrm>
              <a:off x="1768996" y="3140737"/>
              <a:ext cx="2123259" cy="742106"/>
            </a:xfrm>
            <a:custGeom>
              <a:avLst/>
              <a:gdLst>
                <a:gd name="connsiteX0" fmla="*/ 2000494 w 2327207"/>
                <a:gd name="connsiteY0" fmla="*/ 135151 h 879067"/>
                <a:gd name="connsiteX1" fmla="*/ 1167336 w 2327207"/>
                <a:gd name="connsiteY1" fmla="*/ 215164 h 879067"/>
                <a:gd name="connsiteX2" fmla="*/ 336192 w 2327207"/>
                <a:gd name="connsiteY2" fmla="*/ 135721 h 879067"/>
                <a:gd name="connsiteX3" fmla="*/ 3891 w 2327207"/>
                <a:gd name="connsiteY3" fmla="*/ 6413 h 879067"/>
                <a:gd name="connsiteX4" fmla="*/ 195050 w 2327207"/>
                <a:gd name="connsiteY4" fmla="*/ 683306 h 879067"/>
                <a:gd name="connsiteX5" fmla="*/ 493422 w 2327207"/>
                <a:gd name="connsiteY5" fmla="*/ 820660 h 879067"/>
                <a:gd name="connsiteX6" fmla="*/ 1167336 w 2327207"/>
                <a:gd name="connsiteY6" fmla="*/ 884359 h 879067"/>
                <a:gd name="connsiteX7" fmla="*/ 1840704 w 2327207"/>
                <a:gd name="connsiteY7" fmla="*/ 820783 h 879067"/>
                <a:gd name="connsiteX8" fmla="*/ 2139625 w 2327207"/>
                <a:gd name="connsiteY8" fmla="*/ 683309 h 879067"/>
                <a:gd name="connsiteX9" fmla="*/ 2331099 w 2327207"/>
                <a:gd name="connsiteY9" fmla="*/ 5291 h 879067"/>
                <a:gd name="connsiteX10" fmla="*/ 2000494 w 2327207"/>
                <a:gd name="connsiteY10" fmla="*/ 135151 h 879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327207" h="879067">
                  <a:moveTo>
                    <a:pt x="2000494" y="135151"/>
                  </a:moveTo>
                  <a:cubicBezTo>
                    <a:pt x="1774401" y="186747"/>
                    <a:pt x="1478522" y="215164"/>
                    <a:pt x="1167336" y="215164"/>
                  </a:cubicBezTo>
                  <a:cubicBezTo>
                    <a:pt x="857357" y="215164"/>
                    <a:pt x="562191" y="186950"/>
                    <a:pt x="336192" y="135721"/>
                  </a:cubicBezTo>
                  <a:cubicBezTo>
                    <a:pt x="217363" y="108783"/>
                    <a:pt x="79282" y="66689"/>
                    <a:pt x="3891" y="6413"/>
                  </a:cubicBezTo>
                  <a:lnTo>
                    <a:pt x="195050" y="683306"/>
                  </a:lnTo>
                  <a:cubicBezTo>
                    <a:pt x="210483" y="712932"/>
                    <a:pt x="269689" y="770539"/>
                    <a:pt x="493422" y="820660"/>
                  </a:cubicBezTo>
                  <a:cubicBezTo>
                    <a:pt x="676790" y="861739"/>
                    <a:pt x="916121" y="884359"/>
                    <a:pt x="1167336" y="884359"/>
                  </a:cubicBezTo>
                  <a:cubicBezTo>
                    <a:pt x="1418276" y="884359"/>
                    <a:pt x="1657418" y="861783"/>
                    <a:pt x="1840704" y="820783"/>
                  </a:cubicBezTo>
                  <a:cubicBezTo>
                    <a:pt x="2065079" y="770599"/>
                    <a:pt x="2124241" y="712820"/>
                    <a:pt x="2139625" y="683309"/>
                  </a:cubicBezTo>
                  <a:lnTo>
                    <a:pt x="2331099" y="5291"/>
                  </a:lnTo>
                  <a:cubicBezTo>
                    <a:pt x="2278704" y="47939"/>
                    <a:pt x="2180117" y="94157"/>
                    <a:pt x="2000494" y="135151"/>
                  </a:cubicBezTo>
                  <a:close/>
                </a:path>
              </a:pathLst>
            </a:custGeom>
            <a:grpFill/>
            <a:ln w="274" cap="flat">
              <a:noFill/>
              <a:prstDash val="solid"/>
              <a:miter/>
            </a:ln>
          </p:spPr>
          <p:txBody>
            <a:bodyPr rtlCol="0" anchor="ctr"/>
            <a:lstStyle/>
            <a:p>
              <a:endParaRPr lang="en-US" sz="1200" dirty="0">
                <a:latin typeface="Arial Narrow" panose="020B0606020202030204" pitchFamily="34" charset="0"/>
              </a:endParaRPr>
            </a:p>
          </p:txBody>
        </p:sp>
        <p:sp>
          <p:nvSpPr>
            <p:cNvPr id="24" name="Freeform: Shape 23">
              <a:extLst>
                <a:ext uri="{FF2B5EF4-FFF2-40B4-BE49-F238E27FC236}">
                  <a16:creationId xmlns:a16="http://schemas.microsoft.com/office/drawing/2014/main" id="{BB475401-5E22-5C0D-D861-D5999D9B8023}"/>
                </a:ext>
              </a:extLst>
            </p:cNvPr>
            <p:cNvSpPr/>
            <p:nvPr/>
          </p:nvSpPr>
          <p:spPr>
            <a:xfrm>
              <a:off x="1958805" y="3763693"/>
              <a:ext cx="1741584" cy="719717"/>
            </a:xfrm>
            <a:custGeom>
              <a:avLst/>
              <a:gdLst>
                <a:gd name="connsiteX0" fmla="*/ 1638315 w 1908870"/>
                <a:gd name="connsiteY0" fmla="*/ 109167 h 852549"/>
                <a:gd name="connsiteX1" fmla="*/ 958322 w 1908870"/>
                <a:gd name="connsiteY1" fmla="*/ 173470 h 852549"/>
                <a:gd name="connsiteX2" fmla="*/ 277778 w 1908870"/>
                <a:gd name="connsiteY2" fmla="*/ 109041 h 852549"/>
                <a:gd name="connsiteX3" fmla="*/ 3891 w 1908870"/>
                <a:gd name="connsiteY3" fmla="*/ 5308 h 852549"/>
                <a:gd name="connsiteX4" fmla="*/ 195845 w 1908870"/>
                <a:gd name="connsiteY4" fmla="*/ 685020 h 852549"/>
                <a:gd name="connsiteX5" fmla="*/ 195875 w 1908870"/>
                <a:gd name="connsiteY5" fmla="*/ 685020 h 852549"/>
                <a:gd name="connsiteX6" fmla="*/ 958322 w 1908870"/>
                <a:gd name="connsiteY6" fmla="*/ 857841 h 852549"/>
                <a:gd name="connsiteX7" fmla="*/ 1720772 w 1908870"/>
                <a:gd name="connsiteY7" fmla="*/ 685020 h 852549"/>
                <a:gd name="connsiteX8" fmla="*/ 1720802 w 1908870"/>
                <a:gd name="connsiteY8" fmla="*/ 685020 h 852549"/>
                <a:gd name="connsiteX9" fmla="*/ 1912761 w 1908870"/>
                <a:gd name="connsiteY9" fmla="*/ 5291 h 852549"/>
                <a:gd name="connsiteX10" fmla="*/ 1638315 w 1908870"/>
                <a:gd name="connsiteY10" fmla="*/ 109167 h 852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8870" h="852549">
                  <a:moveTo>
                    <a:pt x="1638315" y="109167"/>
                  </a:moveTo>
                  <a:cubicBezTo>
                    <a:pt x="1452917" y="150633"/>
                    <a:pt x="1211424" y="173470"/>
                    <a:pt x="958322" y="173470"/>
                  </a:cubicBezTo>
                  <a:cubicBezTo>
                    <a:pt x="704946" y="173470"/>
                    <a:pt x="463256" y="150589"/>
                    <a:pt x="277778" y="109041"/>
                  </a:cubicBezTo>
                  <a:cubicBezTo>
                    <a:pt x="181430" y="87458"/>
                    <a:pt x="68940" y="53763"/>
                    <a:pt x="3891" y="5308"/>
                  </a:cubicBezTo>
                  <a:lnTo>
                    <a:pt x="195845" y="685020"/>
                  </a:lnTo>
                  <a:lnTo>
                    <a:pt x="195875" y="685020"/>
                  </a:lnTo>
                  <a:cubicBezTo>
                    <a:pt x="218888" y="781391"/>
                    <a:pt x="551424" y="857841"/>
                    <a:pt x="958322" y="857841"/>
                  </a:cubicBezTo>
                  <a:cubicBezTo>
                    <a:pt x="1365221" y="857841"/>
                    <a:pt x="1697759" y="781396"/>
                    <a:pt x="1720772" y="685020"/>
                  </a:cubicBezTo>
                  <a:lnTo>
                    <a:pt x="1720802" y="685020"/>
                  </a:lnTo>
                  <a:lnTo>
                    <a:pt x="1912761" y="5291"/>
                  </a:lnTo>
                  <a:cubicBezTo>
                    <a:pt x="1847600" y="53837"/>
                    <a:pt x="1734831" y="87578"/>
                    <a:pt x="1638315" y="109167"/>
                  </a:cubicBezTo>
                  <a:close/>
                </a:path>
              </a:pathLst>
            </a:custGeom>
            <a:grpFill/>
            <a:ln w="274" cap="flat">
              <a:noFill/>
              <a:prstDash val="solid"/>
              <a:miter/>
            </a:ln>
          </p:spPr>
          <p:txBody>
            <a:bodyPr rtlCol="0" anchor="ctr"/>
            <a:lstStyle/>
            <a:p>
              <a:endParaRPr lang="en-US" sz="1200" dirty="0">
                <a:latin typeface="Arial Narrow" panose="020B0606020202030204" pitchFamily="34" charset="0"/>
              </a:endParaRPr>
            </a:p>
          </p:txBody>
        </p:sp>
        <p:sp>
          <p:nvSpPr>
            <p:cNvPr id="25" name="Freeform: Shape 24">
              <a:extLst>
                <a:ext uri="{FF2B5EF4-FFF2-40B4-BE49-F238E27FC236}">
                  <a16:creationId xmlns:a16="http://schemas.microsoft.com/office/drawing/2014/main" id="{3AB83D47-D012-B5FC-4258-C245941ED6DA}"/>
                </a:ext>
              </a:extLst>
            </p:cNvPr>
            <p:cNvSpPr>
              <a:spLocks noChangeAspect="1"/>
            </p:cNvSpPr>
            <p:nvPr/>
          </p:nvSpPr>
          <p:spPr>
            <a:xfrm>
              <a:off x="1588514" y="2145363"/>
              <a:ext cx="2505458" cy="540181"/>
            </a:xfrm>
            <a:custGeom>
              <a:avLst/>
              <a:gdLst>
                <a:gd name="connsiteX0" fmla="*/ 2732450 w 3188290"/>
                <a:gd name="connsiteY0" fmla="*/ 118113 h 742909"/>
                <a:gd name="connsiteX1" fmla="*/ 1598037 w 3188290"/>
                <a:gd name="connsiteY1" fmla="*/ 5291 h 742909"/>
                <a:gd name="connsiteX2" fmla="*/ 463623 w 3188290"/>
                <a:gd name="connsiteY2" fmla="*/ 118113 h 742909"/>
                <a:gd name="connsiteX3" fmla="*/ 3891 w 3188290"/>
                <a:gd name="connsiteY3" fmla="*/ 376750 h 742909"/>
                <a:gd name="connsiteX4" fmla="*/ 463623 w 3188290"/>
                <a:gd name="connsiteY4" fmla="*/ 635383 h 742909"/>
                <a:gd name="connsiteX5" fmla="*/ 1598037 w 3188290"/>
                <a:gd name="connsiteY5" fmla="*/ 748201 h 742909"/>
                <a:gd name="connsiteX6" fmla="*/ 2732450 w 3188290"/>
                <a:gd name="connsiteY6" fmla="*/ 635383 h 742909"/>
                <a:gd name="connsiteX7" fmla="*/ 3192182 w 3188290"/>
                <a:gd name="connsiteY7" fmla="*/ 376750 h 742909"/>
                <a:gd name="connsiteX8" fmla="*/ 2732450 w 3188290"/>
                <a:gd name="connsiteY8" fmla="*/ 118113 h 742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88290" h="742909">
                  <a:moveTo>
                    <a:pt x="2732450" y="118113"/>
                  </a:moveTo>
                  <a:cubicBezTo>
                    <a:pt x="2429620" y="45358"/>
                    <a:pt x="2026746" y="5291"/>
                    <a:pt x="1598037" y="5291"/>
                  </a:cubicBezTo>
                  <a:cubicBezTo>
                    <a:pt x="1169328" y="5291"/>
                    <a:pt x="766456" y="45358"/>
                    <a:pt x="463623" y="118113"/>
                  </a:cubicBezTo>
                  <a:cubicBezTo>
                    <a:pt x="171458" y="188302"/>
                    <a:pt x="3891" y="282574"/>
                    <a:pt x="3891" y="376750"/>
                  </a:cubicBezTo>
                  <a:cubicBezTo>
                    <a:pt x="3891" y="470926"/>
                    <a:pt x="171458" y="565207"/>
                    <a:pt x="463623" y="635383"/>
                  </a:cubicBezTo>
                  <a:cubicBezTo>
                    <a:pt x="766470" y="708134"/>
                    <a:pt x="1169333" y="748201"/>
                    <a:pt x="1598037" y="748201"/>
                  </a:cubicBezTo>
                  <a:cubicBezTo>
                    <a:pt x="2026741" y="748201"/>
                    <a:pt x="2429620" y="708134"/>
                    <a:pt x="2732450" y="635383"/>
                  </a:cubicBezTo>
                  <a:cubicBezTo>
                    <a:pt x="3024618" y="565193"/>
                    <a:pt x="3192182" y="470926"/>
                    <a:pt x="3192182" y="376750"/>
                  </a:cubicBezTo>
                  <a:cubicBezTo>
                    <a:pt x="3192182" y="282574"/>
                    <a:pt x="3024618" y="188300"/>
                    <a:pt x="2732450" y="118113"/>
                  </a:cubicBezTo>
                  <a:close/>
                </a:path>
              </a:pathLst>
            </a:custGeom>
            <a:solidFill>
              <a:schemeClr val="accent1">
                <a:lumMod val="75000"/>
              </a:schemeClr>
            </a:solidFill>
            <a:ln w="274" cap="flat">
              <a:noFill/>
              <a:prstDash val="solid"/>
              <a:miter/>
            </a:ln>
          </p:spPr>
          <p:txBody>
            <a:bodyPr rtlCol="0" anchor="ctr"/>
            <a:lstStyle/>
            <a:p>
              <a:endParaRPr lang="en-US" sz="1200" dirty="0">
                <a:latin typeface="Arial Narrow" panose="020B0606020202030204" pitchFamily="34" charset="0"/>
              </a:endParaRPr>
            </a:p>
          </p:txBody>
        </p:sp>
        <p:sp>
          <p:nvSpPr>
            <p:cNvPr id="26" name="Freeform: Shape 25">
              <a:extLst>
                <a:ext uri="{FF2B5EF4-FFF2-40B4-BE49-F238E27FC236}">
                  <a16:creationId xmlns:a16="http://schemas.microsoft.com/office/drawing/2014/main" id="{8B5828A0-2D1B-4817-F6C5-1145AACF2E40}"/>
                </a:ext>
              </a:extLst>
            </p:cNvPr>
            <p:cNvSpPr/>
            <p:nvPr/>
          </p:nvSpPr>
          <p:spPr>
            <a:xfrm>
              <a:off x="2152016" y="4413372"/>
              <a:ext cx="1350719" cy="586276"/>
            </a:xfrm>
            <a:custGeom>
              <a:avLst/>
              <a:gdLst>
                <a:gd name="connsiteX0" fmla="*/ 1638315 w 1908870"/>
                <a:gd name="connsiteY0" fmla="*/ 109167 h 852549"/>
                <a:gd name="connsiteX1" fmla="*/ 958322 w 1908870"/>
                <a:gd name="connsiteY1" fmla="*/ 173470 h 852549"/>
                <a:gd name="connsiteX2" fmla="*/ 277778 w 1908870"/>
                <a:gd name="connsiteY2" fmla="*/ 109041 h 852549"/>
                <a:gd name="connsiteX3" fmla="*/ 3891 w 1908870"/>
                <a:gd name="connsiteY3" fmla="*/ 5308 h 852549"/>
                <a:gd name="connsiteX4" fmla="*/ 195845 w 1908870"/>
                <a:gd name="connsiteY4" fmla="*/ 685020 h 852549"/>
                <a:gd name="connsiteX5" fmla="*/ 195875 w 1908870"/>
                <a:gd name="connsiteY5" fmla="*/ 685020 h 852549"/>
                <a:gd name="connsiteX6" fmla="*/ 958322 w 1908870"/>
                <a:gd name="connsiteY6" fmla="*/ 857841 h 852549"/>
                <a:gd name="connsiteX7" fmla="*/ 1720772 w 1908870"/>
                <a:gd name="connsiteY7" fmla="*/ 685020 h 852549"/>
                <a:gd name="connsiteX8" fmla="*/ 1720802 w 1908870"/>
                <a:gd name="connsiteY8" fmla="*/ 685020 h 852549"/>
                <a:gd name="connsiteX9" fmla="*/ 1912761 w 1908870"/>
                <a:gd name="connsiteY9" fmla="*/ 5291 h 852549"/>
                <a:gd name="connsiteX10" fmla="*/ 1638315 w 1908870"/>
                <a:gd name="connsiteY10" fmla="*/ 109167 h 852549"/>
                <a:gd name="connsiteX0" fmla="*/ 1634424 w 1908870"/>
                <a:gd name="connsiteY0" fmla="*/ 103876 h 895445"/>
                <a:gd name="connsiteX1" fmla="*/ 954431 w 1908870"/>
                <a:gd name="connsiteY1" fmla="*/ 168179 h 895445"/>
                <a:gd name="connsiteX2" fmla="*/ 273887 w 1908870"/>
                <a:gd name="connsiteY2" fmla="*/ 103750 h 895445"/>
                <a:gd name="connsiteX3" fmla="*/ 0 w 1908870"/>
                <a:gd name="connsiteY3" fmla="*/ 17 h 895445"/>
                <a:gd name="connsiteX4" fmla="*/ 191954 w 1908870"/>
                <a:gd name="connsiteY4" fmla="*/ 679729 h 895445"/>
                <a:gd name="connsiteX5" fmla="*/ 191984 w 1908870"/>
                <a:gd name="connsiteY5" fmla="*/ 679729 h 895445"/>
                <a:gd name="connsiteX6" fmla="*/ 925835 w 1908870"/>
                <a:gd name="connsiteY6" fmla="*/ 895444 h 895445"/>
                <a:gd name="connsiteX7" fmla="*/ 1716881 w 1908870"/>
                <a:gd name="connsiteY7" fmla="*/ 679729 h 895445"/>
                <a:gd name="connsiteX8" fmla="*/ 1716911 w 1908870"/>
                <a:gd name="connsiteY8" fmla="*/ 679729 h 895445"/>
                <a:gd name="connsiteX9" fmla="*/ 1908870 w 1908870"/>
                <a:gd name="connsiteY9" fmla="*/ 0 h 895445"/>
                <a:gd name="connsiteX10" fmla="*/ 1634424 w 1908870"/>
                <a:gd name="connsiteY10" fmla="*/ 103876 h 895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08870" h="895445">
                  <a:moveTo>
                    <a:pt x="1634424" y="103876"/>
                  </a:moveTo>
                  <a:cubicBezTo>
                    <a:pt x="1449026" y="145342"/>
                    <a:pt x="1207533" y="168179"/>
                    <a:pt x="954431" y="168179"/>
                  </a:cubicBezTo>
                  <a:cubicBezTo>
                    <a:pt x="701055" y="168179"/>
                    <a:pt x="459365" y="145298"/>
                    <a:pt x="273887" y="103750"/>
                  </a:cubicBezTo>
                  <a:cubicBezTo>
                    <a:pt x="177539" y="82167"/>
                    <a:pt x="65049" y="48472"/>
                    <a:pt x="0" y="17"/>
                  </a:cubicBezTo>
                  <a:lnTo>
                    <a:pt x="191954" y="679729"/>
                  </a:lnTo>
                  <a:lnTo>
                    <a:pt x="191984" y="679729"/>
                  </a:lnTo>
                  <a:cubicBezTo>
                    <a:pt x="214997" y="776100"/>
                    <a:pt x="518937" y="895444"/>
                    <a:pt x="925835" y="895444"/>
                  </a:cubicBezTo>
                  <a:cubicBezTo>
                    <a:pt x="1332734" y="895444"/>
                    <a:pt x="1693868" y="776105"/>
                    <a:pt x="1716881" y="679729"/>
                  </a:cubicBezTo>
                  <a:lnTo>
                    <a:pt x="1716911" y="679729"/>
                  </a:lnTo>
                  <a:lnTo>
                    <a:pt x="1908870" y="0"/>
                  </a:lnTo>
                  <a:cubicBezTo>
                    <a:pt x="1843709" y="48546"/>
                    <a:pt x="1730940" y="82287"/>
                    <a:pt x="1634424" y="103876"/>
                  </a:cubicBezTo>
                  <a:close/>
                </a:path>
              </a:pathLst>
            </a:custGeom>
            <a:grpFill/>
            <a:ln w="274" cap="flat">
              <a:noFill/>
              <a:prstDash val="solid"/>
              <a:miter/>
            </a:ln>
          </p:spPr>
          <p:txBody>
            <a:bodyPr rtlCol="0" anchor="ctr"/>
            <a:lstStyle/>
            <a:p>
              <a:endParaRPr lang="en-US" sz="1200" dirty="0">
                <a:latin typeface="Arial Narrow" panose="020B0606020202030204" pitchFamily="34" charset="0"/>
              </a:endParaRPr>
            </a:p>
          </p:txBody>
        </p:sp>
      </p:grpSp>
      <p:sp>
        <p:nvSpPr>
          <p:cNvPr id="27" name="Text Placeholder 1">
            <a:extLst>
              <a:ext uri="{FF2B5EF4-FFF2-40B4-BE49-F238E27FC236}">
                <a16:creationId xmlns:a16="http://schemas.microsoft.com/office/drawing/2014/main" id="{C9CF6E32-6A74-A42F-2DA5-0EA9B9068FC5}"/>
              </a:ext>
            </a:extLst>
          </p:cNvPr>
          <p:cNvSpPr txBox="1">
            <a:spLocks/>
          </p:cNvSpPr>
          <p:nvPr/>
        </p:nvSpPr>
        <p:spPr>
          <a:xfrm>
            <a:off x="3111783" y="2157696"/>
            <a:ext cx="908570" cy="574650"/>
          </a:xfrm>
          <a:prstGeom prst="roundRect">
            <a:avLst/>
          </a:prstGeom>
          <a:noFill/>
          <a:ln w="19050">
            <a:noFill/>
          </a:ln>
        </p:spPr>
        <p:txBody>
          <a:bodyPr tIns="91440" bIns="91440" anchor="ctr"/>
          <a:lstStyle>
            <a:lvl1pPr marL="228600" indent="-228600" algn="l" defTabSz="914400" rtl="0" eaLnBrk="1" latinLnBrk="0" hangingPunct="1">
              <a:lnSpc>
                <a:spcPct val="90000"/>
              </a:lnSpc>
              <a:spcBef>
                <a:spcPts val="1000"/>
              </a:spcBef>
              <a:buFont typeface="Wingdings" panose="05000000000000000000" pitchFamily="2" charset="2"/>
              <a:buChar char="§"/>
              <a:defRPr sz="1600" kern="1200">
                <a:solidFill>
                  <a:srgbClr val="4C4C4C"/>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1600" kern="1200">
                <a:solidFill>
                  <a:srgbClr val="4C4C4C"/>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4C4C4C"/>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buClr>
                <a:srgbClr val="31A1EF"/>
              </a:buClr>
              <a:buSzTx/>
              <a:buNone/>
              <a:tabLst/>
              <a:defRPr/>
            </a:pPr>
            <a:r>
              <a:rPr kumimoji="0" lang="en-US" sz="1100" b="1" u="none" strike="noStrike" kern="1200" cap="none" spc="0" normalizeH="0" baseline="0" noProof="0" dirty="0">
                <a:ln>
                  <a:noFill/>
                </a:ln>
                <a:solidFill>
                  <a:schemeClr val="tx1"/>
                </a:solidFill>
                <a:effectLst/>
                <a:uLnTx/>
                <a:uFillTx/>
                <a:latin typeface="+mn-lt"/>
              </a:rPr>
              <a:t>$</a:t>
            </a:r>
            <a:r>
              <a:rPr lang="en-US" sz="1100" b="1" dirty="0">
                <a:solidFill>
                  <a:schemeClr val="tx1"/>
                </a:solidFill>
                <a:latin typeface="+mn-lt"/>
              </a:rPr>
              <a:t>[xx]</a:t>
            </a:r>
            <a:r>
              <a:rPr kumimoji="0" lang="en-US" sz="1100" b="1" u="none" strike="noStrike" kern="1200" cap="none" spc="0" normalizeH="0" baseline="0" noProof="0" dirty="0">
                <a:ln>
                  <a:noFill/>
                </a:ln>
                <a:solidFill>
                  <a:schemeClr val="tx1"/>
                </a:solidFill>
                <a:effectLst/>
                <a:uLnTx/>
                <a:uFillTx/>
                <a:latin typeface="+mn-lt"/>
              </a:rPr>
              <a:t>M</a:t>
            </a:r>
          </a:p>
          <a:p>
            <a:pPr marL="0" marR="0" lvl="0" indent="0" defTabSz="914400" rtl="0" eaLnBrk="1" fontAlgn="auto" latinLnBrk="0" hangingPunct="1">
              <a:lnSpc>
                <a:spcPct val="100000"/>
              </a:lnSpc>
              <a:spcBef>
                <a:spcPts val="0"/>
              </a:spcBef>
              <a:buClr>
                <a:srgbClr val="31A1EF"/>
              </a:buClr>
              <a:buSzTx/>
              <a:buNone/>
              <a:tabLst/>
              <a:defRPr/>
            </a:pPr>
            <a:r>
              <a:rPr lang="en-US" sz="800" noProof="0" dirty="0">
                <a:solidFill>
                  <a:schemeClr val="tx1"/>
                </a:solidFill>
                <a:latin typeface="+mn-lt"/>
              </a:rPr>
              <a:t>Revenue</a:t>
            </a:r>
            <a:endParaRPr kumimoji="0" lang="en-US" sz="800" u="none" strike="noStrike" kern="1200" cap="none" spc="0" normalizeH="0" baseline="0" noProof="0" dirty="0">
              <a:ln>
                <a:noFill/>
              </a:ln>
              <a:solidFill>
                <a:schemeClr val="tx1"/>
              </a:solidFill>
              <a:effectLst/>
              <a:uLnTx/>
              <a:uFillTx/>
              <a:latin typeface="+mn-lt"/>
            </a:endParaRPr>
          </a:p>
        </p:txBody>
      </p:sp>
      <p:sp>
        <p:nvSpPr>
          <p:cNvPr id="28" name="Text Placeholder 1">
            <a:extLst>
              <a:ext uri="{FF2B5EF4-FFF2-40B4-BE49-F238E27FC236}">
                <a16:creationId xmlns:a16="http://schemas.microsoft.com/office/drawing/2014/main" id="{8D9964FB-C6E8-5678-BBF9-A0077A86A135}"/>
              </a:ext>
            </a:extLst>
          </p:cNvPr>
          <p:cNvSpPr txBox="1">
            <a:spLocks/>
          </p:cNvSpPr>
          <p:nvPr/>
        </p:nvSpPr>
        <p:spPr>
          <a:xfrm>
            <a:off x="2888108" y="2965773"/>
            <a:ext cx="1125547" cy="574650"/>
          </a:xfrm>
          <a:prstGeom prst="roundRect">
            <a:avLst/>
          </a:prstGeom>
          <a:noFill/>
          <a:ln w="19050">
            <a:noFill/>
          </a:ln>
        </p:spPr>
        <p:txBody>
          <a:bodyPr tIns="91440" bIns="91440" anchor="ctr"/>
          <a:lstStyle>
            <a:lvl1pPr marL="228600" indent="-228600" algn="l" defTabSz="914400" rtl="0" eaLnBrk="1" latinLnBrk="0" hangingPunct="1">
              <a:lnSpc>
                <a:spcPct val="90000"/>
              </a:lnSpc>
              <a:spcBef>
                <a:spcPts val="1000"/>
              </a:spcBef>
              <a:buFont typeface="Wingdings" panose="05000000000000000000" pitchFamily="2" charset="2"/>
              <a:buChar char="§"/>
              <a:defRPr sz="1600" kern="1200">
                <a:solidFill>
                  <a:srgbClr val="4C4C4C"/>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1600" kern="1200">
                <a:solidFill>
                  <a:srgbClr val="4C4C4C"/>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4C4C4C"/>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buClr>
                <a:srgbClr val="31A1EF"/>
              </a:buClr>
              <a:buSzTx/>
              <a:buNone/>
              <a:tabLst/>
              <a:defRPr/>
            </a:pPr>
            <a:r>
              <a:rPr kumimoji="0" lang="en-US" sz="1100" b="1" u="none" strike="noStrike" kern="1200" cap="none" spc="0" normalizeH="0" baseline="0" noProof="0" dirty="0">
                <a:ln>
                  <a:noFill/>
                </a:ln>
                <a:solidFill>
                  <a:schemeClr val="tx1"/>
                </a:solidFill>
                <a:effectLst/>
                <a:uLnTx/>
                <a:uFillTx/>
                <a:latin typeface="+mn-lt"/>
              </a:rPr>
              <a:t>$</a:t>
            </a:r>
            <a:r>
              <a:rPr lang="en-US" sz="1100" b="1" dirty="0">
                <a:solidFill>
                  <a:schemeClr val="tx1"/>
                </a:solidFill>
                <a:latin typeface="+mn-lt"/>
              </a:rPr>
              <a:t>[xx]</a:t>
            </a:r>
            <a:r>
              <a:rPr kumimoji="0" lang="en-US" sz="1100" b="1" u="none" strike="noStrike" kern="1200" cap="none" spc="0" normalizeH="0" baseline="0" noProof="0" dirty="0">
                <a:ln>
                  <a:noFill/>
                </a:ln>
                <a:solidFill>
                  <a:schemeClr val="tx1"/>
                </a:solidFill>
                <a:effectLst/>
                <a:uLnTx/>
                <a:uFillTx/>
                <a:latin typeface="+mn-lt"/>
              </a:rPr>
              <a:t>M</a:t>
            </a:r>
          </a:p>
          <a:p>
            <a:pPr marL="0" marR="0" lvl="0" indent="0" defTabSz="914400" rtl="0" eaLnBrk="1" fontAlgn="auto" latinLnBrk="0" hangingPunct="1">
              <a:lnSpc>
                <a:spcPct val="100000"/>
              </a:lnSpc>
              <a:spcBef>
                <a:spcPts val="0"/>
              </a:spcBef>
              <a:buClr>
                <a:srgbClr val="31A1EF"/>
              </a:buClr>
              <a:buSzTx/>
              <a:buNone/>
              <a:tabLst/>
              <a:defRPr/>
            </a:pPr>
            <a:r>
              <a:rPr lang="en-US" sz="1100" noProof="0" dirty="0">
                <a:solidFill>
                  <a:schemeClr val="tx1"/>
                </a:solidFill>
                <a:latin typeface="+mn-lt"/>
              </a:rPr>
              <a:t>Revenue</a:t>
            </a:r>
            <a:endParaRPr kumimoji="0" lang="en-US" sz="1100" u="none" strike="noStrike" kern="1200" cap="none" spc="0" normalizeH="0" baseline="0" noProof="0" dirty="0">
              <a:ln>
                <a:noFill/>
              </a:ln>
              <a:solidFill>
                <a:schemeClr val="tx1"/>
              </a:solidFill>
              <a:effectLst/>
              <a:uLnTx/>
              <a:uFillTx/>
              <a:latin typeface="+mn-lt"/>
            </a:endParaRPr>
          </a:p>
        </p:txBody>
      </p:sp>
      <p:sp>
        <p:nvSpPr>
          <p:cNvPr id="29" name="Text Placeholder 1">
            <a:extLst>
              <a:ext uri="{FF2B5EF4-FFF2-40B4-BE49-F238E27FC236}">
                <a16:creationId xmlns:a16="http://schemas.microsoft.com/office/drawing/2014/main" id="{90D5D9EB-6E24-5FF2-05D8-02DDD935FC67}"/>
              </a:ext>
            </a:extLst>
          </p:cNvPr>
          <p:cNvSpPr txBox="1">
            <a:spLocks/>
          </p:cNvSpPr>
          <p:nvPr/>
        </p:nvSpPr>
        <p:spPr>
          <a:xfrm>
            <a:off x="2457951" y="4722826"/>
            <a:ext cx="876148" cy="574650"/>
          </a:xfrm>
          <a:prstGeom prst="roundRect">
            <a:avLst/>
          </a:prstGeom>
          <a:noFill/>
          <a:ln w="19050">
            <a:noFill/>
          </a:ln>
        </p:spPr>
        <p:txBody>
          <a:bodyPr tIns="91440" bIns="91440" anchor="ctr"/>
          <a:lstStyle>
            <a:lvl1pPr marL="228600" indent="-228600" algn="l" defTabSz="914400" rtl="0" eaLnBrk="1" latinLnBrk="0" hangingPunct="1">
              <a:lnSpc>
                <a:spcPct val="90000"/>
              </a:lnSpc>
              <a:spcBef>
                <a:spcPts val="1000"/>
              </a:spcBef>
              <a:buFont typeface="Wingdings" panose="05000000000000000000" pitchFamily="2" charset="2"/>
              <a:buChar char="§"/>
              <a:defRPr sz="1600" kern="1200">
                <a:solidFill>
                  <a:srgbClr val="4C4C4C"/>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1600" kern="1200">
                <a:solidFill>
                  <a:srgbClr val="4C4C4C"/>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4C4C4C"/>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buClr>
                <a:srgbClr val="31A1EF"/>
              </a:buClr>
              <a:buSzTx/>
              <a:buNone/>
              <a:tabLst/>
              <a:defRPr/>
            </a:pPr>
            <a:r>
              <a:rPr kumimoji="0" lang="en-US" sz="1100" b="1" u="none" strike="noStrike" kern="1200" cap="none" spc="0" normalizeH="0" baseline="0" noProof="0" dirty="0">
                <a:ln>
                  <a:noFill/>
                </a:ln>
                <a:solidFill>
                  <a:schemeClr val="tx1"/>
                </a:solidFill>
                <a:effectLst/>
                <a:uLnTx/>
                <a:uFillTx/>
                <a:latin typeface="Aptos (Body)"/>
              </a:rPr>
              <a:t>$</a:t>
            </a:r>
            <a:r>
              <a:rPr lang="en-US" sz="1100" b="1" dirty="0">
                <a:solidFill>
                  <a:schemeClr val="tx1"/>
                </a:solidFill>
                <a:latin typeface="Aptos (Body)"/>
              </a:rPr>
              <a:t>[xx]</a:t>
            </a:r>
            <a:r>
              <a:rPr kumimoji="0" lang="en-US" sz="1100" b="1" u="none" strike="noStrike" kern="1200" cap="none" spc="0" normalizeH="0" baseline="0" noProof="0" dirty="0">
                <a:ln>
                  <a:noFill/>
                </a:ln>
                <a:solidFill>
                  <a:schemeClr val="tx1"/>
                </a:solidFill>
                <a:effectLst/>
                <a:uLnTx/>
                <a:uFillTx/>
                <a:latin typeface="Aptos (Body)"/>
              </a:rPr>
              <a:t>M</a:t>
            </a:r>
          </a:p>
          <a:p>
            <a:pPr marL="0" marR="0" lvl="0" indent="0" defTabSz="914400" rtl="0" eaLnBrk="1" fontAlgn="auto" latinLnBrk="0" hangingPunct="1">
              <a:lnSpc>
                <a:spcPct val="100000"/>
              </a:lnSpc>
              <a:spcBef>
                <a:spcPts val="0"/>
              </a:spcBef>
              <a:buClr>
                <a:srgbClr val="31A1EF"/>
              </a:buClr>
              <a:buSzTx/>
              <a:buNone/>
              <a:tabLst/>
              <a:defRPr/>
            </a:pPr>
            <a:r>
              <a:rPr lang="en-US" sz="1100" noProof="0" dirty="0">
                <a:solidFill>
                  <a:schemeClr val="tx1"/>
                </a:solidFill>
                <a:latin typeface="Aptos (Body)"/>
              </a:rPr>
              <a:t>Revenue</a:t>
            </a:r>
            <a:endParaRPr kumimoji="0" lang="en-US" sz="1100" u="none" strike="noStrike" kern="1200" cap="none" spc="0" normalizeH="0" baseline="0" noProof="0" dirty="0">
              <a:ln>
                <a:noFill/>
              </a:ln>
              <a:solidFill>
                <a:schemeClr val="tx1"/>
              </a:solidFill>
              <a:effectLst/>
              <a:uLnTx/>
              <a:uFillTx/>
              <a:latin typeface="Aptos (Body)"/>
            </a:endParaRPr>
          </a:p>
        </p:txBody>
      </p:sp>
      <p:sp>
        <p:nvSpPr>
          <p:cNvPr id="30" name="Text Placeholder 1">
            <a:extLst>
              <a:ext uri="{FF2B5EF4-FFF2-40B4-BE49-F238E27FC236}">
                <a16:creationId xmlns:a16="http://schemas.microsoft.com/office/drawing/2014/main" id="{57BD3249-B5C5-ABFF-E659-5819A7D1B463}"/>
              </a:ext>
            </a:extLst>
          </p:cNvPr>
          <p:cNvSpPr txBox="1">
            <a:spLocks/>
          </p:cNvSpPr>
          <p:nvPr/>
        </p:nvSpPr>
        <p:spPr>
          <a:xfrm>
            <a:off x="2713092" y="3852354"/>
            <a:ext cx="900432" cy="574650"/>
          </a:xfrm>
          <a:prstGeom prst="roundRect">
            <a:avLst/>
          </a:prstGeom>
          <a:noFill/>
          <a:ln w="19050">
            <a:noFill/>
          </a:ln>
        </p:spPr>
        <p:txBody>
          <a:bodyPr tIns="91440" bIns="91440" anchor="ctr"/>
          <a:lstStyle>
            <a:lvl1pPr marL="228600" indent="-228600" algn="l" defTabSz="914400" rtl="0" eaLnBrk="1" latinLnBrk="0" hangingPunct="1">
              <a:lnSpc>
                <a:spcPct val="90000"/>
              </a:lnSpc>
              <a:spcBef>
                <a:spcPts val="1000"/>
              </a:spcBef>
              <a:buFont typeface="Wingdings" panose="05000000000000000000" pitchFamily="2" charset="2"/>
              <a:buChar char="§"/>
              <a:defRPr sz="1600" kern="1200">
                <a:solidFill>
                  <a:srgbClr val="4C4C4C"/>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1600" kern="1200">
                <a:solidFill>
                  <a:srgbClr val="4C4C4C"/>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rgbClr val="4C4C4C"/>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buClr>
                <a:srgbClr val="31A1EF"/>
              </a:buClr>
              <a:buSzTx/>
              <a:buNone/>
              <a:tabLst/>
              <a:defRPr/>
            </a:pPr>
            <a:r>
              <a:rPr kumimoji="0" lang="en-US" sz="1100" b="1" u="none" strike="noStrike" kern="1200" cap="none" spc="0" normalizeH="0" baseline="0" noProof="0" dirty="0">
                <a:ln>
                  <a:noFill/>
                </a:ln>
                <a:solidFill>
                  <a:schemeClr val="tx1"/>
                </a:solidFill>
                <a:effectLst/>
                <a:uLnTx/>
                <a:uFillTx/>
                <a:latin typeface="Aptos (Body)"/>
              </a:rPr>
              <a:t>$</a:t>
            </a:r>
            <a:r>
              <a:rPr lang="en-US" sz="1100" b="1" dirty="0">
                <a:solidFill>
                  <a:schemeClr val="tx1"/>
                </a:solidFill>
                <a:latin typeface="Aptos (Body)"/>
              </a:rPr>
              <a:t>[xx]</a:t>
            </a:r>
            <a:r>
              <a:rPr kumimoji="0" lang="en-US" sz="1100" b="1" u="none" strike="noStrike" kern="1200" cap="none" spc="0" normalizeH="0" baseline="0" noProof="0" dirty="0">
                <a:ln>
                  <a:noFill/>
                </a:ln>
                <a:solidFill>
                  <a:schemeClr val="tx1"/>
                </a:solidFill>
                <a:effectLst/>
                <a:uLnTx/>
                <a:uFillTx/>
                <a:latin typeface="Aptos (Body)"/>
              </a:rPr>
              <a:t>M </a:t>
            </a:r>
            <a:r>
              <a:rPr lang="en-US" sz="1100" noProof="0" dirty="0">
                <a:solidFill>
                  <a:schemeClr val="tx1"/>
                </a:solidFill>
                <a:latin typeface="Aptos (Body)"/>
              </a:rPr>
              <a:t>Revenue</a:t>
            </a:r>
            <a:endParaRPr kumimoji="0" lang="en-US" sz="1100" u="none" strike="noStrike" kern="1200" cap="none" spc="0" normalizeH="0" baseline="0" noProof="0" dirty="0">
              <a:ln>
                <a:noFill/>
              </a:ln>
              <a:solidFill>
                <a:schemeClr val="tx1"/>
              </a:solidFill>
              <a:effectLst/>
              <a:uLnTx/>
              <a:uFillTx/>
              <a:latin typeface="Aptos (Body)"/>
            </a:endParaRPr>
          </a:p>
        </p:txBody>
      </p:sp>
      <p:sp>
        <p:nvSpPr>
          <p:cNvPr id="31" name="Shape 234">
            <a:extLst>
              <a:ext uri="{FF2B5EF4-FFF2-40B4-BE49-F238E27FC236}">
                <a16:creationId xmlns:a16="http://schemas.microsoft.com/office/drawing/2014/main" id="{82E84F5F-BAB3-6A6D-6227-5ED25024793D}"/>
              </a:ext>
            </a:extLst>
          </p:cNvPr>
          <p:cNvSpPr txBox="1">
            <a:spLocks/>
          </p:cNvSpPr>
          <p:nvPr>
            <p:custDataLst>
              <p:tags r:id="rId1"/>
            </p:custDataLst>
          </p:nvPr>
        </p:nvSpPr>
        <p:spPr>
          <a:xfrm>
            <a:off x="1867549" y="2391493"/>
            <a:ext cx="570050" cy="40623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ptos (Body)"/>
                <a:ea typeface="+mn-ea"/>
                <a:cs typeface="+mn-cs"/>
              </a:rPr>
              <a:t>[xx]</a:t>
            </a:r>
          </a:p>
        </p:txBody>
      </p:sp>
      <p:sp>
        <p:nvSpPr>
          <p:cNvPr id="32" name="TextBox 31">
            <a:extLst>
              <a:ext uri="{FF2B5EF4-FFF2-40B4-BE49-F238E27FC236}">
                <a16:creationId xmlns:a16="http://schemas.microsoft.com/office/drawing/2014/main" id="{03EA8DD6-B3A7-2AF5-1660-4356978D2794}"/>
              </a:ext>
            </a:extLst>
          </p:cNvPr>
          <p:cNvSpPr txBox="1"/>
          <p:nvPr/>
        </p:nvSpPr>
        <p:spPr>
          <a:xfrm>
            <a:off x="797854" y="2463804"/>
            <a:ext cx="929389" cy="261610"/>
          </a:xfrm>
          <a:prstGeom prst="rect">
            <a:avLst/>
          </a:prstGeom>
          <a:noFill/>
        </p:spPr>
        <p:txBody>
          <a:bodyPr wrap="square" anchor="ctr">
            <a:spAutoFit/>
          </a:bodyPr>
          <a:lstStyle/>
          <a:p>
            <a:pPr algn="r"/>
            <a:r>
              <a:rPr lang="en-US" sz="1100" b="1" dirty="0">
                <a:solidFill>
                  <a:schemeClr val="bg1"/>
                </a:solidFill>
                <a:latin typeface="Aptos (Body)"/>
              </a:rPr>
              <a:t>Awareness</a:t>
            </a:r>
          </a:p>
        </p:txBody>
      </p:sp>
      <p:sp>
        <p:nvSpPr>
          <p:cNvPr id="33" name="Shape 234">
            <a:extLst>
              <a:ext uri="{FF2B5EF4-FFF2-40B4-BE49-F238E27FC236}">
                <a16:creationId xmlns:a16="http://schemas.microsoft.com/office/drawing/2014/main" id="{7C719F59-CCC5-67F6-012B-2D7B4CE12DC9}"/>
              </a:ext>
            </a:extLst>
          </p:cNvPr>
          <p:cNvSpPr txBox="1">
            <a:spLocks/>
          </p:cNvSpPr>
          <p:nvPr>
            <p:custDataLst>
              <p:tags r:id="rId2"/>
            </p:custDataLst>
          </p:nvPr>
        </p:nvSpPr>
        <p:spPr>
          <a:xfrm>
            <a:off x="1867549" y="3220675"/>
            <a:ext cx="570050" cy="406232"/>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Aptos (Body)"/>
                <a:ea typeface="+mn-ea"/>
                <a:cs typeface="+mn-cs"/>
              </a:rPr>
              <a:t>[xx]</a:t>
            </a:r>
          </a:p>
        </p:txBody>
      </p:sp>
      <p:sp>
        <p:nvSpPr>
          <p:cNvPr id="34" name="TextBox 33">
            <a:extLst>
              <a:ext uri="{FF2B5EF4-FFF2-40B4-BE49-F238E27FC236}">
                <a16:creationId xmlns:a16="http://schemas.microsoft.com/office/drawing/2014/main" id="{C36C5B52-6782-8B0C-C4FF-B95737ED053D}"/>
              </a:ext>
            </a:extLst>
          </p:cNvPr>
          <p:cNvSpPr txBox="1"/>
          <p:nvPr/>
        </p:nvSpPr>
        <p:spPr>
          <a:xfrm>
            <a:off x="1028980" y="3292986"/>
            <a:ext cx="698263" cy="261610"/>
          </a:xfrm>
          <a:prstGeom prst="rect">
            <a:avLst/>
          </a:prstGeom>
          <a:noFill/>
        </p:spPr>
        <p:txBody>
          <a:bodyPr wrap="square" anchor="ctr">
            <a:spAutoFit/>
          </a:bodyPr>
          <a:lstStyle/>
          <a:p>
            <a:pPr algn="r"/>
            <a:r>
              <a:rPr lang="en-US" sz="1100" b="1" dirty="0">
                <a:solidFill>
                  <a:schemeClr val="bg1"/>
                </a:solidFill>
                <a:latin typeface="Aptos (Body)"/>
              </a:rPr>
              <a:t>Interest</a:t>
            </a:r>
          </a:p>
        </p:txBody>
      </p:sp>
      <p:sp>
        <p:nvSpPr>
          <p:cNvPr id="35" name="TextBox 34">
            <a:extLst>
              <a:ext uri="{FF2B5EF4-FFF2-40B4-BE49-F238E27FC236}">
                <a16:creationId xmlns:a16="http://schemas.microsoft.com/office/drawing/2014/main" id="{DAFDFCD1-3815-52A9-A46B-B224D774276A}"/>
              </a:ext>
            </a:extLst>
          </p:cNvPr>
          <p:cNvSpPr txBox="1"/>
          <p:nvPr/>
        </p:nvSpPr>
        <p:spPr>
          <a:xfrm>
            <a:off x="1062683" y="4898556"/>
            <a:ext cx="664560" cy="261610"/>
          </a:xfrm>
          <a:prstGeom prst="rect">
            <a:avLst/>
          </a:prstGeom>
          <a:noFill/>
        </p:spPr>
        <p:txBody>
          <a:bodyPr wrap="square" anchor="ctr">
            <a:spAutoFit/>
          </a:bodyPr>
          <a:lstStyle/>
          <a:p>
            <a:pPr algn="r"/>
            <a:r>
              <a:rPr lang="en-US" sz="1100" b="1" dirty="0">
                <a:solidFill>
                  <a:schemeClr val="bg1"/>
                </a:solidFill>
                <a:latin typeface="Aptos (Body)"/>
              </a:rPr>
              <a:t>Action</a:t>
            </a:r>
          </a:p>
        </p:txBody>
      </p:sp>
      <p:sp>
        <p:nvSpPr>
          <p:cNvPr id="36" name="Shape 234">
            <a:extLst>
              <a:ext uri="{FF2B5EF4-FFF2-40B4-BE49-F238E27FC236}">
                <a16:creationId xmlns:a16="http://schemas.microsoft.com/office/drawing/2014/main" id="{8A3A6731-9160-25B8-CEC1-DEAEB1AE43FE}"/>
              </a:ext>
            </a:extLst>
          </p:cNvPr>
          <p:cNvSpPr txBox="1">
            <a:spLocks/>
          </p:cNvSpPr>
          <p:nvPr>
            <p:custDataLst>
              <p:tags r:id="rId3"/>
            </p:custDataLst>
          </p:nvPr>
        </p:nvSpPr>
        <p:spPr>
          <a:xfrm>
            <a:off x="1867549" y="4873578"/>
            <a:ext cx="570050" cy="311566"/>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Aptos (Body)"/>
                <a:ea typeface="+mn-ea"/>
                <a:cs typeface="+mn-cs"/>
              </a:rPr>
              <a:t>[xx]</a:t>
            </a:r>
          </a:p>
        </p:txBody>
      </p:sp>
      <p:sp>
        <p:nvSpPr>
          <p:cNvPr id="37" name="Shape 234">
            <a:extLst>
              <a:ext uri="{FF2B5EF4-FFF2-40B4-BE49-F238E27FC236}">
                <a16:creationId xmlns:a16="http://schemas.microsoft.com/office/drawing/2014/main" id="{31038631-9928-4270-B215-55B645C3DA2B}"/>
              </a:ext>
            </a:extLst>
          </p:cNvPr>
          <p:cNvSpPr txBox="1">
            <a:spLocks/>
          </p:cNvSpPr>
          <p:nvPr>
            <p:custDataLst>
              <p:tags r:id="rId4"/>
            </p:custDataLst>
          </p:nvPr>
        </p:nvSpPr>
        <p:spPr>
          <a:xfrm>
            <a:off x="1867549" y="4061613"/>
            <a:ext cx="580408" cy="414695"/>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prstClr val="white"/>
                </a:solidFill>
                <a:effectLst/>
                <a:uLnTx/>
                <a:uFillTx/>
                <a:latin typeface="Aptos (Body)"/>
                <a:ea typeface="+mn-ea"/>
                <a:cs typeface="+mn-cs"/>
              </a:rPr>
              <a:t>[xx]</a:t>
            </a:r>
          </a:p>
        </p:txBody>
      </p:sp>
      <p:sp>
        <p:nvSpPr>
          <p:cNvPr id="38" name="TextBox 37">
            <a:extLst>
              <a:ext uri="{FF2B5EF4-FFF2-40B4-BE49-F238E27FC236}">
                <a16:creationId xmlns:a16="http://schemas.microsoft.com/office/drawing/2014/main" id="{9EEB2D93-1983-8D33-051E-097B710D50EE}"/>
              </a:ext>
            </a:extLst>
          </p:cNvPr>
          <p:cNvSpPr txBox="1"/>
          <p:nvPr/>
        </p:nvSpPr>
        <p:spPr>
          <a:xfrm>
            <a:off x="814138" y="4138155"/>
            <a:ext cx="913105" cy="261610"/>
          </a:xfrm>
          <a:prstGeom prst="rect">
            <a:avLst/>
          </a:prstGeom>
          <a:noFill/>
        </p:spPr>
        <p:txBody>
          <a:bodyPr wrap="square" anchor="ctr">
            <a:spAutoFit/>
          </a:bodyPr>
          <a:lstStyle/>
          <a:p>
            <a:pPr algn="r"/>
            <a:r>
              <a:rPr lang="en-US" sz="1100" b="1" dirty="0">
                <a:solidFill>
                  <a:schemeClr val="bg1"/>
                </a:solidFill>
                <a:latin typeface="Aptos (Body)"/>
              </a:rPr>
              <a:t>Decision</a:t>
            </a:r>
          </a:p>
        </p:txBody>
      </p:sp>
      <p:sp>
        <p:nvSpPr>
          <p:cNvPr id="39" name="Rounded Rectangle 89">
            <a:extLst>
              <a:ext uri="{FF2B5EF4-FFF2-40B4-BE49-F238E27FC236}">
                <a16:creationId xmlns:a16="http://schemas.microsoft.com/office/drawing/2014/main" id="{68709BC0-BC60-1591-40A3-413A9540388B}"/>
              </a:ext>
            </a:extLst>
          </p:cNvPr>
          <p:cNvSpPr/>
          <p:nvPr/>
        </p:nvSpPr>
        <p:spPr>
          <a:xfrm>
            <a:off x="1867549" y="1682886"/>
            <a:ext cx="703400" cy="226685"/>
          </a:xfrm>
          <a:prstGeom prst="roundRect">
            <a:avLst/>
          </a:prstGeom>
          <a:noFill/>
          <a:ln w="9525" cap="flat" cmpd="sng" algn="ctr">
            <a:noFill/>
            <a:prstDash val="solid"/>
          </a:ln>
          <a:effectLst/>
        </p:spPr>
        <p:txBody>
          <a:bodyPr lIns="0" tIns="0" rIns="0" bIns="0" rtlCol="0" anchor="ctr"/>
          <a:lstStyle/>
          <a:p>
            <a:pPr defTabSz="457200" fontAlgn="base">
              <a:spcBef>
                <a:spcPct val="0"/>
              </a:spcBef>
              <a:spcAft>
                <a:spcPct val="0"/>
              </a:spcAft>
              <a:defRPr/>
            </a:pPr>
            <a:r>
              <a:rPr lang="en-US" sz="1100" b="1" kern="0" dirty="0">
                <a:solidFill>
                  <a:schemeClr val="bg1"/>
                </a:solidFill>
                <a:latin typeface="Aptos (Body)"/>
              </a:rPr>
              <a:t>Prospects</a:t>
            </a:r>
          </a:p>
        </p:txBody>
      </p:sp>
      <p:cxnSp>
        <p:nvCxnSpPr>
          <p:cNvPr id="40" name="Straight Connector 39">
            <a:extLst>
              <a:ext uri="{FF2B5EF4-FFF2-40B4-BE49-F238E27FC236}">
                <a16:creationId xmlns:a16="http://schemas.microsoft.com/office/drawing/2014/main" id="{E2E72E2D-5A89-84D5-64F3-DFCF5FD1FA69}"/>
              </a:ext>
            </a:extLst>
          </p:cNvPr>
          <p:cNvCxnSpPr>
            <a:cxnSpLocks/>
          </p:cNvCxnSpPr>
          <p:nvPr/>
        </p:nvCxnSpPr>
        <p:spPr>
          <a:xfrm flipV="1">
            <a:off x="1782472" y="1669755"/>
            <a:ext cx="0" cy="2128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1" name="Rounded Rectangle 89">
            <a:extLst>
              <a:ext uri="{FF2B5EF4-FFF2-40B4-BE49-F238E27FC236}">
                <a16:creationId xmlns:a16="http://schemas.microsoft.com/office/drawing/2014/main" id="{4F5F620A-7E48-E757-ACC6-1CC655D6B040}"/>
              </a:ext>
            </a:extLst>
          </p:cNvPr>
          <p:cNvSpPr/>
          <p:nvPr/>
        </p:nvSpPr>
        <p:spPr>
          <a:xfrm>
            <a:off x="970350" y="1694667"/>
            <a:ext cx="756893" cy="203123"/>
          </a:xfrm>
          <a:prstGeom prst="roundRect">
            <a:avLst/>
          </a:prstGeom>
          <a:noFill/>
          <a:ln w="9525" cap="flat" cmpd="sng" algn="ctr">
            <a:noFill/>
            <a:prstDash val="solid"/>
          </a:ln>
          <a:effectLst/>
        </p:spPr>
        <p:txBody>
          <a:bodyPr lIns="0" tIns="0" rIns="0" bIns="0" rtlCol="0" anchor="ctr"/>
          <a:lstStyle/>
          <a:p>
            <a:pPr algn="r" defTabSz="457200" fontAlgn="base">
              <a:spcBef>
                <a:spcPct val="0"/>
              </a:spcBef>
              <a:spcAft>
                <a:spcPct val="0"/>
              </a:spcAft>
              <a:defRPr/>
            </a:pPr>
            <a:r>
              <a:rPr lang="en-US" sz="1100" b="1" kern="0" dirty="0">
                <a:solidFill>
                  <a:schemeClr val="bg1"/>
                </a:solidFill>
                <a:latin typeface="Aptos (Body)"/>
              </a:rPr>
              <a:t>Stage</a:t>
            </a:r>
          </a:p>
        </p:txBody>
      </p:sp>
      <p:cxnSp>
        <p:nvCxnSpPr>
          <p:cNvPr id="42" name="Straight Connector 41">
            <a:extLst>
              <a:ext uri="{FF2B5EF4-FFF2-40B4-BE49-F238E27FC236}">
                <a16:creationId xmlns:a16="http://schemas.microsoft.com/office/drawing/2014/main" id="{C9FC7C51-C6C1-0C01-37B7-2343A0979BF3}"/>
              </a:ext>
            </a:extLst>
          </p:cNvPr>
          <p:cNvCxnSpPr>
            <a:cxnSpLocks/>
          </p:cNvCxnSpPr>
          <p:nvPr/>
        </p:nvCxnSpPr>
        <p:spPr>
          <a:xfrm flipV="1">
            <a:off x="1782472" y="2488167"/>
            <a:ext cx="0" cy="2128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59ABB53-EFE5-381E-54A4-7C6CB99EC94B}"/>
              </a:ext>
            </a:extLst>
          </p:cNvPr>
          <p:cNvCxnSpPr>
            <a:cxnSpLocks/>
          </p:cNvCxnSpPr>
          <p:nvPr/>
        </p:nvCxnSpPr>
        <p:spPr>
          <a:xfrm flipV="1">
            <a:off x="1782472" y="3317349"/>
            <a:ext cx="0" cy="2128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6014488-BE37-1841-22E0-972AA12B8734}"/>
              </a:ext>
            </a:extLst>
          </p:cNvPr>
          <p:cNvCxnSpPr>
            <a:cxnSpLocks/>
          </p:cNvCxnSpPr>
          <p:nvPr/>
        </p:nvCxnSpPr>
        <p:spPr>
          <a:xfrm flipV="1">
            <a:off x="1782472" y="4162518"/>
            <a:ext cx="0" cy="2128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424B8C4-A064-01A7-FFBA-0E58FA06545D}"/>
              </a:ext>
            </a:extLst>
          </p:cNvPr>
          <p:cNvCxnSpPr>
            <a:cxnSpLocks/>
          </p:cNvCxnSpPr>
          <p:nvPr/>
        </p:nvCxnSpPr>
        <p:spPr>
          <a:xfrm flipV="1">
            <a:off x="1782472" y="4922919"/>
            <a:ext cx="0" cy="21288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585AF869-042D-04FD-4071-A4F8275D3FFB}"/>
              </a:ext>
            </a:extLst>
          </p:cNvPr>
          <p:cNvCxnSpPr>
            <a:cxnSpLocks/>
          </p:cNvCxnSpPr>
          <p:nvPr/>
        </p:nvCxnSpPr>
        <p:spPr>
          <a:xfrm>
            <a:off x="3958501" y="914903"/>
            <a:ext cx="0" cy="585216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50" name="Table 49">
            <a:extLst>
              <a:ext uri="{FF2B5EF4-FFF2-40B4-BE49-F238E27FC236}">
                <a16:creationId xmlns:a16="http://schemas.microsoft.com/office/drawing/2014/main" id="{3D56E07E-AF6D-EB32-7C9D-2E117D0BAE08}"/>
              </a:ext>
            </a:extLst>
          </p:cNvPr>
          <p:cNvGraphicFramePr>
            <a:graphicFrameLocks noGrp="1"/>
          </p:cNvGraphicFramePr>
          <p:nvPr>
            <p:extLst>
              <p:ext uri="{D42A27DB-BD31-4B8C-83A1-F6EECF244321}">
                <p14:modId xmlns:p14="http://schemas.microsoft.com/office/powerpoint/2010/main" val="3201693481"/>
              </p:ext>
            </p:extLst>
          </p:nvPr>
        </p:nvGraphicFramePr>
        <p:xfrm>
          <a:off x="4039074" y="1384864"/>
          <a:ext cx="5029200" cy="2179272"/>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005840">
                  <a:extLst>
                    <a:ext uri="{9D8B030D-6E8A-4147-A177-3AD203B41FA5}">
                      <a16:colId xmlns:a16="http://schemas.microsoft.com/office/drawing/2014/main" val="2173361055"/>
                    </a:ext>
                  </a:extLst>
                </a:gridCol>
                <a:gridCol w="1005840">
                  <a:extLst>
                    <a:ext uri="{9D8B030D-6E8A-4147-A177-3AD203B41FA5}">
                      <a16:colId xmlns:a16="http://schemas.microsoft.com/office/drawing/2014/main" val="1368177572"/>
                    </a:ext>
                  </a:extLst>
                </a:gridCol>
                <a:gridCol w="1188720">
                  <a:extLst>
                    <a:ext uri="{9D8B030D-6E8A-4147-A177-3AD203B41FA5}">
                      <a16:colId xmlns:a16="http://schemas.microsoft.com/office/drawing/2014/main" val="2034820858"/>
                    </a:ext>
                  </a:extLst>
                </a:gridCol>
              </a:tblGrid>
              <a:tr h="277336">
                <a:tc>
                  <a:txBody>
                    <a:bodyPr/>
                    <a:lstStyle/>
                    <a:p>
                      <a:r>
                        <a:rPr lang="en-US" sz="1100" dirty="0">
                          <a:latin typeface="+mn-lt"/>
                        </a:rPr>
                        <a:t>Opportunity</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r>
                        <a:rPr lang="en-US" sz="1100" dirty="0">
                          <a:latin typeface="+mn-lt"/>
                        </a:rPr>
                        <a:t>Type</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r>
                        <a:rPr lang="en-US" sz="1100" dirty="0">
                          <a:latin typeface="+mn-lt"/>
                        </a:rPr>
                        <a:t>Stage</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r>
                        <a:rPr lang="en-US" sz="1100" dirty="0">
                          <a:latin typeface="+mn-lt"/>
                        </a:rPr>
                        <a:t>Probability</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r>
                        <a:rPr lang="en-US" sz="1100" dirty="0">
                          <a:latin typeface="+mn-lt"/>
                        </a:rPr>
                        <a:t>New Bookings </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extLst>
                  <a:ext uri="{0D108BD9-81ED-4DB2-BD59-A6C34878D82A}">
                    <a16:rowId xmlns:a16="http://schemas.microsoft.com/office/drawing/2014/main" val="10000"/>
                  </a:ext>
                </a:extLst>
              </a:tr>
              <a:tr h="365760">
                <a:tc>
                  <a:txBody>
                    <a:bodyPr/>
                    <a:lstStyle/>
                    <a:p>
                      <a:pPr algn="l"/>
                      <a:r>
                        <a:rPr lang="en-US" sz="1050" b="1" dirty="0">
                          <a:solidFill>
                            <a:schemeClr val="tx1"/>
                          </a:solidFill>
                          <a:latin typeface="+mn-lt"/>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[Awareness]</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6060716"/>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[Interest]</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5863378"/>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[Decision]</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442785"/>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[Action]</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129657"/>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[Awareness]</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2983118"/>
                  </a:ext>
                </a:extLst>
              </a:tr>
            </a:tbl>
          </a:graphicData>
        </a:graphic>
      </p:graphicFrame>
      <p:graphicFrame>
        <p:nvGraphicFramePr>
          <p:cNvPr id="51" name="Table 50">
            <a:extLst>
              <a:ext uri="{FF2B5EF4-FFF2-40B4-BE49-F238E27FC236}">
                <a16:creationId xmlns:a16="http://schemas.microsoft.com/office/drawing/2014/main" id="{BFC06762-B683-6CA7-5889-416F4DA39826}"/>
              </a:ext>
            </a:extLst>
          </p:cNvPr>
          <p:cNvGraphicFramePr>
            <a:graphicFrameLocks noGrp="1"/>
          </p:cNvGraphicFramePr>
          <p:nvPr>
            <p:extLst>
              <p:ext uri="{D42A27DB-BD31-4B8C-83A1-F6EECF244321}">
                <p14:modId xmlns:p14="http://schemas.microsoft.com/office/powerpoint/2010/main" val="143350101"/>
              </p:ext>
            </p:extLst>
          </p:nvPr>
        </p:nvGraphicFramePr>
        <p:xfrm>
          <a:off x="4057795" y="4263184"/>
          <a:ext cx="5029200" cy="2179272"/>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1005840">
                  <a:extLst>
                    <a:ext uri="{9D8B030D-6E8A-4147-A177-3AD203B41FA5}">
                      <a16:colId xmlns:a16="http://schemas.microsoft.com/office/drawing/2014/main" val="2173361055"/>
                    </a:ext>
                  </a:extLst>
                </a:gridCol>
                <a:gridCol w="1005840">
                  <a:extLst>
                    <a:ext uri="{9D8B030D-6E8A-4147-A177-3AD203B41FA5}">
                      <a16:colId xmlns:a16="http://schemas.microsoft.com/office/drawing/2014/main" val="1368177572"/>
                    </a:ext>
                  </a:extLst>
                </a:gridCol>
                <a:gridCol w="1188720">
                  <a:extLst>
                    <a:ext uri="{9D8B030D-6E8A-4147-A177-3AD203B41FA5}">
                      <a16:colId xmlns:a16="http://schemas.microsoft.com/office/drawing/2014/main" val="2034820858"/>
                    </a:ext>
                  </a:extLst>
                </a:gridCol>
              </a:tblGrid>
              <a:tr h="0">
                <a:tc>
                  <a:txBody>
                    <a:bodyPr/>
                    <a:lstStyle/>
                    <a:p>
                      <a:r>
                        <a:rPr lang="en-US" sz="1100" dirty="0">
                          <a:latin typeface="+mn-lt"/>
                        </a:rPr>
                        <a:t>Opportunity</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r>
                        <a:rPr lang="en-US" sz="1100" dirty="0">
                          <a:latin typeface="+mn-lt"/>
                        </a:rPr>
                        <a:t>Type</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r>
                        <a:rPr lang="en-US" sz="1100" dirty="0">
                          <a:latin typeface="+mn-lt"/>
                        </a:rPr>
                        <a:t>Stage</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r>
                        <a:rPr lang="en-US" sz="1100" dirty="0">
                          <a:latin typeface="+mn-lt"/>
                        </a:rPr>
                        <a:t>Probability</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tc>
                  <a:txBody>
                    <a:bodyPr/>
                    <a:lstStyle/>
                    <a:p>
                      <a:r>
                        <a:rPr lang="en-US" sz="1100" dirty="0">
                          <a:latin typeface="+mn-lt"/>
                        </a:rPr>
                        <a:t>New Bookings </a:t>
                      </a:r>
                    </a:p>
                  </a:txBody>
                  <a:tcPr marL="137124" marR="137124" marT="91416" marB="91416"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143F6A"/>
                    </a:solidFill>
                  </a:tcPr>
                </a:tc>
                <a:extLst>
                  <a:ext uri="{0D108BD9-81ED-4DB2-BD59-A6C34878D82A}">
                    <a16:rowId xmlns:a16="http://schemas.microsoft.com/office/drawing/2014/main" val="10000"/>
                  </a:ext>
                </a:extLst>
              </a:tr>
              <a:tr h="365760">
                <a:tc>
                  <a:txBody>
                    <a:bodyPr/>
                    <a:lstStyle/>
                    <a:p>
                      <a:pPr algn="l"/>
                      <a:r>
                        <a:rPr lang="en-US" sz="1050" b="1" dirty="0">
                          <a:solidFill>
                            <a:schemeClr val="tx1"/>
                          </a:solidFill>
                          <a:latin typeface="+mn-lt"/>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[Awareness]</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6060716"/>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[Interest]</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5863378"/>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[Decision]</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442785"/>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[Action]</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129657"/>
                  </a:ext>
                </a:extLst>
              </a:tr>
              <a:tr h="365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[Opp. name]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[Type]</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[Awareness]</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[x%]</a:t>
                      </a: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144"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chemeClr val="tx1"/>
                          </a:solidFill>
                          <a:effectLst/>
                          <a:uLnTx/>
                          <a:uFillTx/>
                          <a:latin typeface="+mn-lt"/>
                          <a:ea typeface="+mn-ea"/>
                          <a:cs typeface="+mn-cs"/>
                        </a:rPr>
                        <a:t>$[xx]K+</a:t>
                      </a:r>
                      <a:endParaRPr kumimoji="0" lang="en-US" sz="1050" b="0" i="0" u="none" strike="noStrike" kern="1200" cap="none" spc="0" normalizeH="0" baseline="30000" noProof="0" dirty="0">
                        <a:ln>
                          <a:noFill/>
                        </a:ln>
                        <a:solidFill>
                          <a:schemeClr val="tx1"/>
                        </a:solidFill>
                        <a:effectLst/>
                        <a:uLnTx/>
                        <a:uFillTx/>
                        <a:latin typeface="+mn-lt"/>
                        <a:ea typeface="+mn-ea"/>
                        <a:cs typeface="+mn-cs"/>
                      </a:endParaRPr>
                    </a:p>
                  </a:txBody>
                  <a:tcPr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2983118"/>
                  </a:ext>
                </a:extLst>
              </a:tr>
            </a:tbl>
          </a:graphicData>
        </a:graphic>
      </p:graphicFrame>
      <p:sp>
        <p:nvSpPr>
          <p:cNvPr id="53" name="Rectangle: Diagonal Corners Snipped 52">
            <a:extLst>
              <a:ext uri="{FF2B5EF4-FFF2-40B4-BE49-F238E27FC236}">
                <a16:creationId xmlns:a16="http://schemas.microsoft.com/office/drawing/2014/main" id="{9E24483C-2BA4-C497-43B1-A7F1EE84506E}"/>
              </a:ext>
            </a:extLst>
          </p:cNvPr>
          <p:cNvSpPr/>
          <p:nvPr/>
        </p:nvSpPr>
        <p:spPr>
          <a:xfrm>
            <a:off x="4020354" y="1006906"/>
            <a:ext cx="506664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Top Wins for the Quarter</a:t>
            </a:r>
          </a:p>
        </p:txBody>
      </p:sp>
      <p:sp>
        <p:nvSpPr>
          <p:cNvPr id="54" name="Rectangle: Diagonal Corners Snipped 53">
            <a:extLst>
              <a:ext uri="{FF2B5EF4-FFF2-40B4-BE49-F238E27FC236}">
                <a16:creationId xmlns:a16="http://schemas.microsoft.com/office/drawing/2014/main" id="{6D059634-4876-BBBB-0281-AD4C4F754994}"/>
              </a:ext>
            </a:extLst>
          </p:cNvPr>
          <p:cNvSpPr/>
          <p:nvPr/>
        </p:nvSpPr>
        <p:spPr>
          <a:xfrm>
            <a:off x="4020354" y="3877348"/>
            <a:ext cx="5066640" cy="285170"/>
          </a:xfrm>
          <a:prstGeom prst="snip2DiagRect">
            <a:avLst/>
          </a:prstGeom>
          <a:solidFill>
            <a:srgbClr val="143F6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Top Losses for the Quarter</a:t>
            </a:r>
          </a:p>
        </p:txBody>
      </p:sp>
      <p:cxnSp>
        <p:nvCxnSpPr>
          <p:cNvPr id="55" name="Straight Connector 54">
            <a:extLst>
              <a:ext uri="{FF2B5EF4-FFF2-40B4-BE49-F238E27FC236}">
                <a16:creationId xmlns:a16="http://schemas.microsoft.com/office/drawing/2014/main" id="{CC494093-1F14-6995-784B-362280B6152A}"/>
              </a:ext>
            </a:extLst>
          </p:cNvPr>
          <p:cNvCxnSpPr>
            <a:cxnSpLocks/>
          </p:cNvCxnSpPr>
          <p:nvPr/>
        </p:nvCxnSpPr>
        <p:spPr>
          <a:xfrm>
            <a:off x="-1480372" y="940057"/>
            <a:ext cx="1281196"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1810651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INLINETEXTSHAPEGUID" val="d799632d-10aa-4c5e-ad9a-8d000828cbae"/>
</p:tagLst>
</file>

<file path=ppt/tags/tag6.xml><?xml version="1.0" encoding="utf-8"?>
<p:tagLst xmlns:a="http://schemas.openxmlformats.org/drawingml/2006/main" xmlns:r="http://schemas.openxmlformats.org/officeDocument/2006/relationships" xmlns:p="http://schemas.openxmlformats.org/presentationml/2006/main">
  <p:tag name="INLINETEXTSHAPEGUID" val="d799632d-10aa-4c5e-ad9a-8d000828cbae"/>
</p:tagLst>
</file>

<file path=ppt/tags/tag7.xml><?xml version="1.0" encoding="utf-8"?>
<p:tagLst xmlns:a="http://schemas.openxmlformats.org/drawingml/2006/main" xmlns:r="http://schemas.openxmlformats.org/officeDocument/2006/relationships" xmlns:p="http://schemas.openxmlformats.org/presentationml/2006/main">
  <p:tag name="INLINETEXTSHAPEGUID" val="d799632d-10aa-4c5e-ad9a-8d000828cbae"/>
</p:tagLst>
</file>

<file path=ppt/tags/tag8.xml><?xml version="1.0" encoding="utf-8"?>
<p:tagLst xmlns:a="http://schemas.openxmlformats.org/drawingml/2006/main" xmlns:r="http://schemas.openxmlformats.org/officeDocument/2006/relationships" xmlns:p="http://schemas.openxmlformats.org/presentationml/2006/main">
  <p:tag name="INLINETEXTSHAPEGUID" val="d799632d-10aa-4c5e-ad9a-8d000828cbae"/>
</p:tagLst>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24960</TotalTime>
  <Words>2890</Words>
  <Application>Microsoft Office PowerPoint</Application>
  <PresentationFormat>On-screen Show (4:3)</PresentationFormat>
  <Paragraphs>338</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Aptos</vt:lpstr>
      <vt:lpstr>Aptos (Body)</vt:lpstr>
      <vt:lpstr>Aptos Display</vt:lpstr>
      <vt:lpstr>Arial</vt:lpstr>
      <vt:lpstr>Arial Narrow</vt:lpstr>
      <vt:lpstr>Calibri</vt:lpstr>
      <vt:lpstr>Office Theme</vt:lpstr>
      <vt:lpstr>PowerPoint Presentation</vt:lpstr>
      <vt:lpstr>Value Creation Pillars</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Value Creation Pillars (Cont’d)</vt:lpstr>
      <vt:lpstr>Company We Want to Build</vt:lpstr>
      <vt:lpstr>Company We Want to Build (Cont’d)</vt:lpstr>
      <vt:lpstr>Pipeline Tracking (Exhibit 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Mobeen Kambod</dc:creator>
  <cp:lastModifiedBy>Mobeen Kambod</cp:lastModifiedBy>
  <cp:revision>291</cp:revision>
  <cp:lastPrinted>2025-09-17T03:15:38Z</cp:lastPrinted>
  <dcterms:created xsi:type="dcterms:W3CDTF">2024-09-19T13:48:17Z</dcterms:created>
  <dcterms:modified xsi:type="dcterms:W3CDTF">2025-11-14T15:18:02Z</dcterms:modified>
</cp:coreProperties>
</file>